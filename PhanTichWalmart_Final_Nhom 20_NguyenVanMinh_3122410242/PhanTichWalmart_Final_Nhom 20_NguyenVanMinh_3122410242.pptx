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Paytone One" charset="1" panose="00000500000000000000"/>
      <p:regular r:id="rId33"/>
    </p:embeddedFont>
    <p:embeddedFont>
      <p:font typeface="Source Sans Pro Bold" charset="1" panose="020B0703030403020204"/>
      <p:regular r:id="rId34"/>
    </p:embeddedFont>
    <p:embeddedFont>
      <p:font typeface="Noto Sans" charset="1" panose="020B0502040504020204"/>
      <p:regular r:id="rId35"/>
    </p:embeddedFont>
    <p:embeddedFont>
      <p:font typeface="Source Sans Pro" charset="1" panose="020B0503030403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kaggle.com/c/walmart-recruiting-store-sales-forecasting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embeddings/oleObject1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embeddings/oleObject2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embeddings/oleObject3.bin" Type="http://schemas.openxmlformats.org/officeDocument/2006/relationships/oleObject"/><Relationship Id="rId12" Target="../media/image24.png" Type="http://schemas.openxmlformats.org/officeDocument/2006/relationships/image"/><Relationship Id="rId13" Target="../embeddings/oleObject4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5.pn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embeddings/oleObject5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embeddings/oleObject6.bin" Type="http://schemas.openxmlformats.org/officeDocument/2006/relationships/oleObject"/><Relationship Id="rId12" Target="../media/image32.png" Type="http://schemas.openxmlformats.org/officeDocument/2006/relationships/image"/><Relationship Id="rId13" Target="../embeddings/oleObject7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51.gif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82233" y="595471"/>
            <a:ext cx="9853755" cy="9031118"/>
          </a:xfrm>
          <a:custGeom>
            <a:avLst/>
            <a:gdLst/>
            <a:ahLst/>
            <a:cxnLst/>
            <a:rect r="r" b="b" t="t" l="l"/>
            <a:pathLst>
              <a:path h="9031118" w="9853755">
                <a:moveTo>
                  <a:pt x="0" y="0"/>
                </a:moveTo>
                <a:lnTo>
                  <a:pt x="9853755" y="0"/>
                </a:lnTo>
                <a:lnTo>
                  <a:pt x="9853755" y="9031118"/>
                </a:lnTo>
                <a:lnTo>
                  <a:pt x="0" y="9031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0751" y="2284582"/>
            <a:ext cx="7474498" cy="9031118"/>
          </a:xfrm>
          <a:custGeom>
            <a:avLst/>
            <a:gdLst/>
            <a:ahLst/>
            <a:cxnLst/>
            <a:rect r="r" b="b" t="t" l="l"/>
            <a:pathLst>
              <a:path h="9031118" w="7474498">
                <a:moveTo>
                  <a:pt x="0" y="0"/>
                </a:moveTo>
                <a:lnTo>
                  <a:pt x="7474498" y="0"/>
                </a:lnTo>
                <a:lnTo>
                  <a:pt x="7474498" y="9031118"/>
                </a:lnTo>
                <a:lnTo>
                  <a:pt x="0" y="903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20434" y="7200900"/>
            <a:ext cx="3882875" cy="4114800"/>
          </a:xfrm>
          <a:custGeom>
            <a:avLst/>
            <a:gdLst/>
            <a:ahLst/>
            <a:cxnLst/>
            <a:rect r="r" b="b" t="t" l="l"/>
            <a:pathLst>
              <a:path h="4114800" w="3882875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962339">
            <a:off x="534912" y="-1180722"/>
            <a:ext cx="1521284" cy="6387071"/>
          </a:xfrm>
          <a:custGeom>
            <a:avLst/>
            <a:gdLst/>
            <a:ahLst/>
            <a:cxnLst/>
            <a:rect r="r" b="b" t="t" l="l"/>
            <a:pathLst>
              <a:path h="6387071" w="1521284">
                <a:moveTo>
                  <a:pt x="0" y="0"/>
                </a:moveTo>
                <a:lnTo>
                  <a:pt x="1521284" y="0"/>
                </a:lnTo>
                <a:lnTo>
                  <a:pt x="1521284" y="6387070"/>
                </a:lnTo>
                <a:lnTo>
                  <a:pt x="0" y="6387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09992" y="7659056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5" y="0"/>
                </a:lnTo>
                <a:lnTo>
                  <a:pt x="4769015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1540288">
            <a:off x="12397295" y="1308779"/>
            <a:ext cx="6821344" cy="699625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93501" y="3252049"/>
            <a:ext cx="14500999" cy="253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6"/>
              </a:lnSpc>
            </a:pPr>
            <a:r>
              <a:rPr lang="en-US" sz="7254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PHÂN TÍCH DỮ LIỆU BÁN HÀNG CỦA CHUỖI SIÊU THỊ WALMART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2441" y="6250304"/>
            <a:ext cx="1176311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GIẢNG VIÊN HƯỚNG DẪN: TS. ĐỖ NHƯ TÀI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14419" y="3742517"/>
            <a:ext cx="13059161" cy="346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4"/>
              </a:lnSpc>
            </a:pPr>
            <a:r>
              <a:rPr lang="en-US" sz="4995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Nguyễn Văn Minh - 3122410242</a:t>
            </a:r>
          </a:p>
          <a:p>
            <a:pPr algn="ctr">
              <a:lnSpc>
                <a:spcPts val="6994"/>
              </a:lnSpc>
            </a:pPr>
            <a:r>
              <a:rPr lang="en-US" sz="4995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Nguyễn Trương Hiệp - 3122410110</a:t>
            </a:r>
          </a:p>
          <a:p>
            <a:pPr algn="ctr">
              <a:lnSpc>
                <a:spcPts val="6994"/>
              </a:lnSpc>
            </a:pPr>
            <a:r>
              <a:rPr lang="en-US" sz="4995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Vũ Thị Thanh Ngân - 3122410255</a:t>
            </a:r>
          </a:p>
          <a:p>
            <a:pPr algn="ctr">
              <a:lnSpc>
                <a:spcPts val="6994"/>
              </a:lnSpc>
            </a:pPr>
            <a:r>
              <a:rPr lang="en-US" sz="4995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Trương Xuân Hưng - 3122410161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7931" y="2446282"/>
            <a:ext cx="9832137" cy="99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2"/>
              </a:lnSpc>
            </a:pPr>
            <a:r>
              <a:rPr lang="en-US" sz="5809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CÁC THÀNH VIÊN NHÓM 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3147151">
            <a:off x="13034591" y="3324857"/>
            <a:ext cx="2007421" cy="567097"/>
          </a:xfrm>
          <a:custGeom>
            <a:avLst/>
            <a:gdLst/>
            <a:ahLst/>
            <a:cxnLst/>
            <a:rect r="r" b="b" t="t" l="l"/>
            <a:pathLst>
              <a:path h="567097" w="2007421">
                <a:moveTo>
                  <a:pt x="0" y="567097"/>
                </a:moveTo>
                <a:lnTo>
                  <a:pt x="2007422" y="567097"/>
                </a:lnTo>
                <a:lnTo>
                  <a:pt x="2007422" y="0"/>
                </a:lnTo>
                <a:lnTo>
                  <a:pt x="0" y="0"/>
                </a:lnTo>
                <a:lnTo>
                  <a:pt x="0" y="5670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651647">
            <a:off x="8336572" y="4468399"/>
            <a:ext cx="1915362" cy="541090"/>
          </a:xfrm>
          <a:custGeom>
            <a:avLst/>
            <a:gdLst/>
            <a:ahLst/>
            <a:cxnLst/>
            <a:rect r="r" b="b" t="t" l="l"/>
            <a:pathLst>
              <a:path h="541090" w="1915362">
                <a:moveTo>
                  <a:pt x="0" y="0"/>
                </a:moveTo>
                <a:lnTo>
                  <a:pt x="1915363" y="0"/>
                </a:lnTo>
                <a:lnTo>
                  <a:pt x="1915363" y="541090"/>
                </a:lnTo>
                <a:lnTo>
                  <a:pt x="0" y="541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2700000">
            <a:off x="3076949" y="3297808"/>
            <a:ext cx="2423371" cy="684602"/>
          </a:xfrm>
          <a:custGeom>
            <a:avLst/>
            <a:gdLst/>
            <a:ahLst/>
            <a:cxnLst/>
            <a:rect r="r" b="b" t="t" l="l"/>
            <a:pathLst>
              <a:path h="684602" w="2423371">
                <a:moveTo>
                  <a:pt x="2423371" y="684603"/>
                </a:moveTo>
                <a:lnTo>
                  <a:pt x="0" y="684603"/>
                </a:lnTo>
                <a:lnTo>
                  <a:pt x="0" y="0"/>
                </a:lnTo>
                <a:lnTo>
                  <a:pt x="2423371" y="0"/>
                </a:lnTo>
                <a:lnTo>
                  <a:pt x="2423371" y="68460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038574" y="6071853"/>
            <a:ext cx="4482541" cy="2812759"/>
            <a:chOff x="0" y="0"/>
            <a:chExt cx="5976721" cy="375034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976721" cy="3750345"/>
              <a:chOff x="0" y="0"/>
              <a:chExt cx="1372987" cy="86153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72987" cy="861539"/>
              </a:xfrm>
              <a:custGeom>
                <a:avLst/>
                <a:gdLst/>
                <a:ahLst/>
                <a:cxnLst/>
                <a:rect r="r" b="b" t="t" l="l"/>
                <a:pathLst>
                  <a:path h="861539" w="1372987">
                    <a:moveTo>
                      <a:pt x="75740" y="0"/>
                    </a:moveTo>
                    <a:lnTo>
                      <a:pt x="1297247" y="0"/>
                    </a:lnTo>
                    <a:cubicBezTo>
                      <a:pt x="1317335" y="0"/>
                      <a:pt x="1336600" y="7980"/>
                      <a:pt x="1350804" y="22184"/>
                    </a:cubicBezTo>
                    <a:cubicBezTo>
                      <a:pt x="1365008" y="36388"/>
                      <a:pt x="1372987" y="55653"/>
                      <a:pt x="1372987" y="75740"/>
                    </a:cubicBezTo>
                    <a:lnTo>
                      <a:pt x="1372987" y="785799"/>
                    </a:lnTo>
                    <a:cubicBezTo>
                      <a:pt x="1372987" y="805886"/>
                      <a:pt x="1365008" y="825151"/>
                      <a:pt x="1350804" y="839355"/>
                    </a:cubicBezTo>
                    <a:cubicBezTo>
                      <a:pt x="1336600" y="853559"/>
                      <a:pt x="1317335" y="861539"/>
                      <a:pt x="1297247" y="861539"/>
                    </a:cubicBezTo>
                    <a:lnTo>
                      <a:pt x="75740" y="861539"/>
                    </a:lnTo>
                    <a:cubicBezTo>
                      <a:pt x="55653" y="861539"/>
                      <a:pt x="36388" y="853559"/>
                      <a:pt x="22184" y="839355"/>
                    </a:cubicBezTo>
                    <a:cubicBezTo>
                      <a:pt x="7980" y="825151"/>
                      <a:pt x="0" y="805886"/>
                      <a:pt x="0" y="785799"/>
                    </a:cubicBezTo>
                    <a:lnTo>
                      <a:pt x="0" y="75740"/>
                    </a:lnTo>
                    <a:cubicBezTo>
                      <a:pt x="0" y="55653"/>
                      <a:pt x="7980" y="36388"/>
                      <a:pt x="22184" y="22184"/>
                    </a:cubicBezTo>
                    <a:cubicBezTo>
                      <a:pt x="36388" y="7980"/>
                      <a:pt x="55653" y="0"/>
                      <a:pt x="75740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72987" cy="8901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7375" y="299042"/>
              <a:ext cx="5623801" cy="3148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29"/>
                </a:lnSpc>
              </a:pPr>
              <a:r>
                <a:rPr lang="en-US" sz="3095" b="true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Vấn đề Cốt</a:t>
              </a:r>
              <a:r>
                <a:rPr lang="en-US" b="true" sz="3095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lõi: </a:t>
              </a:r>
            </a:p>
            <a:p>
              <a:pPr algn="ctr">
                <a:lnSpc>
                  <a:spcPts val="4829"/>
                </a:lnSpc>
              </a:pPr>
              <a:r>
                <a:rPr lang="en-US" b="true" sz="3095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Khó dự báo nhu cầu cho các đợt cao điểm</a:t>
              </a:r>
            </a:p>
            <a:p>
              <a:pPr algn="ctr">
                <a:lnSpc>
                  <a:spcPts val="4829"/>
                </a:lnSpc>
              </a:pPr>
              <a:r>
                <a:rPr lang="en-US" b="true" sz="3095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Rủi ro tồn kho →  Lỗ lớn.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7086" y="5281869"/>
            <a:ext cx="5245428" cy="2836412"/>
            <a:chOff x="0" y="0"/>
            <a:chExt cx="6993904" cy="378188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993904" cy="3781883"/>
              <a:chOff x="0" y="0"/>
              <a:chExt cx="1248516" cy="67512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48516" cy="675122"/>
              </a:xfrm>
              <a:custGeom>
                <a:avLst/>
                <a:gdLst/>
                <a:ahLst/>
                <a:cxnLst/>
                <a:rect r="r" b="b" t="t" l="l"/>
                <a:pathLst>
                  <a:path h="675122" w="1248516">
                    <a:moveTo>
                      <a:pt x="83291" y="0"/>
                    </a:moveTo>
                    <a:lnTo>
                      <a:pt x="1165225" y="0"/>
                    </a:lnTo>
                    <a:cubicBezTo>
                      <a:pt x="1187315" y="0"/>
                      <a:pt x="1208500" y="8775"/>
                      <a:pt x="1224121" y="24395"/>
                    </a:cubicBezTo>
                    <a:cubicBezTo>
                      <a:pt x="1239741" y="40015"/>
                      <a:pt x="1248516" y="61201"/>
                      <a:pt x="1248516" y="83291"/>
                    </a:cubicBezTo>
                    <a:lnTo>
                      <a:pt x="1248516" y="591831"/>
                    </a:lnTo>
                    <a:cubicBezTo>
                      <a:pt x="1248516" y="613921"/>
                      <a:pt x="1239741" y="635107"/>
                      <a:pt x="1224121" y="650727"/>
                    </a:cubicBezTo>
                    <a:cubicBezTo>
                      <a:pt x="1208500" y="666347"/>
                      <a:pt x="1187315" y="675122"/>
                      <a:pt x="1165225" y="675122"/>
                    </a:cubicBezTo>
                    <a:lnTo>
                      <a:pt x="83291" y="675122"/>
                    </a:lnTo>
                    <a:cubicBezTo>
                      <a:pt x="61201" y="675122"/>
                      <a:pt x="40015" y="666347"/>
                      <a:pt x="24395" y="650727"/>
                    </a:cubicBezTo>
                    <a:cubicBezTo>
                      <a:pt x="8775" y="635107"/>
                      <a:pt x="0" y="613921"/>
                      <a:pt x="0" y="591831"/>
                    </a:cubicBezTo>
                    <a:lnTo>
                      <a:pt x="0" y="83291"/>
                    </a:lnTo>
                    <a:cubicBezTo>
                      <a:pt x="0" y="61201"/>
                      <a:pt x="8775" y="40015"/>
                      <a:pt x="24395" y="24395"/>
                    </a:cubicBezTo>
                    <a:cubicBezTo>
                      <a:pt x="40015" y="8775"/>
                      <a:pt x="61201" y="0"/>
                      <a:pt x="83291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248516" cy="7036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83638" y="407216"/>
              <a:ext cx="6626627" cy="3019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14"/>
                </a:lnSpc>
              </a:pPr>
              <a:r>
                <a:rPr lang="en-US" sz="3983" b="true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Thách thức: </a:t>
              </a:r>
            </a:p>
            <a:p>
              <a:pPr algn="ctr">
                <a:lnSpc>
                  <a:spcPts val="6214"/>
                </a:lnSpc>
              </a:pPr>
              <a:r>
                <a:rPr lang="en-US" b="true" sz="3983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421,570 dòng giao dịch từ 45 cửa hàng.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83155" y="990600"/>
            <a:ext cx="6822970" cy="3101350"/>
            <a:chOff x="0" y="0"/>
            <a:chExt cx="9097293" cy="41351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97293" cy="4135133"/>
            </a:xfrm>
            <a:custGeom>
              <a:avLst/>
              <a:gdLst/>
              <a:ahLst/>
              <a:cxnLst/>
              <a:rect r="r" b="b" t="t" l="l"/>
              <a:pathLst>
                <a:path h="4135133" w="9097293">
                  <a:moveTo>
                    <a:pt x="0" y="0"/>
                  </a:moveTo>
                  <a:lnTo>
                    <a:pt x="9097293" y="0"/>
                  </a:lnTo>
                  <a:lnTo>
                    <a:pt x="9097293" y="4135133"/>
                  </a:lnTo>
                  <a:lnTo>
                    <a:pt x="0" y="4135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247144" y="1567414"/>
              <a:ext cx="6603006" cy="1239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36"/>
                </a:lnSpc>
              </a:pPr>
              <a:r>
                <a:rPr lang="en-US" sz="5557" spc="177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BỐI CẢNH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70974" y="4829283"/>
            <a:ext cx="5030166" cy="2836412"/>
            <a:chOff x="0" y="0"/>
            <a:chExt cx="6706888" cy="378188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706888" cy="3781883"/>
              <a:chOff x="0" y="0"/>
              <a:chExt cx="1323937" cy="74654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23937" cy="746542"/>
              </a:xfrm>
              <a:custGeom>
                <a:avLst/>
                <a:gdLst/>
                <a:ahLst/>
                <a:cxnLst/>
                <a:rect r="r" b="b" t="t" l="l"/>
                <a:pathLst>
                  <a:path h="746542" w="1323937">
                    <a:moveTo>
                      <a:pt x="78546" y="0"/>
                    </a:moveTo>
                    <a:lnTo>
                      <a:pt x="1245391" y="0"/>
                    </a:lnTo>
                    <a:cubicBezTo>
                      <a:pt x="1266222" y="0"/>
                      <a:pt x="1286201" y="8275"/>
                      <a:pt x="1300931" y="23006"/>
                    </a:cubicBezTo>
                    <a:cubicBezTo>
                      <a:pt x="1315662" y="37736"/>
                      <a:pt x="1323937" y="57714"/>
                      <a:pt x="1323937" y="78546"/>
                    </a:cubicBezTo>
                    <a:lnTo>
                      <a:pt x="1323937" y="667996"/>
                    </a:lnTo>
                    <a:cubicBezTo>
                      <a:pt x="1323937" y="711376"/>
                      <a:pt x="1288771" y="746542"/>
                      <a:pt x="1245391" y="746542"/>
                    </a:cubicBezTo>
                    <a:lnTo>
                      <a:pt x="78546" y="746542"/>
                    </a:lnTo>
                    <a:cubicBezTo>
                      <a:pt x="57714" y="746542"/>
                      <a:pt x="37736" y="738267"/>
                      <a:pt x="23006" y="723537"/>
                    </a:cubicBezTo>
                    <a:cubicBezTo>
                      <a:pt x="8275" y="708806"/>
                      <a:pt x="0" y="688828"/>
                      <a:pt x="0" y="667996"/>
                    </a:cubicBezTo>
                    <a:lnTo>
                      <a:pt x="0" y="78546"/>
                    </a:lnTo>
                    <a:cubicBezTo>
                      <a:pt x="0" y="57714"/>
                      <a:pt x="8275" y="37736"/>
                      <a:pt x="23006" y="23006"/>
                    </a:cubicBezTo>
                    <a:cubicBezTo>
                      <a:pt x="37736" y="8275"/>
                      <a:pt x="57714" y="0"/>
                      <a:pt x="78546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1323937" cy="775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27558" y="-40667"/>
              <a:ext cx="6251772" cy="3627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32"/>
                </a:lnSpc>
              </a:pPr>
              <a:r>
                <a:rPr lang="en-US" sz="3546" b="true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Mục tiêu:</a:t>
              </a:r>
            </a:p>
            <a:p>
              <a:pPr algn="ctr">
                <a:lnSpc>
                  <a:spcPts val="5532"/>
                </a:lnSpc>
              </a:pPr>
              <a:r>
                <a:rPr lang="en-US" sz="3546" b="true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Xác định Thời điểm Vàng và Cửa hàng Tiềm năng để tối ưu hóa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02573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124950" y="3196531"/>
            <a:ext cx="19050" cy="44986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090125" y="3196531"/>
            <a:ext cx="6349025" cy="4498610"/>
            <a:chOff x="0" y="0"/>
            <a:chExt cx="1672171" cy="11848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2171" cy="1184819"/>
            </a:xfrm>
            <a:custGeom>
              <a:avLst/>
              <a:gdLst/>
              <a:ahLst/>
              <a:cxnLst/>
              <a:rect r="r" b="b" t="t" l="l"/>
              <a:pathLst>
                <a:path h="1184819" w="1672171">
                  <a:moveTo>
                    <a:pt x="62189" y="0"/>
                  </a:moveTo>
                  <a:lnTo>
                    <a:pt x="1609982" y="0"/>
                  </a:lnTo>
                  <a:cubicBezTo>
                    <a:pt x="1626476" y="0"/>
                    <a:pt x="1642294" y="6552"/>
                    <a:pt x="1653957" y="18215"/>
                  </a:cubicBezTo>
                  <a:cubicBezTo>
                    <a:pt x="1665619" y="29877"/>
                    <a:pt x="1672171" y="45695"/>
                    <a:pt x="1672171" y="62189"/>
                  </a:cubicBezTo>
                  <a:lnTo>
                    <a:pt x="1672171" y="1122630"/>
                  </a:lnTo>
                  <a:cubicBezTo>
                    <a:pt x="1672171" y="1139124"/>
                    <a:pt x="1665619" y="1154942"/>
                    <a:pt x="1653957" y="1166604"/>
                  </a:cubicBezTo>
                  <a:cubicBezTo>
                    <a:pt x="1642294" y="1178267"/>
                    <a:pt x="1626476" y="1184819"/>
                    <a:pt x="1609982" y="1184819"/>
                  </a:cubicBezTo>
                  <a:lnTo>
                    <a:pt x="62189" y="1184819"/>
                  </a:lnTo>
                  <a:cubicBezTo>
                    <a:pt x="45695" y="1184819"/>
                    <a:pt x="29877" y="1178267"/>
                    <a:pt x="18215" y="1166604"/>
                  </a:cubicBezTo>
                  <a:cubicBezTo>
                    <a:pt x="6552" y="1154942"/>
                    <a:pt x="0" y="1139124"/>
                    <a:pt x="0" y="1122630"/>
                  </a:cubicBezTo>
                  <a:lnTo>
                    <a:pt x="0" y="62189"/>
                  </a:lnTo>
                  <a:cubicBezTo>
                    <a:pt x="0" y="45695"/>
                    <a:pt x="6552" y="29877"/>
                    <a:pt x="18215" y="18215"/>
                  </a:cubicBezTo>
                  <a:cubicBezTo>
                    <a:pt x="29877" y="6552"/>
                    <a:pt x="45695" y="0"/>
                    <a:pt x="62189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72171" cy="1213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10750" y="3196531"/>
            <a:ext cx="6408369" cy="4498610"/>
            <a:chOff x="0" y="0"/>
            <a:chExt cx="1687801" cy="11848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7801" cy="1184819"/>
            </a:xfrm>
            <a:custGeom>
              <a:avLst/>
              <a:gdLst/>
              <a:ahLst/>
              <a:cxnLst/>
              <a:rect r="r" b="b" t="t" l="l"/>
              <a:pathLst>
                <a:path h="1184819" w="1687801">
                  <a:moveTo>
                    <a:pt x="61613" y="0"/>
                  </a:moveTo>
                  <a:lnTo>
                    <a:pt x="1626188" y="0"/>
                  </a:lnTo>
                  <a:cubicBezTo>
                    <a:pt x="1660216" y="0"/>
                    <a:pt x="1687801" y="27585"/>
                    <a:pt x="1687801" y="61613"/>
                  </a:cubicBezTo>
                  <a:lnTo>
                    <a:pt x="1687801" y="1123206"/>
                  </a:lnTo>
                  <a:cubicBezTo>
                    <a:pt x="1687801" y="1157234"/>
                    <a:pt x="1660216" y="1184819"/>
                    <a:pt x="1626188" y="1184819"/>
                  </a:cubicBezTo>
                  <a:lnTo>
                    <a:pt x="61613" y="1184819"/>
                  </a:lnTo>
                  <a:cubicBezTo>
                    <a:pt x="27585" y="1184819"/>
                    <a:pt x="0" y="1157234"/>
                    <a:pt x="0" y="1123206"/>
                  </a:cubicBezTo>
                  <a:lnTo>
                    <a:pt x="0" y="61613"/>
                  </a:lnTo>
                  <a:cubicBezTo>
                    <a:pt x="0" y="27585"/>
                    <a:pt x="27585" y="0"/>
                    <a:pt x="61613" y="0"/>
                  </a:cubicBezTo>
                  <a:close/>
                </a:path>
              </a:pathLst>
            </a:custGeom>
            <a:solidFill>
              <a:srgbClr val="FFC5AC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687801" cy="1213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16035" y="3416320"/>
            <a:ext cx="3897205" cy="67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YẾU TỐ BÊN TRONG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1697" y="3357449"/>
            <a:ext cx="3757762" cy="67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YẾU TỐ BÊN NGOÀI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48490" y="4793035"/>
            <a:ext cx="5032296" cy="142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5"/>
              </a:lnSpc>
              <a:spcBef>
                <a:spcPct val="0"/>
              </a:spcBef>
            </a:pPr>
            <a:r>
              <a:rPr lang="en-US" b="true" sz="373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🏭 Quy mô (S</a:t>
            </a:r>
            <a:r>
              <a:rPr lang="en-US" b="true" sz="373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ize)</a:t>
            </a:r>
          </a:p>
          <a:p>
            <a:pPr algn="l">
              <a:lnSpc>
                <a:spcPts val="5825"/>
              </a:lnSpc>
              <a:spcBef>
                <a:spcPct val="0"/>
              </a:spcBef>
            </a:pPr>
            <a:r>
              <a:rPr lang="en-US" b="true" sz="3734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🏷️ Loại cửa hàng (Type)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17117" y="4178523"/>
            <a:ext cx="5986923" cy="278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📅 Ngày Lễ (Holidays)</a:t>
            </a:r>
          </a:p>
          <a:p>
            <a:pPr algn="l">
              <a:lnSpc>
                <a:spcPts val="561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⛽ Giá nhiên liệu (Fuel Price)</a:t>
            </a:r>
          </a:p>
          <a:p>
            <a:pPr algn="l">
              <a:lnSpc>
                <a:spcPts val="561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📉 Kinh tế vĩ mô (CPI &amp; Unemployment)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45429" y="1677778"/>
            <a:ext cx="6567413" cy="97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sz="5231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PHẠM VI PHÂN TÍCH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81750" y="847725"/>
            <a:ext cx="6826219" cy="97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  <a:spcBef>
                <a:spcPct val="0"/>
              </a:spcBef>
            </a:pPr>
            <a:r>
              <a:rPr lang="en-US" sz="5231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TỔNG QUAN DỮ LIỆU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8579" y="2828313"/>
            <a:ext cx="16612561" cy="4630375"/>
            <a:chOff x="0" y="0"/>
            <a:chExt cx="22150082" cy="617383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2150082" cy="6173833"/>
              <a:chOff x="0" y="0"/>
              <a:chExt cx="3954119" cy="11021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54119" cy="1102121"/>
              </a:xfrm>
              <a:custGeom>
                <a:avLst/>
                <a:gdLst/>
                <a:ahLst/>
                <a:cxnLst/>
                <a:rect r="r" b="b" t="t" l="l"/>
                <a:pathLst>
                  <a:path h="1102121" w="3954119">
                    <a:moveTo>
                      <a:pt x="26299" y="0"/>
                    </a:moveTo>
                    <a:lnTo>
                      <a:pt x="3927820" y="0"/>
                    </a:lnTo>
                    <a:cubicBezTo>
                      <a:pt x="3934795" y="0"/>
                      <a:pt x="3941484" y="2771"/>
                      <a:pt x="3946416" y="7703"/>
                    </a:cubicBezTo>
                    <a:cubicBezTo>
                      <a:pt x="3951348" y="12635"/>
                      <a:pt x="3954119" y="19324"/>
                      <a:pt x="3954119" y="26299"/>
                    </a:cubicBezTo>
                    <a:lnTo>
                      <a:pt x="3954119" y="1075822"/>
                    </a:lnTo>
                    <a:cubicBezTo>
                      <a:pt x="3954119" y="1082797"/>
                      <a:pt x="3951348" y="1089486"/>
                      <a:pt x="3946416" y="1094418"/>
                    </a:cubicBezTo>
                    <a:cubicBezTo>
                      <a:pt x="3941484" y="1099350"/>
                      <a:pt x="3934795" y="1102121"/>
                      <a:pt x="3927820" y="1102121"/>
                    </a:cubicBezTo>
                    <a:lnTo>
                      <a:pt x="26299" y="1102121"/>
                    </a:lnTo>
                    <a:cubicBezTo>
                      <a:pt x="19324" y="1102121"/>
                      <a:pt x="12635" y="1099350"/>
                      <a:pt x="7703" y="1094418"/>
                    </a:cubicBezTo>
                    <a:cubicBezTo>
                      <a:pt x="2771" y="1089486"/>
                      <a:pt x="0" y="1082797"/>
                      <a:pt x="0" y="1075822"/>
                    </a:cubicBezTo>
                    <a:lnTo>
                      <a:pt x="0" y="26299"/>
                    </a:lnTo>
                    <a:cubicBezTo>
                      <a:pt x="0" y="19324"/>
                      <a:pt x="2771" y="12635"/>
                      <a:pt x="7703" y="7703"/>
                    </a:cubicBezTo>
                    <a:cubicBezTo>
                      <a:pt x="12635" y="2771"/>
                      <a:pt x="19324" y="0"/>
                      <a:pt x="26299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3954119" cy="11306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81593" y="407216"/>
              <a:ext cx="20986896" cy="541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80" indent="-453390" lvl="1">
                <a:lnSpc>
                  <a:spcPts val="6552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Tập dữ liệu</a:t>
              </a:r>
              <a:r>
                <a:rPr lang="en-US" b="true" sz="4200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“Walmart Recruiting - Store Sales Forecasting” </a:t>
              </a:r>
              <a:r>
                <a:rPr lang="en-US" sz="42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của Walmart</a:t>
              </a:r>
            </a:p>
            <a:p>
              <a:pPr algn="l" marL="906780" indent="-453390" lvl="1">
                <a:lnSpc>
                  <a:spcPts val="6552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Được công bố trên Kaggle năm 2014</a:t>
              </a:r>
            </a:p>
            <a:p>
              <a:pPr algn="l" marL="906780" indent="-453390" lvl="1">
                <a:lnSpc>
                  <a:spcPts val="6552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Link: </a:t>
              </a:r>
              <a:r>
                <a:rPr lang="en-US" sz="4200" u="sng">
                  <a:solidFill>
                    <a:srgbClr val="2E6FB7"/>
                  </a:solidFill>
                  <a:latin typeface="Source Sans Pro"/>
                  <a:ea typeface="Source Sans Pro"/>
                  <a:cs typeface="Source Sans Pro"/>
                  <a:sym typeface="Source Sans Pro"/>
                  <a:hlinkClick r:id="rId10" tooltip="https://www.kaggle.com/c/walmart-recruiting-store-sales-forecasting"/>
                </a:rPr>
                <a:t>https://www.kaggle.com/c/walmart-recruiting-store-sales-forecasting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56422" y="2849282"/>
            <a:ext cx="7456760" cy="3021175"/>
            <a:chOff x="0" y="0"/>
            <a:chExt cx="9942347" cy="402823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942347" cy="4028233"/>
              <a:chOff x="0" y="0"/>
              <a:chExt cx="2720218" cy="11021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0218" cy="1102121"/>
              </a:xfrm>
              <a:custGeom>
                <a:avLst/>
                <a:gdLst/>
                <a:ahLst/>
                <a:cxnLst/>
                <a:rect r="r" b="b" t="t" l="l"/>
                <a:pathLst>
                  <a:path h="1102121" w="2720218">
                    <a:moveTo>
                      <a:pt x="38229" y="0"/>
                    </a:moveTo>
                    <a:lnTo>
                      <a:pt x="2681989" y="0"/>
                    </a:lnTo>
                    <a:cubicBezTo>
                      <a:pt x="2703102" y="0"/>
                      <a:pt x="2720218" y="17116"/>
                      <a:pt x="2720218" y="38229"/>
                    </a:cubicBezTo>
                    <a:lnTo>
                      <a:pt x="2720218" y="1063892"/>
                    </a:lnTo>
                    <a:cubicBezTo>
                      <a:pt x="2720218" y="1085006"/>
                      <a:pt x="2703102" y="1102121"/>
                      <a:pt x="2681989" y="1102121"/>
                    </a:cubicBezTo>
                    <a:lnTo>
                      <a:pt x="38229" y="1102121"/>
                    </a:lnTo>
                    <a:cubicBezTo>
                      <a:pt x="28090" y="1102121"/>
                      <a:pt x="18366" y="1098093"/>
                      <a:pt x="11197" y="1090924"/>
                    </a:cubicBezTo>
                    <a:cubicBezTo>
                      <a:pt x="4028" y="1083755"/>
                      <a:pt x="0" y="1074031"/>
                      <a:pt x="0" y="1063892"/>
                    </a:cubicBezTo>
                    <a:lnTo>
                      <a:pt x="0" y="38229"/>
                    </a:lnTo>
                    <a:cubicBezTo>
                      <a:pt x="0" y="28090"/>
                      <a:pt x="4028" y="18366"/>
                      <a:pt x="11197" y="11197"/>
                    </a:cubicBezTo>
                    <a:cubicBezTo>
                      <a:pt x="18366" y="4028"/>
                      <a:pt x="28090" y="0"/>
                      <a:pt x="38229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720218" cy="11306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61055" y="263667"/>
              <a:ext cx="9416940" cy="3531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1439" indent="-295719" lvl="1">
                <a:lnSpc>
                  <a:spcPts val="4273"/>
                </a:lnSpc>
                <a:buFont typeface="Arial"/>
                <a:buChar char="•"/>
              </a:pPr>
              <a:r>
                <a:rPr lang="en-US" b="true" sz="273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Thời gian: </a:t>
              </a:r>
              <a:r>
                <a:rPr lang="en-US" sz="2739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143 tuần từ tháng 2/2010 đến tháng 12/2012.</a:t>
              </a:r>
            </a:p>
            <a:p>
              <a:pPr algn="l" marL="591439" indent="-295719" lvl="1">
                <a:lnSpc>
                  <a:spcPts val="4273"/>
                </a:lnSpc>
                <a:buFont typeface="Arial"/>
                <a:buChar char="•"/>
              </a:pPr>
              <a:r>
                <a:rPr lang="en-US" b="true" sz="273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Không gian:</a:t>
              </a:r>
              <a:r>
                <a:rPr lang="en-US" sz="2739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45 cửa hàng Walmart tại Mỹ.</a:t>
              </a:r>
            </a:p>
            <a:p>
              <a:pPr algn="l" marL="591439" indent="-295719" lvl="1">
                <a:lnSpc>
                  <a:spcPts val="4273"/>
                </a:lnSpc>
                <a:buFont typeface="Arial"/>
                <a:buChar char="•"/>
              </a:pPr>
              <a:r>
                <a:rPr lang="en-US" b="true" sz="273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Cấp độ:</a:t>
              </a:r>
              <a:r>
                <a:rPr lang="en-US" sz="2739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Dữ liệu chi tiết theo từng department (bộ phận) trong mỗi cửa hàng.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6422" y="6655438"/>
            <a:ext cx="7456760" cy="1924797"/>
            <a:chOff x="0" y="0"/>
            <a:chExt cx="9942347" cy="25663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942347" cy="2566396"/>
              <a:chOff x="0" y="0"/>
              <a:chExt cx="2741884" cy="70775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41884" cy="707757"/>
              </a:xfrm>
              <a:custGeom>
                <a:avLst/>
                <a:gdLst/>
                <a:ahLst/>
                <a:cxnLst/>
                <a:rect r="r" b="b" t="t" l="l"/>
                <a:pathLst>
                  <a:path h="707757" w="2741884">
                    <a:moveTo>
                      <a:pt x="37927" y="0"/>
                    </a:moveTo>
                    <a:lnTo>
                      <a:pt x="2703958" y="0"/>
                    </a:lnTo>
                    <a:cubicBezTo>
                      <a:pt x="2714017" y="0"/>
                      <a:pt x="2723663" y="3996"/>
                      <a:pt x="2730776" y="11108"/>
                    </a:cubicBezTo>
                    <a:cubicBezTo>
                      <a:pt x="2737889" y="18221"/>
                      <a:pt x="2741884" y="27868"/>
                      <a:pt x="2741884" y="37927"/>
                    </a:cubicBezTo>
                    <a:lnTo>
                      <a:pt x="2741884" y="669830"/>
                    </a:lnTo>
                    <a:cubicBezTo>
                      <a:pt x="2741884" y="679889"/>
                      <a:pt x="2737889" y="689536"/>
                      <a:pt x="2730776" y="696648"/>
                    </a:cubicBezTo>
                    <a:cubicBezTo>
                      <a:pt x="2723663" y="703761"/>
                      <a:pt x="2714017" y="707757"/>
                      <a:pt x="2703958" y="707757"/>
                    </a:cubicBezTo>
                    <a:lnTo>
                      <a:pt x="37927" y="707757"/>
                    </a:lnTo>
                    <a:cubicBezTo>
                      <a:pt x="27868" y="707757"/>
                      <a:pt x="18221" y="703761"/>
                      <a:pt x="11108" y="696648"/>
                    </a:cubicBezTo>
                    <a:cubicBezTo>
                      <a:pt x="3996" y="689536"/>
                      <a:pt x="0" y="679889"/>
                      <a:pt x="0" y="669830"/>
                    </a:cubicBezTo>
                    <a:lnTo>
                      <a:pt x="0" y="37927"/>
                    </a:lnTo>
                    <a:cubicBezTo>
                      <a:pt x="0" y="27868"/>
                      <a:pt x="3996" y="18221"/>
                      <a:pt x="11108" y="11108"/>
                    </a:cubicBezTo>
                    <a:cubicBezTo>
                      <a:pt x="18221" y="3996"/>
                      <a:pt x="27868" y="0"/>
                      <a:pt x="37927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41884" cy="7363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1055" y="260831"/>
              <a:ext cx="9416940" cy="2074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9"/>
                </a:lnSpc>
              </a:pPr>
              <a:r>
                <a:rPr lang="en-US" sz="2717" b="true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Kích thước </a:t>
              </a:r>
            </a:p>
            <a:p>
              <a:pPr algn="l" marL="586765" indent="-293382" lvl="1">
                <a:lnSpc>
                  <a:spcPts val="4239"/>
                </a:lnSpc>
                <a:buFont typeface="Arial"/>
                <a:buChar char="•"/>
              </a:pPr>
              <a:r>
                <a:rPr lang="en-US" b="true" sz="2717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Số dòng: 421,570 </a:t>
              </a:r>
            </a:p>
            <a:p>
              <a:pPr algn="l" marL="586765" indent="-293382" lvl="1">
                <a:lnSpc>
                  <a:spcPts val="4239"/>
                </a:lnSpc>
                <a:buFont typeface="Arial"/>
                <a:buChar char="•"/>
              </a:pPr>
              <a:r>
                <a:rPr lang="en-US" b="true" sz="2717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Số cột: 16</a:t>
              </a:r>
            </a:p>
          </p:txBody>
        </p:sp>
      </p:grpSp>
      <p:graphicFrame>
        <p:nvGraphicFramePr>
          <p:cNvPr name="Object 18" id="18"/>
          <p:cNvGraphicFramePr/>
          <p:nvPr/>
        </p:nvGraphicFramePr>
        <p:xfrm>
          <a:off x="8181600" y="103763"/>
          <a:ext cx="4356847" cy="8229600"/>
        </p:xfrm>
        <a:graphic>
          <a:graphicData uri="http://schemas.openxmlformats.org/presentationml/2006/ole">
            <p:oleObj imgW="5994400" imgH="98679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912562" y="1364236"/>
            <a:ext cx="4744480" cy="94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6"/>
              </a:lnSpc>
              <a:spcBef>
                <a:spcPct val="0"/>
              </a:spcBef>
            </a:pPr>
            <a:r>
              <a:rPr lang="en-US" sz="510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MÔ TẢ DỮ LIỆU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18386" y="1028700"/>
            <a:ext cx="9629683" cy="9024586"/>
          </a:xfrm>
          <a:custGeom>
            <a:avLst/>
            <a:gdLst/>
            <a:ahLst/>
            <a:cxnLst/>
            <a:rect r="r" b="b" t="t" l="l"/>
            <a:pathLst>
              <a:path h="9024586" w="9629683">
                <a:moveTo>
                  <a:pt x="0" y="0"/>
                </a:moveTo>
                <a:lnTo>
                  <a:pt x="9629683" y="0"/>
                </a:lnTo>
                <a:lnTo>
                  <a:pt x="9629683" y="9024586"/>
                </a:lnTo>
                <a:lnTo>
                  <a:pt x="0" y="90245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67938" y="152399"/>
            <a:ext cx="7733073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TỔNG QUAN DỮ LIỆU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26683" y="2517760"/>
            <a:ext cx="5759566" cy="2420164"/>
            <a:chOff x="0" y="0"/>
            <a:chExt cx="7679421" cy="322688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552269" cy="3226886"/>
              <a:chOff x="0" y="0"/>
              <a:chExt cx="1658495" cy="70863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8495" cy="708631"/>
              </a:xfrm>
              <a:custGeom>
                <a:avLst/>
                <a:gdLst/>
                <a:ahLst/>
                <a:cxnLst/>
                <a:rect r="r" b="b" t="t" l="l"/>
                <a:pathLst>
                  <a:path h="708631" w="1658495">
                    <a:moveTo>
                      <a:pt x="62702" y="0"/>
                    </a:moveTo>
                    <a:lnTo>
                      <a:pt x="1595794" y="0"/>
                    </a:lnTo>
                    <a:cubicBezTo>
                      <a:pt x="1612423" y="0"/>
                      <a:pt x="1628372" y="6606"/>
                      <a:pt x="1640131" y="18365"/>
                    </a:cubicBezTo>
                    <a:cubicBezTo>
                      <a:pt x="1651889" y="30124"/>
                      <a:pt x="1658495" y="46072"/>
                      <a:pt x="1658495" y="62702"/>
                    </a:cubicBezTo>
                    <a:lnTo>
                      <a:pt x="1658495" y="645930"/>
                    </a:lnTo>
                    <a:cubicBezTo>
                      <a:pt x="1658495" y="662559"/>
                      <a:pt x="1651889" y="678508"/>
                      <a:pt x="1640131" y="690267"/>
                    </a:cubicBezTo>
                    <a:cubicBezTo>
                      <a:pt x="1628372" y="702025"/>
                      <a:pt x="1612423" y="708631"/>
                      <a:pt x="1595794" y="708631"/>
                    </a:cubicBezTo>
                    <a:lnTo>
                      <a:pt x="62702" y="708631"/>
                    </a:lnTo>
                    <a:cubicBezTo>
                      <a:pt x="46072" y="708631"/>
                      <a:pt x="30124" y="702025"/>
                      <a:pt x="18365" y="690267"/>
                    </a:cubicBezTo>
                    <a:cubicBezTo>
                      <a:pt x="6606" y="678508"/>
                      <a:pt x="0" y="662559"/>
                      <a:pt x="0" y="645930"/>
                    </a:cubicBezTo>
                    <a:lnTo>
                      <a:pt x="0" y="62702"/>
                    </a:lnTo>
                    <a:cubicBezTo>
                      <a:pt x="0" y="46072"/>
                      <a:pt x="6606" y="30124"/>
                      <a:pt x="18365" y="18365"/>
                    </a:cubicBezTo>
                    <a:cubicBezTo>
                      <a:pt x="30124" y="6606"/>
                      <a:pt x="46072" y="0"/>
                      <a:pt x="62702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658495" cy="7372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29865"/>
              <a:ext cx="7679421" cy="2452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51"/>
                </a:lnSpc>
                <a:spcBef>
                  <a:spcPct val="0"/>
                </a:spcBef>
              </a:pPr>
              <a:r>
                <a:rPr lang="en-US" b="true" sz="3238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Kết hợp 3 nguồn</a:t>
              </a:r>
              <a:r>
                <a:rPr lang="en-US" b="true" sz="3238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dữ liệu (421,570 dòng) </a:t>
              </a:r>
            </a:p>
            <a:p>
              <a:pPr algn="ctr">
                <a:lnSpc>
                  <a:spcPts val="5051"/>
                </a:lnSpc>
                <a:spcBef>
                  <a:spcPct val="0"/>
                </a:spcBef>
              </a:pPr>
              <a:r>
                <a:rPr lang="en-US" b="true" sz="3238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--&gt; Dữ liệu chi tiết từng tuần.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2913" y="5870457"/>
            <a:ext cx="7107107" cy="2300290"/>
            <a:chOff x="0" y="0"/>
            <a:chExt cx="9476143" cy="306705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476143" cy="3067053"/>
              <a:chOff x="0" y="0"/>
              <a:chExt cx="2189428" cy="70863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89428" cy="708631"/>
              </a:xfrm>
              <a:custGeom>
                <a:avLst/>
                <a:gdLst/>
                <a:ahLst/>
                <a:cxnLst/>
                <a:rect r="r" b="b" t="t" l="l"/>
                <a:pathLst>
                  <a:path h="708631" w="2189428">
                    <a:moveTo>
                      <a:pt x="51264" y="0"/>
                    </a:moveTo>
                    <a:lnTo>
                      <a:pt x="2138164" y="0"/>
                    </a:lnTo>
                    <a:cubicBezTo>
                      <a:pt x="2151760" y="0"/>
                      <a:pt x="2164799" y="5401"/>
                      <a:pt x="2174413" y="15015"/>
                    </a:cubicBezTo>
                    <a:cubicBezTo>
                      <a:pt x="2184027" y="24629"/>
                      <a:pt x="2189428" y="37668"/>
                      <a:pt x="2189428" y="51264"/>
                    </a:cubicBezTo>
                    <a:lnTo>
                      <a:pt x="2189428" y="657367"/>
                    </a:lnTo>
                    <a:cubicBezTo>
                      <a:pt x="2189428" y="670963"/>
                      <a:pt x="2184027" y="684003"/>
                      <a:pt x="2174413" y="693616"/>
                    </a:cubicBezTo>
                    <a:cubicBezTo>
                      <a:pt x="2164799" y="703230"/>
                      <a:pt x="2151760" y="708631"/>
                      <a:pt x="2138164" y="708631"/>
                    </a:cubicBezTo>
                    <a:lnTo>
                      <a:pt x="51264" y="708631"/>
                    </a:lnTo>
                    <a:cubicBezTo>
                      <a:pt x="37668" y="708631"/>
                      <a:pt x="24629" y="703230"/>
                      <a:pt x="15015" y="693616"/>
                    </a:cubicBezTo>
                    <a:cubicBezTo>
                      <a:pt x="5401" y="684003"/>
                      <a:pt x="0" y="670963"/>
                      <a:pt x="0" y="657367"/>
                    </a:cubicBezTo>
                    <a:lnTo>
                      <a:pt x="0" y="51264"/>
                    </a:lnTo>
                    <a:cubicBezTo>
                      <a:pt x="0" y="37668"/>
                      <a:pt x="5401" y="24629"/>
                      <a:pt x="15015" y="15015"/>
                    </a:cubicBezTo>
                    <a:cubicBezTo>
                      <a:pt x="24629" y="5401"/>
                      <a:pt x="37668" y="0"/>
                      <a:pt x="51264" y="0"/>
                    </a:cubicBezTo>
                    <a:close/>
                  </a:path>
                </a:pathLst>
              </a:custGeom>
              <a:solidFill>
                <a:srgbClr val="C4E2FF"/>
              </a:solidFill>
              <a:ln w="38100" cap="rnd">
                <a:solidFill>
                  <a:srgbClr val="41B8D5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2189428" cy="737206"/>
              </a:xfrm>
              <a:prstGeom prst="rect">
                <a:avLst/>
              </a:prstGeom>
            </p:spPr>
            <p:txBody>
              <a:bodyPr anchor="ctr" rtlCol="false" tIns="47066" lIns="47066" bIns="47066" rIns="47066"/>
              <a:lstStyle/>
              <a:p>
                <a:pPr algn="ctr">
                  <a:lnSpc>
                    <a:spcPts val="196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84500" y="317390"/>
              <a:ext cx="9107144" cy="2327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1"/>
                </a:lnSpc>
                <a:spcBef>
                  <a:spcPct val="0"/>
                </a:spcBef>
              </a:pPr>
              <a:r>
                <a:rPr lang="en-US" b="true" sz="3077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Tổng hợp </a:t>
              </a:r>
              <a:r>
                <a:rPr lang="en-US" b="true" sz="3077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dữ liệu thành df_store </a:t>
              </a:r>
            </a:p>
            <a:p>
              <a:pPr algn="ctr">
                <a:lnSpc>
                  <a:spcPts val="4801"/>
                </a:lnSpc>
                <a:spcBef>
                  <a:spcPct val="0"/>
                </a:spcBef>
              </a:pPr>
              <a:r>
                <a:rPr lang="en-US" b="true" sz="3077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→ Để so sánh hiệu suất giữa 45 cửa hàng (Quy mô, Loại hình)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132496" y="7724345"/>
            <a:ext cx="2687793" cy="44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37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421,570 dòng x 5 cột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68157" y="4227547"/>
            <a:ext cx="2589508" cy="45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  <a:spcBef>
                <a:spcPct val="0"/>
              </a:spcBef>
            </a:pPr>
            <a:r>
              <a:rPr lang="en-US" b="true" sz="2432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8,190 dòng × 12 cột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49778" y="3642118"/>
            <a:ext cx="1984743" cy="45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  <a:spcBef>
                <a:spcPct val="0"/>
              </a:spcBef>
            </a:pPr>
            <a:r>
              <a:rPr lang="en-US" b="true" sz="240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45 dòng × 3 cột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62249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57600" y="-612791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1"/>
                </a:lnTo>
                <a:lnTo>
                  <a:pt x="0" y="2566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2432809" y="1536567"/>
          <a:ext cx="3771900" cy="5657850"/>
        </p:xfrm>
        <a:graphic>
          <a:graphicData uri="http://schemas.openxmlformats.org/presentationml/2006/ole">
            <p:oleObj imgW="4902200" imgH="67818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042629" y="266699"/>
            <a:ext cx="12202743" cy="92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DỮ LIỆU TRƯỚC TIỀN XỬ LÝ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82090" y="1199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1824266" y="2016670"/>
          <a:ext cx="15087600" cy="2514600"/>
        </p:xfrm>
        <a:graphic>
          <a:graphicData uri="http://schemas.openxmlformats.org/presentationml/2006/ole">
            <p:oleObj imgW="18097500" imgH="55245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9" id="9"/>
          <p:cNvGraphicFramePr/>
          <p:nvPr/>
        </p:nvGraphicFramePr>
        <p:xfrm>
          <a:off x="1869631" y="6182877"/>
          <a:ext cx="15087600" cy="2514600"/>
        </p:xfrm>
        <a:graphic>
          <a:graphicData uri="http://schemas.openxmlformats.org/presentationml/2006/ole">
            <p:oleObj imgW="18097500" imgH="55245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091994" y="456491"/>
            <a:ext cx="10972735" cy="94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6"/>
              </a:lnSpc>
              <a:spcBef>
                <a:spcPct val="0"/>
              </a:spcBef>
            </a:pPr>
            <a:r>
              <a:rPr lang="en-US" sz="510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3 DÒNG ĐẦU DỮ LIỆU TRƯỚC XỬ LÝ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91615" y="1199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17350" y="636271"/>
            <a:ext cx="8194948" cy="9650729"/>
          </a:xfrm>
          <a:custGeom>
            <a:avLst/>
            <a:gdLst/>
            <a:ahLst/>
            <a:cxnLst/>
            <a:rect r="r" b="b" t="t" l="l"/>
            <a:pathLst>
              <a:path h="9650729" w="8194948">
                <a:moveTo>
                  <a:pt x="0" y="0"/>
                </a:moveTo>
                <a:lnTo>
                  <a:pt x="8194949" y="0"/>
                </a:lnTo>
                <a:lnTo>
                  <a:pt x="8194949" y="9650729"/>
                </a:lnTo>
                <a:lnTo>
                  <a:pt x="0" y="9650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725" t="-11668" r="-18614" b="-8538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09110" y="1143910"/>
            <a:ext cx="6072781" cy="1534757"/>
          </a:xfrm>
          <a:custGeom>
            <a:avLst/>
            <a:gdLst/>
            <a:ahLst/>
            <a:cxnLst/>
            <a:rect r="r" b="b" t="t" l="l"/>
            <a:pathLst>
              <a:path h="1534757" w="6072781">
                <a:moveTo>
                  <a:pt x="0" y="0"/>
                </a:moveTo>
                <a:lnTo>
                  <a:pt x="6072781" y="0"/>
                </a:lnTo>
                <a:lnTo>
                  <a:pt x="6072781" y="1534757"/>
                </a:lnTo>
                <a:lnTo>
                  <a:pt x="0" y="15347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93777" y="1802579"/>
            <a:ext cx="2174188" cy="217419"/>
          </a:xfrm>
          <a:custGeom>
            <a:avLst/>
            <a:gdLst/>
            <a:ahLst/>
            <a:cxnLst/>
            <a:rect r="r" b="b" t="t" l="l"/>
            <a:pathLst>
              <a:path h="217419" w="2174188">
                <a:moveTo>
                  <a:pt x="0" y="0"/>
                </a:moveTo>
                <a:lnTo>
                  <a:pt x="2174188" y="0"/>
                </a:lnTo>
                <a:lnTo>
                  <a:pt x="2174188" y="217419"/>
                </a:lnTo>
                <a:lnTo>
                  <a:pt x="0" y="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36025" y="14923"/>
            <a:ext cx="661595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QUY TRÌNH XỬ LÝ DỮ LIỆU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7243" y="1316804"/>
            <a:ext cx="550266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Nắm tổng quan về kích thước và nội dung dữ liệu nguồn.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18806" y="4562729"/>
            <a:ext cx="2174188" cy="217419"/>
          </a:xfrm>
          <a:custGeom>
            <a:avLst/>
            <a:gdLst/>
            <a:ahLst/>
            <a:cxnLst/>
            <a:rect r="r" b="b" t="t" l="l"/>
            <a:pathLst>
              <a:path h="217419" w="2174188">
                <a:moveTo>
                  <a:pt x="0" y="0"/>
                </a:moveTo>
                <a:lnTo>
                  <a:pt x="2174188" y="0"/>
                </a:lnTo>
                <a:lnTo>
                  <a:pt x="2174188" y="217419"/>
                </a:lnTo>
                <a:lnTo>
                  <a:pt x="0" y="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09110" y="3458619"/>
            <a:ext cx="7029122" cy="1776451"/>
          </a:xfrm>
          <a:custGeom>
            <a:avLst/>
            <a:gdLst/>
            <a:ahLst/>
            <a:cxnLst/>
            <a:rect r="r" b="b" t="t" l="l"/>
            <a:pathLst>
              <a:path h="1776451" w="7029122">
                <a:moveTo>
                  <a:pt x="0" y="0"/>
                </a:moveTo>
                <a:lnTo>
                  <a:pt x="7029121" y="0"/>
                </a:lnTo>
                <a:lnTo>
                  <a:pt x="7029121" y="1776451"/>
                </a:lnTo>
                <a:lnTo>
                  <a:pt x="0" y="17764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93249" y="3543300"/>
            <a:ext cx="634629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Tính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tỷ lệ % dữ liệu bị thiếu trên từng cột =&gt; Xác định các trường thiếu thông tin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56906" y="8832987"/>
            <a:ext cx="2174188" cy="217419"/>
          </a:xfrm>
          <a:custGeom>
            <a:avLst/>
            <a:gdLst/>
            <a:ahLst/>
            <a:cxnLst/>
            <a:rect r="r" b="b" t="t" l="l"/>
            <a:pathLst>
              <a:path h="217419" w="2174188">
                <a:moveTo>
                  <a:pt x="0" y="0"/>
                </a:moveTo>
                <a:lnTo>
                  <a:pt x="2174188" y="0"/>
                </a:lnTo>
                <a:lnTo>
                  <a:pt x="2174188" y="217419"/>
                </a:lnTo>
                <a:lnTo>
                  <a:pt x="0" y="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40002" y="8273503"/>
            <a:ext cx="6072781" cy="1534757"/>
          </a:xfrm>
          <a:custGeom>
            <a:avLst/>
            <a:gdLst/>
            <a:ahLst/>
            <a:cxnLst/>
            <a:rect r="r" b="b" t="t" l="l"/>
            <a:pathLst>
              <a:path h="1534757" w="6072781">
                <a:moveTo>
                  <a:pt x="0" y="0"/>
                </a:moveTo>
                <a:lnTo>
                  <a:pt x="6072781" y="0"/>
                </a:lnTo>
                <a:lnTo>
                  <a:pt x="6072781" y="1534757"/>
                </a:lnTo>
                <a:lnTo>
                  <a:pt x="0" y="15347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78135" y="8446397"/>
            <a:ext cx="550266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Loại bỏ trùng lặp, 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tránh sai lệch khi tính toán thống kê.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309110" y="5920870"/>
            <a:ext cx="7029122" cy="1776451"/>
          </a:xfrm>
          <a:custGeom>
            <a:avLst/>
            <a:gdLst/>
            <a:ahLst/>
            <a:cxnLst/>
            <a:rect r="r" b="b" t="t" l="l"/>
            <a:pathLst>
              <a:path h="1776451" w="7029122">
                <a:moveTo>
                  <a:pt x="0" y="0"/>
                </a:moveTo>
                <a:lnTo>
                  <a:pt x="7029121" y="0"/>
                </a:lnTo>
                <a:lnTo>
                  <a:pt x="7029121" y="1776450"/>
                </a:lnTo>
                <a:lnTo>
                  <a:pt x="0" y="1776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678135" y="5989945"/>
            <a:ext cx="6346298" cy="158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T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hống nhất và kết hợp thông tin từ 3 file → Chuẩn bị cho phân tích , tránh phân tích rời rạc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56906" y="6809127"/>
            <a:ext cx="2174188" cy="217419"/>
          </a:xfrm>
          <a:custGeom>
            <a:avLst/>
            <a:gdLst/>
            <a:ahLst/>
            <a:cxnLst/>
            <a:rect r="r" b="b" t="t" l="l"/>
            <a:pathLst>
              <a:path h="217419" w="2174188">
                <a:moveTo>
                  <a:pt x="0" y="0"/>
                </a:moveTo>
                <a:lnTo>
                  <a:pt x="2174188" y="0"/>
                </a:lnTo>
                <a:lnTo>
                  <a:pt x="2174188" y="217419"/>
                </a:lnTo>
                <a:lnTo>
                  <a:pt x="0" y="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634465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19867" y="42545"/>
            <a:ext cx="684826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QUY TRÌNH XỬ LÝ DỮ LIỆU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4202" y="636271"/>
            <a:ext cx="9080048" cy="9650729"/>
          </a:xfrm>
          <a:custGeom>
            <a:avLst/>
            <a:gdLst/>
            <a:ahLst/>
            <a:cxnLst/>
            <a:rect r="r" b="b" t="t" l="l"/>
            <a:pathLst>
              <a:path h="9650729" w="9080048">
                <a:moveTo>
                  <a:pt x="0" y="0"/>
                </a:moveTo>
                <a:lnTo>
                  <a:pt x="9080049" y="0"/>
                </a:lnTo>
                <a:lnTo>
                  <a:pt x="9080049" y="9650729"/>
                </a:lnTo>
                <a:lnTo>
                  <a:pt x="0" y="9650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171" t="-81947" r="-13535" b="-64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83063" y="1857369"/>
            <a:ext cx="1888438" cy="188844"/>
          </a:xfrm>
          <a:custGeom>
            <a:avLst/>
            <a:gdLst/>
            <a:ahLst/>
            <a:cxnLst/>
            <a:rect r="r" b="b" t="t" l="l"/>
            <a:pathLst>
              <a:path h="188844" w="1888438">
                <a:moveTo>
                  <a:pt x="0" y="0"/>
                </a:moveTo>
                <a:lnTo>
                  <a:pt x="1888438" y="0"/>
                </a:lnTo>
                <a:lnTo>
                  <a:pt x="1888438" y="188843"/>
                </a:lnTo>
                <a:lnTo>
                  <a:pt x="0" y="188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57226" y="989871"/>
            <a:ext cx="6940463" cy="1754044"/>
          </a:xfrm>
          <a:custGeom>
            <a:avLst/>
            <a:gdLst/>
            <a:ahLst/>
            <a:cxnLst/>
            <a:rect r="r" b="b" t="t" l="l"/>
            <a:pathLst>
              <a:path h="1754044" w="6940463">
                <a:moveTo>
                  <a:pt x="0" y="0"/>
                </a:moveTo>
                <a:lnTo>
                  <a:pt x="6940463" y="0"/>
                </a:lnTo>
                <a:lnTo>
                  <a:pt x="6940463" y="1754045"/>
                </a:lnTo>
                <a:lnTo>
                  <a:pt x="0" y="1754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95360" y="1280278"/>
            <a:ext cx="611031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Chuẩn hóa định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dạng dữ liệu để phù hợp cho tính toán và mô hình hóa.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83063" y="4244387"/>
            <a:ext cx="1888438" cy="188844"/>
          </a:xfrm>
          <a:custGeom>
            <a:avLst/>
            <a:gdLst/>
            <a:ahLst/>
            <a:cxnLst/>
            <a:rect r="r" b="b" t="t" l="l"/>
            <a:pathLst>
              <a:path h="188844" w="1888438">
                <a:moveTo>
                  <a:pt x="0" y="0"/>
                </a:moveTo>
                <a:lnTo>
                  <a:pt x="1888438" y="0"/>
                </a:lnTo>
                <a:lnTo>
                  <a:pt x="1888438" y="188844"/>
                </a:lnTo>
                <a:lnTo>
                  <a:pt x="0" y="188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92823" y="3216444"/>
            <a:ext cx="7090940" cy="1792074"/>
          </a:xfrm>
          <a:custGeom>
            <a:avLst/>
            <a:gdLst/>
            <a:ahLst/>
            <a:cxnLst/>
            <a:rect r="r" b="b" t="t" l="l"/>
            <a:pathLst>
              <a:path h="1792074" w="7090940">
                <a:moveTo>
                  <a:pt x="0" y="0"/>
                </a:moveTo>
                <a:lnTo>
                  <a:pt x="7090939" y="0"/>
                </a:lnTo>
                <a:lnTo>
                  <a:pt x="7090939" y="1792074"/>
                </a:lnTo>
                <a:lnTo>
                  <a:pt x="0" y="17920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29703" y="3330611"/>
            <a:ext cx="67298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Phát hiện 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dữ liệu nhiễu, loại bỏ dữ liệu sai (trả hàng/lỗi) =&gt; tránh ảnh hưởng đến mô hình dự đoán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83063" y="6434234"/>
            <a:ext cx="1888438" cy="188844"/>
          </a:xfrm>
          <a:custGeom>
            <a:avLst/>
            <a:gdLst/>
            <a:ahLst/>
            <a:cxnLst/>
            <a:rect r="r" b="b" t="t" l="l"/>
            <a:pathLst>
              <a:path h="188844" w="1888438">
                <a:moveTo>
                  <a:pt x="0" y="0"/>
                </a:moveTo>
                <a:lnTo>
                  <a:pt x="1888438" y="0"/>
                </a:lnTo>
                <a:lnTo>
                  <a:pt x="1888438" y="188844"/>
                </a:lnTo>
                <a:lnTo>
                  <a:pt x="0" y="188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30923" y="5538197"/>
            <a:ext cx="7090940" cy="1792074"/>
          </a:xfrm>
          <a:custGeom>
            <a:avLst/>
            <a:gdLst/>
            <a:ahLst/>
            <a:cxnLst/>
            <a:rect r="r" b="b" t="t" l="l"/>
            <a:pathLst>
              <a:path h="1792074" w="7090940">
                <a:moveTo>
                  <a:pt x="0" y="0"/>
                </a:moveTo>
                <a:lnTo>
                  <a:pt x="7090939" y="0"/>
                </a:lnTo>
                <a:lnTo>
                  <a:pt x="7090939" y="1792074"/>
                </a:lnTo>
                <a:lnTo>
                  <a:pt x="0" y="17920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67803" y="5652364"/>
            <a:ext cx="6729886" cy="158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Chuyển từ 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dữ liệu chi tiết (theo bộ phận) sang dữ liệu tổng hợp (theo cửa hàng) để phân tích vĩ mô.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83063" y="8623328"/>
            <a:ext cx="1888438" cy="188844"/>
          </a:xfrm>
          <a:custGeom>
            <a:avLst/>
            <a:gdLst/>
            <a:ahLst/>
            <a:cxnLst/>
            <a:rect r="r" b="b" t="t" l="l"/>
            <a:pathLst>
              <a:path h="188844" w="1888438">
                <a:moveTo>
                  <a:pt x="0" y="0"/>
                </a:moveTo>
                <a:lnTo>
                  <a:pt x="1888438" y="0"/>
                </a:lnTo>
                <a:lnTo>
                  <a:pt x="1888438" y="188843"/>
                </a:lnTo>
                <a:lnTo>
                  <a:pt x="0" y="188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30923" y="7977971"/>
            <a:ext cx="7090940" cy="1792074"/>
          </a:xfrm>
          <a:custGeom>
            <a:avLst/>
            <a:gdLst/>
            <a:ahLst/>
            <a:cxnLst/>
            <a:rect r="r" b="b" t="t" l="l"/>
            <a:pathLst>
              <a:path h="1792074" w="7090940">
                <a:moveTo>
                  <a:pt x="0" y="0"/>
                </a:moveTo>
                <a:lnTo>
                  <a:pt x="7090939" y="0"/>
                </a:lnTo>
                <a:lnTo>
                  <a:pt x="7090939" y="1792074"/>
                </a:lnTo>
                <a:lnTo>
                  <a:pt x="0" y="17920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67803" y="8092138"/>
            <a:ext cx="67298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Tìm các tuần có </a:t>
            </a:r>
            <a:r>
              <a:rPr lang="en-US" b="true" sz="30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doanh số cao/thấp bất thường =&gt; Nhận diện các tuần lễ lớn, phân tích tác động của ngày lễ.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15415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57600" y="-612791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1"/>
                </a:lnTo>
                <a:lnTo>
                  <a:pt x="0" y="2566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2174168" y="1329244"/>
          <a:ext cx="5657850" cy="5657850"/>
        </p:xfrm>
        <a:graphic>
          <a:graphicData uri="http://schemas.openxmlformats.org/presentationml/2006/ole">
            <p:oleObj imgW="6781800" imgH="67818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553791" y="219066"/>
            <a:ext cx="11180419" cy="92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KẾT QUẢ SAU TIỀN XỬ LÝ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86840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995816" y="1938881"/>
          <a:ext cx="16230600" cy="2404533"/>
        </p:xfrm>
        <a:graphic>
          <a:graphicData uri="http://schemas.openxmlformats.org/presentationml/2006/ole">
            <p:oleObj imgW="19469100" imgH="56388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9" id="9"/>
          <p:cNvGraphicFramePr/>
          <p:nvPr/>
        </p:nvGraphicFramePr>
        <p:xfrm>
          <a:off x="3915671" y="6012929"/>
          <a:ext cx="7543800" cy="2514600"/>
        </p:xfrm>
        <a:graphic>
          <a:graphicData uri="http://schemas.openxmlformats.org/presentationml/2006/ole">
            <p:oleObj imgW="9042400" imgH="40132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540838" y="456491"/>
            <a:ext cx="10075047" cy="94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6"/>
              </a:lnSpc>
              <a:spcBef>
                <a:spcPct val="0"/>
              </a:spcBef>
            </a:pPr>
            <a:r>
              <a:rPr lang="en-US" sz="510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3 DÒNG ĐẦU DỮ LIỆU SAU XỬ LÝ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24940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100" y="1799757"/>
            <a:ext cx="12979944" cy="7382343"/>
          </a:xfrm>
          <a:custGeom>
            <a:avLst/>
            <a:gdLst/>
            <a:ahLst/>
            <a:cxnLst/>
            <a:rect r="r" b="b" t="t" l="l"/>
            <a:pathLst>
              <a:path h="7382343" w="12979944">
                <a:moveTo>
                  <a:pt x="0" y="0"/>
                </a:moveTo>
                <a:lnTo>
                  <a:pt x="12979944" y="0"/>
                </a:lnTo>
                <a:lnTo>
                  <a:pt x="12979944" y="7382343"/>
                </a:lnTo>
                <a:lnTo>
                  <a:pt x="0" y="73823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2705633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DOANH SỐ PHÂN BỐ NHƯ THẾ NÀO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18044" y="3123670"/>
            <a:ext cx="5308056" cy="485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Doanh số hàng tuần: $0.5M - $1.5M.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Phân bố lệch phải.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Doanh số không ổn định giữa các tuần.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  → </a:t>
            </a:r>
            <a:r>
              <a:rPr lang="en-US" sz="30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Xác định tuần cao điểm để tối ưu chiến lược kinh doanh.</a:t>
            </a:r>
          </a:p>
          <a:p>
            <a:pPr algn="l">
              <a:lnSpc>
                <a:spcPts val="481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53515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042889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8492863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36" y="1750237"/>
            <a:ext cx="13076555" cy="7660467"/>
          </a:xfrm>
          <a:custGeom>
            <a:avLst/>
            <a:gdLst/>
            <a:ahLst/>
            <a:cxnLst/>
            <a:rect r="r" b="b" t="t" l="l"/>
            <a:pathLst>
              <a:path h="7660467" w="13076555">
                <a:moveTo>
                  <a:pt x="0" y="0"/>
                </a:moveTo>
                <a:lnTo>
                  <a:pt x="13076555" y="0"/>
                </a:lnTo>
                <a:lnTo>
                  <a:pt x="13076555" y="7660467"/>
                </a:lnTo>
                <a:lnTo>
                  <a:pt x="0" y="7660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36" r="0" b="-74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2705633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NGÀY LỄ CÓ LÀM TĂNG DOANH SÔ?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97966" y="3895039"/>
            <a:ext cx="5190034" cy="358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Doanh số Tuần lễ  &gt;  Doanh số Tuần thường (tăng 7.84%).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   → Tập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trung nguồn lực vào tuần lễ để tối ưu doanh số.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72565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3157" y="1653842"/>
            <a:ext cx="13568133" cy="7903438"/>
          </a:xfrm>
          <a:custGeom>
            <a:avLst/>
            <a:gdLst/>
            <a:ahLst/>
            <a:cxnLst/>
            <a:rect r="r" b="b" t="t" l="l"/>
            <a:pathLst>
              <a:path h="7903438" w="13568133">
                <a:moveTo>
                  <a:pt x="0" y="0"/>
                </a:moveTo>
                <a:lnTo>
                  <a:pt x="13568133" y="0"/>
                </a:lnTo>
                <a:lnTo>
                  <a:pt x="13568133" y="7903437"/>
                </a:lnTo>
                <a:lnTo>
                  <a:pt x="0" y="79034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2705633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NGÀY LỄ CÓ LÀM TĂNG DOANH SÔ?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94001" y="2750678"/>
            <a:ext cx="5040638" cy="615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So sánh doanh số TB từng ngày lễ với doanh số TB của tuần thường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Thanksgiving có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tác động mạnh nhất.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</a:t>
            </a:r>
            <a:r>
              <a:rPr lang="en-US" sz="2945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Super Bowl có tác động vừa phải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Labor Day và Christmas không có tác động đáng kể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93878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213" y="1735744"/>
            <a:ext cx="11207561" cy="8007269"/>
          </a:xfrm>
          <a:custGeom>
            <a:avLst/>
            <a:gdLst/>
            <a:ahLst/>
            <a:cxnLst/>
            <a:rect r="r" b="b" t="t" l="l"/>
            <a:pathLst>
              <a:path h="8007269" w="11207561">
                <a:moveTo>
                  <a:pt x="0" y="0"/>
                </a:moveTo>
                <a:lnTo>
                  <a:pt x="11207561" y="0"/>
                </a:lnTo>
                <a:lnTo>
                  <a:pt x="11207561" y="8007269"/>
                </a:lnTo>
                <a:lnTo>
                  <a:pt x="0" y="8007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244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3185495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CÓ XU HƯỚNG THEO MÙA HAY KHÔNG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26582" y="2801965"/>
            <a:ext cx="5529368" cy="564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Doanh số trung bình theo từng tháng trong năm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Tháng 12 cao nhất: doanh số TB $1,200,000.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Tháng 1 thấp nhất:  doanh số TB $800,000. 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Doanh số tăng cao tầm Quý 4 (10-12). 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Các tháng giữa năm ổn định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64127" y="3104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5287" y="1713954"/>
            <a:ext cx="11486909" cy="8083600"/>
          </a:xfrm>
          <a:custGeom>
            <a:avLst/>
            <a:gdLst/>
            <a:ahLst/>
            <a:cxnLst/>
            <a:rect r="r" b="b" t="t" l="l"/>
            <a:pathLst>
              <a:path h="8083600" w="11486909">
                <a:moveTo>
                  <a:pt x="0" y="0"/>
                </a:moveTo>
                <a:lnTo>
                  <a:pt x="11486910" y="0"/>
                </a:lnTo>
                <a:lnTo>
                  <a:pt x="11486910" y="8083600"/>
                </a:lnTo>
                <a:lnTo>
                  <a:pt x="0" y="8083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962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3450701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LOẠI CỬA HÀNG ẢNH HƯỞNG THẾ NÀO?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64806" y="2271961"/>
            <a:ext cx="5386520" cy="718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Loại A: Có doanh số trung bình cao nhất ($1,376,687)</a:t>
            </a:r>
          </a:p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Loại B: Doanh số trung bình ($823,012) thấp hơn loại A </a:t>
            </a:r>
          </a:p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Loại C: Doanh số trung bình thấp nhất ($472,620)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 Loại A là loại cửa hàng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hiệu quả nhất về doanh số, nên được ưu tiên mở rộng.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93878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707" y="2025460"/>
            <a:ext cx="12534405" cy="7489307"/>
          </a:xfrm>
          <a:custGeom>
            <a:avLst/>
            <a:gdLst/>
            <a:ahLst/>
            <a:cxnLst/>
            <a:rect r="r" b="b" t="t" l="l"/>
            <a:pathLst>
              <a:path h="7489307" w="12534405">
                <a:moveTo>
                  <a:pt x="0" y="0"/>
                </a:moveTo>
                <a:lnTo>
                  <a:pt x="12534406" y="0"/>
                </a:lnTo>
                <a:lnTo>
                  <a:pt x="12534406" y="7489307"/>
                </a:lnTo>
                <a:lnTo>
                  <a:pt x="0" y="74893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3870581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QUY MÔ LỚN CÓ BÁN ĐƯỢC NHIỀU HƠN?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141" y="2683699"/>
            <a:ext cx="5596459" cy="615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Quan hệ giữa quy mô cửa hàng và doanh số hàng tuần</a:t>
            </a:r>
          </a:p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Xu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hướng tăng: Quy mô cửa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hà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ng lớn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hơn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t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hường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đi kèm với doanh số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cao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hơn.</a:t>
            </a:r>
          </a:p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Vẫn có một số cửa hàng nhỏ đạt doanh số cao và một số cửa hàng lớn có doanh số thấp hơn kỳ vọng.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3203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2100" y="1436494"/>
            <a:ext cx="10585639" cy="8653760"/>
          </a:xfrm>
          <a:custGeom>
            <a:avLst/>
            <a:gdLst/>
            <a:ahLst/>
            <a:cxnLst/>
            <a:rect r="r" b="b" t="t" l="l"/>
            <a:pathLst>
              <a:path h="8653760" w="10585639">
                <a:moveTo>
                  <a:pt x="0" y="0"/>
                </a:moveTo>
                <a:lnTo>
                  <a:pt x="10585639" y="0"/>
                </a:lnTo>
                <a:lnTo>
                  <a:pt x="10585639" y="8653759"/>
                </a:lnTo>
                <a:lnTo>
                  <a:pt x="0" y="86537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13765" y="516131"/>
            <a:ext cx="14260469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CÁC YẾU TỐ KINH TẾ ẢNH HƯỞNG RA SAO?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88516" y="3198178"/>
            <a:ext cx="5596459" cy="512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Size là yếu tố ảnh hưởng mạnh nhất đến doanh số</a:t>
            </a:r>
          </a:p>
          <a:p>
            <a:pPr algn="l" marL="636038" indent="-318019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Các yếu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tố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kinh tế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có 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t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ương</a:t>
            </a: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quan rất yếu với doanh số </a:t>
            </a:r>
          </a:p>
          <a:p>
            <a:pPr algn="l">
              <a:lnSpc>
                <a:spcPts val="4124"/>
              </a:lnSpc>
            </a:pPr>
          </a:p>
          <a:p>
            <a:pPr algn="l">
              <a:lnSpc>
                <a:spcPts val="4124"/>
              </a:lnSpc>
            </a:pPr>
            <a:r>
              <a:rPr lang="en-US" sz="2945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Walmart ít bị tác động bởi kinh tế vĩ mô vì bán hàng thiết yếu.</a:t>
            </a:r>
          </a:p>
          <a:p>
            <a:pPr algn="l">
              <a:lnSpc>
                <a:spcPts val="412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45077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015" y="2699727"/>
            <a:ext cx="13451416" cy="5683223"/>
          </a:xfrm>
          <a:custGeom>
            <a:avLst/>
            <a:gdLst/>
            <a:ahLst/>
            <a:cxnLst/>
            <a:rect r="r" b="b" t="t" l="l"/>
            <a:pathLst>
              <a:path h="5683223" w="13451416">
                <a:moveTo>
                  <a:pt x="0" y="0"/>
                </a:moveTo>
                <a:lnTo>
                  <a:pt x="13451416" y="0"/>
                </a:lnTo>
                <a:lnTo>
                  <a:pt x="13451416" y="5683223"/>
                </a:lnTo>
                <a:lnTo>
                  <a:pt x="0" y="568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3870581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PHÂN CỤM CHIẾN LƯỢC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17771" y="2381857"/>
            <a:ext cx="4695804" cy="611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Trực quan hóa các đặc tính trung bình của từng cụm</a:t>
            </a:r>
          </a:p>
          <a:p>
            <a:pPr algn="l">
              <a:lnSpc>
                <a:spcPts val="3460"/>
              </a:lnSpc>
            </a:pPr>
          </a:p>
          <a:p>
            <a:pPr algn="l" marL="533679" indent="-266839" lvl="1">
              <a:lnSpc>
                <a:spcPts val="3460"/>
              </a:lnSpc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Cụm 0: Cửa hàng nhỏ, doanh số thấp, chi phí tiêu dùng cao.</a:t>
            </a:r>
          </a:p>
          <a:p>
            <a:pPr algn="l" marL="533679" indent="-266839" lvl="1">
              <a:lnSpc>
                <a:spcPts val="3460"/>
              </a:lnSpc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Cụm 1: Cửa hàng trung bình, doanh số trung bình, chi phí tiêu dùng thấp nhưng thất nghiệp cao.</a:t>
            </a:r>
          </a:p>
          <a:p>
            <a:pPr algn="l" marL="533679" indent="-266839" lvl="1">
              <a:lnSpc>
                <a:spcPts val="3460"/>
              </a:lnSpc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Cụm 2: Cửa hà</a:t>
            </a: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ng</a:t>
            </a: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lớn, doanh số cao, chi</a:t>
            </a: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247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phí tiêu dùng trung bình.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6977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2112" y="1946930"/>
            <a:ext cx="17812312" cy="6278840"/>
          </a:xfrm>
          <a:custGeom>
            <a:avLst/>
            <a:gdLst/>
            <a:ahLst/>
            <a:cxnLst/>
            <a:rect r="r" b="b" t="t" l="l"/>
            <a:pathLst>
              <a:path h="6278840" w="17812312">
                <a:moveTo>
                  <a:pt x="0" y="0"/>
                </a:moveTo>
                <a:lnTo>
                  <a:pt x="17812312" y="0"/>
                </a:lnTo>
                <a:lnTo>
                  <a:pt x="17812312" y="6278840"/>
                </a:lnTo>
                <a:lnTo>
                  <a:pt x="0" y="62788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1184" y="516131"/>
            <a:ext cx="13870581" cy="92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PHÂN CỤM CHIẾN LƯỢC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2451" y="8438500"/>
            <a:ext cx="15264993" cy="6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Quy mô cửa</a:t>
            </a:r>
            <a:r>
              <a:rPr lang="en-US" sz="3600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hàng có mối quan hệ chặt chẽ với doanh số trung bình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16502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3328" y="1763060"/>
            <a:ext cx="13738108" cy="8191347"/>
          </a:xfrm>
          <a:custGeom>
            <a:avLst/>
            <a:gdLst/>
            <a:ahLst/>
            <a:cxnLst/>
            <a:rect r="r" b="b" t="t" l="l"/>
            <a:pathLst>
              <a:path h="8191347" w="13738108">
                <a:moveTo>
                  <a:pt x="0" y="0"/>
                </a:moveTo>
                <a:lnTo>
                  <a:pt x="13738108" y="0"/>
                </a:lnTo>
                <a:lnTo>
                  <a:pt x="13738108" y="8191347"/>
                </a:lnTo>
                <a:lnTo>
                  <a:pt x="0" y="81913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08710" y="231120"/>
            <a:ext cx="13870581" cy="144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DỰ ĐOÁN TUẦN CAO ĐIỂM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CÁC YẾU TỐ QUYẾT ĐỊNH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52995" y="2451749"/>
            <a:ext cx="4243329" cy="534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781" indent="-275391" lvl="1">
              <a:lnSpc>
                <a:spcPts val="3571"/>
              </a:lnSpc>
              <a:buFont typeface="Arial"/>
              <a:buChar char="•"/>
            </a:pPr>
            <a:r>
              <a:rPr lang="en-US" sz="25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Thể h</a:t>
            </a:r>
            <a:r>
              <a:rPr lang="en-US" sz="25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iện độ quan trọng của các yếu tố trong việc dự đoán doanh số</a:t>
            </a:r>
          </a:p>
          <a:p>
            <a:pPr algn="l" marL="550781" indent="-275391" lvl="1">
              <a:lnSpc>
                <a:spcPts val="3571"/>
              </a:lnSpc>
              <a:buFont typeface="Arial"/>
              <a:buChar char="•"/>
            </a:pPr>
            <a:r>
              <a:rPr lang="en-US" sz="25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Quy mô (Size) là yếu tố quyết định chính</a:t>
            </a:r>
          </a:p>
          <a:p>
            <a:pPr algn="l" marL="550781" indent="-275391" lvl="1">
              <a:lnSpc>
                <a:spcPts val="3571"/>
              </a:lnSpc>
              <a:buFont typeface="Arial"/>
              <a:buChar char="•"/>
            </a:pPr>
            <a:r>
              <a:rPr lang="en-US" sz="25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CPI và Unemployment có tác động phi tuyến</a:t>
            </a:r>
          </a:p>
          <a:p>
            <a:pPr algn="l" marL="550781" indent="-275391" lvl="1">
              <a:lnSpc>
                <a:spcPts val="3571"/>
              </a:lnSpc>
              <a:buFont typeface="Arial"/>
              <a:buChar char="•"/>
            </a:pPr>
            <a:r>
              <a:rPr lang="en-US" sz="25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Các yếu tố như Fuel_Price và IsHoliday không ảnh hưởng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87927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922" y="2372236"/>
            <a:ext cx="14431673" cy="6115421"/>
          </a:xfrm>
          <a:custGeom>
            <a:avLst/>
            <a:gdLst/>
            <a:ahLst/>
            <a:cxnLst/>
            <a:rect r="r" b="b" t="t" l="l"/>
            <a:pathLst>
              <a:path h="6115421" w="14431673">
                <a:moveTo>
                  <a:pt x="0" y="0"/>
                </a:moveTo>
                <a:lnTo>
                  <a:pt x="14431672" y="0"/>
                </a:lnTo>
                <a:lnTo>
                  <a:pt x="14431672" y="6115421"/>
                </a:lnTo>
                <a:lnTo>
                  <a:pt x="0" y="61154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34443" y="2587855"/>
            <a:ext cx="3414256" cy="581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7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So sánh g</a:t>
            </a:r>
            <a:r>
              <a:rPr lang="en-US" sz="27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iữa doanh số thực tế và doanh số dự đoán trong 15 tuần đầu tiên</a:t>
            </a:r>
          </a:p>
          <a:p>
            <a:pPr algn="l">
              <a:lnSpc>
                <a:spcPts val="3851"/>
              </a:lnSpc>
            </a:pPr>
          </a:p>
          <a:p>
            <a:pPr algn="l">
              <a:lnSpc>
                <a:spcPts val="3851"/>
              </a:lnSpc>
            </a:pPr>
            <a:r>
              <a:rPr lang="en-US" sz="2751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→ Đường thực tế và dự đoán gần như trùng khớp, cho thấy mô hình dự đoán khá chính xác.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8710" y="231120"/>
            <a:ext cx="13870581" cy="144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DỰ ĐOÁN TUẦN CAO ĐIỂM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HIỆU QUẢ DỰ B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ÁO: THỰC TẾ VÀ MÔ HÌNH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54602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678891" y="882266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1885" y="9350408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1" y="0"/>
                </a:lnTo>
                <a:lnTo>
                  <a:pt x="3371931" y="3090427"/>
                </a:lnTo>
                <a:lnTo>
                  <a:pt x="0" y="309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1474" y="2197365"/>
            <a:ext cx="15925053" cy="5892270"/>
          </a:xfrm>
          <a:custGeom>
            <a:avLst/>
            <a:gdLst/>
            <a:ahLst/>
            <a:cxnLst/>
            <a:rect r="r" b="b" t="t" l="l"/>
            <a:pathLst>
              <a:path h="5892270" w="15925053">
                <a:moveTo>
                  <a:pt x="0" y="0"/>
                </a:moveTo>
                <a:lnTo>
                  <a:pt x="15925052" y="0"/>
                </a:lnTo>
                <a:lnTo>
                  <a:pt x="15925052" y="5892270"/>
                </a:lnTo>
                <a:lnTo>
                  <a:pt x="0" y="5892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24625" y="8479088"/>
            <a:ext cx="6936328" cy="126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115" indent="-260058" lvl="1">
              <a:lnSpc>
                <a:spcPts val="3372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 Tỷ lệ TP và TN chiếm phần lớn </a:t>
            </a:r>
          </a:p>
          <a:p>
            <a:pPr algn="l" marL="520115" indent="-260058" lvl="1">
              <a:lnSpc>
                <a:spcPts val="3372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FP: Cảnh báo sai, dẫn đến đầu tư thừa.</a:t>
            </a:r>
          </a:p>
          <a:p>
            <a:pPr algn="l" marL="520115" indent="-260058" lvl="1">
              <a:lnSpc>
                <a:spcPts val="3372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FN</a:t>
            </a:r>
            <a:r>
              <a:rPr lang="en-US" sz="240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: Bỏ lỡ cơ hội, dẫn đến mất doanh số.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8710" y="231120"/>
            <a:ext cx="13870581" cy="144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DỰ ĐOÁN TUẦN CAO ĐIỂM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Đ</a:t>
            </a:r>
            <a:r>
              <a:rPr lang="en-US" sz="2799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ÁNH GIÁ ĐỘ CHÍNH XÁC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78402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957860">
            <a:off x="10516631" y="2401404"/>
            <a:ext cx="1759904" cy="497173"/>
          </a:xfrm>
          <a:custGeom>
            <a:avLst/>
            <a:gdLst/>
            <a:ahLst/>
            <a:cxnLst/>
            <a:rect r="r" b="b" t="t" l="l"/>
            <a:pathLst>
              <a:path h="497173" w="1759904">
                <a:moveTo>
                  <a:pt x="0" y="497173"/>
                </a:moveTo>
                <a:lnTo>
                  <a:pt x="1759904" y="497173"/>
                </a:lnTo>
                <a:lnTo>
                  <a:pt x="1759904" y="0"/>
                </a:lnTo>
                <a:lnTo>
                  <a:pt x="0" y="0"/>
                </a:lnTo>
                <a:lnTo>
                  <a:pt x="0" y="49717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043651">
            <a:off x="10423883" y="7268677"/>
            <a:ext cx="2051283" cy="579487"/>
          </a:xfrm>
          <a:custGeom>
            <a:avLst/>
            <a:gdLst/>
            <a:ahLst/>
            <a:cxnLst/>
            <a:rect r="r" b="b" t="t" l="l"/>
            <a:pathLst>
              <a:path h="579487" w="2051283">
                <a:moveTo>
                  <a:pt x="0" y="0"/>
                </a:moveTo>
                <a:lnTo>
                  <a:pt x="2051283" y="0"/>
                </a:lnTo>
                <a:lnTo>
                  <a:pt x="2051283" y="579488"/>
                </a:lnTo>
                <a:lnTo>
                  <a:pt x="0" y="5794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1788667">
            <a:off x="6097620" y="2240450"/>
            <a:ext cx="1749761" cy="494308"/>
          </a:xfrm>
          <a:custGeom>
            <a:avLst/>
            <a:gdLst/>
            <a:ahLst/>
            <a:cxnLst/>
            <a:rect r="r" b="b" t="t" l="l"/>
            <a:pathLst>
              <a:path h="494308" w="1749761">
                <a:moveTo>
                  <a:pt x="1749761" y="494308"/>
                </a:moveTo>
                <a:lnTo>
                  <a:pt x="0" y="494308"/>
                </a:lnTo>
                <a:lnTo>
                  <a:pt x="0" y="0"/>
                </a:lnTo>
                <a:lnTo>
                  <a:pt x="1749761" y="0"/>
                </a:lnTo>
                <a:lnTo>
                  <a:pt x="1749761" y="494308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2068969">
            <a:off x="6075634" y="7231803"/>
            <a:ext cx="1888988" cy="533639"/>
          </a:xfrm>
          <a:custGeom>
            <a:avLst/>
            <a:gdLst/>
            <a:ahLst/>
            <a:cxnLst/>
            <a:rect r="r" b="b" t="t" l="l"/>
            <a:pathLst>
              <a:path h="533639" w="1888988">
                <a:moveTo>
                  <a:pt x="1888988" y="0"/>
                </a:moveTo>
                <a:lnTo>
                  <a:pt x="0" y="0"/>
                </a:lnTo>
                <a:lnTo>
                  <a:pt x="0" y="533639"/>
                </a:lnTo>
                <a:lnTo>
                  <a:pt x="1888988" y="533639"/>
                </a:lnTo>
                <a:lnTo>
                  <a:pt x="188898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88442" y="3288953"/>
            <a:ext cx="7411434" cy="3368833"/>
          </a:xfrm>
          <a:custGeom>
            <a:avLst/>
            <a:gdLst/>
            <a:ahLst/>
            <a:cxnLst/>
            <a:rect r="r" b="b" t="t" l="l"/>
            <a:pathLst>
              <a:path h="3368833" w="7411434">
                <a:moveTo>
                  <a:pt x="0" y="0"/>
                </a:moveTo>
                <a:lnTo>
                  <a:pt x="7411434" y="0"/>
                </a:lnTo>
                <a:lnTo>
                  <a:pt x="7411434" y="3368833"/>
                </a:lnTo>
                <a:lnTo>
                  <a:pt x="0" y="3368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419916" y="182931"/>
            <a:ext cx="5281224" cy="2984161"/>
            <a:chOff x="0" y="0"/>
            <a:chExt cx="1390940" cy="7859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0940" cy="785952"/>
            </a:xfrm>
            <a:custGeom>
              <a:avLst/>
              <a:gdLst/>
              <a:ahLst/>
              <a:cxnLst/>
              <a:rect r="r" b="b" t="t" l="l"/>
              <a:pathLst>
                <a:path h="785952" w="1390940">
                  <a:moveTo>
                    <a:pt x="74763" y="0"/>
                  </a:moveTo>
                  <a:lnTo>
                    <a:pt x="1316177" y="0"/>
                  </a:lnTo>
                  <a:cubicBezTo>
                    <a:pt x="1336005" y="0"/>
                    <a:pt x="1355021" y="7877"/>
                    <a:pt x="1369042" y="21897"/>
                  </a:cubicBezTo>
                  <a:cubicBezTo>
                    <a:pt x="1383063" y="35918"/>
                    <a:pt x="1390940" y="54934"/>
                    <a:pt x="1390940" y="74763"/>
                  </a:cubicBezTo>
                  <a:lnTo>
                    <a:pt x="1390940" y="711189"/>
                  </a:lnTo>
                  <a:cubicBezTo>
                    <a:pt x="1390940" y="731018"/>
                    <a:pt x="1383063" y="750034"/>
                    <a:pt x="1369042" y="764054"/>
                  </a:cubicBezTo>
                  <a:cubicBezTo>
                    <a:pt x="1355021" y="778075"/>
                    <a:pt x="1336005" y="785952"/>
                    <a:pt x="1316177" y="785952"/>
                  </a:cubicBezTo>
                  <a:lnTo>
                    <a:pt x="74763" y="785952"/>
                  </a:lnTo>
                  <a:cubicBezTo>
                    <a:pt x="54934" y="785952"/>
                    <a:pt x="35918" y="778075"/>
                    <a:pt x="21897" y="764054"/>
                  </a:cubicBezTo>
                  <a:cubicBezTo>
                    <a:pt x="7877" y="750034"/>
                    <a:pt x="0" y="731018"/>
                    <a:pt x="0" y="711189"/>
                  </a:cubicBezTo>
                  <a:lnTo>
                    <a:pt x="0" y="74763"/>
                  </a:lnTo>
                  <a:cubicBezTo>
                    <a:pt x="0" y="54934"/>
                    <a:pt x="7877" y="35918"/>
                    <a:pt x="21897" y="21897"/>
                  </a:cubicBezTo>
                  <a:cubicBezTo>
                    <a:pt x="35918" y="7877"/>
                    <a:pt x="54934" y="0"/>
                    <a:pt x="74763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90940" cy="814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619110" y="217909"/>
            <a:ext cx="4882837" cy="276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48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Quy mô: </a:t>
            </a:r>
          </a:p>
          <a:p>
            <a:pPr algn="ctr">
              <a:lnSpc>
                <a:spcPts val="7488"/>
              </a:lnSpc>
            </a:pPr>
            <a:r>
              <a:rPr lang="en-US" sz="4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Ưu tiên</a:t>
            </a:r>
            <a:r>
              <a:rPr lang="en-US" sz="4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phát triển cửa hàng Type 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71564" y="205000"/>
            <a:ext cx="5513418" cy="3199316"/>
            <a:chOff x="0" y="0"/>
            <a:chExt cx="1452094" cy="8426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52094" cy="842618"/>
            </a:xfrm>
            <a:custGeom>
              <a:avLst/>
              <a:gdLst/>
              <a:ahLst/>
              <a:cxnLst/>
              <a:rect r="r" b="b" t="t" l="l"/>
              <a:pathLst>
                <a:path h="842618" w="1452094">
                  <a:moveTo>
                    <a:pt x="71614" y="0"/>
                  </a:moveTo>
                  <a:lnTo>
                    <a:pt x="1380480" y="0"/>
                  </a:lnTo>
                  <a:cubicBezTo>
                    <a:pt x="1420031" y="0"/>
                    <a:pt x="1452094" y="32063"/>
                    <a:pt x="1452094" y="71614"/>
                  </a:cubicBezTo>
                  <a:lnTo>
                    <a:pt x="1452094" y="771004"/>
                  </a:lnTo>
                  <a:cubicBezTo>
                    <a:pt x="1452094" y="810555"/>
                    <a:pt x="1420031" y="842618"/>
                    <a:pt x="1380480" y="842618"/>
                  </a:cubicBezTo>
                  <a:lnTo>
                    <a:pt x="71614" y="842618"/>
                  </a:lnTo>
                  <a:cubicBezTo>
                    <a:pt x="52621" y="842618"/>
                    <a:pt x="34405" y="835073"/>
                    <a:pt x="20975" y="821643"/>
                  </a:cubicBezTo>
                  <a:cubicBezTo>
                    <a:pt x="7545" y="808213"/>
                    <a:pt x="0" y="789997"/>
                    <a:pt x="0" y="771004"/>
                  </a:cubicBezTo>
                  <a:lnTo>
                    <a:pt x="0" y="71614"/>
                  </a:lnTo>
                  <a:cubicBezTo>
                    <a:pt x="0" y="32063"/>
                    <a:pt x="32063" y="0"/>
                    <a:pt x="71614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52094" cy="871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61638" y="383606"/>
            <a:ext cx="5333270" cy="276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48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Mùa vụ: </a:t>
            </a:r>
          </a:p>
          <a:p>
            <a:pPr algn="ctr">
              <a:lnSpc>
                <a:spcPts val="7488"/>
              </a:lnSpc>
            </a:pPr>
            <a:r>
              <a:rPr lang="en-US" sz="4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Tập trung nguồn lực c</a:t>
            </a:r>
            <a:r>
              <a:rPr lang="en-US" sz="4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 Quý 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22567" y="6680294"/>
            <a:ext cx="5762415" cy="3385195"/>
            <a:chOff x="0" y="0"/>
            <a:chExt cx="1517673" cy="8915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17673" cy="891574"/>
            </a:xfrm>
            <a:custGeom>
              <a:avLst/>
              <a:gdLst/>
              <a:ahLst/>
              <a:cxnLst/>
              <a:rect r="r" b="b" t="t" l="l"/>
              <a:pathLst>
                <a:path h="891574" w="1517673">
                  <a:moveTo>
                    <a:pt x="68520" y="0"/>
                  </a:moveTo>
                  <a:lnTo>
                    <a:pt x="1449154" y="0"/>
                  </a:lnTo>
                  <a:cubicBezTo>
                    <a:pt x="1467326" y="0"/>
                    <a:pt x="1484754" y="7219"/>
                    <a:pt x="1497604" y="20069"/>
                  </a:cubicBezTo>
                  <a:cubicBezTo>
                    <a:pt x="1510454" y="32919"/>
                    <a:pt x="1517673" y="50347"/>
                    <a:pt x="1517673" y="68520"/>
                  </a:cubicBezTo>
                  <a:lnTo>
                    <a:pt x="1517673" y="823055"/>
                  </a:lnTo>
                  <a:cubicBezTo>
                    <a:pt x="1517673" y="841227"/>
                    <a:pt x="1510454" y="858655"/>
                    <a:pt x="1497604" y="871505"/>
                  </a:cubicBezTo>
                  <a:cubicBezTo>
                    <a:pt x="1484754" y="884355"/>
                    <a:pt x="1467326" y="891574"/>
                    <a:pt x="1449154" y="891574"/>
                  </a:cubicBezTo>
                  <a:lnTo>
                    <a:pt x="68520" y="891574"/>
                  </a:lnTo>
                  <a:cubicBezTo>
                    <a:pt x="50347" y="891574"/>
                    <a:pt x="32919" y="884355"/>
                    <a:pt x="20069" y="871505"/>
                  </a:cubicBezTo>
                  <a:cubicBezTo>
                    <a:pt x="7219" y="858655"/>
                    <a:pt x="0" y="841227"/>
                    <a:pt x="0" y="823055"/>
                  </a:cubicBezTo>
                  <a:lnTo>
                    <a:pt x="0" y="68520"/>
                  </a:lnTo>
                  <a:cubicBezTo>
                    <a:pt x="0" y="50347"/>
                    <a:pt x="7219" y="32919"/>
                    <a:pt x="20069" y="20069"/>
                  </a:cubicBezTo>
                  <a:cubicBezTo>
                    <a:pt x="32919" y="7219"/>
                    <a:pt x="50347" y="0"/>
                    <a:pt x="68520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517673" cy="920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71564" y="6495861"/>
            <a:ext cx="5182148" cy="354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456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Sự kiện: </a:t>
            </a:r>
          </a:p>
          <a:p>
            <a:pPr algn="ctr">
              <a:lnSpc>
                <a:spcPts val="7128"/>
              </a:lnSpc>
            </a:pPr>
            <a:r>
              <a:rPr lang="en-US" sz="456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Tận dụng triệt để ngày lễ </a:t>
            </a:r>
          </a:p>
          <a:p>
            <a:pPr algn="ctr">
              <a:lnSpc>
                <a:spcPts val="7128"/>
              </a:lnSpc>
            </a:pPr>
            <a:r>
              <a:rPr lang="en-US" sz="456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→ Tăng tồn kho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94908" y="4425259"/>
            <a:ext cx="6286707" cy="98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9"/>
              </a:lnSpc>
            </a:pPr>
            <a:r>
              <a:rPr lang="en-US" sz="5715" spc="182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KIẾN NGHỊ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433374" y="6659997"/>
            <a:ext cx="5685029" cy="3382984"/>
            <a:chOff x="0" y="0"/>
            <a:chExt cx="1497292" cy="8909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97292" cy="890992"/>
            </a:xfrm>
            <a:custGeom>
              <a:avLst/>
              <a:gdLst/>
              <a:ahLst/>
              <a:cxnLst/>
              <a:rect r="r" b="b" t="t" l="l"/>
              <a:pathLst>
                <a:path h="890992" w="1497292">
                  <a:moveTo>
                    <a:pt x="69452" y="0"/>
                  </a:moveTo>
                  <a:lnTo>
                    <a:pt x="1427839" y="0"/>
                  </a:lnTo>
                  <a:cubicBezTo>
                    <a:pt x="1466197" y="0"/>
                    <a:pt x="1497292" y="31095"/>
                    <a:pt x="1497292" y="69452"/>
                  </a:cubicBezTo>
                  <a:lnTo>
                    <a:pt x="1497292" y="821539"/>
                  </a:lnTo>
                  <a:cubicBezTo>
                    <a:pt x="1497292" y="859897"/>
                    <a:pt x="1466197" y="890992"/>
                    <a:pt x="1427839" y="890992"/>
                  </a:cubicBezTo>
                  <a:lnTo>
                    <a:pt x="69452" y="890992"/>
                  </a:lnTo>
                  <a:cubicBezTo>
                    <a:pt x="31095" y="890992"/>
                    <a:pt x="0" y="859897"/>
                    <a:pt x="0" y="821539"/>
                  </a:cubicBezTo>
                  <a:lnTo>
                    <a:pt x="0" y="69452"/>
                  </a:lnTo>
                  <a:cubicBezTo>
                    <a:pt x="0" y="31095"/>
                    <a:pt x="31095" y="0"/>
                    <a:pt x="69452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97292" cy="919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566263" y="6894387"/>
            <a:ext cx="5444387" cy="276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48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Loại hình:</a:t>
            </a:r>
          </a:p>
          <a:p>
            <a:pPr algn="ctr">
              <a:lnSpc>
                <a:spcPts val="7488"/>
              </a:lnSpc>
            </a:pPr>
            <a:r>
              <a:rPr lang="en-US" sz="4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Tối ưu hóa mô hình Store Type B &amp; 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710665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918527" y="1447077"/>
            <a:ext cx="4225473" cy="3267118"/>
          </a:xfrm>
          <a:custGeom>
            <a:avLst/>
            <a:gdLst/>
            <a:ahLst/>
            <a:cxnLst/>
            <a:rect r="r" b="b" t="t" l="l"/>
            <a:pathLst>
              <a:path h="3267118" w="4225473">
                <a:moveTo>
                  <a:pt x="4225473" y="0"/>
                </a:moveTo>
                <a:lnTo>
                  <a:pt x="0" y="0"/>
                </a:lnTo>
                <a:lnTo>
                  <a:pt x="0" y="3267118"/>
                </a:lnTo>
                <a:lnTo>
                  <a:pt x="4225473" y="3267118"/>
                </a:lnTo>
                <a:lnTo>
                  <a:pt x="42254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56000" y="1945172"/>
            <a:ext cx="6576001" cy="6396655"/>
          </a:xfrm>
          <a:custGeom>
            <a:avLst/>
            <a:gdLst/>
            <a:ahLst/>
            <a:cxnLst/>
            <a:rect r="r" b="b" t="t" l="l"/>
            <a:pathLst>
              <a:path h="6396655" w="6576001">
                <a:moveTo>
                  <a:pt x="0" y="0"/>
                </a:moveTo>
                <a:lnTo>
                  <a:pt x="6576000" y="0"/>
                </a:lnTo>
                <a:lnTo>
                  <a:pt x="6576000" y="6396656"/>
                </a:lnTo>
                <a:lnTo>
                  <a:pt x="0" y="6396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56430" y="5730908"/>
            <a:ext cx="4225473" cy="3267118"/>
          </a:xfrm>
          <a:custGeom>
            <a:avLst/>
            <a:gdLst/>
            <a:ahLst/>
            <a:cxnLst/>
            <a:rect r="r" b="b" t="t" l="l"/>
            <a:pathLst>
              <a:path h="3267118" w="4225473">
                <a:moveTo>
                  <a:pt x="0" y="0"/>
                </a:moveTo>
                <a:lnTo>
                  <a:pt x="4225472" y="0"/>
                </a:lnTo>
                <a:lnTo>
                  <a:pt x="4225472" y="3267118"/>
                </a:lnTo>
                <a:lnTo>
                  <a:pt x="0" y="3267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560948" y="-193518"/>
            <a:ext cx="5679713" cy="4114800"/>
          </a:xfrm>
          <a:custGeom>
            <a:avLst/>
            <a:gdLst/>
            <a:ahLst/>
            <a:cxnLst/>
            <a:rect r="r" b="b" t="t" l="l"/>
            <a:pathLst>
              <a:path h="4114800" w="5679713">
                <a:moveTo>
                  <a:pt x="0" y="0"/>
                </a:moveTo>
                <a:lnTo>
                  <a:pt x="5679712" y="0"/>
                </a:lnTo>
                <a:lnTo>
                  <a:pt x="5679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708734" y="7567412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32431" y="-294400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6"/>
          <a:srcRect l="0" t="0" r="0" b="0"/>
          <a:stretch>
            <a:fillRect/>
          </a:stretch>
        </p:blipFill>
        <p:spPr>
          <a:xfrm flipH="false" flipV="false" rot="0">
            <a:off x="6358760" y="2055424"/>
            <a:ext cx="5510406" cy="531754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262441" y="4346542"/>
            <a:ext cx="11763117" cy="132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>
                <a:solidFill>
                  <a:srgbClr val="EFEFEF"/>
                </a:solidFill>
                <a:latin typeface="Paytone One"/>
                <a:ea typeface="Paytone One"/>
                <a:cs typeface="Paytone One"/>
                <a:sym typeface="Paytone One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43990" y="21516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DAG7MSU3jRk</dc:identifier>
  <dcterms:modified xsi:type="dcterms:W3CDTF">2011-08-01T06:04:30Z</dcterms:modified>
  <cp:revision>1</cp:revision>
  <dc:title>PHÂN TÍCH DỮ LIỆU </dc:title>
</cp:coreProperties>
</file>