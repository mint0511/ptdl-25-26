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Public Sans Bold" charset="1" panose="00000000000000000000"/>
      <p:regular r:id="rId40"/>
    </p:embeddedFont>
    <p:embeddedFont>
      <p:font typeface="Public Sans" charset="1" panose="0000000000000000000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notesMasters/notesMaster1.xml" Type="http://schemas.openxmlformats.org/officeDocument/2006/relationships/notesMaster"/><Relationship Id="rId43" Target="theme/theme2.xml" Type="http://schemas.openxmlformats.org/officeDocument/2006/relationships/theme"/><Relationship Id="rId44" Target="notesSlides/notesSlide1.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Hệ thống MRP (Material Requirements Planning) phù hợp với nhiều loại doanh nghiệp, đặc biệt là những doanh nghiệp có các đặc điểm sau:</a:t>
            </a:r>
          </a:p>
          <a:p>
            <a:r>
              <a:rPr lang="en-US"/>
              <a:t>Doanh nghiệp sản xuất đa dạng sản phẩm: Các doanh nghiệp sản xuất đa dạng sản phẩm, từ hàng tiêu dùng cho đến sản phẩm công nghiệp, có thể tận dụng MRP để quản lý tốt hơn các nguồn lực và nguyên liệu cần thiết cho từng sản phẩm.</a:t>
            </a:r>
          </a:p>
          <a:p>
            <a:r>
              <a:rPr lang="en-US"/>
              <a:t>Ví dụ: Một công ty sản xuất cả đồ gia dụng (nồi cơm điện, lò vi sóng) lẫn linh kiện công nghiệp (động cơ, bộ truyền động) có thể dùng MRP để quản lý nguyên liệu riêng cho từng dòng sản phẩm, tránh nhầm lẫn &amp; tối ưu sản xuất.</a:t>
            </a:r>
          </a:p>
          <a:p>
            <a:r>
              <a:rPr lang="en-US"/>
              <a:t>Doanh nghiệp với nhu cầu kiểm soát chặt chẽ hàng tồn kho: Doanh nghiệp mà việc kiểm soát hàng tồn kho là cần thiết để giảm chi phí và tránh lãng phí sẽ hưởng lợi từ việc áp dụng MRP.</a:t>
            </a:r>
          </a:p>
          <a:p>
            <a:r>
              <a:rPr lang="en-US"/>
              <a:t>Ví dụ: Một công ty thực phẩm cần kiểm soát nguyên liệu như bột mì, sữa, đường để tránh hư hỏng &amp; lãng phí. MRP giúp dự báo chính xác lượng hàng cần nhập &amp; xuất, đảm bảo nguyên liệu luôn tươi mới.</a:t>
            </a:r>
          </a:p>
          <a:p>
            <a:r>
              <a:rPr lang="en-US"/>
              <a:t>Doanh nghiệp cần cải thiện dịch vụ khách hàng: MRP giúp giảm thời gian chờ cho khách hàng và tăng tính chính xác của đơn hàng, từ đó nâng cao sự hài lòng của khách hàng.</a:t>
            </a:r>
          </a:p>
          <a:p>
            <a:r>
              <a:rPr lang="en-US"/>
              <a:t>Ví dụ: Một hãng sản xuất điện thoại có thể dùng MRP để theo dõi từng linh kiện (màn hình, pin, chip), đảm bảo đủ hàng để lắp ráp đúng hạn, tránh tình trạng khách hàng phải chờ đợi lâu khi đặt hàng.</a:t>
            </a:r>
          </a:p>
          <a:p>
            <a:r>
              <a:rPr lang="en-US"/>
              <a:t>Doanh nghiệp có chuỗi cung ứng phức tạp: Các doanh nghiệp có chuỗi cung ứng phức tạp, đòi hỏi sự phối hợp chặt chẽ giữa nhiều bộ phận và giai đoạn sản xuất, sẽ hưởng lợi từ việc sử dụng MRP để quản lý và điều phối các hoạt động.</a:t>
            </a:r>
          </a:p>
          <a:p>
            <a:r>
              <a:rPr lang="en-US"/>
              <a:t>Ví dụ: Một hãng xe hơi có hàng ngàn linh kiện từ nhiều nhà cung cấp khác nhau. MRP giúp lên kế hoạch nhập hàng, lắp ráp &amp; phân phối, đảm bảo mọi bộ phận đến đúng nơi, đúng thời điểm.</a:t>
            </a:r>
          </a:p>
          <a:p>
            <a:r>
              <a:rPr lang="en-US"/>
              <a:t>Doanh nghiệp với yêu cầu đổi mới liên tục và sản xuất linh hoạt: Những doanh nghiệp cần thích nghi nhanh với thị trường, thường xuyên cập nhật sản phẩm mới hoặc thay đổi trong quy trình sản xuất sẽ tìm thấy giá trị trong việc sử dụng MRP để thích ứng nhanh chóng và hiệu quả.</a:t>
            </a:r>
          </a:p>
          <a:p>
            <a:r>
              <a:rPr lang="en-US"/>
              <a:t>Ví dụ: Một công ty thời trang nhanh (fast fashion) cần cập nhật mẫu mã liên tục. MRP giúp điều chỉnh nhanh nguyên liệu vải, phụ kiện để sản xuất các bộ sưu tập mới mà không bị trì hoãn.</a:t>
            </a:r>
          </a:p>
          <a:p>
            <a:r>
              <a:rPr lang="en-US"/>
              <a:t>=&gt; Hệ thống MRP hỗ trợ lập kế hoạch &amp; quản lý nguyên vật liệu hiệu quả.</a:t>
            </a:r>
          </a:p>
          <a:p>
            <a:r>
              <a:rPr lang="en-US"/>
              <a:t>Thích ứng nhanh với thay đổi trong sản xuất &amp; nhu cầu thị trường.</a:t>
            </a:r>
          </a:p>
          <a:p>
            <a:r>
              <a:rPr lang="en-US"/>
              <a:t>Doanh nghiệp cần đánh giá nhu cầu để chọn hệ thống MRP phù hợp.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3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kaggle.com/code/eisgandar/red-wine-qauality-eda-classification" TargetMode="External" Type="http://schemas.openxmlformats.org/officeDocument/2006/relationships/hyperlink"/></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kaggle.com/code/vincentlugat/pima-indians-diabetes-eda-prediction-0-906" TargetMode="External" Type="http://schemas.openxmlformats.org/officeDocument/2006/relationships/hyperlink"/></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36.png" Type="http://schemas.openxmlformats.org/officeDocument/2006/relationships/image"/><Relationship Id="rId15" Target="../media/image37.pn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38.png" Type="http://schemas.openxmlformats.org/officeDocument/2006/relationships/image"/><Relationship Id="rId15" Target="../media/image39.jpe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40.png" Type="http://schemas.openxmlformats.org/officeDocument/2006/relationships/image"/><Relationship Id="rId15" Target="../media/image41.pn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42.png" Type="http://schemas.openxmlformats.org/officeDocument/2006/relationships/image"/><Relationship Id="rId15" Target="../media/image43.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5.png" Type="http://schemas.openxmlformats.org/officeDocument/2006/relationships/image"/><Relationship Id="rId4" Target="../media/image26.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22" Target="../media/image23.png" Type="http://schemas.openxmlformats.org/officeDocument/2006/relationships/image"/><Relationship Id="rId23" Target="../media/image24.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27.png" Type="http://schemas.openxmlformats.org/officeDocument/2006/relationships/image"/><Relationship Id="rId27"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073080" y="7087784"/>
            <a:ext cx="724985" cy="920616"/>
          </a:xfrm>
          <a:custGeom>
            <a:avLst/>
            <a:gdLst/>
            <a:ahLst/>
            <a:cxnLst/>
            <a:rect r="r" b="b" t="t" l="l"/>
            <a:pathLst>
              <a:path h="920616" w="724985">
                <a:moveTo>
                  <a:pt x="0" y="0"/>
                </a:moveTo>
                <a:lnTo>
                  <a:pt x="724985" y="0"/>
                </a:lnTo>
                <a:lnTo>
                  <a:pt x="724985" y="920616"/>
                </a:lnTo>
                <a:lnTo>
                  <a:pt x="0" y="920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a:ln cap="sq">
            <a:noFill/>
            <a:prstDash val="solid"/>
            <a:miter/>
          </a:ln>
        </p:spPr>
      </p:sp>
      <p:sp>
        <p:nvSpPr>
          <p:cNvPr name="Freeform 16" id="16"/>
          <p:cNvSpPr/>
          <p:nvPr/>
        </p:nvSpPr>
        <p:spPr>
          <a:xfrm flipH="false" flipV="false" rot="0">
            <a:off x="3139074" y="2844441"/>
            <a:ext cx="724985" cy="920616"/>
          </a:xfrm>
          <a:custGeom>
            <a:avLst/>
            <a:gdLst/>
            <a:ahLst/>
            <a:cxnLst/>
            <a:rect r="r" b="b" t="t" l="l"/>
            <a:pathLst>
              <a:path h="920616" w="724985">
                <a:moveTo>
                  <a:pt x="0" y="0"/>
                </a:moveTo>
                <a:lnTo>
                  <a:pt x="724985" y="0"/>
                </a:lnTo>
                <a:lnTo>
                  <a:pt x="724985" y="920616"/>
                </a:lnTo>
                <a:lnTo>
                  <a:pt x="0" y="920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965978" y="3710884"/>
            <a:ext cx="16356044" cy="1137865"/>
          </a:xfrm>
          <a:prstGeom prst="rect">
            <a:avLst/>
          </a:prstGeom>
        </p:spPr>
        <p:txBody>
          <a:bodyPr anchor="t" rtlCol="false" tIns="0" lIns="0" bIns="0" rIns="0">
            <a:spAutoFit/>
          </a:bodyPr>
          <a:lstStyle/>
          <a:p>
            <a:pPr algn="ctr">
              <a:lnSpc>
                <a:spcPts val="8630"/>
              </a:lnSpc>
            </a:pPr>
            <a:r>
              <a:rPr lang="en-US" b="true" sz="7845" spc="219">
                <a:solidFill>
                  <a:srgbClr val="000000">
                    <a:alpha val="83922"/>
                  </a:srgbClr>
                </a:solidFill>
                <a:latin typeface="Public Sans Bold"/>
                <a:ea typeface="Public Sans Bold"/>
                <a:cs typeface="Public Sans Bold"/>
                <a:sym typeface="Public Sans Bold"/>
              </a:rPr>
              <a:t>PHÂN TÍCH KHÁM PHÁ DỮ LIỆU</a:t>
            </a:r>
          </a:p>
        </p:txBody>
      </p:sp>
      <p:sp>
        <p:nvSpPr>
          <p:cNvPr name="TextBox 18" id="18"/>
          <p:cNvSpPr txBox="true"/>
          <p:nvPr/>
        </p:nvSpPr>
        <p:spPr>
          <a:xfrm rot="0">
            <a:off x="5040158" y="5109364"/>
            <a:ext cx="8459795" cy="587551"/>
          </a:xfrm>
          <a:prstGeom prst="rect">
            <a:avLst/>
          </a:prstGeom>
        </p:spPr>
        <p:txBody>
          <a:bodyPr anchor="t" rtlCol="false" tIns="0" lIns="0" bIns="0" rIns="0">
            <a:spAutoFit/>
          </a:bodyPr>
          <a:lstStyle/>
          <a:p>
            <a:pPr algn="ctr">
              <a:lnSpc>
                <a:spcPts val="4381"/>
              </a:lnSpc>
            </a:pPr>
            <a:r>
              <a:rPr lang="en-US" b="true" sz="4381" spc="-87">
                <a:solidFill>
                  <a:srgbClr val="000000"/>
                </a:solidFill>
                <a:latin typeface="Public Sans Bold"/>
                <a:ea typeface="Public Sans Bold"/>
                <a:cs typeface="Public Sans Bold"/>
                <a:sym typeface="Public Sans Bold"/>
              </a:rPr>
              <a:t>PHÂN TÍCH DỮ LIỆU</a:t>
            </a:r>
          </a:p>
        </p:txBody>
      </p:sp>
      <p:sp>
        <p:nvSpPr>
          <p:cNvPr name="TextBox 19" id="19"/>
          <p:cNvSpPr txBox="true"/>
          <p:nvPr/>
        </p:nvSpPr>
        <p:spPr>
          <a:xfrm rot="0">
            <a:off x="3722357" y="7784313"/>
            <a:ext cx="10843287" cy="830580"/>
          </a:xfrm>
          <a:prstGeom prst="rect">
            <a:avLst/>
          </a:prstGeom>
        </p:spPr>
        <p:txBody>
          <a:bodyPr anchor="t" rtlCol="false" tIns="0" lIns="0" bIns="0" rIns="0">
            <a:spAutoFit/>
          </a:bodyPr>
          <a:lstStyle/>
          <a:p>
            <a:pPr algn="ctr">
              <a:lnSpc>
                <a:spcPts val="6719"/>
              </a:lnSpc>
              <a:spcBef>
                <a:spcPct val="0"/>
              </a:spcBef>
            </a:pPr>
            <a:r>
              <a:rPr lang="en-US" b="true" sz="4800">
                <a:solidFill>
                  <a:srgbClr val="000000"/>
                </a:solidFill>
                <a:latin typeface="Public Sans Bold"/>
                <a:ea typeface="Public Sans Bold"/>
                <a:cs typeface="Public Sans Bold"/>
                <a:sym typeface="Public Sans Bold"/>
              </a:rPr>
              <a:t>Giảng viên hướng dẫn: TS. Đỗ Như Tài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10994934" y="2091045"/>
            <a:ext cx="6264366" cy="6104909"/>
          </a:xfrm>
          <a:custGeom>
            <a:avLst/>
            <a:gdLst/>
            <a:ahLst/>
            <a:cxnLst/>
            <a:rect r="r" b="b" t="t" l="l"/>
            <a:pathLst>
              <a:path h="6104909" w="6264366">
                <a:moveTo>
                  <a:pt x="0" y="0"/>
                </a:moveTo>
                <a:lnTo>
                  <a:pt x="6264366" y="0"/>
                </a:lnTo>
                <a:lnTo>
                  <a:pt x="6264366" y="6104910"/>
                </a:lnTo>
                <a:lnTo>
                  <a:pt x="0" y="6104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04950" y="3443913"/>
            <a:ext cx="9489984" cy="1052837"/>
          </a:xfrm>
          <a:prstGeom prst="rect">
            <a:avLst/>
          </a:prstGeom>
        </p:spPr>
        <p:txBody>
          <a:bodyPr anchor="t" rtlCol="false" tIns="0" lIns="0" bIns="0" rIns="0">
            <a:spAutoFit/>
          </a:bodyPr>
          <a:lstStyle/>
          <a:p>
            <a:pPr algn="l">
              <a:lnSpc>
                <a:spcPts val="7760"/>
              </a:lnSpc>
            </a:pPr>
            <a:r>
              <a:rPr lang="en-US" sz="8000" b="true">
                <a:solidFill>
                  <a:srgbClr val="000000"/>
                </a:solidFill>
                <a:latin typeface="Public Sans Bold"/>
                <a:ea typeface="Public Sans Bold"/>
                <a:cs typeface="Public Sans Bold"/>
                <a:sym typeface="Public Sans Bold"/>
              </a:rPr>
              <a:t>Thành viên nhóm:</a:t>
            </a:r>
          </a:p>
        </p:txBody>
      </p:sp>
      <p:sp>
        <p:nvSpPr>
          <p:cNvPr name="TextBox 4" id="4"/>
          <p:cNvSpPr txBox="true"/>
          <p:nvPr/>
        </p:nvSpPr>
        <p:spPr>
          <a:xfrm rot="0">
            <a:off x="1938678" y="4588906"/>
            <a:ext cx="7707571" cy="2019301"/>
          </a:xfrm>
          <a:prstGeom prst="rect">
            <a:avLst/>
          </a:prstGeom>
        </p:spPr>
        <p:txBody>
          <a:bodyPr anchor="t" rtlCol="false" tIns="0" lIns="0" bIns="0" rIns="0">
            <a:spAutoFit/>
          </a:bodyPr>
          <a:lstStyle/>
          <a:p>
            <a:pPr algn="ctr">
              <a:lnSpc>
                <a:spcPts val="4049"/>
              </a:lnSpc>
            </a:pPr>
            <a:r>
              <a:rPr lang="en-US" sz="2999" spc="179">
                <a:solidFill>
                  <a:srgbClr val="000000"/>
                </a:solidFill>
                <a:latin typeface="Public Sans"/>
                <a:ea typeface="Public Sans"/>
                <a:cs typeface="Public Sans"/>
                <a:sym typeface="Public Sans"/>
              </a:rPr>
              <a:t>Nguyễn Văn Minh - 3122410242</a:t>
            </a:r>
          </a:p>
          <a:p>
            <a:pPr algn="ctr">
              <a:lnSpc>
                <a:spcPts val="4049"/>
              </a:lnSpc>
            </a:pPr>
            <a:r>
              <a:rPr lang="en-US" sz="2999" spc="179">
                <a:solidFill>
                  <a:srgbClr val="000000"/>
                </a:solidFill>
                <a:latin typeface="Public Sans"/>
                <a:ea typeface="Public Sans"/>
                <a:cs typeface="Public Sans"/>
                <a:sym typeface="Public Sans"/>
              </a:rPr>
              <a:t>Vũ Thị Thanh Ngân - 3122410255</a:t>
            </a:r>
          </a:p>
          <a:p>
            <a:pPr algn="ctr">
              <a:lnSpc>
                <a:spcPts val="4049"/>
              </a:lnSpc>
            </a:pPr>
            <a:r>
              <a:rPr lang="en-US" sz="2999" spc="179">
                <a:solidFill>
                  <a:srgbClr val="000000"/>
                </a:solidFill>
                <a:latin typeface="Public Sans"/>
                <a:ea typeface="Public Sans"/>
                <a:cs typeface="Public Sans"/>
                <a:sym typeface="Public Sans"/>
              </a:rPr>
              <a:t>Nguyễn Trương Hiệp - 3122410110</a:t>
            </a:r>
          </a:p>
          <a:p>
            <a:pPr algn="ctr" marL="0" indent="0" lvl="0">
              <a:lnSpc>
                <a:spcPts val="4049"/>
              </a:lnSpc>
              <a:spcBef>
                <a:spcPct val="0"/>
              </a:spcBef>
            </a:pPr>
            <a:r>
              <a:rPr lang="en-US" sz="2999" spc="179">
                <a:solidFill>
                  <a:srgbClr val="000000"/>
                </a:solidFill>
                <a:latin typeface="Public Sans"/>
                <a:ea typeface="Public Sans"/>
                <a:cs typeface="Public Sans"/>
                <a:sym typeface="Public Sans"/>
              </a:rPr>
              <a:t>Trương Xuân Hưng - 3122410161</a:t>
            </a:r>
          </a:p>
        </p:txBody>
      </p:sp>
      <p:sp>
        <p:nvSpPr>
          <p:cNvPr name="Freeform 5" id="5"/>
          <p:cNvSpPr/>
          <p:nvPr/>
        </p:nvSpPr>
        <p:spPr>
          <a:xfrm flipH="false" flipV="false" rot="0">
            <a:off x="15353489"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0">
            <a:off x="5003948" y="-1890601"/>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9" id="9"/>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5003948" y="-1890601"/>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803275"/>
            <a:ext cx="15219951"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Exploratory Data Analysis (EDA)</a:t>
            </a:r>
          </a:p>
        </p:txBody>
      </p:sp>
      <p:sp>
        <p:nvSpPr>
          <p:cNvPr name="TextBox 5" id="5"/>
          <p:cNvSpPr txBox="true"/>
          <p:nvPr/>
        </p:nvSpPr>
        <p:spPr>
          <a:xfrm rot="0">
            <a:off x="1028700" y="1925954"/>
            <a:ext cx="16237071" cy="8140066"/>
          </a:xfrm>
          <a:prstGeom prst="rect">
            <a:avLst/>
          </a:prstGeom>
        </p:spPr>
        <p:txBody>
          <a:bodyPr anchor="t" rtlCol="false" tIns="0" lIns="0" bIns="0" rIns="0">
            <a:spAutoFit/>
          </a:bodyPr>
          <a:lstStyle/>
          <a:p>
            <a:pPr algn="l">
              <a:lnSpc>
                <a:spcPts val="4319"/>
              </a:lnSpc>
            </a:pPr>
            <a:r>
              <a:rPr lang="en-US" sz="3199" spc="191" b="true">
                <a:solidFill>
                  <a:srgbClr val="000000"/>
                </a:solidFill>
                <a:latin typeface="Public Sans Bold"/>
                <a:ea typeface="Public Sans Bold"/>
                <a:cs typeface="Public Sans Bold"/>
                <a:sym typeface="Public Sans Bold"/>
              </a:rPr>
              <a:t>Exploratory Data Analysis (EDA)</a:t>
            </a:r>
          </a:p>
          <a:p>
            <a:pPr algn="l" marL="690872" indent="-345436" lvl="1">
              <a:lnSpc>
                <a:spcPts val="4319"/>
              </a:lnSpc>
              <a:buFont typeface="Arial"/>
              <a:buChar char="•"/>
            </a:pPr>
            <a:r>
              <a:rPr lang="en-US" b="true" sz="3199" spc="191">
                <a:solidFill>
                  <a:srgbClr val="000000"/>
                </a:solidFill>
                <a:latin typeface="Public Sans Bold"/>
                <a:ea typeface="Public Sans Bold"/>
                <a:cs typeface="Public Sans Bold"/>
                <a:sym typeface="Public Sans Bold"/>
              </a:rPr>
              <a:t>Khái niệm</a:t>
            </a:r>
            <a:r>
              <a:rPr lang="en-US" sz="3199" spc="191">
                <a:solidFill>
                  <a:srgbClr val="000000"/>
                </a:solidFill>
                <a:latin typeface="Public Sans"/>
                <a:ea typeface="Public Sans"/>
                <a:cs typeface="Public Sans"/>
                <a:sym typeface="Public Sans"/>
              </a:rPr>
              <a:t>: Là quá trình khám phá và hiểu dữ liệu thôn</a:t>
            </a:r>
            <a:r>
              <a:rPr lang="en-US" sz="3199" spc="191">
                <a:solidFill>
                  <a:srgbClr val="000000"/>
                </a:solidFill>
                <a:latin typeface="Public Sans"/>
                <a:ea typeface="Public Sans"/>
                <a:cs typeface="Public Sans"/>
                <a:sym typeface="Public Sans"/>
              </a:rPr>
              <a:t>g qua thống kê mô tả và trực quan hóa.</a:t>
            </a:r>
          </a:p>
          <a:p>
            <a:pPr algn="l" marL="690872" indent="-345436" lvl="1">
              <a:lnSpc>
                <a:spcPts val="4319"/>
              </a:lnSpc>
              <a:buFont typeface="Arial"/>
              <a:buChar char="•"/>
            </a:pPr>
            <a:r>
              <a:rPr lang="en-US" b="true" sz="3199" spc="191">
                <a:solidFill>
                  <a:srgbClr val="000000"/>
                </a:solidFill>
                <a:latin typeface="Public Sans Bold"/>
                <a:ea typeface="Public Sans Bold"/>
                <a:cs typeface="Public Sans Bold"/>
                <a:sym typeface="Public Sans Bold"/>
              </a:rPr>
              <a:t>Tác dụng</a:t>
            </a:r>
            <a:r>
              <a:rPr lang="en-US" sz="3199" spc="191">
                <a:solidFill>
                  <a:srgbClr val="000000"/>
                </a:solidFill>
                <a:latin typeface="Public Sans"/>
                <a:ea typeface="Public Sans"/>
                <a:cs typeface="Public Sans"/>
                <a:sym typeface="Public Sans"/>
              </a:rPr>
              <a:t>:</a:t>
            </a:r>
          </a:p>
          <a:p>
            <a:pPr algn="l" marL="1381745" indent="-460582" lvl="2">
              <a:lnSpc>
                <a:spcPts val="4319"/>
              </a:lnSpc>
              <a:buFont typeface="Arial"/>
              <a:buChar char="⚬"/>
            </a:pPr>
            <a:r>
              <a:rPr lang="en-US" sz="3199" spc="191">
                <a:solidFill>
                  <a:srgbClr val="000000"/>
                </a:solidFill>
                <a:latin typeface="Public Sans"/>
                <a:ea typeface="Public Sans"/>
                <a:cs typeface="Public Sans"/>
                <a:sym typeface="Public Sans"/>
              </a:rPr>
              <a:t>Hiểu rõ cấu trúc, mối quan hệ, xu hướng và bất thường của dữ liệu.</a:t>
            </a:r>
          </a:p>
          <a:p>
            <a:pPr algn="l" marL="1381745" indent="-460582" lvl="2">
              <a:lnSpc>
                <a:spcPts val="4319"/>
              </a:lnSpc>
              <a:buFont typeface="Arial"/>
              <a:buChar char="⚬"/>
            </a:pPr>
            <a:r>
              <a:rPr lang="en-US" sz="3199" spc="191">
                <a:solidFill>
                  <a:srgbClr val="000000"/>
                </a:solidFill>
                <a:latin typeface="Public Sans"/>
                <a:ea typeface="Public Sans"/>
                <a:cs typeface="Public Sans"/>
                <a:sym typeface="Public Sans"/>
              </a:rPr>
              <a:t>Phát hiện sớm lỗi dữ liệu → hỗ trợ tiền xử lý và lựa chọn mô hình phù hợp.</a:t>
            </a:r>
          </a:p>
          <a:p>
            <a:pPr algn="l" marL="690872" indent="-345436" lvl="1">
              <a:lnSpc>
                <a:spcPts val="4319"/>
              </a:lnSpc>
              <a:buFont typeface="Arial"/>
              <a:buChar char="•"/>
            </a:pPr>
            <a:r>
              <a:rPr lang="en-US" b="true" sz="3199" spc="191">
                <a:solidFill>
                  <a:srgbClr val="000000"/>
                </a:solidFill>
                <a:latin typeface="Public Sans Bold"/>
                <a:ea typeface="Public Sans Bold"/>
                <a:cs typeface="Public Sans Bold"/>
                <a:sym typeface="Public Sans Bold"/>
              </a:rPr>
              <a:t>Mục tiêu thực hành</a:t>
            </a:r>
            <a:r>
              <a:rPr lang="en-US" sz="3199" spc="191">
                <a:solidFill>
                  <a:srgbClr val="000000"/>
                </a:solidFill>
                <a:latin typeface="Public Sans"/>
                <a:ea typeface="Public Sans"/>
                <a:cs typeface="Public Sans"/>
                <a:sym typeface="Public Sans"/>
              </a:rPr>
              <a:t>:</a:t>
            </a:r>
          </a:p>
          <a:p>
            <a:pPr algn="l" marL="1381745" indent="-460582" lvl="2">
              <a:lnSpc>
                <a:spcPts val="4319"/>
              </a:lnSpc>
              <a:buFont typeface="Arial"/>
              <a:buChar char="⚬"/>
            </a:pPr>
            <a:r>
              <a:rPr lang="en-US" sz="3199" spc="191">
                <a:solidFill>
                  <a:srgbClr val="000000"/>
                </a:solidFill>
                <a:latin typeface="Public Sans"/>
                <a:ea typeface="Public Sans"/>
                <a:cs typeface="Public Sans"/>
                <a:sym typeface="Public Sans"/>
              </a:rPr>
              <a:t>Áp dụng các kỹ thuật thống kê và biểu đồ (Histogram, Boxplot, Scatter Plot).</a:t>
            </a:r>
          </a:p>
          <a:p>
            <a:pPr algn="l" marL="1381745" indent="-460582" lvl="2">
              <a:lnSpc>
                <a:spcPts val="4319"/>
              </a:lnSpc>
              <a:buFont typeface="Arial"/>
              <a:buChar char="⚬"/>
            </a:pPr>
            <a:r>
              <a:rPr lang="en-US" sz="3199" spc="191">
                <a:solidFill>
                  <a:srgbClr val="000000"/>
                </a:solidFill>
                <a:latin typeface="Public Sans"/>
                <a:ea typeface="Public Sans"/>
                <a:cs typeface="Public Sans"/>
                <a:sym typeface="Public Sans"/>
              </a:rPr>
              <a:t>Sử dụng thư viện Pandas, Matplotlib, Seaborn để phân tích và trực quan hóa.</a:t>
            </a:r>
          </a:p>
          <a:p>
            <a:pPr algn="l" marL="1381745" indent="-460582" lvl="2">
              <a:lnSpc>
                <a:spcPts val="4319"/>
              </a:lnSpc>
              <a:buFont typeface="Arial"/>
              <a:buChar char="⚬"/>
            </a:pPr>
            <a:r>
              <a:rPr lang="en-US" sz="3199" spc="191">
                <a:solidFill>
                  <a:srgbClr val="000000"/>
                </a:solidFill>
                <a:latin typeface="Public Sans"/>
                <a:ea typeface="Public Sans"/>
                <a:cs typeface="Public Sans"/>
                <a:sym typeface="Public Sans"/>
              </a:rPr>
              <a:t>Đưa ra nhận định ban đầu làm nền tảng cho bước phân tích chuyên sâu.</a:t>
            </a:r>
          </a:p>
          <a:p>
            <a:pPr algn="l" marL="0" indent="0" lvl="0">
              <a:lnSpc>
                <a:spcPts val="4319"/>
              </a:lnSpc>
              <a:spcBef>
                <a:spcPct val="0"/>
              </a:spcBef>
            </a:pPr>
          </a:p>
        </p:txBody>
      </p:sp>
      <p:sp>
        <p:nvSpPr>
          <p:cNvPr name="Freeform 6" id="6"/>
          <p:cNvSpPr/>
          <p:nvPr/>
        </p:nvSpPr>
        <p:spPr>
          <a:xfrm flipH="false" flipV="false" rot="0">
            <a:off x="15353489"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5003948" y="-1890601"/>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088454"/>
            <a:ext cx="15219951" cy="759967"/>
          </a:xfrm>
          <a:prstGeom prst="rect">
            <a:avLst/>
          </a:prstGeom>
        </p:spPr>
        <p:txBody>
          <a:bodyPr anchor="t" rtlCol="false" tIns="0" lIns="0" bIns="0" rIns="0">
            <a:spAutoFit/>
          </a:bodyPr>
          <a:lstStyle/>
          <a:p>
            <a:pPr algn="l">
              <a:lnSpc>
                <a:spcPts val="5625"/>
              </a:lnSpc>
            </a:pPr>
            <a:r>
              <a:rPr lang="en-US" sz="5799" b="true">
                <a:solidFill>
                  <a:srgbClr val="000000"/>
                </a:solidFill>
                <a:latin typeface="Public Sans Bold"/>
                <a:ea typeface="Public Sans Bold"/>
                <a:cs typeface="Public Sans Bold"/>
                <a:sym typeface="Public Sans Bold"/>
              </a:rPr>
              <a:t>Exploratory Data Analysis (EDA)</a:t>
            </a:r>
          </a:p>
        </p:txBody>
      </p:sp>
      <p:sp>
        <p:nvSpPr>
          <p:cNvPr name="TextBox 5" id="5"/>
          <p:cNvSpPr txBox="true"/>
          <p:nvPr/>
        </p:nvSpPr>
        <p:spPr>
          <a:xfrm rot="0">
            <a:off x="2928692" y="3348041"/>
            <a:ext cx="12430616" cy="3428993"/>
          </a:xfrm>
          <a:prstGeom prst="rect">
            <a:avLst/>
          </a:prstGeom>
        </p:spPr>
        <p:txBody>
          <a:bodyPr anchor="t" rtlCol="false" tIns="0" lIns="0" bIns="0" rIns="0">
            <a:spAutoFit/>
          </a:bodyPr>
          <a:lstStyle/>
          <a:p>
            <a:pPr algn="l">
              <a:lnSpc>
                <a:spcPts val="6825"/>
              </a:lnSpc>
            </a:pPr>
            <a:r>
              <a:rPr lang="en-US" sz="4375" spc="262" b="true">
                <a:solidFill>
                  <a:srgbClr val="000000"/>
                </a:solidFill>
                <a:latin typeface="Public Sans Bold"/>
                <a:ea typeface="Public Sans Bold"/>
                <a:cs typeface="Public Sans Bold"/>
                <a:sym typeface="Public Sans Bold"/>
              </a:rPr>
              <a:t>Thực hành bao gồm 3 phần là</a:t>
            </a:r>
          </a:p>
          <a:p>
            <a:pPr algn="l" marL="944598" indent="-472299" lvl="1">
              <a:lnSpc>
                <a:spcPts val="6825"/>
              </a:lnSpc>
              <a:buFont typeface="Arial"/>
              <a:buChar char="•"/>
            </a:pPr>
            <a:r>
              <a:rPr lang="en-US" b="true" sz="4375" spc="262">
                <a:solidFill>
                  <a:srgbClr val="000000"/>
                </a:solidFill>
                <a:latin typeface="Public Sans Bold"/>
                <a:ea typeface="Public Sans Bold"/>
                <a:cs typeface="Public Sans Bold"/>
                <a:sym typeface="Public Sans Bold"/>
              </a:rPr>
              <a:t>Thống kê mô tả</a:t>
            </a:r>
          </a:p>
          <a:p>
            <a:pPr algn="l" marL="944598" indent="-472299" lvl="1">
              <a:lnSpc>
                <a:spcPts val="6825"/>
              </a:lnSpc>
              <a:buFont typeface="Arial"/>
              <a:buChar char="•"/>
            </a:pPr>
            <a:r>
              <a:rPr lang="en-US" b="true" sz="4375" spc="262">
                <a:solidFill>
                  <a:srgbClr val="000000"/>
                </a:solidFill>
                <a:latin typeface="Public Sans Bold"/>
                <a:ea typeface="Public Sans Bold"/>
                <a:cs typeface="Public Sans Bold"/>
                <a:sym typeface="Public Sans Bold"/>
              </a:rPr>
              <a:t>Xử lý và trực quan hóa dữ liệu</a:t>
            </a:r>
          </a:p>
          <a:p>
            <a:pPr algn="l" marL="944598" indent="-472299" lvl="1">
              <a:lnSpc>
                <a:spcPts val="6825"/>
              </a:lnSpc>
              <a:buFont typeface="Arial"/>
              <a:buChar char="•"/>
            </a:pPr>
            <a:r>
              <a:rPr lang="en-US" b="true" sz="4375" spc="262">
                <a:solidFill>
                  <a:srgbClr val="000000"/>
                </a:solidFill>
                <a:latin typeface="Public Sans Bold"/>
                <a:ea typeface="Public Sans Bold"/>
                <a:cs typeface="Public Sans Bold"/>
                <a:sym typeface="Public Sans Bold"/>
              </a:rPr>
              <a:t>Phân tích đơn biến và hai biến</a:t>
            </a:r>
          </a:p>
        </p:txBody>
      </p:sp>
      <p:sp>
        <p:nvSpPr>
          <p:cNvPr name="Freeform 6" id="6"/>
          <p:cNvSpPr/>
          <p:nvPr/>
        </p:nvSpPr>
        <p:spPr>
          <a:xfrm flipH="false" flipV="false" rot="0">
            <a:off x="15353489"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1028700" y="2159481"/>
            <a:ext cx="6413500" cy="804545"/>
          </a:xfrm>
          <a:prstGeom prst="rect">
            <a:avLst/>
          </a:prstGeom>
        </p:spPr>
        <p:txBody>
          <a:bodyPr anchor="t" rtlCol="false" tIns="0" lIns="0" bIns="0" rIns="0">
            <a:spAutoFit/>
          </a:bodyPr>
          <a:lstStyle/>
          <a:p>
            <a:pPr algn="ctr">
              <a:lnSpc>
                <a:spcPts val="6580"/>
              </a:lnSpc>
              <a:spcBef>
                <a:spcPct val="0"/>
              </a:spcBef>
            </a:pPr>
            <a:r>
              <a:rPr lang="en-US" b="true" sz="4700">
                <a:solidFill>
                  <a:srgbClr val="000000"/>
                </a:solidFill>
                <a:latin typeface="Public Sans Bold"/>
                <a:ea typeface="Public Sans Bold"/>
                <a:cs typeface="Public Sans Bold"/>
                <a:sym typeface="Public Sans Bold"/>
              </a:rPr>
              <a:t>KẾT CẤU THỰC HÀNH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15476061" y="2224588"/>
            <a:ext cx="4208573" cy="4247184"/>
          </a:xfrm>
          <a:custGeom>
            <a:avLst/>
            <a:gdLst/>
            <a:ahLst/>
            <a:cxnLst/>
            <a:rect r="r" b="b" t="t" l="l"/>
            <a:pathLst>
              <a:path h="4247184" w="4208573">
                <a:moveTo>
                  <a:pt x="0" y="0"/>
                </a:moveTo>
                <a:lnTo>
                  <a:pt x="4208573" y="0"/>
                </a:lnTo>
                <a:lnTo>
                  <a:pt x="4208573" y="4247185"/>
                </a:lnTo>
                <a:lnTo>
                  <a:pt x="0" y="42471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833629" y="4043823"/>
            <a:ext cx="16620742" cy="3493705"/>
          </a:xfrm>
          <a:custGeom>
            <a:avLst/>
            <a:gdLst/>
            <a:ahLst/>
            <a:cxnLst/>
            <a:rect r="r" b="b" t="t" l="l"/>
            <a:pathLst>
              <a:path h="3493705" w="16620742">
                <a:moveTo>
                  <a:pt x="0" y="0"/>
                </a:moveTo>
                <a:lnTo>
                  <a:pt x="16620742" y="0"/>
                </a:lnTo>
                <a:lnTo>
                  <a:pt x="16620742" y="3493705"/>
                </a:lnTo>
                <a:lnTo>
                  <a:pt x="0" y="3493705"/>
                </a:lnTo>
                <a:lnTo>
                  <a:pt x="0" y="0"/>
                </a:lnTo>
                <a:close/>
              </a:path>
            </a:pathLst>
          </a:custGeom>
          <a:blipFill>
            <a:blip r:embed="rId4"/>
            <a:stretch>
              <a:fillRect l="0" t="-1093" r="0" b="0"/>
            </a:stretch>
          </a:blipFill>
        </p:spPr>
      </p:sp>
      <p:sp>
        <p:nvSpPr>
          <p:cNvPr name="TextBox 4" id="4"/>
          <p:cNvSpPr txBox="true"/>
          <p:nvPr/>
        </p:nvSpPr>
        <p:spPr>
          <a:xfrm rot="0">
            <a:off x="1028700" y="1133475"/>
            <a:ext cx="13024982"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THỐNG KÊ MÔ TẢ</a:t>
            </a:r>
          </a:p>
        </p:txBody>
      </p:sp>
      <p:sp>
        <p:nvSpPr>
          <p:cNvPr name="TextBox 5" id="5"/>
          <p:cNvSpPr txBox="true"/>
          <p:nvPr/>
        </p:nvSpPr>
        <p:spPr>
          <a:xfrm rot="0">
            <a:off x="1028700" y="2054357"/>
            <a:ext cx="15630742" cy="1514476"/>
          </a:xfrm>
          <a:prstGeom prst="rect">
            <a:avLst/>
          </a:prstGeom>
        </p:spPr>
        <p:txBody>
          <a:bodyPr anchor="t" rtlCol="false" tIns="0" lIns="0" bIns="0" rIns="0">
            <a:spAutoFit/>
          </a:bodyPr>
          <a:lstStyle/>
          <a:p>
            <a:pPr algn="l">
              <a:lnSpc>
                <a:spcPts val="4049"/>
              </a:lnSpc>
            </a:pPr>
            <a:r>
              <a:rPr lang="en-US" sz="2999" spc="179">
                <a:solidFill>
                  <a:srgbClr val="000000"/>
                </a:solidFill>
                <a:latin typeface="Public Sans"/>
                <a:ea typeface="Public Sans"/>
                <a:cs typeface="Public Sans"/>
                <a:sym typeface="Public Sans"/>
              </a:rPr>
              <a:t>Thống kê mô tả l</a:t>
            </a:r>
            <a:r>
              <a:rPr lang="en-US" sz="2999" spc="179">
                <a:solidFill>
                  <a:srgbClr val="000000"/>
                </a:solidFill>
                <a:latin typeface="Public Sans"/>
                <a:ea typeface="Public Sans"/>
                <a:cs typeface="Public Sans"/>
                <a:sym typeface="Public Sans"/>
              </a:rPr>
              <a:t>à quá trình tóm tắt, trình bày và mô tả dữ liệu đã thu thập được bằng các con số, bảng biểu hoặc đồ thị, giúp ta hiểu </a:t>
            </a:r>
            <a:r>
              <a:rPr lang="en-US" sz="2999" spc="179">
                <a:solidFill>
                  <a:srgbClr val="000000"/>
                </a:solidFill>
                <a:latin typeface="Public Sans"/>
                <a:ea typeface="Public Sans"/>
                <a:cs typeface="Public Sans"/>
                <a:sym typeface="Public Sans"/>
              </a:rPr>
              <a:t>nhanh bức tranh tổng thể của dữ liệu.</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12508960" y="1898550"/>
            <a:ext cx="3215451" cy="3244950"/>
          </a:xfrm>
          <a:custGeom>
            <a:avLst/>
            <a:gdLst/>
            <a:ahLst/>
            <a:cxnLst/>
            <a:rect r="r" b="b" t="t" l="l"/>
            <a:pathLst>
              <a:path h="3244950" w="3215451">
                <a:moveTo>
                  <a:pt x="0" y="0"/>
                </a:moveTo>
                <a:lnTo>
                  <a:pt x="3215451" y="0"/>
                </a:lnTo>
                <a:lnTo>
                  <a:pt x="3215451" y="3244950"/>
                </a:lnTo>
                <a:lnTo>
                  <a:pt x="0" y="32449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3087361" y="2990963"/>
            <a:ext cx="4657520" cy="5104131"/>
          </a:xfrm>
          <a:custGeom>
            <a:avLst/>
            <a:gdLst/>
            <a:ahLst/>
            <a:cxnLst/>
            <a:rect r="r" b="b" t="t" l="l"/>
            <a:pathLst>
              <a:path h="5104131" w="4657520">
                <a:moveTo>
                  <a:pt x="0" y="0"/>
                </a:moveTo>
                <a:lnTo>
                  <a:pt x="4657520" y="0"/>
                </a:lnTo>
                <a:lnTo>
                  <a:pt x="4657520" y="5104131"/>
                </a:lnTo>
                <a:lnTo>
                  <a:pt x="0" y="5104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019780"/>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THỐNG KÊ MÔ TẢ</a:t>
            </a:r>
          </a:p>
        </p:txBody>
      </p:sp>
      <p:sp>
        <p:nvSpPr>
          <p:cNvPr name="TextBox 5" id="5"/>
          <p:cNvSpPr txBox="true"/>
          <p:nvPr/>
        </p:nvSpPr>
        <p:spPr>
          <a:xfrm rot="0">
            <a:off x="1028700" y="1914251"/>
            <a:ext cx="12058661" cy="7200405"/>
          </a:xfrm>
          <a:prstGeom prst="rect">
            <a:avLst/>
          </a:prstGeom>
        </p:spPr>
        <p:txBody>
          <a:bodyPr anchor="t" rtlCol="false" tIns="0" lIns="0" bIns="0" rIns="0">
            <a:spAutoFit/>
          </a:bodyPr>
          <a:lstStyle/>
          <a:p>
            <a:pPr algn="l">
              <a:lnSpc>
                <a:spcPts val="4085"/>
              </a:lnSpc>
            </a:pPr>
            <a:r>
              <a:rPr lang="en-US" sz="3026" spc="181">
                <a:solidFill>
                  <a:srgbClr val="000000"/>
                </a:solidFill>
                <a:latin typeface="Public Sans"/>
                <a:ea typeface="Public Sans"/>
                <a:cs typeface="Public Sans"/>
                <a:sym typeface="Public Sans"/>
              </a:rPr>
              <a:t>Các thước đo thống kê mô tả chính:</a:t>
            </a:r>
          </a:p>
          <a:p>
            <a:pPr algn="l" marL="653314" indent="-326657" lvl="1">
              <a:lnSpc>
                <a:spcPts val="4085"/>
              </a:lnSpc>
              <a:buFont typeface="Arial"/>
              <a:buChar char="•"/>
            </a:pPr>
            <a:r>
              <a:rPr lang="en-US" b="true" sz="3026" spc="181">
                <a:solidFill>
                  <a:srgbClr val="000000"/>
                </a:solidFill>
                <a:latin typeface="Public Sans Bold"/>
                <a:ea typeface="Public Sans Bold"/>
                <a:cs typeface="Public Sans Bold"/>
                <a:sym typeface="Public Sans Bold"/>
              </a:rPr>
              <a:t>Xác định xu hướng trung tâm</a:t>
            </a:r>
            <a:r>
              <a:rPr lang="en-US" sz="3026" spc="181">
                <a:solidFill>
                  <a:srgbClr val="000000"/>
                </a:solidFill>
                <a:latin typeface="Public Sans"/>
                <a:ea typeface="Public Sans"/>
                <a:cs typeface="Public Sans"/>
                <a:sym typeface="Public Sans"/>
              </a:rPr>
              <a:t>: Trung bình, trung</a:t>
            </a:r>
            <a:r>
              <a:rPr lang="en-US" sz="3026" spc="181">
                <a:solidFill>
                  <a:srgbClr val="000000"/>
                </a:solidFill>
                <a:latin typeface="Public Sans"/>
                <a:ea typeface="Public Sans"/>
                <a:cs typeface="Public Sans"/>
                <a:sym typeface="Public Sans"/>
              </a:rPr>
              <a:t> vị, mốt → giá trị đại diện.</a:t>
            </a:r>
          </a:p>
          <a:p>
            <a:pPr algn="l" marL="653314" indent="-326657" lvl="1">
              <a:lnSpc>
                <a:spcPts val="4085"/>
              </a:lnSpc>
              <a:buFont typeface="Arial"/>
              <a:buChar char="•"/>
            </a:pPr>
            <a:r>
              <a:rPr lang="en-US" b="true" sz="3026" spc="181">
                <a:solidFill>
                  <a:srgbClr val="000000"/>
                </a:solidFill>
                <a:latin typeface="Public Sans Bold"/>
                <a:ea typeface="Public Sans Bold"/>
                <a:cs typeface="Public Sans Bold"/>
                <a:sym typeface="Public Sans Bold"/>
              </a:rPr>
              <a:t>Đo mức độ phân tán</a:t>
            </a:r>
            <a:r>
              <a:rPr lang="en-US" sz="3026" spc="181">
                <a:solidFill>
                  <a:srgbClr val="000000"/>
                </a:solidFill>
                <a:latin typeface="Public Sans"/>
                <a:ea typeface="Public Sans"/>
                <a:cs typeface="Public Sans"/>
                <a:sym typeface="Public Sans"/>
              </a:rPr>
              <a:t>: Phương sai, độ lệch chuẩn, phạm vi, IQR → mức dao động dữ liệu.</a:t>
            </a:r>
          </a:p>
          <a:p>
            <a:pPr algn="l" marL="653314" indent="-326657" lvl="1">
              <a:lnSpc>
                <a:spcPts val="4085"/>
              </a:lnSpc>
              <a:buFont typeface="Arial"/>
              <a:buChar char="•"/>
            </a:pPr>
            <a:r>
              <a:rPr lang="en-US" b="true" sz="3026" spc="181">
                <a:solidFill>
                  <a:srgbClr val="000000"/>
                </a:solidFill>
                <a:latin typeface="Public Sans Bold"/>
                <a:ea typeface="Public Sans Bold"/>
                <a:cs typeface="Public Sans Bold"/>
                <a:sym typeface="Public Sans Bold"/>
              </a:rPr>
              <a:t>So sánh &amp; phát hiện bất thường</a:t>
            </a:r>
            <a:r>
              <a:rPr lang="en-US" sz="3026" spc="181">
                <a:solidFill>
                  <a:srgbClr val="000000"/>
                </a:solidFill>
                <a:latin typeface="Public Sans"/>
                <a:ea typeface="Public Sans"/>
                <a:cs typeface="Public Sans"/>
                <a:sym typeface="Public Sans"/>
              </a:rPr>
              <a:t>: Giữa các nhóm hoặc qua outliers.</a:t>
            </a:r>
          </a:p>
          <a:p>
            <a:pPr algn="l" marL="653314" indent="-326657" lvl="1">
              <a:lnSpc>
                <a:spcPts val="4085"/>
              </a:lnSpc>
              <a:buFont typeface="Arial"/>
              <a:buChar char="•"/>
            </a:pPr>
            <a:r>
              <a:rPr lang="en-US" b="true" sz="3026" spc="181">
                <a:solidFill>
                  <a:srgbClr val="000000"/>
                </a:solidFill>
                <a:latin typeface="Public Sans Bold"/>
                <a:ea typeface="Public Sans Bold"/>
                <a:cs typeface="Public Sans Bold"/>
                <a:sym typeface="Public Sans Bold"/>
              </a:rPr>
              <a:t>Cơ sở cho thống kê suy luận</a:t>
            </a:r>
            <a:r>
              <a:rPr lang="en-US" sz="3026" spc="181">
                <a:solidFill>
                  <a:srgbClr val="000000"/>
                </a:solidFill>
                <a:latin typeface="Public Sans"/>
                <a:ea typeface="Public Sans"/>
                <a:cs typeface="Public Sans"/>
                <a:sym typeface="Public Sans"/>
              </a:rPr>
              <a:t>: Chuẩn bị cho ước lượng, kiểm định, mô hình hóa.</a:t>
            </a:r>
          </a:p>
          <a:p>
            <a:pPr algn="l">
              <a:lnSpc>
                <a:spcPts val="4085"/>
              </a:lnSpc>
            </a:pPr>
            <a:r>
              <a:rPr lang="en-US" sz="3026" spc="181">
                <a:solidFill>
                  <a:srgbClr val="000000"/>
                </a:solidFill>
                <a:latin typeface="Public Sans"/>
                <a:ea typeface="Public Sans"/>
                <a:cs typeface="Public Sans"/>
                <a:sym typeface="Public Sans"/>
              </a:rPr>
              <a:t>Khi dùng </a:t>
            </a:r>
            <a:r>
              <a:rPr lang="en-US" sz="3026" spc="181" b="true">
                <a:solidFill>
                  <a:srgbClr val="000000"/>
                </a:solidFill>
                <a:latin typeface="Public Sans Bold"/>
                <a:ea typeface="Public Sans Bold"/>
                <a:cs typeface="Public Sans Bold"/>
                <a:sym typeface="Public Sans Bold"/>
              </a:rPr>
              <a:t>trung vị</a:t>
            </a:r>
            <a:r>
              <a:rPr lang="en-US" sz="3026" spc="181">
                <a:solidFill>
                  <a:srgbClr val="000000"/>
                </a:solidFill>
                <a:latin typeface="Public Sans"/>
                <a:ea typeface="Public Sans"/>
                <a:cs typeface="Public Sans"/>
                <a:sym typeface="Public Sans"/>
              </a:rPr>
              <a:t> thay </a:t>
            </a:r>
            <a:r>
              <a:rPr lang="en-US" sz="3026" spc="181" b="true">
                <a:solidFill>
                  <a:srgbClr val="000000"/>
                </a:solidFill>
                <a:latin typeface="Public Sans Bold"/>
                <a:ea typeface="Public Sans Bold"/>
                <a:cs typeface="Public Sans Bold"/>
                <a:sym typeface="Public Sans Bold"/>
              </a:rPr>
              <a:t>trung bình</a:t>
            </a:r>
            <a:r>
              <a:rPr lang="en-US" sz="3026" spc="181">
                <a:solidFill>
                  <a:srgbClr val="000000"/>
                </a:solidFill>
                <a:latin typeface="Public Sans"/>
                <a:ea typeface="Public Sans"/>
                <a:cs typeface="Public Sans"/>
                <a:sym typeface="Public Sans"/>
              </a:rPr>
              <a:t>:</a:t>
            </a:r>
          </a:p>
          <a:p>
            <a:pPr algn="l" marL="653314" indent="-326657" lvl="1">
              <a:lnSpc>
                <a:spcPts val="4085"/>
              </a:lnSpc>
              <a:buFont typeface="Arial"/>
              <a:buChar char="•"/>
            </a:pPr>
            <a:r>
              <a:rPr lang="en-US" sz="3026" spc="181">
                <a:solidFill>
                  <a:srgbClr val="000000"/>
                </a:solidFill>
                <a:latin typeface="Public Sans"/>
                <a:ea typeface="Public Sans"/>
                <a:cs typeface="Public Sans"/>
                <a:sym typeface="Public Sans"/>
              </a:rPr>
              <a:t>Dữ liệu </a:t>
            </a:r>
            <a:r>
              <a:rPr lang="en-US" b="true" sz="3026" spc="181">
                <a:solidFill>
                  <a:srgbClr val="000000"/>
                </a:solidFill>
                <a:latin typeface="Public Sans Bold"/>
                <a:ea typeface="Public Sans Bold"/>
                <a:cs typeface="Public Sans Bold"/>
                <a:sym typeface="Public Sans Bold"/>
              </a:rPr>
              <a:t>lệch</a:t>
            </a:r>
            <a:r>
              <a:rPr lang="en-US" sz="3026" spc="181">
                <a:solidFill>
                  <a:srgbClr val="000000"/>
                </a:solidFill>
                <a:latin typeface="Public Sans"/>
                <a:ea typeface="Public Sans"/>
                <a:cs typeface="Public Sans"/>
                <a:sym typeface="Public Sans"/>
              </a:rPr>
              <a:t> hoặc có </a:t>
            </a:r>
            <a:r>
              <a:rPr lang="en-US" b="true" sz="3026" spc="181">
                <a:solidFill>
                  <a:srgbClr val="000000"/>
                </a:solidFill>
                <a:latin typeface="Public Sans Bold"/>
                <a:ea typeface="Public Sans Bold"/>
                <a:cs typeface="Public Sans Bold"/>
                <a:sym typeface="Public Sans Bold"/>
              </a:rPr>
              <a:t>giá trị ngoại lai</a:t>
            </a:r>
            <a:r>
              <a:rPr lang="en-US" sz="3026" spc="181">
                <a:solidFill>
                  <a:srgbClr val="000000"/>
                </a:solidFill>
                <a:latin typeface="Public Sans"/>
                <a:ea typeface="Public Sans"/>
                <a:cs typeface="Public Sans"/>
                <a:sym typeface="Public Sans"/>
              </a:rPr>
              <a:t>.</a:t>
            </a:r>
          </a:p>
          <a:p>
            <a:pPr algn="l" marL="653314" indent="-326657" lvl="1">
              <a:lnSpc>
                <a:spcPts val="4085"/>
              </a:lnSpc>
              <a:buFont typeface="Arial"/>
              <a:buChar char="•"/>
            </a:pPr>
            <a:r>
              <a:rPr lang="en-US" sz="3026" spc="181">
                <a:solidFill>
                  <a:srgbClr val="000000"/>
                </a:solidFill>
                <a:latin typeface="Public Sans"/>
                <a:ea typeface="Public Sans"/>
                <a:cs typeface="Public Sans"/>
                <a:sym typeface="Public Sans"/>
              </a:rPr>
              <a:t> → T</a:t>
            </a:r>
            <a:r>
              <a:rPr lang="en-US" sz="3026" spc="181">
                <a:solidFill>
                  <a:srgbClr val="000000"/>
                </a:solidFill>
                <a:latin typeface="Public Sans"/>
                <a:ea typeface="Public Sans"/>
                <a:cs typeface="Public Sans"/>
                <a:sym typeface="Public Sans"/>
              </a:rPr>
              <a:t>rung vị phản ánh “giá trị điển hình” chính xác hơn.</a:t>
            </a:r>
          </a:p>
          <a:p>
            <a:pPr algn="l" marL="653314" indent="-326657" lvl="1">
              <a:lnSpc>
                <a:spcPts val="4085"/>
              </a:lnSpc>
              <a:spcBef>
                <a:spcPct val="0"/>
              </a:spcBef>
              <a:buFont typeface="Arial"/>
              <a:buChar char="•"/>
            </a:pPr>
            <a:r>
              <a:rPr lang="en-US" sz="3026" spc="181">
                <a:solidFill>
                  <a:srgbClr val="000000"/>
                </a:solidFill>
                <a:latin typeface="Public Sans"/>
                <a:ea typeface="Public Sans"/>
                <a:cs typeface="Public Sans"/>
                <a:sym typeface="Public Sans"/>
              </a:rPr>
              <a:t>Ví dụ: Thu nhập (triệu đồng): 5, 6, 7, 8, 120 → Trung bình = 29.2, Trung vị = 7.</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TextBox 2" id="2"/>
          <p:cNvSpPr txBox="true"/>
          <p:nvPr/>
        </p:nvSpPr>
        <p:spPr>
          <a:xfrm rot="0">
            <a:off x="1028700" y="1133475"/>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THỐNG KÊ MÔ TẢ</a:t>
            </a:r>
          </a:p>
        </p:txBody>
      </p:sp>
      <p:sp>
        <p:nvSpPr>
          <p:cNvPr name="TextBox 3" id="3"/>
          <p:cNvSpPr txBox="true"/>
          <p:nvPr/>
        </p:nvSpPr>
        <p:spPr>
          <a:xfrm rot="0">
            <a:off x="952623" y="2313511"/>
            <a:ext cx="16382755" cy="5545678"/>
          </a:xfrm>
          <a:prstGeom prst="rect">
            <a:avLst/>
          </a:prstGeom>
        </p:spPr>
        <p:txBody>
          <a:bodyPr anchor="t" rtlCol="false" tIns="0" lIns="0" bIns="0" rIns="0">
            <a:spAutoFit/>
          </a:bodyPr>
          <a:lstStyle/>
          <a:p>
            <a:pPr algn="l">
              <a:lnSpc>
                <a:spcPts val="4907"/>
              </a:lnSpc>
            </a:pPr>
            <a:r>
              <a:rPr lang="en-US" sz="3166" spc="189">
                <a:solidFill>
                  <a:srgbClr val="000000"/>
                </a:solidFill>
                <a:latin typeface="Public Sans"/>
                <a:ea typeface="Public Sans"/>
                <a:cs typeface="Public Sans"/>
                <a:sym typeface="Public Sans"/>
              </a:rPr>
              <a:t> Để xác định phân bố của một tập dữ liệu:</a:t>
            </a:r>
          </a:p>
          <a:p>
            <a:pPr algn="l">
              <a:lnSpc>
                <a:spcPts val="4907"/>
              </a:lnSpc>
            </a:pP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Vẽ</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biể</a:t>
            </a:r>
            <a:r>
              <a:rPr lang="en-US" sz="3166" spc="189">
                <a:solidFill>
                  <a:srgbClr val="000000"/>
                </a:solidFill>
                <a:latin typeface="Public Sans"/>
                <a:ea typeface="Public Sans"/>
                <a:cs typeface="Public Sans"/>
                <a:sym typeface="Public Sans"/>
              </a:rPr>
              <a:t>u </a:t>
            </a:r>
            <a:r>
              <a:rPr lang="en-US" sz="3166" spc="189">
                <a:solidFill>
                  <a:srgbClr val="000000"/>
                </a:solidFill>
                <a:latin typeface="Public Sans"/>
                <a:ea typeface="Public Sans"/>
                <a:cs typeface="Public Sans"/>
                <a:sym typeface="Public Sans"/>
              </a:rPr>
              <a:t>đồ </a:t>
            </a:r>
            <a:r>
              <a:rPr lang="en-US" sz="3166" spc="189">
                <a:solidFill>
                  <a:srgbClr val="000000"/>
                </a:solidFill>
                <a:latin typeface="Public Sans"/>
                <a:ea typeface="Public Sans"/>
                <a:cs typeface="Public Sans"/>
                <a:sym typeface="Public Sans"/>
              </a:rPr>
              <a:t>h</a:t>
            </a:r>
            <a:r>
              <a:rPr lang="en-US" sz="3166" spc="189">
                <a:solidFill>
                  <a:srgbClr val="000000"/>
                </a:solidFill>
                <a:latin typeface="Public Sans"/>
                <a:ea typeface="Public Sans"/>
                <a:cs typeface="Public Sans"/>
                <a:sym typeface="Public Sans"/>
              </a:rPr>
              <a:t>is</a:t>
            </a:r>
            <a:r>
              <a:rPr lang="en-US" sz="3166" spc="189">
                <a:solidFill>
                  <a:srgbClr val="000000"/>
                </a:solidFill>
                <a:latin typeface="Public Sans"/>
                <a:ea typeface="Public Sans"/>
                <a:cs typeface="Public Sans"/>
                <a:sym typeface="Public Sans"/>
              </a:rPr>
              <a:t>t</a:t>
            </a:r>
            <a:r>
              <a:rPr lang="en-US" sz="3166" spc="189">
                <a:solidFill>
                  <a:srgbClr val="000000"/>
                </a:solidFill>
                <a:latin typeface="Public Sans"/>
                <a:ea typeface="Public Sans"/>
                <a:cs typeface="Public Sans"/>
                <a:sym typeface="Public Sans"/>
              </a:rPr>
              <a:t>og</a:t>
            </a:r>
            <a:r>
              <a:rPr lang="en-US" sz="3166" spc="189">
                <a:solidFill>
                  <a:srgbClr val="000000"/>
                </a:solidFill>
                <a:latin typeface="Public Sans"/>
                <a:ea typeface="Public Sans"/>
                <a:cs typeface="Public Sans"/>
                <a:sym typeface="Public Sans"/>
              </a:rPr>
              <a:t>r</a:t>
            </a:r>
            <a:r>
              <a:rPr lang="en-US" sz="3166" spc="189">
                <a:solidFill>
                  <a:srgbClr val="000000"/>
                </a:solidFill>
                <a:latin typeface="Public Sans"/>
                <a:ea typeface="Public Sans"/>
                <a:cs typeface="Public Sans"/>
                <a:sym typeface="Public Sans"/>
              </a:rPr>
              <a:t>am</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hoặc boxplo</a:t>
            </a:r>
            <a:r>
              <a:rPr lang="en-US" sz="3166" spc="189">
                <a:solidFill>
                  <a:srgbClr val="000000"/>
                </a:solidFill>
                <a:latin typeface="Public Sans"/>
                <a:ea typeface="Public Sans"/>
                <a:cs typeface="Public Sans"/>
                <a:sym typeface="Public Sans"/>
              </a:rPr>
              <a:t>t</a:t>
            </a:r>
            <a:r>
              <a:rPr lang="en-US" sz="3166" spc="189">
                <a:solidFill>
                  <a:srgbClr val="000000"/>
                </a:solidFill>
                <a:latin typeface="Public Sans"/>
                <a:ea typeface="Public Sans"/>
                <a:cs typeface="Public Sans"/>
                <a:sym typeface="Public Sans"/>
              </a:rPr>
              <a:t> để quan sát hình dạng</a:t>
            </a:r>
            <a:r>
              <a:rPr lang="en-US" sz="3166" spc="189">
                <a:solidFill>
                  <a:srgbClr val="000000"/>
                </a:solidFill>
                <a:latin typeface="Public Sans"/>
                <a:ea typeface="Public Sans"/>
                <a:cs typeface="Public Sans"/>
                <a:sym typeface="Public Sans"/>
              </a:rPr>
              <a:t> phân bố.</a:t>
            </a:r>
          </a:p>
          <a:p>
            <a:pPr algn="l">
              <a:lnSpc>
                <a:spcPts val="4907"/>
              </a:lnSpc>
            </a:pPr>
            <a:r>
              <a:rPr lang="en-US" sz="3166" spc="189">
                <a:solidFill>
                  <a:srgbClr val="000000"/>
                </a:solidFill>
                <a:latin typeface="Public Sans"/>
                <a:ea typeface="Public Sans"/>
                <a:cs typeface="Public Sans"/>
                <a:sym typeface="Public Sans"/>
              </a:rPr>
              <a:t>  - Tính các chỉ số như mean, median,</a:t>
            </a:r>
            <a:r>
              <a:rPr lang="en-US" sz="3166" spc="189">
                <a:solidFill>
                  <a:srgbClr val="000000"/>
                </a:solidFill>
                <a:latin typeface="Public Sans"/>
                <a:ea typeface="Public Sans"/>
                <a:cs typeface="Public Sans"/>
                <a:sym typeface="Public Sans"/>
              </a:rPr>
              <a:t> m</a:t>
            </a:r>
            <a:r>
              <a:rPr lang="en-US" sz="3166" spc="189">
                <a:solidFill>
                  <a:srgbClr val="000000"/>
                </a:solidFill>
                <a:latin typeface="Public Sans"/>
                <a:ea typeface="Public Sans"/>
                <a:cs typeface="Public Sans"/>
                <a:sym typeface="Public Sans"/>
              </a:rPr>
              <a:t>ode</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và</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so</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s</a:t>
            </a:r>
            <a:r>
              <a:rPr lang="en-US" sz="3166" spc="189">
                <a:solidFill>
                  <a:srgbClr val="000000"/>
                </a:solidFill>
                <a:latin typeface="Public Sans"/>
                <a:ea typeface="Public Sans"/>
                <a:cs typeface="Public Sans"/>
                <a:sym typeface="Public Sans"/>
              </a:rPr>
              <a:t>án</a:t>
            </a:r>
            <a:r>
              <a:rPr lang="en-US" sz="3166" spc="189">
                <a:solidFill>
                  <a:srgbClr val="000000"/>
                </a:solidFill>
                <a:latin typeface="Public Sans"/>
                <a:ea typeface="Public Sans"/>
                <a:cs typeface="Public Sans"/>
                <a:sym typeface="Public Sans"/>
              </a:rPr>
              <a:t>h chúng.</a:t>
            </a:r>
          </a:p>
          <a:p>
            <a:pPr algn="l">
              <a:lnSpc>
                <a:spcPts val="4907"/>
              </a:lnSpc>
            </a:pPr>
            <a:r>
              <a:rPr lang="en-US" sz="3166" spc="189">
                <a:solidFill>
                  <a:srgbClr val="000000"/>
                </a:solidFill>
                <a:latin typeface="Public Sans"/>
                <a:ea typeface="Public Sans"/>
                <a:cs typeface="Public Sans"/>
                <a:sym typeface="Public Sans"/>
              </a:rPr>
              <a:t>  - Kiểm tra độ lệch và độ nhọn của dữ liệu.</a:t>
            </a:r>
          </a:p>
          <a:p>
            <a:pPr algn="l">
              <a:lnSpc>
                <a:spcPts val="4907"/>
              </a:lnSpc>
            </a:pP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C</a:t>
            </a:r>
            <a:r>
              <a:rPr lang="en-US" sz="3166" spc="189">
                <a:solidFill>
                  <a:srgbClr val="000000"/>
                </a:solidFill>
                <a:latin typeface="Public Sans"/>
                <a:ea typeface="Public Sans"/>
                <a:cs typeface="Public Sans"/>
                <a:sym typeface="Public Sans"/>
              </a:rPr>
              <a:t>á</a:t>
            </a:r>
            <a:r>
              <a:rPr lang="en-US" sz="3166" spc="189">
                <a:solidFill>
                  <a:srgbClr val="000000"/>
                </a:solidFill>
                <a:latin typeface="Public Sans"/>
                <a:ea typeface="Public Sans"/>
                <a:cs typeface="Public Sans"/>
                <a:sym typeface="Public Sans"/>
              </a:rPr>
              <a:t>c</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loại</a:t>
            </a:r>
            <a:r>
              <a:rPr lang="en-US" sz="3166" spc="189">
                <a:solidFill>
                  <a:srgbClr val="000000"/>
                </a:solidFill>
                <a:latin typeface="Public Sans"/>
                <a:ea typeface="Public Sans"/>
                <a:cs typeface="Public Sans"/>
                <a:sym typeface="Public Sans"/>
              </a:rPr>
              <a:t> ph</a:t>
            </a:r>
            <a:r>
              <a:rPr lang="en-US" sz="3166" spc="189">
                <a:solidFill>
                  <a:srgbClr val="000000"/>
                </a:solidFill>
                <a:latin typeface="Public Sans"/>
                <a:ea typeface="Public Sans"/>
                <a:cs typeface="Public Sans"/>
                <a:sym typeface="Public Sans"/>
              </a:rPr>
              <a:t>ân</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bố p</a:t>
            </a:r>
            <a:r>
              <a:rPr lang="en-US" sz="3166" spc="189">
                <a:solidFill>
                  <a:srgbClr val="000000"/>
                </a:solidFill>
                <a:latin typeface="Public Sans"/>
                <a:ea typeface="Public Sans"/>
                <a:cs typeface="Public Sans"/>
                <a:sym typeface="Public Sans"/>
              </a:rPr>
              <a:t>h</a:t>
            </a:r>
            <a:r>
              <a:rPr lang="en-US" sz="3166" spc="189">
                <a:solidFill>
                  <a:srgbClr val="000000"/>
                </a:solidFill>
                <a:latin typeface="Public Sans"/>
                <a:ea typeface="Public Sans"/>
                <a:cs typeface="Public Sans"/>
                <a:sym typeface="Public Sans"/>
              </a:rPr>
              <a:t>ổ b</a:t>
            </a:r>
            <a:r>
              <a:rPr lang="en-US" sz="3166" spc="189">
                <a:solidFill>
                  <a:srgbClr val="000000"/>
                </a:solidFill>
                <a:latin typeface="Public Sans"/>
                <a:ea typeface="Public Sans"/>
                <a:cs typeface="Public Sans"/>
                <a:sym typeface="Public Sans"/>
              </a:rPr>
              <a:t>i</a:t>
            </a:r>
            <a:r>
              <a:rPr lang="en-US" sz="3166" spc="189">
                <a:solidFill>
                  <a:srgbClr val="000000"/>
                </a:solidFill>
                <a:latin typeface="Public Sans"/>
                <a:ea typeface="Public Sans"/>
                <a:cs typeface="Public Sans"/>
                <a:sym typeface="Public Sans"/>
              </a:rPr>
              <a:t>ến:</a:t>
            </a:r>
          </a:p>
          <a:p>
            <a:pPr algn="l">
              <a:lnSpc>
                <a:spcPts val="4907"/>
              </a:lnSpc>
            </a:pPr>
            <a:r>
              <a:rPr lang="en-US" sz="3166" spc="189">
                <a:solidFill>
                  <a:srgbClr val="000000"/>
                </a:solidFill>
                <a:latin typeface="Public Sans"/>
                <a:ea typeface="Public Sans"/>
                <a:cs typeface="Public Sans"/>
                <a:sym typeface="Public Sans"/>
              </a:rPr>
              <a:t>  - </a:t>
            </a:r>
            <a:r>
              <a:rPr lang="en-US" sz="3166" spc="189" b="true">
                <a:solidFill>
                  <a:srgbClr val="000000"/>
                </a:solidFill>
                <a:latin typeface="Public Sans Bold"/>
                <a:ea typeface="Public Sans Bold"/>
                <a:cs typeface="Public Sans Bold"/>
                <a:sym typeface="Public Sans Bold"/>
              </a:rPr>
              <a:t>Phân bố chuẩn</a:t>
            </a:r>
            <a:r>
              <a:rPr lang="en-US" sz="3166" spc="189">
                <a:solidFill>
                  <a:srgbClr val="000000"/>
                </a:solidFill>
                <a:latin typeface="Public Sans"/>
                <a:ea typeface="Public Sans"/>
                <a:cs typeface="Public Sans"/>
                <a:sym typeface="Public Sans"/>
              </a:rPr>
              <a:t>: Dạng chuông, mean ≈ median ≈ mode.</a:t>
            </a:r>
          </a:p>
          <a:p>
            <a:pPr algn="l">
              <a:lnSpc>
                <a:spcPts val="4907"/>
              </a:lnSpc>
            </a:pPr>
            <a:r>
              <a:rPr lang="en-US" sz="3166" spc="189">
                <a:solidFill>
                  <a:srgbClr val="000000"/>
                </a:solidFill>
                <a:latin typeface="Public Sans"/>
                <a:ea typeface="Public Sans"/>
                <a:cs typeface="Public Sans"/>
                <a:sym typeface="Public Sans"/>
              </a:rPr>
              <a:t>  - </a:t>
            </a:r>
            <a:r>
              <a:rPr lang="en-US" sz="3166" spc="189" b="true">
                <a:solidFill>
                  <a:srgbClr val="000000"/>
                </a:solidFill>
                <a:latin typeface="Public Sans Bold"/>
                <a:ea typeface="Public Sans Bold"/>
                <a:cs typeface="Public Sans Bold"/>
                <a:sym typeface="Public Sans Bold"/>
              </a:rPr>
              <a:t>Phân</a:t>
            </a:r>
            <a:r>
              <a:rPr lang="en-US" sz="3166" spc="189" b="true">
                <a:solidFill>
                  <a:srgbClr val="000000"/>
                </a:solidFill>
                <a:latin typeface="Public Sans Bold"/>
                <a:ea typeface="Public Sans Bold"/>
                <a:cs typeface="Public Sans Bold"/>
                <a:sym typeface="Public Sans Bold"/>
              </a:rPr>
              <a:t> bố lệch phải</a:t>
            </a:r>
            <a:r>
              <a:rPr lang="en-US" sz="3166" spc="189">
                <a:solidFill>
                  <a:srgbClr val="000000"/>
                </a:solidFill>
                <a:latin typeface="Public Sans"/>
                <a:ea typeface="Public Sans"/>
                <a:cs typeface="Public Sans"/>
                <a:sym typeface="Public Sans"/>
              </a:rPr>
              <a:t>:</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Đ</a:t>
            </a:r>
            <a:r>
              <a:rPr lang="en-US" sz="3166" spc="189">
                <a:solidFill>
                  <a:srgbClr val="000000"/>
                </a:solidFill>
                <a:latin typeface="Public Sans"/>
                <a:ea typeface="Public Sans"/>
                <a:cs typeface="Public Sans"/>
                <a:sym typeface="Public Sans"/>
              </a:rPr>
              <a:t>u</a:t>
            </a:r>
            <a:r>
              <a:rPr lang="en-US" sz="3166" spc="189">
                <a:solidFill>
                  <a:srgbClr val="000000"/>
                </a:solidFill>
                <a:latin typeface="Public Sans"/>
                <a:ea typeface="Public Sans"/>
                <a:cs typeface="Public Sans"/>
                <a:sym typeface="Public Sans"/>
              </a:rPr>
              <a:t>ôi</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kéo dài về phía giá trị lớn, mean &gt; median.</a:t>
            </a:r>
          </a:p>
          <a:p>
            <a:pPr algn="l">
              <a:lnSpc>
                <a:spcPts val="4907"/>
              </a:lnSpc>
            </a:pP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 </a:t>
            </a:r>
            <a:r>
              <a:rPr lang="en-US" sz="3166" spc="189" b="true">
                <a:solidFill>
                  <a:srgbClr val="000000"/>
                </a:solidFill>
                <a:latin typeface="Public Sans Bold"/>
                <a:ea typeface="Public Sans Bold"/>
                <a:cs typeface="Public Sans Bold"/>
                <a:sym typeface="Public Sans Bold"/>
              </a:rPr>
              <a:t>Phân bố lệch trái</a:t>
            </a:r>
            <a:r>
              <a:rPr lang="en-US" sz="3166" spc="189">
                <a:solidFill>
                  <a:srgbClr val="000000"/>
                </a:solidFill>
                <a:latin typeface="Public Sans"/>
                <a:ea typeface="Public Sans"/>
                <a:cs typeface="Public Sans"/>
                <a:sym typeface="Public Sans"/>
              </a:rPr>
              <a:t>: Đuô</a:t>
            </a:r>
            <a:r>
              <a:rPr lang="en-US" sz="3166" spc="189">
                <a:solidFill>
                  <a:srgbClr val="000000"/>
                </a:solidFill>
                <a:latin typeface="Public Sans"/>
                <a:ea typeface="Public Sans"/>
                <a:cs typeface="Public Sans"/>
                <a:sym typeface="Public Sans"/>
              </a:rPr>
              <a:t>i </a:t>
            </a:r>
            <a:r>
              <a:rPr lang="en-US" sz="3166" spc="189">
                <a:solidFill>
                  <a:srgbClr val="000000"/>
                </a:solidFill>
                <a:latin typeface="Public Sans"/>
                <a:ea typeface="Public Sans"/>
                <a:cs typeface="Public Sans"/>
                <a:sym typeface="Public Sans"/>
              </a:rPr>
              <a:t>ké</a:t>
            </a:r>
            <a:r>
              <a:rPr lang="en-US" sz="3166" spc="189">
                <a:solidFill>
                  <a:srgbClr val="000000"/>
                </a:solidFill>
                <a:latin typeface="Public Sans"/>
                <a:ea typeface="Public Sans"/>
                <a:cs typeface="Public Sans"/>
                <a:sym typeface="Public Sans"/>
              </a:rPr>
              <a:t>o </a:t>
            </a:r>
            <a:r>
              <a:rPr lang="en-US" sz="3166" spc="189">
                <a:solidFill>
                  <a:srgbClr val="000000"/>
                </a:solidFill>
                <a:latin typeface="Public Sans"/>
                <a:ea typeface="Public Sans"/>
                <a:cs typeface="Public Sans"/>
                <a:sym typeface="Public Sans"/>
              </a:rPr>
              <a:t>dà</a:t>
            </a:r>
            <a:r>
              <a:rPr lang="en-US" sz="3166" spc="189">
                <a:solidFill>
                  <a:srgbClr val="000000"/>
                </a:solidFill>
                <a:latin typeface="Public Sans"/>
                <a:ea typeface="Public Sans"/>
                <a:cs typeface="Public Sans"/>
                <a:sym typeface="Public Sans"/>
              </a:rPr>
              <a:t>i</a:t>
            </a:r>
            <a:r>
              <a:rPr lang="en-US" sz="3166" spc="189">
                <a:solidFill>
                  <a:srgbClr val="000000"/>
                </a:solidFill>
                <a:latin typeface="Public Sans"/>
                <a:ea typeface="Public Sans"/>
                <a:cs typeface="Public Sans"/>
                <a:sym typeface="Public Sans"/>
              </a:rPr>
              <a:t> về phía giá trị nhỏ, mean &lt; median.</a:t>
            </a:r>
          </a:p>
          <a:p>
            <a:pPr algn="l">
              <a:lnSpc>
                <a:spcPts val="4907"/>
              </a:lnSpc>
            </a:pPr>
            <a:r>
              <a:rPr lang="en-US" sz="3166" spc="189">
                <a:solidFill>
                  <a:srgbClr val="000000"/>
                </a:solidFill>
                <a:latin typeface="Public Sans"/>
                <a:ea typeface="Public Sans"/>
                <a:cs typeface="Public Sans"/>
                <a:sym typeface="Public Sans"/>
              </a:rPr>
              <a:t>  - </a:t>
            </a:r>
            <a:r>
              <a:rPr lang="en-US" b="true" sz="3166" spc="189">
                <a:solidFill>
                  <a:srgbClr val="000000"/>
                </a:solidFill>
                <a:latin typeface="Public Sans Bold"/>
                <a:ea typeface="Public Sans Bold"/>
                <a:cs typeface="Public Sans Bold"/>
                <a:sym typeface="Public Sans Bold"/>
              </a:rPr>
              <a:t>Phân bố đều</a:t>
            </a:r>
            <a:r>
              <a:rPr lang="en-US" sz="3166" spc="189">
                <a:solidFill>
                  <a:srgbClr val="000000"/>
                </a:solidFill>
                <a:latin typeface="Public Sans"/>
                <a:ea typeface="Public Sans"/>
                <a:cs typeface="Public Sans"/>
                <a:sym typeface="Public Sans"/>
              </a:rPr>
              <a:t>: Các giá trị xuất hiện với tần suất gần như bằng nhau.</a:t>
            </a:r>
          </a:p>
        </p:txBody>
      </p:sp>
      <p:sp>
        <p:nvSpPr>
          <p:cNvPr name="Freeform 4" id="4"/>
          <p:cNvSpPr/>
          <p:nvPr/>
        </p:nvSpPr>
        <p:spPr>
          <a:xfrm flipH="false" flipV="false" rot="-10800000">
            <a:off x="14676435" y="-1187080"/>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70802">
            <a:off x="7090128" y="-1906681"/>
            <a:ext cx="4017146" cy="3158481"/>
          </a:xfrm>
          <a:custGeom>
            <a:avLst/>
            <a:gdLst/>
            <a:ahLst/>
            <a:cxnLst/>
            <a:rect r="r" b="b" t="t" l="l"/>
            <a:pathLst>
              <a:path h="3158481" w="4017146">
                <a:moveTo>
                  <a:pt x="0" y="0"/>
                </a:moveTo>
                <a:lnTo>
                  <a:pt x="4017146" y="0"/>
                </a:lnTo>
                <a:lnTo>
                  <a:pt x="4017146" y="3158481"/>
                </a:lnTo>
                <a:lnTo>
                  <a:pt x="0" y="3158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9111394">
            <a:off x="15402882" y="8707759"/>
            <a:ext cx="4017146" cy="3158481"/>
          </a:xfrm>
          <a:custGeom>
            <a:avLst/>
            <a:gdLst/>
            <a:ahLst/>
            <a:cxnLst/>
            <a:rect r="r" b="b" t="t" l="l"/>
            <a:pathLst>
              <a:path h="3158481" w="4017146">
                <a:moveTo>
                  <a:pt x="0" y="0"/>
                </a:moveTo>
                <a:lnTo>
                  <a:pt x="4017146" y="0"/>
                </a:lnTo>
                <a:lnTo>
                  <a:pt x="4017146" y="3158482"/>
                </a:lnTo>
                <a:lnTo>
                  <a:pt x="0" y="31584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TextBox 2" id="2"/>
          <p:cNvSpPr txBox="true"/>
          <p:nvPr/>
        </p:nvSpPr>
        <p:spPr>
          <a:xfrm rot="0">
            <a:off x="1028700" y="1507851"/>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THỐNG KÊ MÔ TẢ</a:t>
            </a:r>
          </a:p>
        </p:txBody>
      </p:sp>
      <p:sp>
        <p:nvSpPr>
          <p:cNvPr name="TextBox 3" id="3"/>
          <p:cNvSpPr txBox="true"/>
          <p:nvPr/>
        </p:nvSpPr>
        <p:spPr>
          <a:xfrm rot="0">
            <a:off x="952623" y="2970196"/>
            <a:ext cx="16382755" cy="4013004"/>
          </a:xfrm>
          <a:prstGeom prst="rect">
            <a:avLst/>
          </a:prstGeom>
        </p:spPr>
        <p:txBody>
          <a:bodyPr anchor="t" rtlCol="false" tIns="0" lIns="0" bIns="0" rIns="0">
            <a:spAutoFit/>
          </a:bodyPr>
          <a:lstStyle/>
          <a:p>
            <a:pPr algn="l">
              <a:lnSpc>
                <a:spcPts val="5351"/>
              </a:lnSpc>
            </a:pPr>
            <a:r>
              <a:rPr lang="en-US" sz="3166" spc="189">
                <a:solidFill>
                  <a:srgbClr val="000000"/>
                </a:solidFill>
                <a:latin typeface="Public Sans"/>
                <a:ea typeface="Public Sans"/>
                <a:cs typeface="Public Sans"/>
                <a:sym typeface="Public Sans"/>
              </a:rPr>
              <a:t>Sự </a:t>
            </a:r>
            <a:r>
              <a:rPr lang="en-US" sz="3166" spc="189" b="true">
                <a:solidFill>
                  <a:srgbClr val="000000"/>
                </a:solidFill>
                <a:latin typeface="Public Sans Bold"/>
                <a:ea typeface="Public Sans Bold"/>
                <a:cs typeface="Public Sans Bold"/>
                <a:sym typeface="Public Sans Bold"/>
              </a:rPr>
              <a:t>khác biệt</a:t>
            </a:r>
            <a:r>
              <a:rPr lang="en-US" sz="3166" spc="189">
                <a:solidFill>
                  <a:srgbClr val="000000"/>
                </a:solidFill>
                <a:latin typeface="Public Sans"/>
                <a:ea typeface="Public Sans"/>
                <a:cs typeface="Public Sans"/>
                <a:sym typeface="Public Sans"/>
              </a:rPr>
              <a:t> giữa các thước đo như </a:t>
            </a:r>
            <a:r>
              <a:rPr lang="en-US" sz="3166" spc="189" b="true">
                <a:solidFill>
                  <a:srgbClr val="000000"/>
                </a:solidFill>
                <a:latin typeface="Public Sans Bold"/>
                <a:ea typeface="Public Sans Bold"/>
                <a:cs typeface="Public Sans Bold"/>
                <a:sym typeface="Public Sans Bold"/>
              </a:rPr>
              <a:t>Q1, Q2, Q3</a:t>
            </a:r>
            <a:r>
              <a:rPr lang="en-US" sz="3166" spc="189">
                <a:solidFill>
                  <a:srgbClr val="000000"/>
                </a:solidFill>
                <a:latin typeface="Public Sans"/>
                <a:ea typeface="Public Sans"/>
                <a:cs typeface="Public Sans"/>
                <a:sym typeface="Public Sans"/>
              </a:rPr>
              <a:t> trong </a:t>
            </a:r>
            <a:r>
              <a:rPr lang="en-US" sz="3166" spc="189">
                <a:solidFill>
                  <a:srgbClr val="000000"/>
                </a:solidFill>
                <a:latin typeface="Public Sans"/>
                <a:ea typeface="Public Sans"/>
                <a:cs typeface="Public Sans"/>
                <a:sym typeface="Public Sans"/>
              </a:rPr>
              <a:t>biể</a:t>
            </a:r>
            <a:r>
              <a:rPr lang="en-US" sz="3166" spc="189">
                <a:solidFill>
                  <a:srgbClr val="000000"/>
                </a:solidFill>
                <a:latin typeface="Public Sans"/>
                <a:ea typeface="Public Sans"/>
                <a:cs typeface="Public Sans"/>
                <a:sym typeface="Public Sans"/>
              </a:rPr>
              <a:t>u </a:t>
            </a:r>
            <a:r>
              <a:rPr lang="en-US" sz="3166" spc="189">
                <a:solidFill>
                  <a:srgbClr val="000000"/>
                </a:solidFill>
                <a:latin typeface="Public Sans"/>
                <a:ea typeface="Public Sans"/>
                <a:cs typeface="Public Sans"/>
                <a:sym typeface="Public Sans"/>
              </a:rPr>
              <a:t>đồ </a:t>
            </a:r>
            <a:r>
              <a:rPr lang="en-US" sz="3166" spc="189">
                <a:solidFill>
                  <a:srgbClr val="000000"/>
                </a:solidFill>
                <a:latin typeface="Public Sans"/>
                <a:ea typeface="Public Sans"/>
                <a:cs typeface="Public Sans"/>
                <a:sym typeface="Public Sans"/>
              </a:rPr>
              <a:t>hộp</a:t>
            </a:r>
            <a:r>
              <a:rPr lang="en-US" sz="3166" spc="189">
                <a:solidFill>
                  <a:srgbClr val="000000"/>
                </a:solidFill>
                <a:latin typeface="Public Sans"/>
                <a:ea typeface="Public Sans"/>
                <a:cs typeface="Public Sans"/>
                <a:sym typeface="Public Sans"/>
              </a:rPr>
              <a:t> (boxplo</a:t>
            </a:r>
            <a:r>
              <a:rPr lang="en-US" sz="3166" spc="189">
                <a:solidFill>
                  <a:srgbClr val="000000"/>
                </a:solidFill>
                <a:latin typeface="Public Sans"/>
                <a:ea typeface="Public Sans"/>
                <a:cs typeface="Public Sans"/>
                <a:sym typeface="Public Sans"/>
              </a:rPr>
              <a:t>t):</a:t>
            </a:r>
          </a:p>
          <a:p>
            <a:pPr algn="l">
              <a:lnSpc>
                <a:spcPts val="5351"/>
              </a:lnSpc>
            </a:pPr>
            <a:r>
              <a:rPr lang="en-US" sz="3166" spc="189">
                <a:solidFill>
                  <a:srgbClr val="000000"/>
                </a:solidFill>
                <a:latin typeface="Public Sans"/>
                <a:ea typeface="Public Sans"/>
                <a:cs typeface="Public Sans"/>
                <a:sym typeface="Public Sans"/>
              </a:rPr>
              <a:t> - </a:t>
            </a:r>
            <a:r>
              <a:rPr lang="en-US" sz="3166" spc="189" b="true">
                <a:solidFill>
                  <a:srgbClr val="000000"/>
                </a:solidFill>
                <a:latin typeface="Public Sans Bold"/>
                <a:ea typeface="Public Sans Bold"/>
                <a:cs typeface="Public Sans Bold"/>
                <a:sym typeface="Public Sans Bold"/>
              </a:rPr>
              <a:t>Q1 (Quartile 1)</a:t>
            </a:r>
            <a:r>
              <a:rPr lang="en-US" sz="3166" spc="189">
                <a:solidFill>
                  <a:srgbClr val="000000"/>
                </a:solidFill>
                <a:latin typeface="Public Sans"/>
                <a:ea typeface="Public Sans"/>
                <a:cs typeface="Public Sans"/>
                <a:sym typeface="Public Sans"/>
              </a:rPr>
              <a:t>: P</a:t>
            </a:r>
            <a:r>
              <a:rPr lang="en-US" sz="3166" spc="189">
                <a:solidFill>
                  <a:srgbClr val="000000"/>
                </a:solidFill>
                <a:latin typeface="Public Sans"/>
                <a:ea typeface="Public Sans"/>
                <a:cs typeface="Public Sans"/>
                <a:sym typeface="Public Sans"/>
              </a:rPr>
              <a:t>hân vị thứ 25% – 25% dữ liệu</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n</a:t>
            </a:r>
            <a:r>
              <a:rPr lang="en-US" sz="3166" spc="189">
                <a:solidFill>
                  <a:srgbClr val="000000"/>
                </a:solidFill>
                <a:latin typeface="Public Sans"/>
                <a:ea typeface="Public Sans"/>
                <a:cs typeface="Public Sans"/>
                <a:sym typeface="Public Sans"/>
              </a:rPr>
              <a:t>hỏ h</a:t>
            </a:r>
            <a:r>
              <a:rPr lang="en-US" sz="3166" spc="189">
                <a:solidFill>
                  <a:srgbClr val="000000"/>
                </a:solidFill>
                <a:latin typeface="Public Sans"/>
                <a:ea typeface="Public Sans"/>
                <a:cs typeface="Public Sans"/>
                <a:sym typeface="Public Sans"/>
              </a:rPr>
              <a:t>ơ</a:t>
            </a:r>
            <a:r>
              <a:rPr lang="en-US" sz="3166" spc="189">
                <a:solidFill>
                  <a:srgbClr val="000000"/>
                </a:solidFill>
                <a:latin typeface="Public Sans"/>
                <a:ea typeface="Public Sans"/>
                <a:cs typeface="Public Sans"/>
                <a:sym typeface="Public Sans"/>
              </a:rPr>
              <a:t>n</a:t>
            </a:r>
            <a:r>
              <a:rPr lang="en-US" sz="3166" spc="189">
                <a:solidFill>
                  <a:srgbClr val="000000"/>
                </a:solidFill>
                <a:latin typeface="Public Sans"/>
                <a:ea typeface="Public Sans"/>
                <a:cs typeface="Public Sans"/>
                <a:sym typeface="Public Sans"/>
              </a:rPr>
              <a:t> giá trị này.</a:t>
            </a:r>
          </a:p>
          <a:p>
            <a:pPr algn="l">
              <a:lnSpc>
                <a:spcPts val="5351"/>
              </a:lnSpc>
            </a:pPr>
            <a:r>
              <a:rPr lang="en-US" sz="3166" spc="189">
                <a:solidFill>
                  <a:srgbClr val="000000"/>
                </a:solidFill>
                <a:latin typeface="Public Sans"/>
                <a:ea typeface="Public Sans"/>
                <a:cs typeface="Public Sans"/>
                <a:sym typeface="Public Sans"/>
              </a:rPr>
              <a:t> - </a:t>
            </a:r>
            <a:r>
              <a:rPr lang="en-US" sz="3166" spc="189" b="true">
                <a:solidFill>
                  <a:srgbClr val="000000"/>
                </a:solidFill>
                <a:latin typeface="Public Sans Bold"/>
                <a:ea typeface="Public Sans Bold"/>
                <a:cs typeface="Public Sans Bold"/>
                <a:sym typeface="Public Sans Bold"/>
              </a:rPr>
              <a:t>Q2 (Median)</a:t>
            </a:r>
            <a:r>
              <a:rPr lang="en-US" sz="3166" spc="189">
                <a:solidFill>
                  <a:srgbClr val="000000"/>
                </a:solidFill>
                <a:latin typeface="Public Sans"/>
                <a:ea typeface="Public Sans"/>
                <a:cs typeface="Public Sans"/>
                <a:sym typeface="Public Sans"/>
              </a:rPr>
              <a:t>:</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Phân</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vị</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t</a:t>
            </a:r>
            <a:r>
              <a:rPr lang="en-US" sz="3166" spc="189">
                <a:solidFill>
                  <a:srgbClr val="000000"/>
                </a:solidFill>
                <a:latin typeface="Public Sans"/>
                <a:ea typeface="Public Sans"/>
                <a:cs typeface="Public Sans"/>
                <a:sym typeface="Public Sans"/>
              </a:rPr>
              <a:t>h</a:t>
            </a:r>
            <a:r>
              <a:rPr lang="en-US" sz="3166" spc="189">
                <a:solidFill>
                  <a:srgbClr val="000000"/>
                </a:solidFill>
                <a:latin typeface="Public Sans"/>
                <a:ea typeface="Public Sans"/>
                <a:cs typeface="Public Sans"/>
                <a:sym typeface="Public Sans"/>
              </a:rPr>
              <a:t>ứ</a:t>
            </a:r>
            <a:r>
              <a:rPr lang="en-US" sz="3166" spc="189">
                <a:solidFill>
                  <a:srgbClr val="000000"/>
                </a:solidFill>
                <a:latin typeface="Public Sans"/>
                <a:ea typeface="Public Sans"/>
                <a:cs typeface="Public Sans"/>
                <a:sym typeface="Public Sans"/>
              </a:rPr>
              <a:t> 50% –</a:t>
            </a:r>
            <a:r>
              <a:rPr lang="en-US" sz="3166" spc="189">
                <a:solidFill>
                  <a:srgbClr val="000000"/>
                </a:solidFill>
                <a:latin typeface="Public Sans"/>
                <a:ea typeface="Public Sans"/>
                <a:cs typeface="Public Sans"/>
                <a:sym typeface="Public Sans"/>
              </a:rPr>
              <a:t> giá trị giữa của dữ liệu.</a:t>
            </a:r>
          </a:p>
          <a:p>
            <a:pPr algn="l">
              <a:lnSpc>
                <a:spcPts val="5351"/>
              </a:lnSpc>
            </a:pPr>
            <a:r>
              <a:rPr lang="en-US" sz="3166" spc="189">
                <a:solidFill>
                  <a:srgbClr val="000000"/>
                </a:solidFill>
                <a:latin typeface="Public Sans"/>
                <a:ea typeface="Public Sans"/>
                <a:cs typeface="Public Sans"/>
                <a:sym typeface="Public Sans"/>
              </a:rPr>
              <a:t> - </a:t>
            </a:r>
            <a:r>
              <a:rPr lang="en-US" sz="3166" spc="189" b="true">
                <a:solidFill>
                  <a:srgbClr val="000000"/>
                </a:solidFill>
                <a:latin typeface="Public Sans Bold"/>
                <a:ea typeface="Public Sans Bold"/>
                <a:cs typeface="Public Sans Bold"/>
                <a:sym typeface="Public Sans Bold"/>
              </a:rPr>
              <a:t>Q3 (Quartile 3)</a:t>
            </a:r>
            <a:r>
              <a:rPr lang="en-US" sz="3166" spc="189">
                <a:solidFill>
                  <a:srgbClr val="000000"/>
                </a:solidFill>
                <a:latin typeface="Public Sans"/>
                <a:ea typeface="Public Sans"/>
                <a:cs typeface="Public Sans"/>
                <a:sym typeface="Public Sans"/>
              </a:rPr>
              <a:t>:</a:t>
            </a:r>
            <a:r>
              <a:rPr lang="en-US" sz="3166" spc="189">
                <a:solidFill>
                  <a:srgbClr val="000000"/>
                </a:solidFill>
                <a:latin typeface="Public Sans"/>
                <a:ea typeface="Public Sans"/>
                <a:cs typeface="Public Sans"/>
                <a:sym typeface="Public Sans"/>
              </a:rPr>
              <a:t> Phân </a:t>
            </a:r>
            <a:r>
              <a:rPr lang="en-US" sz="3166" spc="189">
                <a:solidFill>
                  <a:srgbClr val="000000"/>
                </a:solidFill>
                <a:latin typeface="Public Sans"/>
                <a:ea typeface="Public Sans"/>
                <a:cs typeface="Public Sans"/>
                <a:sym typeface="Public Sans"/>
              </a:rPr>
              <a:t>vị</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t</a:t>
            </a:r>
            <a:r>
              <a:rPr lang="en-US" sz="3166" spc="189">
                <a:solidFill>
                  <a:srgbClr val="000000"/>
                </a:solidFill>
                <a:latin typeface="Public Sans"/>
                <a:ea typeface="Public Sans"/>
                <a:cs typeface="Public Sans"/>
                <a:sym typeface="Public Sans"/>
              </a:rPr>
              <a:t>h</a:t>
            </a:r>
            <a:r>
              <a:rPr lang="en-US" sz="3166" spc="189">
                <a:solidFill>
                  <a:srgbClr val="000000"/>
                </a:solidFill>
                <a:latin typeface="Public Sans"/>
                <a:ea typeface="Public Sans"/>
                <a:cs typeface="Public Sans"/>
                <a:sym typeface="Public Sans"/>
              </a:rPr>
              <a:t>ứ</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75% –</a:t>
            </a:r>
            <a:r>
              <a:rPr lang="en-US" sz="3166" spc="189">
                <a:solidFill>
                  <a:srgbClr val="000000"/>
                </a:solidFill>
                <a:latin typeface="Public Sans"/>
                <a:ea typeface="Public Sans"/>
                <a:cs typeface="Public Sans"/>
                <a:sym typeface="Public Sans"/>
              </a:rPr>
              <a:t> 75% </a:t>
            </a:r>
            <a:r>
              <a:rPr lang="en-US" sz="3166" spc="189">
                <a:solidFill>
                  <a:srgbClr val="000000"/>
                </a:solidFill>
                <a:latin typeface="Public Sans"/>
                <a:ea typeface="Public Sans"/>
                <a:cs typeface="Public Sans"/>
                <a:sym typeface="Public Sans"/>
              </a:rPr>
              <a:t>dữ l</a:t>
            </a:r>
            <a:r>
              <a:rPr lang="en-US" sz="3166" spc="189">
                <a:solidFill>
                  <a:srgbClr val="000000"/>
                </a:solidFill>
                <a:latin typeface="Public Sans"/>
                <a:ea typeface="Public Sans"/>
                <a:cs typeface="Public Sans"/>
                <a:sym typeface="Public Sans"/>
              </a:rPr>
              <a:t>iệu</a:t>
            </a:r>
            <a:r>
              <a:rPr lang="en-US" sz="3166" spc="189">
                <a:solidFill>
                  <a:srgbClr val="000000"/>
                </a:solidFill>
                <a:latin typeface="Public Sans"/>
                <a:ea typeface="Public Sans"/>
                <a:cs typeface="Public Sans"/>
                <a:sym typeface="Public Sans"/>
              </a:rPr>
              <a:t> nhỏ hơn giá trị này.</a:t>
            </a:r>
          </a:p>
          <a:p>
            <a:pPr algn="l">
              <a:lnSpc>
                <a:spcPts val="5351"/>
              </a:lnSpc>
            </a:pPr>
            <a:r>
              <a:rPr lang="en-US" b="true" sz="3166" spc="189">
                <a:solidFill>
                  <a:srgbClr val="000000"/>
                </a:solidFill>
                <a:latin typeface="Public Sans Bold"/>
                <a:ea typeface="Public Sans Bold"/>
                <a:cs typeface="Public Sans Bold"/>
                <a:sym typeface="Public Sans Bold"/>
              </a:rPr>
              <a:t>Khoảng tứ phân vị (IQR = Q3 - Q1)</a:t>
            </a:r>
            <a:r>
              <a:rPr lang="en-US" sz="3166" spc="189">
                <a:solidFill>
                  <a:srgbClr val="000000"/>
                </a:solidFill>
                <a:latin typeface="Public Sans"/>
                <a:ea typeface="Public Sans"/>
                <a:cs typeface="Public Sans"/>
                <a:sym typeface="Public Sans"/>
              </a:rPr>
              <a:t> cho biết độ rộng của nhóm dữ liệu trung tâm, giúp phát hiện outliers.</a:t>
            </a:r>
          </a:p>
        </p:txBody>
      </p:sp>
      <p:sp>
        <p:nvSpPr>
          <p:cNvPr name="Freeform 4" id="4"/>
          <p:cNvSpPr/>
          <p:nvPr/>
        </p:nvSpPr>
        <p:spPr>
          <a:xfrm flipH="false" flipV="false" rot="-10800000">
            <a:off x="14676435" y="-1187080"/>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70802">
            <a:off x="7090128" y="-1906681"/>
            <a:ext cx="4017146" cy="3158481"/>
          </a:xfrm>
          <a:custGeom>
            <a:avLst/>
            <a:gdLst/>
            <a:ahLst/>
            <a:cxnLst/>
            <a:rect r="r" b="b" t="t" l="l"/>
            <a:pathLst>
              <a:path h="3158481" w="4017146">
                <a:moveTo>
                  <a:pt x="0" y="0"/>
                </a:moveTo>
                <a:lnTo>
                  <a:pt x="4017146" y="0"/>
                </a:lnTo>
                <a:lnTo>
                  <a:pt x="4017146" y="3158481"/>
                </a:lnTo>
                <a:lnTo>
                  <a:pt x="0" y="3158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9111394">
            <a:off x="15402882" y="8707759"/>
            <a:ext cx="4017146" cy="3158481"/>
          </a:xfrm>
          <a:custGeom>
            <a:avLst/>
            <a:gdLst/>
            <a:ahLst/>
            <a:cxnLst/>
            <a:rect r="r" b="b" t="t" l="l"/>
            <a:pathLst>
              <a:path h="3158481" w="4017146">
                <a:moveTo>
                  <a:pt x="0" y="0"/>
                </a:moveTo>
                <a:lnTo>
                  <a:pt x="4017146" y="0"/>
                </a:lnTo>
                <a:lnTo>
                  <a:pt x="4017146" y="3158482"/>
                </a:lnTo>
                <a:lnTo>
                  <a:pt x="0" y="31584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TextBox 2" id="2"/>
          <p:cNvSpPr txBox="true"/>
          <p:nvPr/>
        </p:nvSpPr>
        <p:spPr>
          <a:xfrm rot="0">
            <a:off x="1028700" y="1133475"/>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THỐNG KÊ MÔ TẢ</a:t>
            </a:r>
          </a:p>
        </p:txBody>
      </p:sp>
      <p:sp>
        <p:nvSpPr>
          <p:cNvPr name="TextBox 3" id="3"/>
          <p:cNvSpPr txBox="true"/>
          <p:nvPr/>
        </p:nvSpPr>
        <p:spPr>
          <a:xfrm rot="0">
            <a:off x="1028700" y="2232755"/>
            <a:ext cx="16382755" cy="6783928"/>
          </a:xfrm>
          <a:prstGeom prst="rect">
            <a:avLst/>
          </a:prstGeom>
        </p:spPr>
        <p:txBody>
          <a:bodyPr anchor="t" rtlCol="false" tIns="0" lIns="0" bIns="0" rIns="0">
            <a:spAutoFit/>
          </a:bodyPr>
          <a:lstStyle/>
          <a:p>
            <a:pPr algn="l">
              <a:lnSpc>
                <a:spcPts val="4907"/>
              </a:lnSpc>
            </a:pPr>
            <a:r>
              <a:rPr lang="en-US" sz="3166" spc="189" b="true">
                <a:solidFill>
                  <a:srgbClr val="000000"/>
                </a:solidFill>
                <a:latin typeface="Public Sans Bold"/>
                <a:ea typeface="Public Sans Bold"/>
                <a:cs typeface="Public Sans Bold"/>
                <a:sym typeface="Public Sans Bold"/>
              </a:rPr>
              <a:t>Để xử lý giá trị thiếu (Missing Values)</a:t>
            </a:r>
            <a:r>
              <a:rPr lang="en-US" sz="3166" spc="189">
                <a:solidFill>
                  <a:srgbClr val="000000"/>
                </a:solidFill>
                <a:latin typeface="Public Sans"/>
                <a:ea typeface="Public Sans"/>
                <a:cs typeface="Public Sans"/>
                <a:sym typeface="Public Sans"/>
              </a:rPr>
              <a:t>:</a:t>
            </a:r>
          </a:p>
          <a:p>
            <a:pPr algn="l" marL="683628" indent="-341814" lvl="1">
              <a:lnSpc>
                <a:spcPts val="4907"/>
              </a:lnSpc>
              <a:buFont typeface="Arial"/>
              <a:buChar char="•"/>
            </a:pPr>
            <a:r>
              <a:rPr lang="en-US" sz="3166" spc="189">
                <a:solidFill>
                  <a:srgbClr val="000000"/>
                </a:solidFill>
                <a:latin typeface="Public Sans"/>
                <a:ea typeface="Public Sans"/>
                <a:cs typeface="Public Sans"/>
                <a:sym typeface="Public Sans"/>
              </a:rPr>
              <a:t>K</a:t>
            </a:r>
            <a:r>
              <a:rPr lang="en-US" sz="3166" spc="189">
                <a:solidFill>
                  <a:srgbClr val="000000"/>
                </a:solidFill>
                <a:latin typeface="Public Sans"/>
                <a:ea typeface="Public Sans"/>
                <a:cs typeface="Public Sans"/>
                <a:sym typeface="Public Sans"/>
              </a:rPr>
              <a:t>iểm</a:t>
            </a:r>
            <a:r>
              <a:rPr lang="en-US" sz="3166" spc="189">
                <a:solidFill>
                  <a:srgbClr val="000000"/>
                </a:solidFill>
                <a:latin typeface="Public Sans"/>
                <a:ea typeface="Public Sans"/>
                <a:cs typeface="Public Sans"/>
                <a:sym typeface="Public Sans"/>
              </a:rPr>
              <a:t> tra</a:t>
            </a:r>
            <a:r>
              <a:rPr lang="en-US" sz="3166" spc="189">
                <a:solidFill>
                  <a:srgbClr val="000000"/>
                </a:solidFill>
                <a:latin typeface="Public Sans"/>
                <a:ea typeface="Public Sans"/>
                <a:cs typeface="Public Sans"/>
                <a:sym typeface="Public Sans"/>
              </a:rPr>
              <a:t> số lượng</a:t>
            </a:r>
            <a:r>
              <a:rPr lang="en-US" sz="3166" spc="189">
                <a:solidFill>
                  <a:srgbClr val="000000"/>
                </a:solidFill>
                <a:latin typeface="Public Sans"/>
                <a:ea typeface="Public Sans"/>
                <a:cs typeface="Public Sans"/>
                <a:sym typeface="Public Sans"/>
              </a:rPr>
              <a:t> và vị trí giá</a:t>
            </a:r>
            <a:r>
              <a:rPr lang="en-US" sz="3166" spc="189">
                <a:solidFill>
                  <a:srgbClr val="000000"/>
                </a:solidFill>
                <a:latin typeface="Public Sans"/>
                <a:ea typeface="Public Sans"/>
                <a:cs typeface="Public Sans"/>
                <a:sym typeface="Public Sans"/>
              </a:rPr>
              <a:t> tr</a:t>
            </a:r>
            <a:r>
              <a:rPr lang="en-US" sz="3166" spc="189">
                <a:solidFill>
                  <a:srgbClr val="000000"/>
                </a:solidFill>
                <a:latin typeface="Public Sans"/>
                <a:ea typeface="Public Sans"/>
                <a:cs typeface="Public Sans"/>
                <a:sym typeface="Public Sans"/>
              </a:rPr>
              <a:t>ị thiếu → .isnull().sum()</a:t>
            </a:r>
          </a:p>
          <a:p>
            <a:pPr algn="l" marL="683628" indent="-341814" lvl="1">
              <a:lnSpc>
                <a:spcPts val="4907"/>
              </a:lnSpc>
              <a:buFont typeface="Arial"/>
              <a:buChar char="•"/>
            </a:pPr>
            <a:r>
              <a:rPr lang="en-US" sz="3166" spc="189">
                <a:solidFill>
                  <a:srgbClr val="000000"/>
                </a:solidFill>
                <a:latin typeface="Public Sans"/>
                <a:ea typeface="Public Sans"/>
                <a:cs typeface="Public Sans"/>
                <a:sym typeface="Public Sans"/>
              </a:rPr>
              <a:t>Cách xử lý:</a:t>
            </a:r>
          </a:p>
          <a:p>
            <a:pPr algn="l" marL="1367256" indent="-455752" lvl="2">
              <a:lnSpc>
                <a:spcPts val="4907"/>
              </a:lnSpc>
              <a:buFont typeface="Arial"/>
              <a:buChar char="⚬"/>
            </a:pPr>
            <a:r>
              <a:rPr lang="en-US" sz="3166" spc="189">
                <a:solidFill>
                  <a:srgbClr val="000000"/>
                </a:solidFill>
                <a:latin typeface="Public Sans"/>
                <a:ea typeface="Public Sans"/>
                <a:cs typeface="Public Sans"/>
                <a:sym typeface="Public Sans"/>
              </a:rPr>
              <a:t>Loại</a:t>
            </a:r>
            <a:r>
              <a:rPr lang="en-US" sz="3166" spc="189">
                <a:solidFill>
                  <a:srgbClr val="000000"/>
                </a:solidFill>
                <a:latin typeface="Public Sans"/>
                <a:ea typeface="Public Sans"/>
                <a:cs typeface="Public Sans"/>
                <a:sym typeface="Public Sans"/>
              </a:rPr>
              <a:t> bỏ dòng/cột có</a:t>
            </a:r>
            <a:r>
              <a:rPr lang="en-US" sz="3166" spc="189">
                <a:solidFill>
                  <a:srgbClr val="000000"/>
                </a:solidFill>
                <a:latin typeface="Public Sans"/>
                <a:ea typeface="Public Sans"/>
                <a:cs typeface="Public Sans"/>
                <a:sym typeface="Public Sans"/>
              </a:rPr>
              <a:t> giá trị thiếu → dropna()</a:t>
            </a:r>
          </a:p>
          <a:p>
            <a:pPr algn="l" marL="1367256" indent="-455752" lvl="2">
              <a:lnSpc>
                <a:spcPts val="4907"/>
              </a:lnSpc>
              <a:buFont typeface="Arial"/>
              <a:buChar char="⚬"/>
            </a:pPr>
            <a:r>
              <a:rPr lang="en-US" sz="3166" spc="189">
                <a:solidFill>
                  <a:srgbClr val="000000"/>
                </a:solidFill>
                <a:latin typeface="Public Sans"/>
                <a:ea typeface="Public Sans"/>
                <a:cs typeface="Public Sans"/>
                <a:sym typeface="Public Sans"/>
              </a:rPr>
              <a:t>Thay</a:t>
            </a:r>
            <a:r>
              <a:rPr lang="en-US" sz="3166" spc="189">
                <a:solidFill>
                  <a:srgbClr val="000000"/>
                </a:solidFill>
                <a:latin typeface="Public Sans"/>
                <a:ea typeface="Public Sans"/>
                <a:cs typeface="Public Sans"/>
                <a:sym typeface="Public Sans"/>
              </a:rPr>
              <a:t> thế bằng trung</a:t>
            </a:r>
            <a:r>
              <a:rPr lang="en-US" sz="3166" spc="189">
                <a:solidFill>
                  <a:srgbClr val="000000"/>
                </a:solidFill>
                <a:latin typeface="Public Sans"/>
                <a:ea typeface="Public Sans"/>
                <a:cs typeface="Public Sans"/>
                <a:sym typeface="Public Sans"/>
              </a:rPr>
              <a:t> bìn</a:t>
            </a:r>
            <a:r>
              <a:rPr lang="en-US" sz="3166" spc="189">
                <a:solidFill>
                  <a:srgbClr val="000000"/>
                </a:solidFill>
                <a:latin typeface="Public Sans"/>
                <a:ea typeface="Public Sans"/>
                <a:cs typeface="Public Sans"/>
                <a:sym typeface="Public Sans"/>
              </a:rPr>
              <a:t>h, trung</a:t>
            </a:r>
            <a:r>
              <a:rPr lang="en-US" sz="3166" spc="189">
                <a:solidFill>
                  <a:srgbClr val="000000"/>
                </a:solidFill>
                <a:latin typeface="Public Sans"/>
                <a:ea typeface="Public Sans"/>
                <a:cs typeface="Public Sans"/>
                <a:sym typeface="Public Sans"/>
              </a:rPr>
              <a:t> </a:t>
            </a:r>
            <a:r>
              <a:rPr lang="en-US" sz="3166" spc="189">
                <a:solidFill>
                  <a:srgbClr val="000000"/>
                </a:solidFill>
                <a:latin typeface="Public Sans"/>
                <a:ea typeface="Public Sans"/>
                <a:cs typeface="Public Sans"/>
                <a:sym typeface="Public Sans"/>
              </a:rPr>
              <a:t>vị,</a:t>
            </a:r>
            <a:r>
              <a:rPr lang="en-US" sz="3166" spc="189">
                <a:solidFill>
                  <a:srgbClr val="000000"/>
                </a:solidFill>
                <a:latin typeface="Public Sans"/>
                <a:ea typeface="Public Sans"/>
                <a:cs typeface="Public Sans"/>
                <a:sym typeface="Public Sans"/>
              </a:rPr>
              <a:t> mode hoặc</a:t>
            </a:r>
            <a:r>
              <a:rPr lang="en-US" sz="3166" spc="189">
                <a:solidFill>
                  <a:srgbClr val="000000"/>
                </a:solidFill>
                <a:latin typeface="Public Sans"/>
                <a:ea typeface="Public Sans"/>
                <a:cs typeface="Public Sans"/>
                <a:sym typeface="Public Sans"/>
              </a:rPr>
              <a:t> giá trị đặc biệt → fillna()</a:t>
            </a:r>
          </a:p>
          <a:p>
            <a:pPr algn="l" marL="683628" indent="-341814" lvl="1">
              <a:lnSpc>
                <a:spcPts val="4907"/>
              </a:lnSpc>
              <a:buFont typeface="Arial"/>
              <a:buChar char="•"/>
            </a:pPr>
            <a:r>
              <a:rPr lang="en-US" b="true" sz="3166" spc="189">
                <a:solidFill>
                  <a:srgbClr val="000000"/>
                </a:solidFill>
                <a:latin typeface="Public Sans Bold"/>
                <a:ea typeface="Public Sans Bold"/>
                <a:cs typeface="Public Sans Bold"/>
                <a:sym typeface="Public Sans Bold"/>
              </a:rPr>
              <a:t>Lưu ý</a:t>
            </a:r>
            <a:r>
              <a:rPr lang="en-US" sz="3166" spc="189">
                <a:solidFill>
                  <a:srgbClr val="000000"/>
                </a:solidFill>
                <a:latin typeface="Public Sans"/>
                <a:ea typeface="Public Sans"/>
                <a:cs typeface="Public Sans"/>
                <a:sym typeface="Public Sans"/>
              </a:rPr>
              <a:t>:</a:t>
            </a:r>
            <a:r>
              <a:rPr lang="en-US" sz="3166" spc="189">
                <a:solidFill>
                  <a:srgbClr val="000000"/>
                </a:solidFill>
                <a:latin typeface="Public Sans"/>
                <a:ea typeface="Public Sans"/>
                <a:cs typeface="Public Sans"/>
                <a:sym typeface="Public Sans"/>
              </a:rPr>
              <a:t> Chọn phương</a:t>
            </a:r>
            <a:r>
              <a:rPr lang="en-US" sz="3166" spc="189">
                <a:solidFill>
                  <a:srgbClr val="000000"/>
                </a:solidFill>
                <a:latin typeface="Public Sans"/>
                <a:ea typeface="Public Sans"/>
                <a:cs typeface="Public Sans"/>
                <a:sym typeface="Public Sans"/>
              </a:rPr>
              <a:t> pháp</a:t>
            </a:r>
            <a:r>
              <a:rPr lang="en-US" sz="3166" spc="189">
                <a:solidFill>
                  <a:srgbClr val="000000"/>
                </a:solidFill>
                <a:latin typeface="Public Sans"/>
                <a:ea typeface="Public Sans"/>
                <a:cs typeface="Public Sans"/>
                <a:sym typeface="Public Sans"/>
              </a:rPr>
              <a:t> phù hợp với mục tiêu p</a:t>
            </a:r>
            <a:r>
              <a:rPr lang="en-US" sz="3166" spc="189">
                <a:solidFill>
                  <a:srgbClr val="000000"/>
                </a:solidFill>
                <a:latin typeface="Public Sans"/>
                <a:ea typeface="Public Sans"/>
                <a:cs typeface="Public Sans"/>
                <a:sym typeface="Public Sans"/>
              </a:rPr>
              <a:t>hân tí</a:t>
            </a:r>
            <a:r>
              <a:rPr lang="en-US" sz="3166" spc="189">
                <a:solidFill>
                  <a:srgbClr val="000000"/>
                </a:solidFill>
                <a:latin typeface="Public Sans"/>
                <a:ea typeface="Public Sans"/>
                <a:cs typeface="Public Sans"/>
                <a:sym typeface="Public Sans"/>
              </a:rPr>
              <a:t>ch và đặc điểm dữ liệu.</a:t>
            </a:r>
          </a:p>
          <a:p>
            <a:pPr algn="l" marL="683628" indent="-341814" lvl="1">
              <a:lnSpc>
                <a:spcPts val="4907"/>
              </a:lnSpc>
              <a:buFont typeface="Arial"/>
              <a:buChar char="•"/>
            </a:pPr>
            <a:r>
              <a:rPr lang="en-US" sz="3166" spc="189">
                <a:solidFill>
                  <a:srgbClr val="000000"/>
                </a:solidFill>
                <a:latin typeface="Public Sans"/>
                <a:ea typeface="Public Sans"/>
                <a:cs typeface="Public Sans"/>
                <a:sym typeface="Public Sans"/>
              </a:rPr>
              <a:t>VD: </a:t>
            </a:r>
          </a:p>
          <a:p>
            <a:pPr algn="l" marL="1367256" indent="-455752" lvl="2">
              <a:lnSpc>
                <a:spcPts val="4907"/>
              </a:lnSpc>
              <a:buFont typeface="Arial"/>
              <a:buChar char="⚬"/>
            </a:pPr>
            <a:r>
              <a:rPr lang="en-US" sz="3166" spc="189">
                <a:solidFill>
                  <a:srgbClr val="000000"/>
                </a:solidFill>
                <a:latin typeface="Public Sans"/>
                <a:ea typeface="Public Sans"/>
                <a:cs typeface="Public Sans"/>
                <a:sym typeface="Public Sans"/>
              </a:rPr>
              <a:t>Thiếu ít → Loại bỏ</a:t>
            </a:r>
          </a:p>
          <a:p>
            <a:pPr algn="l" marL="1367256" indent="-455752" lvl="2">
              <a:lnSpc>
                <a:spcPts val="4907"/>
              </a:lnSpc>
              <a:buFont typeface="Arial"/>
              <a:buChar char="⚬"/>
            </a:pPr>
            <a:r>
              <a:rPr lang="en-US" sz="3166" spc="189">
                <a:solidFill>
                  <a:srgbClr val="000000"/>
                </a:solidFill>
                <a:latin typeface="Public Sans"/>
                <a:ea typeface="Public Sans"/>
                <a:cs typeface="Public Sans"/>
                <a:sym typeface="Public Sans"/>
              </a:rPr>
              <a:t>Thiếu nhiều/quan trọng → Thay thế = trung bình/trung vị</a:t>
            </a:r>
          </a:p>
          <a:p>
            <a:pPr algn="l" marL="1367256" indent="-455752" lvl="2">
              <a:lnSpc>
                <a:spcPts val="4907"/>
              </a:lnSpc>
              <a:buFont typeface="Arial"/>
              <a:buChar char="⚬"/>
            </a:pPr>
            <a:r>
              <a:rPr lang="en-US" sz="3166" spc="189">
                <a:solidFill>
                  <a:srgbClr val="000000"/>
                </a:solidFill>
                <a:latin typeface="Public Sans"/>
                <a:ea typeface="Public Sans"/>
                <a:cs typeface="Public Sans"/>
                <a:sym typeface="Public Sans"/>
              </a:rPr>
              <a:t>Thiếu có ý nghĩa riêng → Gán giá trị đặc biệt = 0 hoặc “Unknown”</a:t>
            </a:r>
          </a:p>
        </p:txBody>
      </p:sp>
      <p:sp>
        <p:nvSpPr>
          <p:cNvPr name="Freeform 4" id="4"/>
          <p:cNvSpPr/>
          <p:nvPr/>
        </p:nvSpPr>
        <p:spPr>
          <a:xfrm flipH="false" flipV="false" rot="-10800000">
            <a:off x="14676435" y="-1187080"/>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70802">
            <a:off x="7090128" y="-1906681"/>
            <a:ext cx="4017146" cy="3158481"/>
          </a:xfrm>
          <a:custGeom>
            <a:avLst/>
            <a:gdLst/>
            <a:ahLst/>
            <a:cxnLst/>
            <a:rect r="r" b="b" t="t" l="l"/>
            <a:pathLst>
              <a:path h="3158481" w="4017146">
                <a:moveTo>
                  <a:pt x="0" y="0"/>
                </a:moveTo>
                <a:lnTo>
                  <a:pt x="4017146" y="0"/>
                </a:lnTo>
                <a:lnTo>
                  <a:pt x="4017146" y="3158481"/>
                </a:lnTo>
                <a:lnTo>
                  <a:pt x="0" y="3158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9111394">
            <a:off x="15402882" y="8707759"/>
            <a:ext cx="4017146" cy="3158481"/>
          </a:xfrm>
          <a:custGeom>
            <a:avLst/>
            <a:gdLst/>
            <a:ahLst/>
            <a:cxnLst/>
            <a:rect r="r" b="b" t="t" l="l"/>
            <a:pathLst>
              <a:path h="3158481" w="4017146">
                <a:moveTo>
                  <a:pt x="0" y="0"/>
                </a:moveTo>
                <a:lnTo>
                  <a:pt x="4017146" y="0"/>
                </a:lnTo>
                <a:lnTo>
                  <a:pt x="4017146" y="3158482"/>
                </a:lnTo>
                <a:lnTo>
                  <a:pt x="0" y="31584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TextBox 2" id="2"/>
          <p:cNvSpPr txBox="true"/>
          <p:nvPr/>
        </p:nvSpPr>
        <p:spPr>
          <a:xfrm rot="0">
            <a:off x="1028700" y="1133475"/>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THỐNG KÊ MÔ TẢ</a:t>
            </a:r>
          </a:p>
        </p:txBody>
      </p:sp>
      <p:sp>
        <p:nvSpPr>
          <p:cNvPr name="TextBox 3" id="3"/>
          <p:cNvSpPr txBox="true"/>
          <p:nvPr/>
        </p:nvSpPr>
        <p:spPr>
          <a:xfrm rot="0">
            <a:off x="1028700" y="2232755"/>
            <a:ext cx="16382755" cy="6783928"/>
          </a:xfrm>
          <a:prstGeom prst="rect">
            <a:avLst/>
          </a:prstGeom>
        </p:spPr>
        <p:txBody>
          <a:bodyPr anchor="t" rtlCol="false" tIns="0" lIns="0" bIns="0" rIns="0">
            <a:spAutoFit/>
          </a:bodyPr>
          <a:lstStyle/>
          <a:p>
            <a:pPr algn="l">
              <a:lnSpc>
                <a:spcPts val="4907"/>
              </a:lnSpc>
            </a:pPr>
            <a:r>
              <a:rPr lang="en-US" sz="3166" spc="189" b="true">
                <a:solidFill>
                  <a:srgbClr val="000000"/>
                </a:solidFill>
                <a:latin typeface="Public Sans Bold"/>
                <a:ea typeface="Public Sans Bold"/>
                <a:cs typeface="Public Sans Bold"/>
                <a:sym typeface="Public Sans Bold"/>
              </a:rPr>
              <a:t>Để xử lý giá trị ngoại lai (outliers):</a:t>
            </a:r>
          </a:p>
          <a:p>
            <a:pPr algn="l" marL="683628" indent="-341814" lvl="1">
              <a:lnSpc>
                <a:spcPts val="4907"/>
              </a:lnSpc>
              <a:buFont typeface="Arial"/>
              <a:buChar char="•"/>
            </a:pPr>
            <a:r>
              <a:rPr lang="en-US" sz="3166" spc="189">
                <a:solidFill>
                  <a:srgbClr val="000000"/>
                </a:solidFill>
                <a:latin typeface="Public Sans"/>
                <a:ea typeface="Public Sans"/>
                <a:cs typeface="Public Sans"/>
                <a:sym typeface="Public Sans"/>
              </a:rPr>
              <a:t>Xác định outliers bằng boxplot, IQR, hoặc các quy tắc như giá trị nằm ngoài [Q1 - 1.5 * IQR, Q3 + 1.5 * IQR].</a:t>
            </a:r>
          </a:p>
          <a:p>
            <a:pPr algn="l" marL="683628" indent="-341814" lvl="1">
              <a:lnSpc>
                <a:spcPts val="4907"/>
              </a:lnSpc>
              <a:buFont typeface="Arial"/>
              <a:buChar char="•"/>
            </a:pPr>
            <a:r>
              <a:rPr lang="en-US" sz="3166" spc="189">
                <a:solidFill>
                  <a:srgbClr val="000000"/>
                </a:solidFill>
                <a:latin typeface="Public Sans"/>
                <a:ea typeface="Public Sans"/>
                <a:cs typeface="Public Sans"/>
                <a:sym typeface="Public Sans"/>
              </a:rPr>
              <a:t>Có thể xử lý bằng các cách:</a:t>
            </a:r>
          </a:p>
          <a:p>
            <a:pPr algn="l" marL="1367256" indent="-455752" lvl="2">
              <a:lnSpc>
                <a:spcPts val="4907"/>
              </a:lnSpc>
              <a:buFont typeface="Arial"/>
              <a:buChar char="⚬"/>
            </a:pPr>
            <a:r>
              <a:rPr lang="en-US" sz="3166" spc="189">
                <a:solidFill>
                  <a:srgbClr val="000000"/>
                </a:solidFill>
                <a:latin typeface="Public Sans"/>
                <a:ea typeface="Public Sans"/>
                <a:cs typeface="Public Sans"/>
                <a:sym typeface="Public Sans"/>
              </a:rPr>
              <a:t>Loại bỏ các giá trị ngoại lai khỏi tập dữ liệu.</a:t>
            </a:r>
          </a:p>
          <a:p>
            <a:pPr algn="l" marL="1367256" indent="-455752" lvl="2">
              <a:lnSpc>
                <a:spcPts val="4907"/>
              </a:lnSpc>
              <a:buFont typeface="Arial"/>
              <a:buChar char="⚬"/>
            </a:pPr>
            <a:r>
              <a:rPr lang="en-US" sz="3166" spc="189">
                <a:solidFill>
                  <a:srgbClr val="000000"/>
                </a:solidFill>
                <a:latin typeface="Public Sans"/>
                <a:ea typeface="Public Sans"/>
                <a:cs typeface="Public Sans"/>
                <a:sym typeface="Public Sans"/>
              </a:rPr>
              <a:t>Thay thế outliers bằng giá trị trung vị hoặc giá trị gần nhất trong khoảng hợp lý.</a:t>
            </a:r>
          </a:p>
          <a:p>
            <a:pPr algn="l" marL="1367256" indent="-455752" lvl="2">
              <a:lnSpc>
                <a:spcPts val="4907"/>
              </a:lnSpc>
              <a:buFont typeface="Arial"/>
              <a:buChar char="⚬"/>
            </a:pPr>
            <a:r>
              <a:rPr lang="en-US" sz="3166" spc="189">
                <a:solidFill>
                  <a:srgbClr val="000000"/>
                </a:solidFill>
                <a:latin typeface="Public Sans"/>
                <a:ea typeface="Public Sans"/>
                <a:cs typeface="Public Sans"/>
                <a:sym typeface="Public Sans"/>
              </a:rPr>
              <a:t>Giữ nguyên nếu outliers có ý nghĩa thực tiễn (ví dụ: dữ liệu thực sự đặc biệt).</a:t>
            </a:r>
          </a:p>
          <a:p>
            <a:pPr algn="l" marL="683628" indent="-341814" lvl="1">
              <a:lnSpc>
                <a:spcPts val="4907"/>
              </a:lnSpc>
              <a:buFont typeface="Arial"/>
              <a:buChar char="•"/>
            </a:pPr>
            <a:r>
              <a:rPr lang="en-US" sz="3166" spc="189">
                <a:solidFill>
                  <a:srgbClr val="000000"/>
                </a:solidFill>
                <a:latin typeface="Public Sans"/>
                <a:ea typeface="Public Sans"/>
                <a:cs typeface="Public Sans"/>
                <a:sym typeface="Public Sans"/>
              </a:rPr>
              <a:t>Việc xử lý outliers giúp các thống kê mô tả phản ánh chính xác hơn đặc điểm chung của dữ liệu.</a:t>
            </a:r>
          </a:p>
        </p:txBody>
      </p:sp>
      <p:sp>
        <p:nvSpPr>
          <p:cNvPr name="Freeform 4" id="4"/>
          <p:cNvSpPr/>
          <p:nvPr/>
        </p:nvSpPr>
        <p:spPr>
          <a:xfrm flipH="false" flipV="false" rot="-10800000">
            <a:off x="14676435" y="-1187080"/>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70802">
            <a:off x="7090128" y="-1906681"/>
            <a:ext cx="4017146" cy="3158481"/>
          </a:xfrm>
          <a:custGeom>
            <a:avLst/>
            <a:gdLst/>
            <a:ahLst/>
            <a:cxnLst/>
            <a:rect r="r" b="b" t="t" l="l"/>
            <a:pathLst>
              <a:path h="3158481" w="4017146">
                <a:moveTo>
                  <a:pt x="0" y="0"/>
                </a:moveTo>
                <a:lnTo>
                  <a:pt x="4017146" y="0"/>
                </a:lnTo>
                <a:lnTo>
                  <a:pt x="4017146" y="3158481"/>
                </a:lnTo>
                <a:lnTo>
                  <a:pt x="0" y="3158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9111394">
            <a:off x="15402882" y="8707759"/>
            <a:ext cx="4017146" cy="3158481"/>
          </a:xfrm>
          <a:custGeom>
            <a:avLst/>
            <a:gdLst/>
            <a:ahLst/>
            <a:cxnLst/>
            <a:rect r="r" b="b" t="t" l="l"/>
            <a:pathLst>
              <a:path h="3158481" w="4017146">
                <a:moveTo>
                  <a:pt x="0" y="0"/>
                </a:moveTo>
                <a:lnTo>
                  <a:pt x="4017146" y="0"/>
                </a:lnTo>
                <a:lnTo>
                  <a:pt x="4017146" y="3158482"/>
                </a:lnTo>
                <a:lnTo>
                  <a:pt x="0" y="31584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TextBox 2" id="2"/>
          <p:cNvSpPr txBox="true"/>
          <p:nvPr/>
        </p:nvSpPr>
        <p:spPr>
          <a:xfrm rot="0">
            <a:off x="1028700" y="1320526"/>
            <a:ext cx="8759731"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THỐNG KÊ MÔ TẢ</a:t>
            </a:r>
          </a:p>
        </p:txBody>
      </p:sp>
      <p:sp>
        <p:nvSpPr>
          <p:cNvPr name="Freeform 3" id="3"/>
          <p:cNvSpPr/>
          <p:nvPr/>
        </p:nvSpPr>
        <p:spPr>
          <a:xfrm flipH="false" flipV="false" rot="-10800000">
            <a:off x="14676435" y="-1187080"/>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70802">
            <a:off x="7090128" y="-1906681"/>
            <a:ext cx="4017146" cy="3158481"/>
          </a:xfrm>
          <a:custGeom>
            <a:avLst/>
            <a:gdLst/>
            <a:ahLst/>
            <a:cxnLst/>
            <a:rect r="r" b="b" t="t" l="l"/>
            <a:pathLst>
              <a:path h="3158481" w="4017146">
                <a:moveTo>
                  <a:pt x="0" y="0"/>
                </a:moveTo>
                <a:lnTo>
                  <a:pt x="4017146" y="0"/>
                </a:lnTo>
                <a:lnTo>
                  <a:pt x="4017146" y="3158481"/>
                </a:lnTo>
                <a:lnTo>
                  <a:pt x="0" y="3158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9111394">
            <a:off x="15402882" y="8707759"/>
            <a:ext cx="4017146" cy="3158481"/>
          </a:xfrm>
          <a:custGeom>
            <a:avLst/>
            <a:gdLst/>
            <a:ahLst/>
            <a:cxnLst/>
            <a:rect r="r" b="b" t="t" l="l"/>
            <a:pathLst>
              <a:path h="3158481" w="4017146">
                <a:moveTo>
                  <a:pt x="0" y="0"/>
                </a:moveTo>
                <a:lnTo>
                  <a:pt x="4017146" y="0"/>
                </a:lnTo>
                <a:lnTo>
                  <a:pt x="4017146" y="3158482"/>
                </a:lnTo>
                <a:lnTo>
                  <a:pt x="0" y="31584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10141348" y="392161"/>
            <a:ext cx="6139506" cy="9209259"/>
          </a:xfrm>
          <a:custGeom>
            <a:avLst/>
            <a:gdLst/>
            <a:ahLst/>
            <a:cxnLst/>
            <a:rect r="r" b="b" t="t" l="l"/>
            <a:pathLst>
              <a:path h="9209259" w="6139506">
                <a:moveTo>
                  <a:pt x="0" y="0"/>
                </a:moveTo>
                <a:lnTo>
                  <a:pt x="6139506" y="0"/>
                </a:lnTo>
                <a:lnTo>
                  <a:pt x="6139506" y="9209259"/>
                </a:lnTo>
                <a:lnTo>
                  <a:pt x="0" y="9209259"/>
                </a:lnTo>
                <a:lnTo>
                  <a:pt x="0" y="0"/>
                </a:lnTo>
                <a:close/>
              </a:path>
            </a:pathLst>
          </a:custGeom>
          <a:blipFill>
            <a:blip r:embed="rId4"/>
            <a:stretch>
              <a:fillRect l="0" t="0" r="0" b="0"/>
            </a:stretch>
          </a:blipFill>
        </p:spPr>
      </p:sp>
      <p:sp>
        <p:nvSpPr>
          <p:cNvPr name="TextBox 7" id="7"/>
          <p:cNvSpPr txBox="true"/>
          <p:nvPr/>
        </p:nvSpPr>
        <p:spPr>
          <a:xfrm rot="0">
            <a:off x="1710711" y="2761747"/>
            <a:ext cx="7772002" cy="3803350"/>
          </a:xfrm>
          <a:prstGeom prst="rect">
            <a:avLst/>
          </a:prstGeom>
        </p:spPr>
        <p:txBody>
          <a:bodyPr anchor="t" rtlCol="false" tIns="0" lIns="0" bIns="0" rIns="0">
            <a:spAutoFit/>
          </a:bodyPr>
          <a:lstStyle/>
          <a:p>
            <a:pPr algn="l">
              <a:lnSpc>
                <a:spcPts val="5065"/>
              </a:lnSpc>
            </a:pPr>
            <a:r>
              <a:rPr lang="en-US" sz="3268" spc="196" b="true">
                <a:solidFill>
                  <a:srgbClr val="000000"/>
                </a:solidFill>
                <a:latin typeface="Public Sans Bold"/>
                <a:ea typeface="Public Sans Bold"/>
                <a:cs typeface="Public Sans Bold"/>
                <a:sym typeface="Public Sans Bold"/>
              </a:rPr>
              <a:t> Histogram: Thể hiện tầ</a:t>
            </a:r>
            <a:r>
              <a:rPr lang="en-US" sz="3268" spc="196" b="true">
                <a:solidFill>
                  <a:srgbClr val="000000"/>
                </a:solidFill>
                <a:latin typeface="Public Sans Bold"/>
                <a:ea typeface="Public Sans Bold"/>
                <a:cs typeface="Public Sans Bold"/>
                <a:sym typeface="Public Sans Bold"/>
              </a:rPr>
              <a:t>n suất phân bố của dữ liệu theo các khoảng (bins).</a:t>
            </a:r>
          </a:p>
          <a:p>
            <a:pPr algn="l">
              <a:lnSpc>
                <a:spcPts val="5065"/>
              </a:lnSpc>
            </a:pPr>
            <a:r>
              <a:rPr lang="en-US" b="true" sz="3268" spc="196">
                <a:solidFill>
                  <a:srgbClr val="000000"/>
                </a:solidFill>
                <a:latin typeface="Public Sans Bold"/>
                <a:ea typeface="Public Sans Bold"/>
                <a:cs typeface="Public Sans Bold"/>
                <a:sym typeface="Public Sans Bold"/>
              </a:rPr>
              <a:t> → </a:t>
            </a:r>
            <a:r>
              <a:rPr lang="en-US" sz="3268" spc="196">
                <a:solidFill>
                  <a:srgbClr val="000000"/>
                </a:solidFill>
                <a:latin typeface="Public Sans"/>
                <a:ea typeface="Public Sans"/>
                <a:cs typeface="Public Sans"/>
                <a:sym typeface="Public Sans"/>
              </a:rPr>
              <a:t>Giúp nhận biết dạng phân bố (đều, lệch trái/phải) và phát hiện giá trị bất thường.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238230" y="1762697"/>
            <a:ext cx="11811540" cy="5370184"/>
          </a:xfrm>
          <a:custGeom>
            <a:avLst/>
            <a:gdLst/>
            <a:ahLst/>
            <a:cxnLst/>
            <a:rect r="r" b="b" t="t" l="l"/>
            <a:pathLst>
              <a:path h="5370184" w="11811540">
                <a:moveTo>
                  <a:pt x="0" y="0"/>
                </a:moveTo>
                <a:lnTo>
                  <a:pt x="11811540" y="0"/>
                </a:lnTo>
                <a:lnTo>
                  <a:pt x="11811540" y="5370184"/>
                </a:lnTo>
                <a:lnTo>
                  <a:pt x="0" y="5370184"/>
                </a:lnTo>
                <a:lnTo>
                  <a:pt x="0" y="0"/>
                </a:lnTo>
                <a:close/>
              </a:path>
            </a:pathLst>
          </a:custGeom>
          <a:blipFill>
            <a:blip r:embed="rId2"/>
            <a:stretch>
              <a:fillRect l="0" t="-24589" r="0" b="-16472"/>
            </a:stretch>
          </a:blipFill>
        </p:spPr>
      </p:sp>
      <p:sp>
        <p:nvSpPr>
          <p:cNvPr name="TextBox 3" id="3"/>
          <p:cNvSpPr txBox="true"/>
          <p:nvPr/>
        </p:nvSpPr>
        <p:spPr>
          <a:xfrm rot="0">
            <a:off x="1028700" y="755650"/>
            <a:ext cx="8759731"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THỐNG KÊ MÔ TẢ</a:t>
            </a:r>
          </a:p>
        </p:txBody>
      </p:sp>
      <p:sp>
        <p:nvSpPr>
          <p:cNvPr name="Freeform 4" id="4"/>
          <p:cNvSpPr/>
          <p:nvPr/>
        </p:nvSpPr>
        <p:spPr>
          <a:xfrm flipH="false" flipV="false" rot="-10800000">
            <a:off x="14676435" y="-1187080"/>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5" id="5"/>
          <p:cNvSpPr/>
          <p:nvPr/>
        </p:nvSpPr>
        <p:spPr>
          <a:xfrm flipH="false" flipV="false" rot="-70802">
            <a:off x="7090128" y="-1906681"/>
            <a:ext cx="4017146" cy="3158481"/>
          </a:xfrm>
          <a:custGeom>
            <a:avLst/>
            <a:gdLst/>
            <a:ahLst/>
            <a:cxnLst/>
            <a:rect r="r" b="b" t="t" l="l"/>
            <a:pathLst>
              <a:path h="3158481" w="4017146">
                <a:moveTo>
                  <a:pt x="0" y="0"/>
                </a:moveTo>
                <a:lnTo>
                  <a:pt x="4017146" y="0"/>
                </a:lnTo>
                <a:lnTo>
                  <a:pt x="4017146" y="3158481"/>
                </a:lnTo>
                <a:lnTo>
                  <a:pt x="0" y="31584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6" id="6"/>
          <p:cNvSpPr/>
          <p:nvPr/>
        </p:nvSpPr>
        <p:spPr>
          <a:xfrm flipH="false" flipV="false" rot="-9111394">
            <a:off x="15402882" y="8707759"/>
            <a:ext cx="4017146" cy="3158481"/>
          </a:xfrm>
          <a:custGeom>
            <a:avLst/>
            <a:gdLst/>
            <a:ahLst/>
            <a:cxnLst/>
            <a:rect r="r" b="b" t="t" l="l"/>
            <a:pathLst>
              <a:path h="3158481" w="4017146">
                <a:moveTo>
                  <a:pt x="0" y="0"/>
                </a:moveTo>
                <a:lnTo>
                  <a:pt x="4017146" y="0"/>
                </a:lnTo>
                <a:lnTo>
                  <a:pt x="4017146" y="3158482"/>
                </a:lnTo>
                <a:lnTo>
                  <a:pt x="0" y="31584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7" id="7"/>
          <p:cNvSpPr txBox="true"/>
          <p:nvPr/>
        </p:nvSpPr>
        <p:spPr>
          <a:xfrm rot="0">
            <a:off x="1904563" y="7197935"/>
            <a:ext cx="14478874" cy="1883548"/>
          </a:xfrm>
          <a:prstGeom prst="rect">
            <a:avLst/>
          </a:prstGeom>
        </p:spPr>
        <p:txBody>
          <a:bodyPr anchor="t" rtlCol="false" tIns="0" lIns="0" bIns="0" rIns="0">
            <a:spAutoFit/>
          </a:bodyPr>
          <a:lstStyle/>
          <a:p>
            <a:pPr algn="l">
              <a:lnSpc>
                <a:spcPts val="5065"/>
              </a:lnSpc>
            </a:pPr>
            <a:r>
              <a:rPr lang="en-US" sz="3268" spc="196" b="true">
                <a:solidFill>
                  <a:srgbClr val="000000"/>
                </a:solidFill>
                <a:latin typeface="Public Sans Bold"/>
                <a:ea typeface="Public Sans Bold"/>
                <a:cs typeface="Public Sans Bold"/>
                <a:sym typeface="Public Sans Bold"/>
              </a:rPr>
              <a:t>Boxplot: Thể hiện Q1, media</a:t>
            </a:r>
            <a:r>
              <a:rPr lang="en-US" sz="3268" spc="196" b="true">
                <a:solidFill>
                  <a:srgbClr val="000000"/>
                </a:solidFill>
                <a:latin typeface="Public Sans Bold"/>
                <a:ea typeface="Public Sans Bold"/>
                <a:cs typeface="Public Sans Bold"/>
                <a:sym typeface="Public Sans Bold"/>
              </a:rPr>
              <a:t>n, Q3, min, max và outliers.</a:t>
            </a:r>
          </a:p>
          <a:p>
            <a:pPr algn="l">
              <a:lnSpc>
                <a:spcPts val="5065"/>
              </a:lnSpc>
            </a:pPr>
            <a:r>
              <a:rPr lang="en-US" b="true" sz="3268" spc="196">
                <a:solidFill>
                  <a:srgbClr val="000000"/>
                </a:solidFill>
                <a:latin typeface="Public Sans Bold"/>
                <a:ea typeface="Public Sans Bold"/>
                <a:cs typeface="Public Sans Bold"/>
                <a:sym typeface="Public Sans Bold"/>
              </a:rPr>
              <a:t> → </a:t>
            </a:r>
            <a:r>
              <a:rPr lang="en-US" sz="3268" spc="196">
                <a:solidFill>
                  <a:srgbClr val="000000"/>
                </a:solidFill>
                <a:latin typeface="Public Sans"/>
                <a:ea typeface="Public Sans"/>
                <a:cs typeface="Public Sans"/>
                <a:sym typeface="Public Sans"/>
              </a:rPr>
              <a:t>Giúp đánh giá mức độ phân tán, vị trí trung tâm và giá trị ngoại lai một cách trực quan.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TextBox 2" id="2"/>
          <p:cNvSpPr txBox="true"/>
          <p:nvPr/>
        </p:nvSpPr>
        <p:spPr>
          <a:xfrm rot="0">
            <a:off x="6300729" y="2405235"/>
            <a:ext cx="5686541"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BÀI THỰC HÀNH 1</a:t>
            </a:r>
          </a:p>
        </p:txBody>
      </p:sp>
      <p:sp>
        <p:nvSpPr>
          <p:cNvPr name="TextBox 3" id="3"/>
          <p:cNvSpPr txBox="true"/>
          <p:nvPr/>
        </p:nvSpPr>
        <p:spPr>
          <a:xfrm rot="0">
            <a:off x="1028700" y="3433996"/>
            <a:ext cx="16333860" cy="2289174"/>
          </a:xfrm>
          <a:prstGeom prst="rect">
            <a:avLst/>
          </a:prstGeom>
        </p:spPr>
        <p:txBody>
          <a:bodyPr anchor="t" rtlCol="false" tIns="0" lIns="0" bIns="0" rIns="0">
            <a:spAutoFit/>
          </a:bodyPr>
          <a:lstStyle/>
          <a:p>
            <a:pPr algn="l">
              <a:lnSpc>
                <a:spcPts val="4550"/>
              </a:lnSpc>
            </a:pPr>
            <a:r>
              <a:rPr lang="en-US" sz="3500">
                <a:solidFill>
                  <a:srgbClr val="000000"/>
                </a:solidFill>
                <a:latin typeface="Public Sans"/>
                <a:ea typeface="Public Sans"/>
                <a:cs typeface="Public Sans"/>
                <a:sym typeface="Public Sans"/>
              </a:rPr>
              <a:t>Thực hiện thống kê mô tả trên tập dữ liệu về phân loại chất lượng rượu đỏ.</a:t>
            </a:r>
          </a:p>
          <a:p>
            <a:pPr algn="l">
              <a:lnSpc>
                <a:spcPts val="4550"/>
              </a:lnSpc>
            </a:pPr>
            <a:r>
              <a:rPr lang="en-US" sz="3500">
                <a:solidFill>
                  <a:srgbClr val="000000"/>
                </a:solidFill>
                <a:latin typeface="Public Sans"/>
                <a:ea typeface="Public Sans"/>
                <a:cs typeface="Public Sans"/>
                <a:sym typeface="Public Sans"/>
              </a:rPr>
              <a:t>Dữ liệu lấy tại </a:t>
            </a:r>
            <a:r>
              <a:rPr lang="en-US" sz="3500" u="sng">
                <a:solidFill>
                  <a:srgbClr val="000000"/>
                </a:solidFill>
                <a:latin typeface="Public Sans"/>
                <a:ea typeface="Public Sans"/>
                <a:cs typeface="Public Sans"/>
                <a:sym typeface="Public Sans"/>
                <a:hlinkClick r:id="rId2" tooltip="https://www.kaggle.com/code/eisgandar/red-wine-qauality-eda-classification"/>
              </a:rPr>
              <a:t>https://www.kaggle.com/code/eisgandar/red-wine-qauality-eda-classification</a:t>
            </a:r>
          </a:p>
          <a:p>
            <a:pPr algn="l">
              <a:lnSpc>
                <a:spcPts val="4550"/>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TextBox 2" id="2"/>
          <p:cNvSpPr txBox="true"/>
          <p:nvPr/>
        </p:nvSpPr>
        <p:spPr>
          <a:xfrm rot="0">
            <a:off x="6300729" y="2405235"/>
            <a:ext cx="5812492"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BÀI THỰC HÀNH 2</a:t>
            </a:r>
          </a:p>
        </p:txBody>
      </p:sp>
      <p:sp>
        <p:nvSpPr>
          <p:cNvPr name="TextBox 3" id="3"/>
          <p:cNvSpPr txBox="true"/>
          <p:nvPr/>
        </p:nvSpPr>
        <p:spPr>
          <a:xfrm rot="0">
            <a:off x="1606822" y="3433996"/>
            <a:ext cx="15074356" cy="2289174"/>
          </a:xfrm>
          <a:prstGeom prst="rect">
            <a:avLst/>
          </a:prstGeom>
        </p:spPr>
        <p:txBody>
          <a:bodyPr anchor="t" rtlCol="false" tIns="0" lIns="0" bIns="0" rIns="0">
            <a:spAutoFit/>
          </a:bodyPr>
          <a:lstStyle/>
          <a:p>
            <a:pPr algn="l">
              <a:lnSpc>
                <a:spcPts val="4550"/>
              </a:lnSpc>
            </a:pPr>
            <a:r>
              <a:rPr lang="en-US" sz="3500">
                <a:solidFill>
                  <a:srgbClr val="000000"/>
                </a:solidFill>
                <a:latin typeface="Public Sans"/>
                <a:ea typeface="Public Sans"/>
                <a:cs typeface="Public Sans"/>
                <a:sym typeface="Public Sans"/>
              </a:rPr>
              <a:t>Thực hiện thống kê mô tả trên tập dữ liệu về bệnh tiểu đường.</a:t>
            </a:r>
          </a:p>
          <a:p>
            <a:pPr algn="l">
              <a:lnSpc>
                <a:spcPts val="4550"/>
              </a:lnSpc>
            </a:pPr>
            <a:r>
              <a:rPr lang="en-US" sz="3500">
                <a:solidFill>
                  <a:srgbClr val="000000"/>
                </a:solidFill>
                <a:latin typeface="Public Sans"/>
                <a:ea typeface="Public Sans"/>
                <a:cs typeface="Public Sans"/>
                <a:sym typeface="Public Sans"/>
              </a:rPr>
              <a:t>Dữ liệu lấy tại </a:t>
            </a:r>
            <a:r>
              <a:rPr lang="en-US" sz="3500" u="sng">
                <a:solidFill>
                  <a:srgbClr val="000000"/>
                </a:solidFill>
                <a:latin typeface="Public Sans"/>
                <a:ea typeface="Public Sans"/>
                <a:cs typeface="Public Sans"/>
                <a:sym typeface="Public Sans"/>
                <a:hlinkClick r:id="rId2" tooltip="https://www.kaggle.com/code/vincentlugat/pima-indians-diabetes-eda-prediction-0-906"/>
              </a:rPr>
              <a:t>https://www.kaggle.com/code/vincentlugat/pima-indians-diabetes-eda-prediction-0-906</a:t>
            </a:r>
          </a:p>
          <a:p>
            <a:pPr algn="l">
              <a:lnSpc>
                <a:spcPts val="455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952400" y="1115159"/>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XỬ LÝ VÀ TRỰC QUAN HÓA DỮ LIỆU</a:t>
            </a:r>
          </a:p>
        </p:txBody>
      </p:sp>
      <p:sp>
        <p:nvSpPr>
          <p:cNvPr name="Freeform 5" id="5"/>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0" id="10"/>
          <p:cNvSpPr txBox="true"/>
          <p:nvPr/>
        </p:nvSpPr>
        <p:spPr>
          <a:xfrm rot="0">
            <a:off x="1508241" y="2566325"/>
            <a:ext cx="15271518" cy="4582794"/>
          </a:xfrm>
          <a:prstGeom prst="rect">
            <a:avLst/>
          </a:prstGeom>
        </p:spPr>
        <p:txBody>
          <a:bodyPr anchor="t" rtlCol="false" tIns="0" lIns="0" bIns="0" rIns="0">
            <a:spAutoFit/>
          </a:bodyPr>
          <a:lstStyle/>
          <a:p>
            <a:pPr algn="l">
              <a:lnSpc>
                <a:spcPts val="5180"/>
              </a:lnSpc>
            </a:pPr>
            <a:r>
              <a:rPr lang="en-US" sz="3700" b="true">
                <a:solidFill>
                  <a:srgbClr val="000000"/>
                </a:solidFill>
                <a:latin typeface="Public Sans Bold"/>
                <a:ea typeface="Public Sans Bold"/>
                <a:cs typeface="Public Sans Bold"/>
                <a:sym typeface="Public Sans Bold"/>
              </a:rPr>
              <a:t>Trực quan hóa dữ liệu</a:t>
            </a:r>
            <a:r>
              <a:rPr lang="en-US" sz="3700">
                <a:solidFill>
                  <a:srgbClr val="000000"/>
                </a:solidFill>
                <a:latin typeface="Public Sans"/>
                <a:ea typeface="Public Sans"/>
                <a:cs typeface="Public Sans"/>
                <a:sym typeface="Public Sans"/>
              </a:rPr>
              <a:t>: Biểu diễn dữ liệu bằng hình ảnh (biểu đồ, đồ thị, bản đồ) giúp quan sát và hiểu dữ liệu dễ dàng hơn.</a:t>
            </a:r>
          </a:p>
          <a:p>
            <a:pPr algn="l">
              <a:lnSpc>
                <a:spcPts val="5180"/>
              </a:lnSpc>
              <a:spcBef>
                <a:spcPct val="0"/>
              </a:spcBef>
            </a:pPr>
            <a:r>
              <a:rPr lang="en-US" b="true" sz="3700">
                <a:solidFill>
                  <a:srgbClr val="000000"/>
                </a:solidFill>
                <a:latin typeface="Public Sans Bold"/>
                <a:ea typeface="Public Sans Bold"/>
                <a:cs typeface="Public Sans Bold"/>
                <a:sym typeface="Public Sans Bold"/>
              </a:rPr>
              <a:t>Tầm quan trọng</a:t>
            </a:r>
            <a:r>
              <a:rPr lang="en-US" sz="3700">
                <a:solidFill>
                  <a:srgbClr val="000000"/>
                </a:solidFill>
                <a:latin typeface="Public Sans"/>
                <a:ea typeface="Public Sans"/>
                <a:cs typeface="Public Sans"/>
                <a:sym typeface="Public Sans"/>
              </a:rPr>
              <a:t>:</a:t>
            </a:r>
          </a:p>
          <a:p>
            <a:pPr algn="l" marL="798838" indent="-399419" lvl="1">
              <a:lnSpc>
                <a:spcPts val="5180"/>
              </a:lnSpc>
              <a:buFont typeface="Arial"/>
              <a:buChar char="•"/>
            </a:pPr>
            <a:r>
              <a:rPr lang="en-US" sz="3700">
                <a:solidFill>
                  <a:srgbClr val="000000"/>
                </a:solidFill>
                <a:latin typeface="Public Sans"/>
                <a:ea typeface="Public Sans"/>
                <a:cs typeface="Public Sans"/>
                <a:sym typeface="Public Sans"/>
              </a:rPr>
              <a:t>Nhận diện xu hướng, mẫu, mối tương quan giữa các biến.</a:t>
            </a:r>
          </a:p>
          <a:p>
            <a:pPr algn="l" marL="798838" indent="-399419" lvl="1">
              <a:lnSpc>
                <a:spcPts val="5180"/>
              </a:lnSpc>
              <a:buFont typeface="Arial"/>
              <a:buChar char="•"/>
            </a:pPr>
            <a:r>
              <a:rPr lang="en-US" sz="3700">
                <a:solidFill>
                  <a:srgbClr val="000000"/>
                </a:solidFill>
                <a:latin typeface="Public Sans"/>
                <a:ea typeface="Public Sans"/>
                <a:cs typeface="Public Sans"/>
                <a:sym typeface="Public Sans"/>
              </a:rPr>
              <a:t>Phát hiện giá trị ngoại lai, sai lệch.</a:t>
            </a:r>
          </a:p>
          <a:p>
            <a:pPr algn="l" marL="798838" indent="-399419" lvl="1">
              <a:lnSpc>
                <a:spcPts val="5180"/>
              </a:lnSpc>
              <a:buFont typeface="Arial"/>
              <a:buChar char="•"/>
            </a:pPr>
            <a:r>
              <a:rPr lang="en-US" sz="3700">
                <a:solidFill>
                  <a:srgbClr val="000000"/>
                </a:solidFill>
                <a:latin typeface="Public Sans"/>
                <a:ea typeface="Public Sans"/>
                <a:cs typeface="Public Sans"/>
                <a:sym typeface="Public Sans"/>
              </a:rPr>
              <a:t>Giúp trình bày kết quả trực quan, dễ hiểu và hỗ trợ ra quyết định trước khi mô hình hóa.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1028700" y="3023643"/>
            <a:ext cx="6720680" cy="5376544"/>
          </a:xfrm>
          <a:custGeom>
            <a:avLst/>
            <a:gdLst/>
            <a:ahLst/>
            <a:cxnLst/>
            <a:rect r="r" b="b" t="t" l="l"/>
            <a:pathLst>
              <a:path h="5376544" w="6720680">
                <a:moveTo>
                  <a:pt x="0" y="0"/>
                </a:moveTo>
                <a:lnTo>
                  <a:pt x="6720680" y="0"/>
                </a:lnTo>
                <a:lnTo>
                  <a:pt x="6720680" y="5376545"/>
                </a:lnTo>
                <a:lnTo>
                  <a:pt x="0" y="5376545"/>
                </a:lnTo>
                <a:lnTo>
                  <a:pt x="0" y="0"/>
                </a:lnTo>
                <a:close/>
              </a:path>
            </a:pathLst>
          </a:custGeom>
          <a:blipFill>
            <a:blip r:embed="rId14"/>
            <a:stretch>
              <a:fillRect l="0" t="0" r="0" b="0"/>
            </a:stretch>
          </a:blipFill>
        </p:spPr>
      </p:sp>
      <p:sp>
        <p:nvSpPr>
          <p:cNvPr name="Freeform 10" id="10"/>
          <p:cNvSpPr/>
          <p:nvPr/>
        </p:nvSpPr>
        <p:spPr>
          <a:xfrm flipH="false" flipV="false" rot="0">
            <a:off x="8285780" y="3023643"/>
            <a:ext cx="9037424" cy="5487007"/>
          </a:xfrm>
          <a:custGeom>
            <a:avLst/>
            <a:gdLst/>
            <a:ahLst/>
            <a:cxnLst/>
            <a:rect r="r" b="b" t="t" l="l"/>
            <a:pathLst>
              <a:path h="5487007" w="9037424">
                <a:moveTo>
                  <a:pt x="0" y="0"/>
                </a:moveTo>
                <a:lnTo>
                  <a:pt x="9037424" y="0"/>
                </a:lnTo>
                <a:lnTo>
                  <a:pt x="9037424" y="5487008"/>
                </a:lnTo>
                <a:lnTo>
                  <a:pt x="0" y="5487008"/>
                </a:lnTo>
                <a:lnTo>
                  <a:pt x="0" y="0"/>
                </a:lnTo>
                <a:close/>
              </a:path>
            </a:pathLst>
          </a:custGeom>
          <a:blipFill>
            <a:blip r:embed="rId15"/>
            <a:stretch>
              <a:fillRect l="0" t="0" r="0" b="0"/>
            </a:stretch>
          </a:blipFill>
        </p:spPr>
      </p:sp>
      <p:sp>
        <p:nvSpPr>
          <p:cNvPr name="TextBox 11" id="11"/>
          <p:cNvSpPr txBox="true"/>
          <p:nvPr/>
        </p:nvSpPr>
        <p:spPr>
          <a:xfrm rot="0">
            <a:off x="952400" y="1115159"/>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XỬ LÝ VÀ TRỰC QUAN HÓA DỮ LIỆU</a:t>
            </a:r>
          </a:p>
        </p:txBody>
      </p:sp>
      <p:sp>
        <p:nvSpPr>
          <p:cNvPr name="TextBox 12" id="12"/>
          <p:cNvSpPr txBox="true"/>
          <p:nvPr/>
        </p:nvSpPr>
        <p:spPr>
          <a:xfrm rot="0">
            <a:off x="1028700" y="2057329"/>
            <a:ext cx="6996426" cy="538862"/>
          </a:xfrm>
          <a:prstGeom prst="rect">
            <a:avLst/>
          </a:prstGeom>
        </p:spPr>
        <p:txBody>
          <a:bodyPr anchor="t" rtlCol="false" tIns="0" lIns="0" bIns="0" rIns="0">
            <a:spAutoFit/>
          </a:bodyPr>
          <a:lstStyle/>
          <a:p>
            <a:pPr algn="l">
              <a:lnSpc>
                <a:spcPts val="3977"/>
              </a:lnSpc>
            </a:pPr>
            <a:r>
              <a:rPr lang="en-US" sz="4100" b="true">
                <a:solidFill>
                  <a:srgbClr val="000000"/>
                </a:solidFill>
                <a:latin typeface="Public Sans Bold"/>
                <a:ea typeface="Public Sans Bold"/>
                <a:cs typeface="Public Sans Bold"/>
                <a:sym typeface="Public Sans Bold"/>
              </a:rPr>
              <a:t>Các loại biểu đồ thường gặp</a:t>
            </a:r>
          </a:p>
        </p:txBody>
      </p:sp>
      <p:sp>
        <p:nvSpPr>
          <p:cNvPr name="TextBox 13" id="13"/>
          <p:cNvSpPr txBox="true"/>
          <p:nvPr/>
        </p:nvSpPr>
        <p:spPr>
          <a:xfrm rot="0">
            <a:off x="3018717" y="8695463"/>
            <a:ext cx="3016393" cy="538862"/>
          </a:xfrm>
          <a:prstGeom prst="rect">
            <a:avLst/>
          </a:prstGeom>
        </p:spPr>
        <p:txBody>
          <a:bodyPr anchor="t" rtlCol="false" tIns="0" lIns="0" bIns="0" rIns="0">
            <a:spAutoFit/>
          </a:bodyPr>
          <a:lstStyle/>
          <a:p>
            <a:pPr algn="l">
              <a:lnSpc>
                <a:spcPts val="3977"/>
              </a:lnSpc>
            </a:pPr>
            <a:r>
              <a:rPr lang="en-US" sz="4100" b="true">
                <a:solidFill>
                  <a:srgbClr val="000000"/>
                </a:solidFill>
                <a:latin typeface="Public Sans Bold"/>
                <a:ea typeface="Public Sans Bold"/>
                <a:cs typeface="Public Sans Bold"/>
                <a:sym typeface="Public Sans Bold"/>
              </a:rPr>
              <a:t>Histogram</a:t>
            </a:r>
          </a:p>
        </p:txBody>
      </p:sp>
      <p:sp>
        <p:nvSpPr>
          <p:cNvPr name="TextBox 14" id="14"/>
          <p:cNvSpPr txBox="true"/>
          <p:nvPr/>
        </p:nvSpPr>
        <p:spPr>
          <a:xfrm rot="0">
            <a:off x="11662243" y="8719438"/>
            <a:ext cx="2284497" cy="538862"/>
          </a:xfrm>
          <a:prstGeom prst="rect">
            <a:avLst/>
          </a:prstGeom>
        </p:spPr>
        <p:txBody>
          <a:bodyPr anchor="t" rtlCol="false" tIns="0" lIns="0" bIns="0" rIns="0">
            <a:spAutoFit/>
          </a:bodyPr>
          <a:lstStyle/>
          <a:p>
            <a:pPr algn="l">
              <a:lnSpc>
                <a:spcPts val="3977"/>
              </a:lnSpc>
            </a:pPr>
            <a:r>
              <a:rPr lang="en-US" sz="4100" b="true">
                <a:solidFill>
                  <a:srgbClr val="000000"/>
                </a:solidFill>
                <a:latin typeface="Public Sans Bold"/>
                <a:ea typeface="Public Sans Bold"/>
                <a:cs typeface="Public Sans Bold"/>
                <a:sym typeface="Public Sans Bold"/>
              </a:rPr>
              <a:t>Boxplot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1325204" y="2847396"/>
            <a:ext cx="7818796" cy="5142715"/>
          </a:xfrm>
          <a:custGeom>
            <a:avLst/>
            <a:gdLst/>
            <a:ahLst/>
            <a:cxnLst/>
            <a:rect r="r" b="b" t="t" l="l"/>
            <a:pathLst>
              <a:path h="5142715" w="7818796">
                <a:moveTo>
                  <a:pt x="0" y="0"/>
                </a:moveTo>
                <a:lnTo>
                  <a:pt x="7818796" y="0"/>
                </a:lnTo>
                <a:lnTo>
                  <a:pt x="7818796" y="5142715"/>
                </a:lnTo>
                <a:lnTo>
                  <a:pt x="0" y="5142715"/>
                </a:lnTo>
                <a:lnTo>
                  <a:pt x="0" y="0"/>
                </a:lnTo>
                <a:close/>
              </a:path>
            </a:pathLst>
          </a:custGeom>
          <a:blipFill>
            <a:blip r:embed="rId14"/>
            <a:stretch>
              <a:fillRect l="0" t="0" r="-7430" b="0"/>
            </a:stretch>
          </a:blipFill>
        </p:spPr>
      </p:sp>
      <p:sp>
        <p:nvSpPr>
          <p:cNvPr name="Freeform 10" id="10"/>
          <p:cNvSpPr/>
          <p:nvPr/>
        </p:nvSpPr>
        <p:spPr>
          <a:xfrm flipH="false" flipV="false" rot="0">
            <a:off x="9870420" y="2596191"/>
            <a:ext cx="7202023" cy="5393920"/>
          </a:xfrm>
          <a:custGeom>
            <a:avLst/>
            <a:gdLst/>
            <a:ahLst/>
            <a:cxnLst/>
            <a:rect r="r" b="b" t="t" l="l"/>
            <a:pathLst>
              <a:path h="5393920" w="7202023">
                <a:moveTo>
                  <a:pt x="0" y="0"/>
                </a:moveTo>
                <a:lnTo>
                  <a:pt x="7202022" y="0"/>
                </a:lnTo>
                <a:lnTo>
                  <a:pt x="7202022" y="5393920"/>
                </a:lnTo>
                <a:lnTo>
                  <a:pt x="0" y="5393920"/>
                </a:lnTo>
                <a:lnTo>
                  <a:pt x="0" y="0"/>
                </a:lnTo>
                <a:close/>
              </a:path>
            </a:pathLst>
          </a:custGeom>
          <a:blipFill>
            <a:blip r:embed="rId15"/>
            <a:stretch>
              <a:fillRect l="0" t="0" r="0" b="0"/>
            </a:stretch>
          </a:blipFill>
        </p:spPr>
      </p:sp>
      <p:sp>
        <p:nvSpPr>
          <p:cNvPr name="TextBox 11" id="11"/>
          <p:cNvSpPr txBox="true"/>
          <p:nvPr/>
        </p:nvSpPr>
        <p:spPr>
          <a:xfrm rot="0">
            <a:off x="952400" y="1115159"/>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XỬ LÝ VÀ TRỰC QUAN HÓA DỮ LIỆU</a:t>
            </a:r>
          </a:p>
        </p:txBody>
      </p:sp>
      <p:sp>
        <p:nvSpPr>
          <p:cNvPr name="TextBox 12" id="12"/>
          <p:cNvSpPr txBox="true"/>
          <p:nvPr/>
        </p:nvSpPr>
        <p:spPr>
          <a:xfrm rot="0">
            <a:off x="1028700" y="2057329"/>
            <a:ext cx="6996426" cy="538862"/>
          </a:xfrm>
          <a:prstGeom prst="rect">
            <a:avLst/>
          </a:prstGeom>
        </p:spPr>
        <p:txBody>
          <a:bodyPr anchor="t" rtlCol="false" tIns="0" lIns="0" bIns="0" rIns="0">
            <a:spAutoFit/>
          </a:bodyPr>
          <a:lstStyle/>
          <a:p>
            <a:pPr algn="l">
              <a:lnSpc>
                <a:spcPts val="3977"/>
              </a:lnSpc>
            </a:pPr>
            <a:r>
              <a:rPr lang="en-US" sz="4100" b="true">
                <a:solidFill>
                  <a:srgbClr val="000000"/>
                </a:solidFill>
                <a:latin typeface="Public Sans Bold"/>
                <a:ea typeface="Public Sans Bold"/>
                <a:cs typeface="Public Sans Bold"/>
                <a:sym typeface="Public Sans Bold"/>
              </a:rPr>
              <a:t>Các loại biểu đồ thường gặp</a:t>
            </a:r>
          </a:p>
        </p:txBody>
      </p:sp>
      <p:sp>
        <p:nvSpPr>
          <p:cNvPr name="TextBox 13" id="13"/>
          <p:cNvSpPr txBox="true"/>
          <p:nvPr/>
        </p:nvSpPr>
        <p:spPr>
          <a:xfrm rot="0">
            <a:off x="3726406" y="8485913"/>
            <a:ext cx="3016393" cy="538862"/>
          </a:xfrm>
          <a:prstGeom prst="rect">
            <a:avLst/>
          </a:prstGeom>
        </p:spPr>
        <p:txBody>
          <a:bodyPr anchor="t" rtlCol="false" tIns="0" lIns="0" bIns="0" rIns="0">
            <a:spAutoFit/>
          </a:bodyPr>
          <a:lstStyle/>
          <a:p>
            <a:pPr algn="l">
              <a:lnSpc>
                <a:spcPts val="3977"/>
              </a:lnSpc>
            </a:pPr>
            <a:r>
              <a:rPr lang="en-US" sz="4100" b="true">
                <a:solidFill>
                  <a:srgbClr val="000000"/>
                </a:solidFill>
                <a:latin typeface="Public Sans Bold"/>
                <a:ea typeface="Public Sans Bold"/>
                <a:cs typeface="Public Sans Bold"/>
                <a:sym typeface="Public Sans Bold"/>
              </a:rPr>
              <a:t>Scatter plot</a:t>
            </a:r>
          </a:p>
        </p:txBody>
      </p:sp>
      <p:sp>
        <p:nvSpPr>
          <p:cNvPr name="TextBox 14" id="14"/>
          <p:cNvSpPr txBox="true"/>
          <p:nvPr/>
        </p:nvSpPr>
        <p:spPr>
          <a:xfrm rot="0">
            <a:off x="12452830" y="8173619"/>
            <a:ext cx="2587613" cy="538862"/>
          </a:xfrm>
          <a:prstGeom prst="rect">
            <a:avLst/>
          </a:prstGeom>
        </p:spPr>
        <p:txBody>
          <a:bodyPr anchor="t" rtlCol="false" tIns="0" lIns="0" bIns="0" rIns="0">
            <a:spAutoFit/>
          </a:bodyPr>
          <a:lstStyle/>
          <a:p>
            <a:pPr algn="l">
              <a:lnSpc>
                <a:spcPts val="3977"/>
              </a:lnSpc>
            </a:pPr>
            <a:r>
              <a:rPr lang="en-US" sz="4100" b="true">
                <a:solidFill>
                  <a:srgbClr val="000000"/>
                </a:solidFill>
                <a:latin typeface="Public Sans Bold"/>
                <a:ea typeface="Public Sans Bold"/>
                <a:cs typeface="Public Sans Bold"/>
                <a:sym typeface="Public Sans Bold"/>
              </a:rPr>
              <a:t>Bar chart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952400" y="2897163"/>
            <a:ext cx="8651220" cy="5190732"/>
          </a:xfrm>
          <a:custGeom>
            <a:avLst/>
            <a:gdLst/>
            <a:ahLst/>
            <a:cxnLst/>
            <a:rect r="r" b="b" t="t" l="l"/>
            <a:pathLst>
              <a:path h="5190732" w="8651220">
                <a:moveTo>
                  <a:pt x="0" y="0"/>
                </a:moveTo>
                <a:lnTo>
                  <a:pt x="8651220" y="0"/>
                </a:lnTo>
                <a:lnTo>
                  <a:pt x="8651220" y="5190731"/>
                </a:lnTo>
                <a:lnTo>
                  <a:pt x="0" y="5190731"/>
                </a:lnTo>
                <a:lnTo>
                  <a:pt x="0" y="0"/>
                </a:lnTo>
                <a:close/>
              </a:path>
            </a:pathLst>
          </a:custGeom>
          <a:blipFill>
            <a:blip r:embed="rId14"/>
            <a:stretch>
              <a:fillRect l="0" t="0" r="0" b="0"/>
            </a:stretch>
          </a:blipFill>
        </p:spPr>
      </p:sp>
      <p:sp>
        <p:nvSpPr>
          <p:cNvPr name="Freeform 10" id="10"/>
          <p:cNvSpPr/>
          <p:nvPr/>
        </p:nvSpPr>
        <p:spPr>
          <a:xfrm flipH="false" flipV="false" rot="0">
            <a:off x="10012972" y="2809957"/>
            <a:ext cx="7135642" cy="5404420"/>
          </a:xfrm>
          <a:custGeom>
            <a:avLst/>
            <a:gdLst/>
            <a:ahLst/>
            <a:cxnLst/>
            <a:rect r="r" b="b" t="t" l="l"/>
            <a:pathLst>
              <a:path h="5404420" w="7135642">
                <a:moveTo>
                  <a:pt x="0" y="0"/>
                </a:moveTo>
                <a:lnTo>
                  <a:pt x="7135642" y="0"/>
                </a:lnTo>
                <a:lnTo>
                  <a:pt x="7135642" y="5404420"/>
                </a:lnTo>
                <a:lnTo>
                  <a:pt x="0" y="5404420"/>
                </a:lnTo>
                <a:lnTo>
                  <a:pt x="0" y="0"/>
                </a:lnTo>
                <a:close/>
              </a:path>
            </a:pathLst>
          </a:custGeom>
          <a:blipFill>
            <a:blip r:embed="rId15"/>
            <a:stretch>
              <a:fillRect l="0" t="0" r="0" b="0"/>
            </a:stretch>
          </a:blipFill>
        </p:spPr>
      </p:sp>
      <p:sp>
        <p:nvSpPr>
          <p:cNvPr name="TextBox 11" id="11"/>
          <p:cNvSpPr txBox="true"/>
          <p:nvPr/>
        </p:nvSpPr>
        <p:spPr>
          <a:xfrm rot="0">
            <a:off x="952400" y="1115159"/>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XỬ LÝ VÀ TRỰC QUAN HÓA DỮ LIỆU</a:t>
            </a:r>
          </a:p>
        </p:txBody>
      </p:sp>
      <p:sp>
        <p:nvSpPr>
          <p:cNvPr name="TextBox 12" id="12"/>
          <p:cNvSpPr txBox="true"/>
          <p:nvPr/>
        </p:nvSpPr>
        <p:spPr>
          <a:xfrm rot="0">
            <a:off x="1028700" y="2057329"/>
            <a:ext cx="6996426" cy="538862"/>
          </a:xfrm>
          <a:prstGeom prst="rect">
            <a:avLst/>
          </a:prstGeom>
        </p:spPr>
        <p:txBody>
          <a:bodyPr anchor="t" rtlCol="false" tIns="0" lIns="0" bIns="0" rIns="0">
            <a:spAutoFit/>
          </a:bodyPr>
          <a:lstStyle/>
          <a:p>
            <a:pPr algn="l">
              <a:lnSpc>
                <a:spcPts val="3977"/>
              </a:lnSpc>
            </a:pPr>
            <a:r>
              <a:rPr lang="en-US" sz="4100" b="true">
                <a:solidFill>
                  <a:srgbClr val="000000"/>
                </a:solidFill>
                <a:latin typeface="Public Sans Bold"/>
                <a:ea typeface="Public Sans Bold"/>
                <a:cs typeface="Public Sans Bold"/>
                <a:sym typeface="Public Sans Bold"/>
              </a:rPr>
              <a:t>Các loại biểu đồ thường gặp</a:t>
            </a:r>
          </a:p>
        </p:txBody>
      </p:sp>
      <p:sp>
        <p:nvSpPr>
          <p:cNvPr name="TextBox 13" id="13"/>
          <p:cNvSpPr txBox="true"/>
          <p:nvPr/>
        </p:nvSpPr>
        <p:spPr>
          <a:xfrm rot="0">
            <a:off x="3953743" y="8478419"/>
            <a:ext cx="3016393" cy="538862"/>
          </a:xfrm>
          <a:prstGeom prst="rect">
            <a:avLst/>
          </a:prstGeom>
        </p:spPr>
        <p:txBody>
          <a:bodyPr anchor="t" rtlCol="false" tIns="0" lIns="0" bIns="0" rIns="0">
            <a:spAutoFit/>
          </a:bodyPr>
          <a:lstStyle/>
          <a:p>
            <a:pPr algn="l">
              <a:lnSpc>
                <a:spcPts val="3977"/>
              </a:lnSpc>
            </a:pPr>
            <a:r>
              <a:rPr lang="en-US" sz="4100" b="true">
                <a:solidFill>
                  <a:srgbClr val="000000"/>
                </a:solidFill>
                <a:latin typeface="Public Sans Bold"/>
                <a:ea typeface="Public Sans Bold"/>
                <a:cs typeface="Public Sans Bold"/>
                <a:sym typeface="Public Sans Bold"/>
              </a:rPr>
              <a:t>Pie chart</a:t>
            </a:r>
          </a:p>
        </p:txBody>
      </p:sp>
      <p:sp>
        <p:nvSpPr>
          <p:cNvPr name="TextBox 14" id="14"/>
          <p:cNvSpPr txBox="true"/>
          <p:nvPr/>
        </p:nvSpPr>
        <p:spPr>
          <a:xfrm rot="0">
            <a:off x="12286986" y="8300102"/>
            <a:ext cx="2587613" cy="538862"/>
          </a:xfrm>
          <a:prstGeom prst="rect">
            <a:avLst/>
          </a:prstGeom>
        </p:spPr>
        <p:txBody>
          <a:bodyPr anchor="t" rtlCol="false" tIns="0" lIns="0" bIns="0" rIns="0">
            <a:spAutoFit/>
          </a:bodyPr>
          <a:lstStyle/>
          <a:p>
            <a:pPr algn="l">
              <a:lnSpc>
                <a:spcPts val="3977"/>
              </a:lnSpc>
            </a:pPr>
            <a:r>
              <a:rPr lang="en-US" sz="4100" b="true">
                <a:solidFill>
                  <a:srgbClr val="000000"/>
                </a:solidFill>
                <a:latin typeface="Public Sans Bold"/>
                <a:ea typeface="Public Sans Bold"/>
                <a:cs typeface="Public Sans Bold"/>
                <a:sym typeface="Public Sans Bold"/>
              </a:rPr>
              <a:t>Line chart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952400" y="988777"/>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XỬ LÝ VÀ TRỰC QUAN HÓA DỮ LIỆU</a:t>
            </a:r>
          </a:p>
        </p:txBody>
      </p:sp>
      <p:sp>
        <p:nvSpPr>
          <p:cNvPr name="Freeform 5" id="5"/>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0" id="10"/>
          <p:cNvSpPr txBox="true"/>
          <p:nvPr/>
        </p:nvSpPr>
        <p:spPr>
          <a:xfrm rot="0">
            <a:off x="1508241" y="2485390"/>
            <a:ext cx="15271518" cy="5240019"/>
          </a:xfrm>
          <a:prstGeom prst="rect">
            <a:avLst/>
          </a:prstGeom>
        </p:spPr>
        <p:txBody>
          <a:bodyPr anchor="t" rtlCol="false" tIns="0" lIns="0" bIns="0" rIns="0">
            <a:spAutoFit/>
          </a:bodyPr>
          <a:lstStyle/>
          <a:p>
            <a:pPr algn="l">
              <a:lnSpc>
                <a:spcPts val="5180"/>
              </a:lnSpc>
            </a:pPr>
            <a:r>
              <a:rPr lang="en-US" sz="3700" b="true">
                <a:solidFill>
                  <a:srgbClr val="000000"/>
                </a:solidFill>
                <a:latin typeface="Public Sans Bold"/>
                <a:ea typeface="Public Sans Bold"/>
                <a:cs typeface="Public Sans Bold"/>
                <a:sym typeface="Public Sans Bold"/>
              </a:rPr>
              <a:t>Cách chọn biểu đồ phù hợp:</a:t>
            </a:r>
          </a:p>
          <a:p>
            <a:pPr algn="l" marL="798838" indent="-399419" lvl="1">
              <a:lnSpc>
                <a:spcPts val="5180"/>
              </a:lnSpc>
              <a:spcBef>
                <a:spcPct val="0"/>
              </a:spcBef>
              <a:buFont typeface="Arial"/>
              <a:buChar char="•"/>
            </a:pPr>
            <a:r>
              <a:rPr lang="en-US" b="true" sz="3700">
                <a:solidFill>
                  <a:srgbClr val="000000"/>
                </a:solidFill>
                <a:latin typeface="Public Sans Bold"/>
                <a:ea typeface="Public Sans Bold"/>
                <a:cs typeface="Public Sans Bold"/>
                <a:sym typeface="Public Sans Bold"/>
              </a:rPr>
              <a:t>Dữ liệu phân loại: </a:t>
            </a:r>
            <a:r>
              <a:rPr lang="en-US" sz="3700">
                <a:solidFill>
                  <a:srgbClr val="000000"/>
                </a:solidFill>
                <a:latin typeface="Public Sans"/>
                <a:ea typeface="Public Sans"/>
                <a:cs typeface="Public Sans"/>
                <a:sym typeface="Public Sans"/>
              </a:rPr>
              <a:t>Bar chart, Pie chart → thể hiện tỷ lệ hoặc</a:t>
            </a:r>
            <a:r>
              <a:rPr lang="en-US" sz="3700">
                <a:solidFill>
                  <a:srgbClr val="000000"/>
                </a:solidFill>
                <a:latin typeface="Public Sans"/>
                <a:ea typeface="Public Sans"/>
                <a:cs typeface="Public Sans"/>
                <a:sym typeface="Public Sans"/>
              </a:rPr>
              <a:t> tần suất.</a:t>
            </a:r>
          </a:p>
          <a:p>
            <a:pPr algn="l" marL="798838" indent="-399419" lvl="1">
              <a:lnSpc>
                <a:spcPts val="5180"/>
              </a:lnSpc>
              <a:buFont typeface="Arial"/>
              <a:buChar char="•"/>
            </a:pPr>
            <a:r>
              <a:rPr lang="en-US" b="true" sz="3700">
                <a:solidFill>
                  <a:srgbClr val="000000"/>
                </a:solidFill>
                <a:latin typeface="Public Sans Bold"/>
                <a:ea typeface="Public Sans Bold"/>
                <a:cs typeface="Public Sans Bold"/>
                <a:sym typeface="Public Sans Bold"/>
              </a:rPr>
              <a:t>Dữ</a:t>
            </a:r>
            <a:r>
              <a:rPr lang="en-US" b="true" sz="3700">
                <a:solidFill>
                  <a:srgbClr val="000000"/>
                </a:solidFill>
                <a:latin typeface="Public Sans Bold"/>
                <a:ea typeface="Public Sans Bold"/>
                <a:cs typeface="Public Sans Bold"/>
                <a:sym typeface="Public Sans Bold"/>
              </a:rPr>
              <a:t> liệu số liên tục: </a:t>
            </a:r>
            <a:r>
              <a:rPr lang="en-US" sz="3700">
                <a:solidFill>
                  <a:srgbClr val="000000"/>
                </a:solidFill>
                <a:latin typeface="Public Sans"/>
                <a:ea typeface="Public Sans"/>
                <a:cs typeface="Public Sans"/>
                <a:sym typeface="Public Sans"/>
              </a:rPr>
              <a:t>Histogram, Boxplot → mô tả phân bố, phát hiện ngoại lệ.</a:t>
            </a:r>
          </a:p>
          <a:p>
            <a:pPr algn="l" marL="798838" indent="-399419" lvl="1">
              <a:lnSpc>
                <a:spcPts val="5180"/>
              </a:lnSpc>
              <a:buFont typeface="Arial"/>
              <a:buChar char="•"/>
            </a:pPr>
            <a:r>
              <a:rPr lang="en-US" b="true" sz="3700">
                <a:solidFill>
                  <a:srgbClr val="000000"/>
                </a:solidFill>
                <a:latin typeface="Public Sans Bold"/>
                <a:ea typeface="Public Sans Bold"/>
                <a:cs typeface="Public Sans Bold"/>
                <a:sym typeface="Public Sans Bold"/>
              </a:rPr>
              <a:t>Hai biến số: </a:t>
            </a:r>
            <a:r>
              <a:rPr lang="en-US" sz="3700">
                <a:solidFill>
                  <a:srgbClr val="000000"/>
                </a:solidFill>
                <a:latin typeface="Public Sans"/>
                <a:ea typeface="Public Sans"/>
                <a:cs typeface="Public Sans"/>
                <a:sym typeface="Public Sans"/>
              </a:rPr>
              <a:t>Scatter plot → thể hiện mối quan hệ, tương quan.</a:t>
            </a:r>
          </a:p>
          <a:p>
            <a:pPr algn="l" marL="798838" indent="-399419" lvl="1">
              <a:lnSpc>
                <a:spcPts val="5180"/>
              </a:lnSpc>
              <a:buFont typeface="Arial"/>
              <a:buChar char="•"/>
            </a:pPr>
            <a:r>
              <a:rPr lang="en-US" b="true" sz="3700">
                <a:solidFill>
                  <a:srgbClr val="000000"/>
                </a:solidFill>
                <a:latin typeface="Public Sans Bold"/>
                <a:ea typeface="Public Sans Bold"/>
                <a:cs typeface="Public Sans Bold"/>
                <a:sym typeface="Public Sans Bold"/>
              </a:rPr>
              <a:t>Dữ liệu theo thời gian: </a:t>
            </a:r>
            <a:r>
              <a:rPr lang="en-US" sz="3700">
                <a:solidFill>
                  <a:srgbClr val="000000"/>
                </a:solidFill>
                <a:latin typeface="Public Sans"/>
                <a:ea typeface="Public Sans"/>
                <a:cs typeface="Public Sans"/>
                <a:sym typeface="Public Sans"/>
              </a:rPr>
              <a:t>Line chart → biểu diễn xu hướng, biến động.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952400" y="988777"/>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XỬ LÝ VÀ TRỰC QUAN HÓA DỮ LIỆU</a:t>
            </a:r>
          </a:p>
        </p:txBody>
      </p:sp>
      <p:sp>
        <p:nvSpPr>
          <p:cNvPr name="Freeform 5" id="5"/>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0" id="10"/>
          <p:cNvSpPr txBox="true"/>
          <p:nvPr/>
        </p:nvSpPr>
        <p:spPr>
          <a:xfrm rot="0">
            <a:off x="1508241" y="1986953"/>
            <a:ext cx="15271518" cy="7211694"/>
          </a:xfrm>
          <a:prstGeom prst="rect">
            <a:avLst/>
          </a:prstGeom>
        </p:spPr>
        <p:txBody>
          <a:bodyPr anchor="t" rtlCol="false" tIns="0" lIns="0" bIns="0" rIns="0">
            <a:spAutoFit/>
          </a:bodyPr>
          <a:lstStyle/>
          <a:p>
            <a:pPr algn="l">
              <a:lnSpc>
                <a:spcPts val="5180"/>
              </a:lnSpc>
            </a:pPr>
            <a:r>
              <a:rPr lang="en-US" sz="3700" b="true">
                <a:solidFill>
                  <a:srgbClr val="000000"/>
                </a:solidFill>
                <a:latin typeface="Public Sans Bold"/>
                <a:ea typeface="Public Sans Bold"/>
                <a:cs typeface="Public Sans Bold"/>
                <a:sym typeface="Public Sans Bold"/>
              </a:rPr>
              <a:t>So sánh các thư viện trực quan hóa trong Python:</a:t>
            </a:r>
          </a:p>
          <a:p>
            <a:pPr algn="l" marL="798838" indent="-399419" lvl="1">
              <a:lnSpc>
                <a:spcPts val="5180"/>
              </a:lnSpc>
              <a:buFont typeface="Arial"/>
              <a:buChar char="•"/>
            </a:pPr>
            <a:r>
              <a:rPr lang="en-US" b="true" sz="3700">
                <a:solidFill>
                  <a:srgbClr val="000000"/>
                </a:solidFill>
                <a:latin typeface="Public Sans Bold"/>
                <a:ea typeface="Public Sans Bold"/>
                <a:cs typeface="Public Sans Bold"/>
                <a:sym typeface="Public Sans Bold"/>
              </a:rPr>
              <a:t>Matplotlib:</a:t>
            </a:r>
          </a:p>
          <a:p>
            <a:pPr algn="l" marL="1597675" indent="-532558" lvl="2">
              <a:lnSpc>
                <a:spcPts val="5180"/>
              </a:lnSpc>
              <a:buFont typeface="Arial"/>
              <a:buChar char="⚬"/>
            </a:pPr>
            <a:r>
              <a:rPr lang="en-US" sz="3700">
                <a:solidFill>
                  <a:srgbClr val="000000"/>
                </a:solidFill>
                <a:latin typeface="Public Sans"/>
                <a:ea typeface="Public Sans"/>
                <a:cs typeface="Public Sans"/>
                <a:sym typeface="Public Sans"/>
              </a:rPr>
              <a:t>Cơ bản, mạnh mẽ, tùy chỉnh cao.</a:t>
            </a:r>
          </a:p>
          <a:p>
            <a:pPr algn="l" marL="1597675" indent="-532558" lvl="2">
              <a:lnSpc>
                <a:spcPts val="5180"/>
              </a:lnSpc>
              <a:spcBef>
                <a:spcPct val="0"/>
              </a:spcBef>
              <a:buFont typeface="Arial"/>
              <a:buChar char="⚬"/>
            </a:pPr>
            <a:r>
              <a:rPr lang="en-US" sz="3700">
                <a:solidFill>
                  <a:srgbClr val="000000"/>
                </a:solidFill>
                <a:latin typeface="Public Sans"/>
                <a:ea typeface="Public Sans"/>
                <a:cs typeface="Public Sans"/>
                <a:sym typeface="Public Sans"/>
              </a:rPr>
              <a:t>Phù hợp cho biểu đồ từ đơn giản đến phức</a:t>
            </a:r>
            <a:r>
              <a:rPr lang="en-US" sz="3700">
                <a:solidFill>
                  <a:srgbClr val="000000"/>
                </a:solidFill>
                <a:latin typeface="Public Sans"/>
                <a:ea typeface="Public Sans"/>
                <a:cs typeface="Public Sans"/>
                <a:sym typeface="Public Sans"/>
              </a:rPr>
              <a:t> tạp.</a:t>
            </a:r>
          </a:p>
          <a:p>
            <a:pPr algn="l" marL="1597675" indent="-532558" lvl="2">
              <a:lnSpc>
                <a:spcPts val="5180"/>
              </a:lnSpc>
              <a:buFont typeface="Arial"/>
              <a:buChar char="⚬"/>
            </a:pPr>
            <a:r>
              <a:rPr lang="en-US" sz="3700">
                <a:solidFill>
                  <a:srgbClr val="000000"/>
                </a:solidFill>
                <a:latin typeface="Public Sans"/>
                <a:ea typeface="Public Sans"/>
                <a:cs typeface="Public Sans"/>
                <a:sym typeface="Public Sans"/>
              </a:rPr>
              <a:t>Cần nhiều mã</a:t>
            </a:r>
            <a:r>
              <a:rPr lang="en-US" sz="3700">
                <a:solidFill>
                  <a:srgbClr val="000000"/>
                </a:solidFill>
                <a:latin typeface="Public Sans"/>
                <a:ea typeface="Public Sans"/>
                <a:cs typeface="Public Sans"/>
                <a:sym typeface="Public Sans"/>
              </a:rPr>
              <a:t> lệnh để định dạng.</a:t>
            </a:r>
          </a:p>
          <a:p>
            <a:pPr algn="l" marL="798838" indent="-399419" lvl="1">
              <a:lnSpc>
                <a:spcPts val="5180"/>
              </a:lnSpc>
              <a:buFont typeface="Arial"/>
              <a:buChar char="•"/>
            </a:pPr>
            <a:r>
              <a:rPr lang="en-US" b="true" sz="3700">
                <a:solidFill>
                  <a:srgbClr val="000000"/>
                </a:solidFill>
                <a:latin typeface="Public Sans Bold"/>
                <a:ea typeface="Public Sans Bold"/>
                <a:cs typeface="Public Sans Bold"/>
                <a:sym typeface="Public Sans Bold"/>
              </a:rPr>
              <a:t>Seaborn:</a:t>
            </a:r>
          </a:p>
          <a:p>
            <a:pPr algn="l" marL="1597675" indent="-532558" lvl="2">
              <a:lnSpc>
                <a:spcPts val="5180"/>
              </a:lnSpc>
              <a:buFont typeface="Arial"/>
              <a:buChar char="⚬"/>
            </a:pPr>
            <a:r>
              <a:rPr lang="en-US" sz="3700">
                <a:solidFill>
                  <a:srgbClr val="000000"/>
                </a:solidFill>
                <a:latin typeface="Public Sans"/>
                <a:ea typeface="Public Sans"/>
                <a:cs typeface="Public Sans"/>
                <a:sym typeface="Public Sans"/>
              </a:rPr>
              <a:t>Xây dựng trên Matplotlib, cú pháp đơn giản, thẩm mỹ cao.</a:t>
            </a:r>
          </a:p>
          <a:p>
            <a:pPr algn="l" marL="1597675" indent="-532558" lvl="2">
              <a:lnSpc>
                <a:spcPts val="5180"/>
              </a:lnSpc>
              <a:buFont typeface="Arial"/>
              <a:buChar char="⚬"/>
            </a:pPr>
            <a:r>
              <a:rPr lang="en-US" sz="3700">
                <a:solidFill>
                  <a:srgbClr val="000000"/>
                </a:solidFill>
                <a:latin typeface="Public Sans"/>
                <a:ea typeface="Public Sans"/>
                <a:cs typeface="Public Sans"/>
                <a:sym typeface="Public Sans"/>
              </a:rPr>
              <a:t>Hỗ trợ nhiều biểu đồ thống kê và tích hợp tốt với Pandas.</a:t>
            </a:r>
          </a:p>
          <a:p>
            <a:pPr algn="l" marL="798838" indent="-399419" lvl="1">
              <a:lnSpc>
                <a:spcPts val="5180"/>
              </a:lnSpc>
              <a:buFont typeface="Arial"/>
              <a:buChar char="•"/>
            </a:pPr>
            <a:r>
              <a:rPr lang="en-US" b="true" sz="3700">
                <a:solidFill>
                  <a:srgbClr val="000000"/>
                </a:solidFill>
                <a:latin typeface="Public Sans Bold"/>
                <a:ea typeface="Public Sans Bold"/>
                <a:cs typeface="Public Sans Bold"/>
                <a:sym typeface="Public Sans Bold"/>
              </a:rPr>
              <a:t>Plotly:</a:t>
            </a:r>
          </a:p>
          <a:p>
            <a:pPr algn="l" marL="1597675" indent="-532558" lvl="2">
              <a:lnSpc>
                <a:spcPts val="5180"/>
              </a:lnSpc>
              <a:buFont typeface="Arial"/>
              <a:buChar char="⚬"/>
            </a:pPr>
            <a:r>
              <a:rPr lang="en-US" sz="3700">
                <a:solidFill>
                  <a:srgbClr val="000000"/>
                </a:solidFill>
                <a:latin typeface="Public Sans"/>
                <a:ea typeface="Public Sans"/>
                <a:cs typeface="Public Sans"/>
                <a:sym typeface="Public Sans"/>
              </a:rPr>
              <a:t>Hỗ trợ biểu đồ tương tác (phóng to, xem chi tiết).</a:t>
            </a:r>
          </a:p>
          <a:p>
            <a:pPr algn="l" marL="1597675" indent="-532558" lvl="2">
              <a:lnSpc>
                <a:spcPts val="5180"/>
              </a:lnSpc>
              <a:buFont typeface="Arial"/>
              <a:buChar char="⚬"/>
            </a:pPr>
            <a:r>
              <a:rPr lang="en-US" sz="3700">
                <a:solidFill>
                  <a:srgbClr val="000000"/>
                </a:solidFill>
                <a:latin typeface="Public Sans"/>
                <a:ea typeface="Public Sans"/>
                <a:cs typeface="Public Sans"/>
                <a:sym typeface="Public Sans"/>
              </a:rPr>
              <a:t>Thích hợp cho báo cáo và dashboard trực tuyến.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952400" y="988777"/>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XỬ LÝ VÀ TRỰC QUAN HÓA DỮ LIỆU</a:t>
            </a:r>
          </a:p>
        </p:txBody>
      </p:sp>
      <p:sp>
        <p:nvSpPr>
          <p:cNvPr name="Freeform 5" id="5"/>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0" id="10"/>
          <p:cNvSpPr txBox="true"/>
          <p:nvPr/>
        </p:nvSpPr>
        <p:spPr>
          <a:xfrm rot="0">
            <a:off x="1508241" y="2402369"/>
            <a:ext cx="15271518" cy="5031484"/>
          </a:xfrm>
          <a:prstGeom prst="rect">
            <a:avLst/>
          </a:prstGeom>
        </p:spPr>
        <p:txBody>
          <a:bodyPr anchor="t" rtlCol="false" tIns="0" lIns="0" bIns="0" rIns="0">
            <a:spAutoFit/>
          </a:bodyPr>
          <a:lstStyle/>
          <a:p>
            <a:pPr algn="l">
              <a:lnSpc>
                <a:spcPts val="5772"/>
              </a:lnSpc>
            </a:pPr>
            <a:r>
              <a:rPr lang="en-US" sz="3700" b="true">
                <a:solidFill>
                  <a:srgbClr val="000000"/>
                </a:solidFill>
                <a:latin typeface="Public Sans Bold"/>
                <a:ea typeface="Public Sans Bold"/>
                <a:cs typeface="Public Sans Bold"/>
                <a:sym typeface="Public Sans Bold"/>
              </a:rPr>
              <a:t>Nguyên tắc thiết kế biểu đồ hiệu quả:</a:t>
            </a:r>
          </a:p>
          <a:p>
            <a:pPr algn="l" marL="798838" indent="-399419" lvl="1">
              <a:lnSpc>
                <a:spcPts val="5772"/>
              </a:lnSpc>
              <a:buFont typeface="Arial"/>
              <a:buChar char="•"/>
            </a:pPr>
            <a:r>
              <a:rPr lang="en-US" sz="3700">
                <a:solidFill>
                  <a:srgbClr val="000000"/>
                </a:solidFill>
                <a:latin typeface="Public Sans"/>
                <a:ea typeface="Public Sans"/>
                <a:cs typeface="Public Sans"/>
                <a:sym typeface="Public Sans"/>
              </a:rPr>
              <a:t>Rõ</a:t>
            </a:r>
            <a:r>
              <a:rPr lang="en-US" sz="3700">
                <a:solidFill>
                  <a:srgbClr val="000000"/>
                </a:solidFill>
                <a:latin typeface="Public Sans"/>
                <a:ea typeface="Public Sans"/>
                <a:cs typeface="Public Sans"/>
                <a:sym typeface="Public Sans"/>
              </a:rPr>
              <a:t> ràng, chính xác, dễ hiểu.</a:t>
            </a:r>
          </a:p>
          <a:p>
            <a:pPr algn="l" marL="798838" indent="-399419" lvl="1">
              <a:lnSpc>
                <a:spcPts val="5772"/>
              </a:lnSpc>
              <a:buFont typeface="Arial"/>
              <a:buChar char="•"/>
            </a:pPr>
            <a:r>
              <a:rPr lang="en-US" sz="3700">
                <a:solidFill>
                  <a:srgbClr val="000000"/>
                </a:solidFill>
                <a:latin typeface="Public Sans"/>
                <a:ea typeface="Public Sans"/>
                <a:cs typeface="Public Sans"/>
                <a:sym typeface="Public Sans"/>
              </a:rPr>
              <a:t>Tiêu đề và nhãn trục</a:t>
            </a:r>
            <a:r>
              <a:rPr lang="en-US" sz="3700">
                <a:solidFill>
                  <a:srgbClr val="000000"/>
                </a:solidFill>
                <a:latin typeface="Public Sans"/>
                <a:ea typeface="Public Sans"/>
                <a:cs typeface="Public Sans"/>
                <a:sym typeface="Public Sans"/>
              </a:rPr>
              <a:t> thể hi</a:t>
            </a:r>
            <a:r>
              <a:rPr lang="en-US" sz="3700">
                <a:solidFill>
                  <a:srgbClr val="000000"/>
                </a:solidFill>
                <a:latin typeface="Public Sans"/>
                <a:ea typeface="Public Sans"/>
                <a:cs typeface="Public Sans"/>
                <a:sym typeface="Public Sans"/>
              </a:rPr>
              <a:t>ện đúng nội dung.</a:t>
            </a:r>
          </a:p>
          <a:p>
            <a:pPr algn="l" marL="798838" indent="-399419" lvl="1">
              <a:lnSpc>
                <a:spcPts val="5772"/>
              </a:lnSpc>
              <a:buFont typeface="Arial"/>
              <a:buChar char="•"/>
            </a:pPr>
            <a:r>
              <a:rPr lang="en-US" sz="3700">
                <a:solidFill>
                  <a:srgbClr val="000000"/>
                </a:solidFill>
                <a:latin typeface="Public Sans"/>
                <a:ea typeface="Public Sans"/>
                <a:cs typeface="Public Sans"/>
                <a:sym typeface="Public Sans"/>
              </a:rPr>
              <a:t>Màu</a:t>
            </a:r>
            <a:r>
              <a:rPr lang="en-US" sz="3700">
                <a:solidFill>
                  <a:srgbClr val="000000"/>
                </a:solidFill>
                <a:latin typeface="Public Sans"/>
                <a:ea typeface="Public Sans"/>
                <a:cs typeface="Public Sans"/>
                <a:sym typeface="Public Sans"/>
              </a:rPr>
              <a:t> sắc hài hòa, tránh rối mắt.</a:t>
            </a:r>
          </a:p>
          <a:p>
            <a:pPr algn="l" marL="798838" indent="-399419" lvl="1">
              <a:lnSpc>
                <a:spcPts val="5772"/>
              </a:lnSpc>
              <a:buFont typeface="Arial"/>
              <a:buChar char="•"/>
            </a:pPr>
            <a:r>
              <a:rPr lang="en-US" sz="3700">
                <a:solidFill>
                  <a:srgbClr val="000000"/>
                </a:solidFill>
                <a:latin typeface="Public Sans"/>
                <a:ea typeface="Public Sans"/>
                <a:cs typeface="Public Sans"/>
                <a:sym typeface="Public Sans"/>
              </a:rPr>
              <a:t>Tỷ lệ</a:t>
            </a:r>
            <a:r>
              <a:rPr lang="en-US" sz="3700">
                <a:solidFill>
                  <a:srgbClr val="000000"/>
                </a:solidFill>
                <a:latin typeface="Public Sans"/>
                <a:ea typeface="Public Sans"/>
                <a:cs typeface="Public Sans"/>
                <a:sym typeface="Public Sans"/>
              </a:rPr>
              <a:t> trục chuẩn xác, không gây hiểu sai.</a:t>
            </a:r>
          </a:p>
          <a:p>
            <a:pPr algn="l" marL="798838" indent="-399419" lvl="1">
              <a:lnSpc>
                <a:spcPts val="5772"/>
              </a:lnSpc>
              <a:buFont typeface="Arial"/>
              <a:buChar char="•"/>
            </a:pPr>
            <a:r>
              <a:rPr lang="en-US" sz="3700">
                <a:solidFill>
                  <a:srgbClr val="000000"/>
                </a:solidFill>
                <a:latin typeface="Public Sans"/>
                <a:ea typeface="Public Sans"/>
                <a:cs typeface="Public Sans"/>
                <a:sym typeface="Public Sans"/>
              </a:rPr>
              <a:t>Có chú thích (legend) rõ ràng.</a:t>
            </a:r>
          </a:p>
          <a:p>
            <a:pPr algn="l" marL="798838" indent="-399419" lvl="1">
              <a:lnSpc>
                <a:spcPts val="5772"/>
              </a:lnSpc>
              <a:buFont typeface="Arial"/>
              <a:buChar char="•"/>
            </a:pPr>
            <a:r>
              <a:rPr lang="en-US" sz="3700">
                <a:solidFill>
                  <a:srgbClr val="000000"/>
                </a:solidFill>
                <a:latin typeface="Public Sans"/>
                <a:ea typeface="Public Sans"/>
                <a:cs typeface="Public Sans"/>
                <a:sym typeface="Public Sans"/>
              </a:rPr>
              <a:t>T</a:t>
            </a:r>
            <a:r>
              <a:rPr lang="en-US" sz="3700">
                <a:solidFill>
                  <a:srgbClr val="000000"/>
                </a:solidFill>
                <a:latin typeface="Public Sans"/>
                <a:ea typeface="Public Sans"/>
                <a:cs typeface="Public Sans"/>
                <a:sym typeface="Public Sans"/>
              </a:rPr>
              <a:t>rình bày đủ thông tin, giúp người xem rút ra kết luận nhanh.</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9" id="9"/>
          <p:cNvSpPr txBox="true"/>
          <p:nvPr/>
        </p:nvSpPr>
        <p:spPr>
          <a:xfrm rot="0">
            <a:off x="6300729" y="2405235"/>
            <a:ext cx="5812492"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BÀI THỰC HÀNH 1</a:t>
            </a:r>
          </a:p>
        </p:txBody>
      </p:sp>
      <p:sp>
        <p:nvSpPr>
          <p:cNvPr name="TextBox 10" id="10"/>
          <p:cNvSpPr txBox="true"/>
          <p:nvPr/>
        </p:nvSpPr>
        <p:spPr>
          <a:xfrm rot="0">
            <a:off x="1606822" y="3541885"/>
            <a:ext cx="15074356" cy="1717674"/>
          </a:xfrm>
          <a:prstGeom prst="rect">
            <a:avLst/>
          </a:prstGeom>
        </p:spPr>
        <p:txBody>
          <a:bodyPr anchor="t" rtlCol="false" tIns="0" lIns="0" bIns="0" rIns="0">
            <a:spAutoFit/>
          </a:bodyPr>
          <a:lstStyle/>
          <a:p>
            <a:pPr algn="l">
              <a:lnSpc>
                <a:spcPts val="4550"/>
              </a:lnSpc>
            </a:pPr>
            <a:r>
              <a:rPr lang="en-US" sz="3500">
                <a:solidFill>
                  <a:srgbClr val="000000"/>
                </a:solidFill>
                <a:latin typeface="Public Sans"/>
                <a:ea typeface="Public Sans"/>
                <a:cs typeface="Public Sans"/>
                <a:sym typeface="Public Sans"/>
              </a:rPr>
              <a:t>Thực hiện trực quan hóa dữ liệu trên tập dữ liệu về phân loại chất lượng rượu đỏ. Dữ liệu lấy tại </a:t>
            </a:r>
            <a:r>
              <a:rPr lang="en-US" sz="3500" u="none">
                <a:solidFill>
                  <a:srgbClr val="000000"/>
                </a:solidFill>
                <a:latin typeface="Public Sans"/>
                <a:ea typeface="Public Sans"/>
                <a:cs typeface="Public Sans"/>
                <a:sym typeface="Public Sans"/>
              </a:rPr>
              <a:t>https://www.kaggle.com/code/</a:t>
            </a:r>
            <a:r>
              <a:rPr lang="en-US" sz="3500">
                <a:solidFill>
                  <a:srgbClr val="000000"/>
                </a:solidFill>
                <a:latin typeface="Public Sans"/>
                <a:ea typeface="Public Sans"/>
                <a:cs typeface="Public Sans"/>
                <a:sym typeface="Public Sans"/>
              </a:rPr>
              <a:t>e</a:t>
            </a:r>
            <a:r>
              <a:rPr lang="en-US" sz="3500" u="none">
                <a:solidFill>
                  <a:srgbClr val="000000"/>
                </a:solidFill>
                <a:latin typeface="Public Sans"/>
                <a:ea typeface="Public Sans"/>
                <a:cs typeface="Public Sans"/>
                <a:sym typeface="Public Sans"/>
              </a:rPr>
              <a:t>i</a:t>
            </a:r>
            <a:r>
              <a:rPr lang="en-US" sz="3500">
                <a:solidFill>
                  <a:srgbClr val="000000"/>
                </a:solidFill>
                <a:latin typeface="Public Sans"/>
                <a:ea typeface="Public Sans"/>
                <a:cs typeface="Public Sans"/>
                <a:sym typeface="Public Sans"/>
              </a:rPr>
              <a:t>s</a:t>
            </a:r>
            <a:r>
              <a:rPr lang="en-US" sz="3500" u="none">
                <a:solidFill>
                  <a:srgbClr val="000000"/>
                </a:solidFill>
                <a:latin typeface="Public Sans"/>
                <a:ea typeface="Public Sans"/>
                <a:cs typeface="Public Sans"/>
                <a:sym typeface="Public Sans"/>
              </a:rPr>
              <a:t>ganda</a:t>
            </a:r>
            <a:r>
              <a:rPr lang="en-US" sz="3500">
                <a:solidFill>
                  <a:srgbClr val="000000"/>
                </a:solidFill>
                <a:latin typeface="Public Sans"/>
                <a:ea typeface="Public Sans"/>
                <a:cs typeface="Public Sans"/>
                <a:sym typeface="Public Sans"/>
              </a:rPr>
              <a:t>r/re</a:t>
            </a:r>
            <a:r>
              <a:rPr lang="en-US" sz="3500" u="none">
                <a:solidFill>
                  <a:srgbClr val="000000"/>
                </a:solidFill>
                <a:latin typeface="Public Sans"/>
                <a:ea typeface="Public Sans"/>
                <a:cs typeface="Public Sans"/>
                <a:sym typeface="Public Sans"/>
              </a:rPr>
              <a:t>d</a:t>
            </a:r>
            <a:r>
              <a:rPr lang="en-US" sz="3500">
                <a:solidFill>
                  <a:srgbClr val="000000"/>
                </a:solidFill>
                <a:latin typeface="Public Sans"/>
                <a:ea typeface="Public Sans"/>
                <a:cs typeface="Public Sans"/>
                <a:sym typeface="Public Sans"/>
              </a:rPr>
              <a:t>-w</a:t>
            </a:r>
            <a:r>
              <a:rPr lang="en-US" sz="3500" u="none">
                <a:solidFill>
                  <a:srgbClr val="000000"/>
                </a:solidFill>
                <a:latin typeface="Public Sans"/>
                <a:ea typeface="Public Sans"/>
                <a:cs typeface="Public Sans"/>
                <a:sym typeface="Public Sans"/>
              </a:rPr>
              <a:t>i</a:t>
            </a:r>
            <a:r>
              <a:rPr lang="en-US" sz="3500">
                <a:solidFill>
                  <a:srgbClr val="000000"/>
                </a:solidFill>
                <a:latin typeface="Public Sans"/>
                <a:ea typeface="Public Sans"/>
                <a:cs typeface="Public Sans"/>
                <a:sym typeface="Public Sans"/>
              </a:rPr>
              <a:t>n</a:t>
            </a:r>
            <a:r>
              <a:rPr lang="en-US" sz="3500" u="none">
                <a:solidFill>
                  <a:srgbClr val="000000"/>
                </a:solidFill>
                <a:latin typeface="Public Sans"/>
                <a:ea typeface="Public Sans"/>
                <a:cs typeface="Public Sans"/>
                <a:sym typeface="Public Sans"/>
              </a:rPr>
              <a:t>e</a:t>
            </a:r>
            <a:r>
              <a:rPr lang="en-US" sz="3500">
                <a:solidFill>
                  <a:srgbClr val="000000"/>
                </a:solidFill>
                <a:latin typeface="Public Sans"/>
                <a:ea typeface="Public Sans"/>
                <a:cs typeface="Public Sans"/>
                <a:sym typeface="Public Sans"/>
              </a:rPr>
              <a:t>-quali</a:t>
            </a:r>
            <a:r>
              <a:rPr lang="en-US" sz="3500" u="none">
                <a:solidFill>
                  <a:srgbClr val="000000"/>
                </a:solidFill>
                <a:latin typeface="Public Sans"/>
                <a:ea typeface="Public Sans"/>
                <a:cs typeface="Public Sans"/>
                <a:sym typeface="Public Sans"/>
              </a:rPr>
              <a:t>t</a:t>
            </a:r>
            <a:r>
              <a:rPr lang="en-US" sz="3500">
                <a:solidFill>
                  <a:srgbClr val="000000"/>
                </a:solidFill>
                <a:latin typeface="Public Sans"/>
                <a:ea typeface="Public Sans"/>
                <a:cs typeface="Public Sans"/>
                <a:sym typeface="Public Sans"/>
              </a:rPr>
              <a:t>y</a:t>
            </a:r>
            <a:r>
              <a:rPr lang="en-US" sz="3500" u="none">
                <a:solidFill>
                  <a:srgbClr val="000000"/>
                </a:solidFill>
                <a:latin typeface="Public Sans"/>
                <a:ea typeface="Public Sans"/>
                <a:cs typeface="Public Sans"/>
                <a:sym typeface="Public Sans"/>
              </a:rPr>
              <a:t>-eda-</a:t>
            </a:r>
            <a:r>
              <a:rPr lang="en-US" sz="3500">
                <a:solidFill>
                  <a:srgbClr val="000000"/>
                </a:solidFill>
                <a:latin typeface="Public Sans"/>
                <a:ea typeface="Public Sans"/>
                <a:cs typeface="Public Sans"/>
                <a:sym typeface="Public Sans"/>
              </a:rPr>
              <a:t>classif</a:t>
            </a:r>
            <a:r>
              <a:rPr lang="en-US" sz="3500" u="none">
                <a:solidFill>
                  <a:srgbClr val="000000"/>
                </a:solidFill>
                <a:latin typeface="Public Sans"/>
                <a:ea typeface="Public Sans"/>
                <a:cs typeface="Public Sans"/>
                <a:sym typeface="Public Sans"/>
              </a:rPr>
              <a:t>ic</a:t>
            </a:r>
            <a:r>
              <a:rPr lang="en-US" sz="3500">
                <a:solidFill>
                  <a:srgbClr val="000000"/>
                </a:solidFill>
                <a:latin typeface="Public Sans"/>
                <a:ea typeface="Public Sans"/>
                <a:cs typeface="Public Sans"/>
                <a:sym typeface="Public Sans"/>
              </a:rPr>
              <a:t>a</a:t>
            </a:r>
            <a:r>
              <a:rPr lang="en-US" sz="3500" u="none">
                <a:solidFill>
                  <a:srgbClr val="000000"/>
                </a:solidFill>
                <a:latin typeface="Public Sans"/>
                <a:ea typeface="Public Sans"/>
                <a:cs typeface="Public Sans"/>
                <a:sym typeface="Public Sans"/>
              </a:rPr>
              <a:t>tion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9" id="9"/>
          <p:cNvSpPr txBox="true"/>
          <p:nvPr/>
        </p:nvSpPr>
        <p:spPr>
          <a:xfrm rot="0">
            <a:off x="6300729" y="2405235"/>
            <a:ext cx="5812492"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BÀI THỰC HÀNH 2</a:t>
            </a:r>
          </a:p>
        </p:txBody>
      </p:sp>
      <p:sp>
        <p:nvSpPr>
          <p:cNvPr name="TextBox 10" id="10"/>
          <p:cNvSpPr txBox="true"/>
          <p:nvPr/>
        </p:nvSpPr>
        <p:spPr>
          <a:xfrm rot="0">
            <a:off x="1606822" y="3541885"/>
            <a:ext cx="15074356" cy="2860674"/>
          </a:xfrm>
          <a:prstGeom prst="rect">
            <a:avLst/>
          </a:prstGeom>
        </p:spPr>
        <p:txBody>
          <a:bodyPr anchor="t" rtlCol="false" tIns="0" lIns="0" bIns="0" rIns="0">
            <a:spAutoFit/>
          </a:bodyPr>
          <a:lstStyle/>
          <a:p>
            <a:pPr algn="l">
              <a:lnSpc>
                <a:spcPts val="4550"/>
              </a:lnSpc>
            </a:pPr>
            <a:r>
              <a:rPr lang="en-US" sz="3500">
                <a:solidFill>
                  <a:srgbClr val="000000"/>
                </a:solidFill>
                <a:latin typeface="Public Sans"/>
                <a:ea typeface="Public Sans"/>
                <a:cs typeface="Public Sans"/>
                <a:sym typeface="Public Sans"/>
              </a:rPr>
              <a:t>+ Thực hiện trực quan hóa dữ liệu trên tập dữ liệu về bệnh tiểu đường. Dữ liệu lấy tại </a:t>
            </a:r>
            <a:r>
              <a:rPr lang="en-US" sz="3500" u="none">
                <a:solidFill>
                  <a:srgbClr val="000000"/>
                </a:solidFill>
                <a:latin typeface="Public Sans"/>
                <a:ea typeface="Public Sans"/>
                <a:cs typeface="Public Sans"/>
                <a:sym typeface="Public Sans"/>
              </a:rPr>
              <a:t>https://www.kaggle.com/code/vinc</a:t>
            </a:r>
            <a:r>
              <a:rPr lang="en-US" sz="3500">
                <a:solidFill>
                  <a:srgbClr val="000000"/>
                </a:solidFill>
                <a:latin typeface="Public Sans"/>
                <a:ea typeface="Public Sans"/>
                <a:cs typeface="Public Sans"/>
                <a:sym typeface="Public Sans"/>
              </a:rPr>
              <a:t>entlu</a:t>
            </a:r>
            <a:r>
              <a:rPr lang="en-US" sz="3500" u="none">
                <a:solidFill>
                  <a:srgbClr val="000000"/>
                </a:solidFill>
                <a:latin typeface="Public Sans"/>
                <a:ea typeface="Public Sans"/>
                <a:cs typeface="Public Sans"/>
                <a:sym typeface="Public Sans"/>
              </a:rPr>
              <a:t>gat/pima-indians-di</a:t>
            </a:r>
            <a:r>
              <a:rPr lang="en-US" sz="3500">
                <a:solidFill>
                  <a:srgbClr val="000000"/>
                </a:solidFill>
                <a:latin typeface="Public Sans"/>
                <a:ea typeface="Public Sans"/>
                <a:cs typeface="Public Sans"/>
                <a:sym typeface="Public Sans"/>
              </a:rPr>
              <a:t>abe</a:t>
            </a:r>
            <a:r>
              <a:rPr lang="en-US" sz="3500" u="none">
                <a:solidFill>
                  <a:srgbClr val="000000"/>
                </a:solidFill>
                <a:latin typeface="Public Sans"/>
                <a:ea typeface="Public Sans"/>
                <a:cs typeface="Public Sans"/>
                <a:sym typeface="Public Sans"/>
              </a:rPr>
              <a:t>tes-eda-predi</a:t>
            </a:r>
            <a:r>
              <a:rPr lang="en-US" sz="3500">
                <a:solidFill>
                  <a:srgbClr val="000000"/>
                </a:solidFill>
                <a:latin typeface="Public Sans"/>
                <a:ea typeface="Public Sans"/>
                <a:cs typeface="Public Sans"/>
                <a:sym typeface="Public Sans"/>
              </a:rPr>
              <a:t>ction-0-906</a:t>
            </a:r>
          </a:p>
          <a:p>
            <a:pPr algn="l">
              <a:lnSpc>
                <a:spcPts val="4550"/>
              </a:lnSpc>
            </a:pPr>
            <a:r>
              <a:rPr lang="en-US" sz="3500">
                <a:solidFill>
                  <a:srgbClr val="000000"/>
                </a:solidFill>
                <a:latin typeface="Public Sans"/>
                <a:ea typeface="Public Sans"/>
                <a:cs typeface="Public Sans"/>
                <a:sym typeface="Public Sans"/>
              </a:rPr>
              <a:t>+ Thực hiện EDA trên tập dữ liệu mua sắm tại siêu thị. Tập dữ l</a:t>
            </a:r>
            <a:r>
              <a:rPr lang="en-US" sz="3500" u="none">
                <a:solidFill>
                  <a:srgbClr val="000000"/>
                </a:solidFill>
                <a:latin typeface="Public Sans"/>
                <a:ea typeface="Public Sans"/>
                <a:cs typeface="Public Sans"/>
                <a:sym typeface="Public Sans"/>
              </a:rPr>
              <a:t>iệu lấy từ</a:t>
            </a:r>
          </a:p>
          <a:p>
            <a:pPr algn="l">
              <a:lnSpc>
                <a:spcPts val="4550"/>
              </a:lnSpc>
            </a:pPr>
            <a:r>
              <a:rPr lang="en-US" sz="3500" u="none">
                <a:solidFill>
                  <a:srgbClr val="000000"/>
                </a:solidFill>
                <a:latin typeface="Public Sans"/>
                <a:ea typeface="Public Sans"/>
                <a:cs typeface="Public Sans"/>
                <a:sym typeface="Public Sans"/>
              </a:rPr>
              <a:t>https://www.kaggle.com/code/raj</a:t>
            </a:r>
            <a:r>
              <a:rPr lang="en-US" sz="3500">
                <a:solidFill>
                  <a:srgbClr val="000000"/>
                </a:solidFill>
                <a:latin typeface="Public Sans"/>
                <a:ea typeface="Public Sans"/>
                <a:cs typeface="Public Sans"/>
                <a:sym typeface="Public Sans"/>
              </a:rPr>
              <a:t>a</a:t>
            </a:r>
            <a:r>
              <a:rPr lang="en-US" sz="3500" u="none">
                <a:solidFill>
                  <a:srgbClr val="000000"/>
                </a:solidFill>
                <a:latin typeface="Public Sans"/>
                <a:ea typeface="Public Sans"/>
                <a:cs typeface="Public Sans"/>
                <a:sym typeface="Public Sans"/>
              </a:rPr>
              <a:t>tkumar30/eda-online-retail</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952400" y="1133475"/>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PHÂN TÍCH ĐƠN BIẾN VÀ HAI BIẾN</a:t>
            </a:r>
          </a:p>
        </p:txBody>
      </p:sp>
      <p:sp>
        <p:nvSpPr>
          <p:cNvPr name="Freeform 4" id="4"/>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0" id="10"/>
          <p:cNvSpPr txBox="true"/>
          <p:nvPr/>
        </p:nvSpPr>
        <p:spPr>
          <a:xfrm rot="0">
            <a:off x="558995" y="2197253"/>
            <a:ext cx="17170011" cy="6202935"/>
          </a:xfrm>
          <a:prstGeom prst="rect">
            <a:avLst/>
          </a:prstGeom>
        </p:spPr>
        <p:txBody>
          <a:bodyPr anchor="t" rtlCol="false" tIns="0" lIns="0" bIns="0" rIns="0">
            <a:spAutoFit/>
          </a:bodyPr>
          <a:lstStyle/>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Phân tích đơn biến</a:t>
            </a:r>
            <a:r>
              <a:rPr lang="en-US" sz="3713">
                <a:solidFill>
                  <a:srgbClr val="000000"/>
                </a:solidFill>
                <a:latin typeface="Public Sans"/>
                <a:ea typeface="Public Sans"/>
                <a:cs typeface="Public Sans"/>
                <a:sym typeface="Public Sans"/>
              </a:rPr>
              <a:t>: Xem xét đặc điểm của một biến duy nhất bằng các thước đo như trung bình, trung vị, mode, độ lệch chuẩn, histogram, boxplot.</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Phân tích hai biến</a:t>
            </a:r>
            <a:r>
              <a:rPr lang="en-US" sz="3713">
                <a:solidFill>
                  <a:srgbClr val="000000"/>
                </a:solidFill>
                <a:latin typeface="Public Sans"/>
                <a:ea typeface="Public Sans"/>
                <a:cs typeface="Public Sans"/>
                <a:sym typeface="Public Sans"/>
              </a:rPr>
              <a:t>: Nghiên cứu mối quan hệ giữa hai biến thông qua tương quan, scatter plot, hoặc phân tích nhân quả.</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Khác biệt</a:t>
            </a:r>
            <a:r>
              <a:rPr lang="en-US" sz="3713">
                <a:solidFill>
                  <a:srgbClr val="000000"/>
                </a:solidFill>
                <a:latin typeface="Public Sans"/>
                <a:ea typeface="Public Sans"/>
                <a:cs typeface="Public Sans"/>
                <a:sym typeface="Public Sans"/>
              </a:rPr>
              <a:t>:</a:t>
            </a:r>
          </a:p>
          <a:p>
            <a:pPr algn="l" marL="1603287" indent="-534429" lvl="2">
              <a:lnSpc>
                <a:spcPts val="6163"/>
              </a:lnSpc>
              <a:buFont typeface="Arial"/>
              <a:buChar char="⚬"/>
            </a:pPr>
            <a:r>
              <a:rPr lang="en-US" b="true" sz="3713">
                <a:solidFill>
                  <a:srgbClr val="000000"/>
                </a:solidFill>
                <a:latin typeface="Public Sans Bold"/>
                <a:ea typeface="Public Sans Bold"/>
                <a:cs typeface="Public Sans Bold"/>
                <a:sym typeface="Public Sans Bold"/>
              </a:rPr>
              <a:t>Đơn biến</a:t>
            </a:r>
            <a:r>
              <a:rPr lang="en-US" sz="3713">
                <a:solidFill>
                  <a:srgbClr val="000000"/>
                </a:solidFill>
                <a:latin typeface="Public Sans"/>
                <a:ea typeface="Public Sans"/>
                <a:cs typeface="Public Sans"/>
                <a:sym typeface="Public Sans"/>
              </a:rPr>
              <a:t>: Tập trung vào một biến riêng lẻ.</a:t>
            </a:r>
          </a:p>
          <a:p>
            <a:pPr algn="l" marL="1603287" indent="-534429" lvl="2">
              <a:lnSpc>
                <a:spcPts val="6163"/>
              </a:lnSpc>
              <a:buFont typeface="Arial"/>
              <a:buChar char="⚬"/>
            </a:pPr>
            <a:r>
              <a:rPr lang="en-US" b="true" sz="3713">
                <a:solidFill>
                  <a:srgbClr val="000000"/>
                </a:solidFill>
                <a:latin typeface="Public Sans Bold"/>
                <a:ea typeface="Public Sans Bold"/>
                <a:cs typeface="Public Sans Bold"/>
                <a:sym typeface="Public Sans Bold"/>
              </a:rPr>
              <a:t>Hai biến</a:t>
            </a:r>
            <a:r>
              <a:rPr lang="en-US" sz="3713">
                <a:solidFill>
                  <a:srgbClr val="000000"/>
                </a:solidFill>
                <a:latin typeface="Public Sans"/>
                <a:ea typeface="Public Sans"/>
                <a:cs typeface="Public Sans"/>
                <a:sym typeface="Public Sans"/>
              </a:rPr>
              <a:t>: Tập trung vào mối liên hệ giữa hai biến (ví dụ: biến độc lập và biến mục tiêu).</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952400" y="1133475"/>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PHÂN TÍCH ĐƠN BIẾN VÀ HAI BIẾN</a:t>
            </a:r>
          </a:p>
        </p:txBody>
      </p:sp>
      <p:sp>
        <p:nvSpPr>
          <p:cNvPr name="Freeform 4" id="4"/>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0" id="10"/>
          <p:cNvSpPr txBox="true"/>
          <p:nvPr/>
        </p:nvSpPr>
        <p:spPr>
          <a:xfrm rot="0">
            <a:off x="558995" y="2197253"/>
            <a:ext cx="17170011" cy="5421885"/>
          </a:xfrm>
          <a:prstGeom prst="rect">
            <a:avLst/>
          </a:prstGeom>
        </p:spPr>
        <p:txBody>
          <a:bodyPr anchor="t" rtlCol="false" tIns="0" lIns="0" bIns="0" rIns="0">
            <a:spAutoFit/>
          </a:bodyPr>
          <a:lstStyle/>
          <a:p>
            <a:pPr algn="l">
              <a:lnSpc>
                <a:spcPts val="6163"/>
              </a:lnSpc>
            </a:pPr>
            <a:r>
              <a:rPr lang="en-US" sz="3713">
                <a:solidFill>
                  <a:srgbClr val="000000"/>
                </a:solidFill>
                <a:latin typeface="Public Sans"/>
                <a:ea typeface="Public Sans"/>
                <a:cs typeface="Public Sans"/>
                <a:sym typeface="Public Sans"/>
              </a:rPr>
              <a:t>Các thước đo thống kê trong p</a:t>
            </a:r>
            <a:r>
              <a:rPr lang="en-US" sz="3713">
                <a:solidFill>
                  <a:srgbClr val="000000"/>
                </a:solidFill>
                <a:latin typeface="Public Sans"/>
                <a:ea typeface="Public Sans"/>
                <a:cs typeface="Public Sans"/>
                <a:sym typeface="Public Sans"/>
              </a:rPr>
              <a:t>hân tích đơn biến:</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Trung bình (Mean):</a:t>
            </a:r>
            <a:r>
              <a:rPr lang="en-US" sz="3713">
                <a:solidFill>
                  <a:srgbClr val="000000"/>
                </a:solidFill>
                <a:latin typeface="Public Sans"/>
                <a:ea typeface="Public Sans"/>
                <a:cs typeface="Public Sans"/>
                <a:sym typeface="Public Sans"/>
              </a:rPr>
              <a:t> Giá trị đại diện cho xu hướng trung tâm.</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Trung vị (Median)</a:t>
            </a:r>
            <a:r>
              <a:rPr lang="en-US" sz="3713">
                <a:solidFill>
                  <a:srgbClr val="000000"/>
                </a:solidFill>
                <a:latin typeface="Public Sans"/>
                <a:ea typeface="Public Sans"/>
                <a:cs typeface="Public Sans"/>
                <a:sym typeface="Public Sans"/>
              </a:rPr>
              <a:t>: Giá trị giữa của dữ liệu, ít bị ảnh hưởng bởi outliers.</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Mode</a:t>
            </a:r>
            <a:r>
              <a:rPr lang="en-US" sz="3713">
                <a:solidFill>
                  <a:srgbClr val="000000"/>
                </a:solidFill>
                <a:latin typeface="Public Sans"/>
                <a:ea typeface="Public Sans"/>
                <a:cs typeface="Public Sans"/>
                <a:sym typeface="Public Sans"/>
              </a:rPr>
              <a:t>: Giá trị xuất hiện nhiều nhất.</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Độ lệch chuẩn (Standard Deviation)</a:t>
            </a:r>
            <a:r>
              <a:rPr lang="en-US" sz="3713">
                <a:solidFill>
                  <a:srgbClr val="000000"/>
                </a:solidFill>
                <a:latin typeface="Public Sans"/>
                <a:ea typeface="Public Sans"/>
                <a:cs typeface="Public Sans"/>
                <a:sym typeface="Public Sans"/>
              </a:rPr>
              <a:t>: Đo mức độ phân tán quanh trung bình.</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Phạm vi (Range), Q1, Q3, IQR</a:t>
            </a:r>
            <a:r>
              <a:rPr lang="en-US" sz="3713">
                <a:solidFill>
                  <a:srgbClr val="000000"/>
                </a:solidFill>
                <a:latin typeface="Public Sans"/>
                <a:ea typeface="Public Sans"/>
                <a:cs typeface="Public Sans"/>
                <a:sym typeface="Public Sans"/>
              </a:rPr>
              <a:t>: Đánh giá độ rộng và mức độ phân bố dữ liệu.</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B</a:t>
            </a:r>
            <a:r>
              <a:rPr lang="en-US" b="true" sz="3713">
                <a:solidFill>
                  <a:srgbClr val="000000"/>
                </a:solidFill>
                <a:latin typeface="Public Sans Bold"/>
                <a:ea typeface="Public Sans Bold"/>
                <a:cs typeface="Public Sans Bold"/>
                <a:sym typeface="Public Sans Bold"/>
              </a:rPr>
              <a:t>iểu đồ</a:t>
            </a:r>
            <a:r>
              <a:rPr lang="en-US" sz="3713">
                <a:solidFill>
                  <a:srgbClr val="000000"/>
                </a:solidFill>
                <a:latin typeface="Public Sans"/>
                <a:ea typeface="Public Sans"/>
                <a:cs typeface="Public Sans"/>
                <a:sym typeface="Public Sans"/>
              </a:rPr>
              <a:t>: Histogram, Boxplot → trực quan hóa phân bố &amp; phát hiện outliers.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952400" y="1133475"/>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PHÂN TÍCH ĐƠN BIẾN VÀ HAI BIẾN</a:t>
            </a:r>
          </a:p>
        </p:txBody>
      </p:sp>
      <p:sp>
        <p:nvSpPr>
          <p:cNvPr name="Freeform 4" id="4"/>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0" id="10"/>
          <p:cNvSpPr txBox="true"/>
          <p:nvPr/>
        </p:nvSpPr>
        <p:spPr>
          <a:xfrm rot="0">
            <a:off x="558995" y="2264551"/>
            <a:ext cx="17170011" cy="5421885"/>
          </a:xfrm>
          <a:prstGeom prst="rect">
            <a:avLst/>
          </a:prstGeom>
        </p:spPr>
        <p:txBody>
          <a:bodyPr anchor="t" rtlCol="false" tIns="0" lIns="0" bIns="0" rIns="0">
            <a:spAutoFit/>
          </a:bodyPr>
          <a:lstStyle/>
          <a:p>
            <a:pPr algn="l">
              <a:lnSpc>
                <a:spcPts val="6163"/>
              </a:lnSpc>
            </a:pPr>
            <a:r>
              <a:rPr lang="en-US" sz="3713" b="true">
                <a:solidFill>
                  <a:srgbClr val="000000"/>
                </a:solidFill>
                <a:latin typeface="Public Sans Bold"/>
                <a:ea typeface="Public Sans Bold"/>
                <a:cs typeface="Public Sans Bold"/>
                <a:sym typeface="Public Sans Bold"/>
              </a:rPr>
              <a:t>Trong p</a:t>
            </a:r>
            <a:r>
              <a:rPr lang="en-US" b="true" sz="3713">
                <a:solidFill>
                  <a:srgbClr val="000000"/>
                </a:solidFill>
                <a:latin typeface="Public Sans Bold"/>
                <a:ea typeface="Public Sans Bold"/>
                <a:cs typeface="Public Sans Bold"/>
                <a:sym typeface="Public Sans Bold"/>
              </a:rPr>
              <a:t>hân tích hai biến, để xác định mối quan hệ giữa hai biến:</a:t>
            </a:r>
          </a:p>
          <a:p>
            <a:pPr algn="l" marL="801644" indent="-400822" lvl="1">
              <a:lnSpc>
                <a:spcPts val="6163"/>
              </a:lnSpc>
              <a:buFont typeface="Arial"/>
              <a:buChar char="•"/>
            </a:pPr>
            <a:r>
              <a:rPr lang="en-US" sz="3713">
                <a:solidFill>
                  <a:srgbClr val="000000"/>
                </a:solidFill>
                <a:latin typeface="Public Sans"/>
                <a:ea typeface="Public Sans"/>
                <a:cs typeface="Public Sans"/>
                <a:sym typeface="Public Sans"/>
              </a:rPr>
              <a:t>Tính hệ số tương</a:t>
            </a:r>
            <a:r>
              <a:rPr lang="en-US" sz="3713">
                <a:solidFill>
                  <a:srgbClr val="000000"/>
                </a:solidFill>
                <a:latin typeface="Public Sans"/>
                <a:ea typeface="Public Sans"/>
                <a:cs typeface="Public Sans"/>
                <a:sym typeface="Public Sans"/>
              </a:rPr>
              <a:t> </a:t>
            </a:r>
            <a:r>
              <a:rPr lang="en-US" sz="3713">
                <a:solidFill>
                  <a:srgbClr val="000000"/>
                </a:solidFill>
                <a:latin typeface="Public Sans"/>
                <a:ea typeface="Public Sans"/>
                <a:cs typeface="Public Sans"/>
                <a:sym typeface="Public Sans"/>
              </a:rPr>
              <a:t>q</a:t>
            </a:r>
            <a:r>
              <a:rPr lang="en-US" sz="3713">
                <a:solidFill>
                  <a:srgbClr val="000000"/>
                </a:solidFill>
                <a:latin typeface="Public Sans"/>
                <a:ea typeface="Public Sans"/>
                <a:cs typeface="Public Sans"/>
                <a:sym typeface="Public Sans"/>
              </a:rPr>
              <a:t>u</a:t>
            </a:r>
            <a:r>
              <a:rPr lang="en-US" sz="3713">
                <a:solidFill>
                  <a:srgbClr val="000000"/>
                </a:solidFill>
                <a:latin typeface="Public Sans"/>
                <a:ea typeface="Public Sans"/>
                <a:cs typeface="Public Sans"/>
                <a:sym typeface="Public Sans"/>
              </a:rPr>
              <a:t>a</a:t>
            </a:r>
            <a:r>
              <a:rPr lang="en-US" sz="3713">
                <a:solidFill>
                  <a:srgbClr val="000000"/>
                </a:solidFill>
                <a:latin typeface="Public Sans"/>
                <a:ea typeface="Public Sans"/>
                <a:cs typeface="Public Sans"/>
                <a:sym typeface="Public Sans"/>
              </a:rPr>
              <a:t>n (</a:t>
            </a:r>
            <a:r>
              <a:rPr lang="en-US" sz="3713">
                <a:solidFill>
                  <a:srgbClr val="000000"/>
                </a:solidFill>
                <a:latin typeface="Public Sans"/>
                <a:ea typeface="Public Sans"/>
                <a:cs typeface="Public Sans"/>
                <a:sym typeface="Public Sans"/>
              </a:rPr>
              <a:t>cor</a:t>
            </a:r>
            <a:r>
              <a:rPr lang="en-US" sz="3713">
                <a:solidFill>
                  <a:srgbClr val="000000"/>
                </a:solidFill>
                <a:latin typeface="Public Sans"/>
                <a:ea typeface="Public Sans"/>
                <a:cs typeface="Public Sans"/>
                <a:sym typeface="Public Sans"/>
              </a:rPr>
              <a:t>re</a:t>
            </a:r>
            <a:r>
              <a:rPr lang="en-US" sz="3713">
                <a:solidFill>
                  <a:srgbClr val="000000"/>
                </a:solidFill>
                <a:latin typeface="Public Sans"/>
                <a:ea typeface="Public Sans"/>
                <a:cs typeface="Public Sans"/>
                <a:sym typeface="Public Sans"/>
              </a:rPr>
              <a:t>l</a:t>
            </a:r>
            <a:r>
              <a:rPr lang="en-US" sz="3713">
                <a:solidFill>
                  <a:srgbClr val="000000"/>
                </a:solidFill>
                <a:latin typeface="Public Sans"/>
                <a:ea typeface="Public Sans"/>
                <a:cs typeface="Public Sans"/>
                <a:sym typeface="Public Sans"/>
              </a:rPr>
              <a:t>ation)</a:t>
            </a:r>
            <a:r>
              <a:rPr lang="en-US" sz="3713">
                <a:solidFill>
                  <a:srgbClr val="000000"/>
                </a:solidFill>
                <a:latin typeface="Public Sans"/>
                <a:ea typeface="Public Sans"/>
                <a:cs typeface="Public Sans"/>
                <a:sym typeface="Public Sans"/>
              </a:rPr>
              <a:t> để đo mức độ liên hệ tuyến tính giữa hai biến.</a:t>
            </a:r>
          </a:p>
          <a:p>
            <a:pPr algn="l" marL="801644" indent="-400822" lvl="1">
              <a:lnSpc>
                <a:spcPts val="6163"/>
              </a:lnSpc>
              <a:buFont typeface="Arial"/>
              <a:buChar char="•"/>
            </a:pPr>
            <a:r>
              <a:rPr lang="en-US" sz="3713">
                <a:solidFill>
                  <a:srgbClr val="000000"/>
                </a:solidFill>
                <a:latin typeface="Public Sans"/>
                <a:ea typeface="Public Sans"/>
                <a:cs typeface="Public Sans"/>
                <a:sym typeface="Public Sans"/>
              </a:rPr>
              <a:t> Vẽ scatter plot để quan sát xu hướng và hình d</a:t>
            </a:r>
            <a:r>
              <a:rPr lang="en-US" sz="3713">
                <a:solidFill>
                  <a:srgbClr val="000000"/>
                </a:solidFill>
                <a:latin typeface="Public Sans"/>
                <a:ea typeface="Public Sans"/>
                <a:cs typeface="Public Sans"/>
                <a:sym typeface="Public Sans"/>
              </a:rPr>
              <a:t>ạ</a:t>
            </a:r>
            <a:r>
              <a:rPr lang="en-US" sz="3713">
                <a:solidFill>
                  <a:srgbClr val="000000"/>
                </a:solidFill>
                <a:latin typeface="Public Sans"/>
                <a:ea typeface="Public Sans"/>
                <a:cs typeface="Public Sans"/>
                <a:sym typeface="Public Sans"/>
              </a:rPr>
              <a:t>ng</a:t>
            </a:r>
            <a:r>
              <a:rPr lang="en-US" sz="3713">
                <a:solidFill>
                  <a:srgbClr val="000000"/>
                </a:solidFill>
                <a:latin typeface="Public Sans"/>
                <a:ea typeface="Public Sans"/>
                <a:cs typeface="Public Sans"/>
                <a:sym typeface="Public Sans"/>
              </a:rPr>
              <a:t> </a:t>
            </a:r>
            <a:r>
              <a:rPr lang="en-US" sz="3713">
                <a:solidFill>
                  <a:srgbClr val="000000"/>
                </a:solidFill>
                <a:latin typeface="Public Sans"/>
                <a:ea typeface="Public Sans"/>
                <a:cs typeface="Public Sans"/>
                <a:sym typeface="Public Sans"/>
              </a:rPr>
              <a:t>mố</a:t>
            </a:r>
            <a:r>
              <a:rPr lang="en-US" sz="3713">
                <a:solidFill>
                  <a:srgbClr val="000000"/>
                </a:solidFill>
                <a:latin typeface="Public Sans"/>
                <a:ea typeface="Public Sans"/>
                <a:cs typeface="Public Sans"/>
                <a:sym typeface="Public Sans"/>
              </a:rPr>
              <a:t>i </a:t>
            </a:r>
            <a:r>
              <a:rPr lang="en-US" sz="3713">
                <a:solidFill>
                  <a:srgbClr val="000000"/>
                </a:solidFill>
                <a:latin typeface="Public Sans"/>
                <a:ea typeface="Public Sans"/>
                <a:cs typeface="Public Sans"/>
                <a:sym typeface="Public Sans"/>
              </a:rPr>
              <a:t>qu</a:t>
            </a:r>
            <a:r>
              <a:rPr lang="en-US" sz="3713">
                <a:solidFill>
                  <a:srgbClr val="000000"/>
                </a:solidFill>
                <a:latin typeface="Public Sans"/>
                <a:ea typeface="Public Sans"/>
                <a:cs typeface="Public Sans"/>
                <a:sym typeface="Public Sans"/>
              </a:rPr>
              <a:t>an </a:t>
            </a:r>
            <a:r>
              <a:rPr lang="en-US" sz="3713">
                <a:solidFill>
                  <a:srgbClr val="000000"/>
                </a:solidFill>
                <a:latin typeface="Public Sans"/>
                <a:ea typeface="Public Sans"/>
                <a:cs typeface="Public Sans"/>
                <a:sym typeface="Public Sans"/>
              </a:rPr>
              <a:t>hệ.</a:t>
            </a:r>
          </a:p>
          <a:p>
            <a:pPr algn="l" marL="801644" indent="-400822" lvl="1">
              <a:lnSpc>
                <a:spcPts val="6163"/>
              </a:lnSpc>
              <a:buFont typeface="Arial"/>
              <a:buChar char="•"/>
            </a:pPr>
            <a:r>
              <a:rPr lang="en-US" sz="3713">
                <a:solidFill>
                  <a:srgbClr val="000000"/>
                </a:solidFill>
                <a:latin typeface="Public Sans"/>
                <a:ea typeface="Public Sans"/>
                <a:cs typeface="Public Sans"/>
                <a:sym typeface="Public Sans"/>
              </a:rPr>
              <a:t>Sử dụng kiểm định thống kê hoặc mô hình hồi quy để kiểm tra nhân quả.</a:t>
            </a:r>
          </a:p>
          <a:p>
            <a:pPr algn="l" marL="801644" indent="-400822" lvl="1">
              <a:lnSpc>
                <a:spcPts val="6163"/>
              </a:lnSpc>
              <a:buFont typeface="Arial"/>
              <a:buChar char="•"/>
            </a:pPr>
            <a:r>
              <a:rPr lang="en-US" sz="3713">
                <a:solidFill>
                  <a:srgbClr val="000000"/>
                </a:solidFill>
                <a:latin typeface="Public Sans"/>
                <a:ea typeface="Public Sans"/>
                <a:cs typeface="Public Sans"/>
                <a:sym typeface="Public Sans"/>
              </a:rPr>
              <a:t>Nế</a:t>
            </a:r>
            <a:r>
              <a:rPr lang="en-US" sz="3713">
                <a:solidFill>
                  <a:srgbClr val="000000"/>
                </a:solidFill>
                <a:latin typeface="Public Sans"/>
                <a:ea typeface="Public Sans"/>
                <a:cs typeface="Public Sans"/>
                <a:sym typeface="Public Sans"/>
              </a:rPr>
              <a:t>u </a:t>
            </a:r>
            <a:r>
              <a:rPr lang="en-US" sz="3713">
                <a:solidFill>
                  <a:srgbClr val="000000"/>
                </a:solidFill>
                <a:latin typeface="Public Sans"/>
                <a:ea typeface="Public Sans"/>
                <a:cs typeface="Public Sans"/>
                <a:sym typeface="Public Sans"/>
              </a:rPr>
              <a:t>correlation cao (gần +1 hoặc -1), hai biến có mối liên hệ mạnh; nếu gần 0, mối liên hệ yếu hoặc không có.</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952400" y="1133475"/>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PHÂN TÍCH ĐƠN BIẾN VÀ HAI BIẾN</a:t>
            </a:r>
          </a:p>
        </p:txBody>
      </p:sp>
      <p:sp>
        <p:nvSpPr>
          <p:cNvPr name="Freeform 4" id="4"/>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0" id="10"/>
          <p:cNvSpPr txBox="true"/>
          <p:nvPr/>
        </p:nvSpPr>
        <p:spPr>
          <a:xfrm rot="0">
            <a:off x="558995" y="2264551"/>
            <a:ext cx="17170011" cy="6202935"/>
          </a:xfrm>
          <a:prstGeom prst="rect">
            <a:avLst/>
          </a:prstGeom>
        </p:spPr>
        <p:txBody>
          <a:bodyPr anchor="t" rtlCol="false" tIns="0" lIns="0" bIns="0" rIns="0">
            <a:spAutoFit/>
          </a:bodyPr>
          <a:lstStyle/>
          <a:p>
            <a:pPr algn="l">
              <a:lnSpc>
                <a:spcPts val="6163"/>
              </a:lnSpc>
            </a:pPr>
            <a:r>
              <a:rPr lang="en-US" sz="3713">
                <a:solidFill>
                  <a:srgbClr val="000000"/>
                </a:solidFill>
                <a:latin typeface="Public Sans"/>
                <a:ea typeface="Public Sans"/>
                <a:cs typeface="Public Sans"/>
                <a:sym typeface="Public Sans"/>
              </a:rPr>
              <a:t>Sự khác biệt giữa </a:t>
            </a:r>
            <a:r>
              <a:rPr lang="en-US" sz="3713" b="true">
                <a:solidFill>
                  <a:srgbClr val="000000"/>
                </a:solidFill>
                <a:latin typeface="Public Sans Bold"/>
                <a:ea typeface="Public Sans Bold"/>
                <a:cs typeface="Public Sans Bold"/>
                <a:sym typeface="Public Sans Bold"/>
              </a:rPr>
              <a:t>tương qua</a:t>
            </a:r>
            <a:r>
              <a:rPr lang="en-US" b="true" sz="3713">
                <a:solidFill>
                  <a:srgbClr val="000000"/>
                </a:solidFill>
                <a:latin typeface="Public Sans Bold"/>
                <a:ea typeface="Public Sans Bold"/>
                <a:cs typeface="Public Sans Bold"/>
                <a:sym typeface="Public Sans Bold"/>
              </a:rPr>
              <a:t>n (correlation) </a:t>
            </a:r>
            <a:r>
              <a:rPr lang="en-US" sz="3713">
                <a:solidFill>
                  <a:srgbClr val="000000"/>
                </a:solidFill>
                <a:latin typeface="Public Sans"/>
                <a:ea typeface="Public Sans"/>
                <a:cs typeface="Public Sans"/>
                <a:sym typeface="Public Sans"/>
              </a:rPr>
              <a:t>và </a:t>
            </a:r>
            <a:r>
              <a:rPr lang="en-US" b="true" sz="3713">
                <a:solidFill>
                  <a:srgbClr val="000000"/>
                </a:solidFill>
                <a:latin typeface="Public Sans Bold"/>
                <a:ea typeface="Public Sans Bold"/>
                <a:cs typeface="Public Sans Bold"/>
                <a:sym typeface="Public Sans Bold"/>
              </a:rPr>
              <a:t>hiệp biến (covariance) </a:t>
            </a:r>
            <a:r>
              <a:rPr lang="en-US" sz="3713">
                <a:solidFill>
                  <a:srgbClr val="000000"/>
                </a:solidFill>
                <a:latin typeface="Public Sans"/>
                <a:ea typeface="Public Sans"/>
                <a:cs typeface="Public Sans"/>
                <a:sym typeface="Public Sans"/>
              </a:rPr>
              <a:t>trong phân tích hai biến</a:t>
            </a:r>
            <a:r>
              <a:rPr lang="en-US" b="true" sz="3713">
                <a:solidFill>
                  <a:srgbClr val="000000"/>
                </a:solidFill>
                <a:latin typeface="Public Sans Bold"/>
                <a:ea typeface="Public Sans Bold"/>
                <a:cs typeface="Public Sans Bold"/>
                <a:sym typeface="Public Sans Bold"/>
              </a:rPr>
              <a:t>:</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Tương quan (correlation)</a:t>
            </a:r>
            <a:r>
              <a:rPr lang="en-US" sz="3713">
                <a:solidFill>
                  <a:srgbClr val="000000"/>
                </a:solidFill>
                <a:latin typeface="Public Sans"/>
                <a:ea typeface="Public Sans"/>
                <a:cs typeface="Public Sans"/>
                <a:sym typeface="Public Sans"/>
              </a:rPr>
              <a:t>: Đo mức độ liên hệ tuyến tính giữa hai biến, có giá trị từ -1 đến 1, không phụ thuộc đơn vị đo.</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Hiệp biến (covariance)</a:t>
            </a:r>
            <a:r>
              <a:rPr lang="en-US" sz="3713">
                <a:solidFill>
                  <a:srgbClr val="000000"/>
                </a:solidFill>
                <a:latin typeface="Public Sans"/>
                <a:ea typeface="Public Sans"/>
                <a:cs typeface="Public Sans"/>
                <a:sym typeface="Public Sans"/>
              </a:rPr>
              <a:t>: Đo mức độ hai biến cùng tăng hoặc giảm, giá trị không chuẩn hóa và phụ thuộc vào đơn vị đo.</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Tương quan</a:t>
            </a:r>
            <a:r>
              <a:rPr lang="en-US" sz="3713">
                <a:solidFill>
                  <a:srgbClr val="000000"/>
                </a:solidFill>
                <a:latin typeface="Public Sans"/>
                <a:ea typeface="Public Sans"/>
                <a:cs typeface="Public Sans"/>
                <a:sym typeface="Public Sans"/>
              </a:rPr>
              <a:t> cho biết mức độ mạnh/yếu của mối liên hệ, còn </a:t>
            </a:r>
            <a:r>
              <a:rPr lang="en-US" b="true" sz="3713">
                <a:solidFill>
                  <a:srgbClr val="000000"/>
                </a:solidFill>
                <a:latin typeface="Public Sans Bold"/>
                <a:ea typeface="Public Sans Bold"/>
                <a:cs typeface="Public Sans Bold"/>
                <a:sym typeface="Public Sans Bold"/>
              </a:rPr>
              <a:t>hiệp biến</a:t>
            </a:r>
            <a:r>
              <a:rPr lang="en-US" sz="3713">
                <a:solidFill>
                  <a:srgbClr val="000000"/>
                </a:solidFill>
                <a:latin typeface="Public Sans"/>
                <a:ea typeface="Public Sans"/>
                <a:cs typeface="Public Sans"/>
                <a:sym typeface="Public Sans"/>
              </a:rPr>
              <a:t> chỉ cho biết chiều hướng (cùng chiều hay ngược chiều).</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952400" y="1133475"/>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PHÂN TÍCH ĐƠN BIẾN VÀ HAI BIẾN</a:t>
            </a:r>
          </a:p>
        </p:txBody>
      </p:sp>
      <p:sp>
        <p:nvSpPr>
          <p:cNvPr name="Freeform 4" id="4"/>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0" id="10"/>
          <p:cNvSpPr txBox="true"/>
          <p:nvPr/>
        </p:nvSpPr>
        <p:spPr>
          <a:xfrm rot="0">
            <a:off x="558995" y="2264551"/>
            <a:ext cx="17170011" cy="6202935"/>
          </a:xfrm>
          <a:prstGeom prst="rect">
            <a:avLst/>
          </a:prstGeom>
        </p:spPr>
        <p:txBody>
          <a:bodyPr anchor="t" rtlCol="false" tIns="0" lIns="0" bIns="0" rIns="0">
            <a:spAutoFit/>
          </a:bodyPr>
          <a:lstStyle/>
          <a:p>
            <a:pPr algn="l">
              <a:lnSpc>
                <a:spcPts val="6163"/>
              </a:lnSpc>
            </a:pPr>
            <a:r>
              <a:rPr lang="en-US" sz="3713">
                <a:solidFill>
                  <a:srgbClr val="000000"/>
                </a:solidFill>
                <a:latin typeface="Public Sans"/>
                <a:ea typeface="Public Sans"/>
                <a:cs typeface="Public Sans"/>
                <a:sym typeface="Public Sans"/>
              </a:rPr>
              <a:t>Khi nào nên sử dụng biểu đồ </a:t>
            </a:r>
            <a:r>
              <a:rPr lang="en-US" sz="3713">
                <a:solidFill>
                  <a:srgbClr val="000000"/>
                </a:solidFill>
                <a:latin typeface="Public Sans"/>
                <a:ea typeface="Public Sans"/>
                <a:cs typeface="Public Sans"/>
                <a:sym typeface="Public Sans"/>
              </a:rPr>
              <a:t>t</a:t>
            </a:r>
            <a:r>
              <a:rPr lang="en-US" sz="3713">
                <a:solidFill>
                  <a:srgbClr val="000000"/>
                </a:solidFill>
                <a:latin typeface="Public Sans"/>
                <a:ea typeface="Public Sans"/>
                <a:cs typeface="Public Sans"/>
                <a:sym typeface="Public Sans"/>
              </a:rPr>
              <a:t>rực</a:t>
            </a:r>
            <a:r>
              <a:rPr lang="en-US" sz="3713">
                <a:solidFill>
                  <a:srgbClr val="000000"/>
                </a:solidFill>
                <a:latin typeface="Public Sans"/>
                <a:ea typeface="Public Sans"/>
                <a:cs typeface="Public Sans"/>
                <a:sym typeface="Public Sans"/>
              </a:rPr>
              <a:t> qua</a:t>
            </a:r>
            <a:r>
              <a:rPr lang="en-US" sz="3713">
                <a:solidFill>
                  <a:srgbClr val="000000"/>
                </a:solidFill>
                <a:latin typeface="Public Sans"/>
                <a:ea typeface="Public Sans"/>
                <a:cs typeface="Public Sans"/>
                <a:sym typeface="Public Sans"/>
              </a:rPr>
              <a:t>n </a:t>
            </a:r>
            <a:r>
              <a:rPr lang="en-US" sz="3713">
                <a:solidFill>
                  <a:srgbClr val="000000"/>
                </a:solidFill>
                <a:latin typeface="Public Sans"/>
                <a:ea typeface="Public Sans"/>
                <a:cs typeface="Public Sans"/>
                <a:sym typeface="Public Sans"/>
              </a:rPr>
              <a:t>hó</a:t>
            </a:r>
            <a:r>
              <a:rPr lang="en-US" sz="3713">
                <a:solidFill>
                  <a:srgbClr val="000000"/>
                </a:solidFill>
                <a:latin typeface="Public Sans"/>
                <a:ea typeface="Public Sans"/>
                <a:cs typeface="Public Sans"/>
                <a:sym typeface="Public Sans"/>
              </a:rPr>
              <a:t>a</a:t>
            </a:r>
            <a:r>
              <a:rPr lang="en-US" sz="3713">
                <a:solidFill>
                  <a:srgbClr val="000000"/>
                </a:solidFill>
                <a:latin typeface="Public Sans"/>
                <a:ea typeface="Public Sans"/>
                <a:cs typeface="Public Sans"/>
                <a:sym typeface="Public Sans"/>
              </a:rPr>
              <a:t> </a:t>
            </a:r>
            <a:r>
              <a:rPr lang="en-US" sz="3713">
                <a:solidFill>
                  <a:srgbClr val="000000"/>
                </a:solidFill>
                <a:latin typeface="Public Sans"/>
                <a:ea typeface="Public Sans"/>
                <a:cs typeface="Public Sans"/>
                <a:sym typeface="Public Sans"/>
              </a:rPr>
              <a:t>t</a:t>
            </a:r>
            <a:r>
              <a:rPr lang="en-US" sz="3713">
                <a:solidFill>
                  <a:srgbClr val="000000"/>
                </a:solidFill>
                <a:latin typeface="Public Sans"/>
                <a:ea typeface="Public Sans"/>
                <a:cs typeface="Public Sans"/>
                <a:sym typeface="Public Sans"/>
              </a:rPr>
              <a:t>r</a:t>
            </a:r>
            <a:r>
              <a:rPr lang="en-US" sz="3713">
                <a:solidFill>
                  <a:srgbClr val="000000"/>
                </a:solidFill>
                <a:latin typeface="Public Sans"/>
                <a:ea typeface="Public Sans"/>
                <a:cs typeface="Public Sans"/>
                <a:sym typeface="Public Sans"/>
              </a:rPr>
              <a:t>on</a:t>
            </a:r>
            <a:r>
              <a:rPr lang="en-US" sz="3713">
                <a:solidFill>
                  <a:srgbClr val="000000"/>
                </a:solidFill>
                <a:latin typeface="Public Sans"/>
                <a:ea typeface="Public Sans"/>
                <a:cs typeface="Public Sans"/>
                <a:sym typeface="Public Sans"/>
              </a:rPr>
              <a:t>g</a:t>
            </a:r>
            <a:r>
              <a:rPr lang="en-US" sz="3713">
                <a:solidFill>
                  <a:srgbClr val="000000"/>
                </a:solidFill>
                <a:latin typeface="Public Sans"/>
                <a:ea typeface="Public Sans"/>
                <a:cs typeface="Public Sans"/>
                <a:sym typeface="Public Sans"/>
              </a:rPr>
              <a:t> </a:t>
            </a:r>
            <a:r>
              <a:rPr lang="en-US" sz="3713">
                <a:solidFill>
                  <a:srgbClr val="000000"/>
                </a:solidFill>
                <a:latin typeface="Public Sans"/>
                <a:ea typeface="Public Sans"/>
                <a:cs typeface="Public Sans"/>
                <a:sym typeface="Public Sans"/>
              </a:rPr>
              <a:t>phân tíc</a:t>
            </a:r>
            <a:r>
              <a:rPr lang="en-US" sz="3713">
                <a:solidFill>
                  <a:srgbClr val="000000"/>
                </a:solidFill>
                <a:latin typeface="Public Sans"/>
                <a:ea typeface="Public Sans"/>
                <a:cs typeface="Public Sans"/>
                <a:sym typeface="Public Sans"/>
              </a:rPr>
              <a:t>h</a:t>
            </a:r>
            <a:r>
              <a:rPr lang="en-US" sz="3713">
                <a:solidFill>
                  <a:srgbClr val="000000"/>
                </a:solidFill>
                <a:latin typeface="Public Sans"/>
                <a:ea typeface="Public Sans"/>
                <a:cs typeface="Public Sans"/>
                <a:sym typeface="Public Sans"/>
              </a:rPr>
              <a:t> đơn</a:t>
            </a:r>
            <a:r>
              <a:rPr lang="en-US" sz="3713">
                <a:solidFill>
                  <a:srgbClr val="000000"/>
                </a:solidFill>
                <a:latin typeface="Public Sans"/>
                <a:ea typeface="Public Sans"/>
                <a:cs typeface="Public Sans"/>
                <a:sym typeface="Public Sans"/>
              </a:rPr>
              <a:t> biến </a:t>
            </a:r>
            <a:r>
              <a:rPr lang="en-US" sz="3713">
                <a:solidFill>
                  <a:srgbClr val="000000"/>
                </a:solidFill>
                <a:latin typeface="Public Sans"/>
                <a:ea typeface="Public Sans"/>
                <a:cs typeface="Public Sans"/>
                <a:sym typeface="Public Sans"/>
              </a:rPr>
              <a:t>s</a:t>
            </a:r>
            <a:r>
              <a:rPr lang="en-US" sz="3713">
                <a:solidFill>
                  <a:srgbClr val="000000"/>
                </a:solidFill>
                <a:latin typeface="Public Sans"/>
                <a:ea typeface="Public Sans"/>
                <a:cs typeface="Public Sans"/>
                <a:sym typeface="Public Sans"/>
              </a:rPr>
              <a:t>o</a:t>
            </a:r>
            <a:r>
              <a:rPr lang="en-US" sz="3713">
                <a:solidFill>
                  <a:srgbClr val="000000"/>
                </a:solidFill>
                <a:latin typeface="Public Sans"/>
                <a:ea typeface="Public Sans"/>
                <a:cs typeface="Public Sans"/>
                <a:sym typeface="Public Sans"/>
              </a:rPr>
              <a:t> </a:t>
            </a:r>
            <a:r>
              <a:rPr lang="en-US" sz="3713">
                <a:solidFill>
                  <a:srgbClr val="000000"/>
                </a:solidFill>
                <a:latin typeface="Public Sans"/>
                <a:ea typeface="Public Sans"/>
                <a:cs typeface="Public Sans"/>
                <a:sym typeface="Public Sans"/>
              </a:rPr>
              <a:t>v</a:t>
            </a:r>
            <a:r>
              <a:rPr lang="en-US" sz="3713">
                <a:solidFill>
                  <a:srgbClr val="000000"/>
                </a:solidFill>
                <a:latin typeface="Public Sans"/>
                <a:ea typeface="Public Sans"/>
                <a:cs typeface="Public Sans"/>
                <a:sym typeface="Public Sans"/>
              </a:rPr>
              <a:t>ớ</a:t>
            </a:r>
            <a:r>
              <a:rPr lang="en-US" sz="3713">
                <a:solidFill>
                  <a:srgbClr val="000000"/>
                </a:solidFill>
                <a:latin typeface="Public Sans"/>
                <a:ea typeface="Public Sans"/>
                <a:cs typeface="Public Sans"/>
                <a:sym typeface="Public Sans"/>
              </a:rPr>
              <a:t>i</a:t>
            </a:r>
            <a:r>
              <a:rPr lang="en-US" sz="3713">
                <a:solidFill>
                  <a:srgbClr val="000000"/>
                </a:solidFill>
                <a:latin typeface="Public Sans"/>
                <a:ea typeface="Public Sans"/>
                <a:cs typeface="Public Sans"/>
                <a:sym typeface="Public Sans"/>
              </a:rPr>
              <a:t> phân tích hai biến?</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Đơn biến</a:t>
            </a:r>
            <a:r>
              <a:rPr lang="en-US" sz="3713">
                <a:solidFill>
                  <a:srgbClr val="000000"/>
                </a:solidFill>
                <a:latin typeface="Public Sans"/>
                <a:ea typeface="Public Sans"/>
                <a:cs typeface="Public Sans"/>
                <a:sym typeface="Public Sans"/>
              </a:rPr>
              <a:t>: Dùng histogram, boxplot để xem phân bố, phát hiện outl</a:t>
            </a:r>
            <a:r>
              <a:rPr lang="en-US" sz="3713">
                <a:solidFill>
                  <a:srgbClr val="000000"/>
                </a:solidFill>
                <a:latin typeface="Public Sans"/>
                <a:ea typeface="Public Sans"/>
                <a:cs typeface="Public Sans"/>
                <a:sym typeface="Public Sans"/>
              </a:rPr>
              <a:t>i</a:t>
            </a:r>
            <a:r>
              <a:rPr lang="en-US" sz="3713">
                <a:solidFill>
                  <a:srgbClr val="000000"/>
                </a:solidFill>
                <a:latin typeface="Public Sans"/>
                <a:ea typeface="Public Sans"/>
                <a:cs typeface="Public Sans"/>
                <a:sym typeface="Public Sans"/>
              </a:rPr>
              <a:t>ers, xu</a:t>
            </a:r>
            <a:r>
              <a:rPr lang="en-US" sz="3713">
                <a:solidFill>
                  <a:srgbClr val="000000"/>
                </a:solidFill>
                <a:latin typeface="Public Sans"/>
                <a:ea typeface="Public Sans"/>
                <a:cs typeface="Public Sans"/>
                <a:sym typeface="Public Sans"/>
              </a:rPr>
              <a:t> </a:t>
            </a:r>
            <a:r>
              <a:rPr lang="en-US" sz="3713">
                <a:solidFill>
                  <a:srgbClr val="000000"/>
                </a:solidFill>
                <a:latin typeface="Public Sans"/>
                <a:ea typeface="Public Sans"/>
                <a:cs typeface="Public Sans"/>
                <a:sym typeface="Public Sans"/>
              </a:rPr>
              <a:t>hướ</a:t>
            </a:r>
            <a:r>
              <a:rPr lang="en-US" sz="3713">
                <a:solidFill>
                  <a:srgbClr val="000000"/>
                </a:solidFill>
                <a:latin typeface="Public Sans"/>
                <a:ea typeface="Public Sans"/>
                <a:cs typeface="Public Sans"/>
                <a:sym typeface="Public Sans"/>
              </a:rPr>
              <a:t>n</a:t>
            </a:r>
            <a:r>
              <a:rPr lang="en-US" sz="3713">
                <a:solidFill>
                  <a:srgbClr val="000000"/>
                </a:solidFill>
                <a:latin typeface="Public Sans"/>
                <a:ea typeface="Public Sans"/>
                <a:cs typeface="Public Sans"/>
                <a:sym typeface="Public Sans"/>
              </a:rPr>
              <a:t>g</a:t>
            </a:r>
            <a:r>
              <a:rPr lang="en-US" sz="3713">
                <a:solidFill>
                  <a:srgbClr val="000000"/>
                </a:solidFill>
                <a:latin typeface="Public Sans"/>
                <a:ea typeface="Public Sans"/>
                <a:cs typeface="Public Sans"/>
                <a:sym typeface="Public Sans"/>
              </a:rPr>
              <a:t> </a:t>
            </a:r>
            <a:r>
              <a:rPr lang="en-US" sz="3713">
                <a:solidFill>
                  <a:srgbClr val="000000"/>
                </a:solidFill>
                <a:latin typeface="Public Sans"/>
                <a:ea typeface="Public Sans"/>
                <a:cs typeface="Public Sans"/>
                <a:sym typeface="Public Sans"/>
              </a:rPr>
              <a:t>t</a:t>
            </a:r>
            <a:r>
              <a:rPr lang="en-US" sz="3713">
                <a:solidFill>
                  <a:srgbClr val="000000"/>
                </a:solidFill>
                <a:latin typeface="Public Sans"/>
                <a:ea typeface="Public Sans"/>
                <a:cs typeface="Public Sans"/>
                <a:sym typeface="Public Sans"/>
              </a:rPr>
              <a:t>r</a:t>
            </a:r>
            <a:r>
              <a:rPr lang="en-US" sz="3713">
                <a:solidFill>
                  <a:srgbClr val="000000"/>
                </a:solidFill>
                <a:latin typeface="Public Sans"/>
                <a:ea typeface="Public Sans"/>
                <a:cs typeface="Public Sans"/>
                <a:sym typeface="Public Sans"/>
              </a:rPr>
              <a:t>u</a:t>
            </a:r>
            <a:r>
              <a:rPr lang="en-US" sz="3713">
                <a:solidFill>
                  <a:srgbClr val="000000"/>
                </a:solidFill>
                <a:latin typeface="Public Sans"/>
                <a:ea typeface="Public Sans"/>
                <a:cs typeface="Public Sans"/>
                <a:sym typeface="Public Sans"/>
              </a:rPr>
              <a:t>n</a:t>
            </a:r>
            <a:r>
              <a:rPr lang="en-US" sz="3713">
                <a:solidFill>
                  <a:srgbClr val="000000"/>
                </a:solidFill>
                <a:latin typeface="Public Sans"/>
                <a:ea typeface="Public Sans"/>
                <a:cs typeface="Public Sans"/>
                <a:sym typeface="Public Sans"/>
              </a:rPr>
              <a:t>g tâm.</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Hai biến</a:t>
            </a:r>
            <a:r>
              <a:rPr lang="en-US" sz="3713">
                <a:solidFill>
                  <a:srgbClr val="000000"/>
                </a:solidFill>
                <a:latin typeface="Public Sans"/>
                <a:ea typeface="Public Sans"/>
                <a:cs typeface="Public Sans"/>
                <a:sym typeface="Public Sans"/>
              </a:rPr>
              <a:t>: Dùng scatter plot, heatmap, pairplot để xem mối quan hệ, xu hướng, t</a:t>
            </a:r>
            <a:r>
              <a:rPr lang="en-US" sz="3713">
                <a:solidFill>
                  <a:srgbClr val="000000"/>
                </a:solidFill>
                <a:latin typeface="Public Sans"/>
                <a:ea typeface="Public Sans"/>
                <a:cs typeface="Public Sans"/>
                <a:sym typeface="Public Sans"/>
              </a:rPr>
              <a:t>ương quan</a:t>
            </a:r>
            <a:r>
              <a:rPr lang="en-US" sz="3713">
                <a:solidFill>
                  <a:srgbClr val="000000"/>
                </a:solidFill>
                <a:latin typeface="Public Sans"/>
                <a:ea typeface="Public Sans"/>
                <a:cs typeface="Public Sans"/>
                <a:sym typeface="Public Sans"/>
              </a:rPr>
              <a:t> giữa các biến.</a:t>
            </a:r>
          </a:p>
          <a:p>
            <a:pPr algn="l" marL="801644" indent="-400822" lvl="1">
              <a:lnSpc>
                <a:spcPts val="6163"/>
              </a:lnSpc>
              <a:buFont typeface="Arial"/>
              <a:buChar char="•"/>
            </a:pPr>
            <a:r>
              <a:rPr lang="en-US" sz="3713">
                <a:solidFill>
                  <a:srgbClr val="000000"/>
                </a:solidFill>
                <a:latin typeface="Public Sans"/>
                <a:ea typeface="Public Sans"/>
                <a:cs typeface="Public Sans"/>
                <a:sym typeface="Public Sans"/>
              </a:rPr>
              <a:t>Biểu đồ giúp nhận d</a:t>
            </a:r>
            <a:r>
              <a:rPr lang="en-US" sz="3713">
                <a:solidFill>
                  <a:srgbClr val="000000"/>
                </a:solidFill>
                <a:latin typeface="Public Sans"/>
                <a:ea typeface="Public Sans"/>
                <a:cs typeface="Public Sans"/>
                <a:sym typeface="Public Sans"/>
              </a:rPr>
              <a:t>iện</a:t>
            </a:r>
            <a:r>
              <a:rPr lang="en-US" sz="3713">
                <a:solidFill>
                  <a:srgbClr val="000000"/>
                </a:solidFill>
                <a:latin typeface="Public Sans"/>
                <a:ea typeface="Public Sans"/>
                <a:cs typeface="Public Sans"/>
                <a:sym typeface="Public Sans"/>
              </a:rPr>
              <a:t> nhanh đặc điểm dữ liệu, hỗ trợ ra quyết định phân tích tiếp theo.</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952400" y="1133475"/>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PHÂN TÍCH ĐƠN BIẾN VÀ HAI BIẾN</a:t>
            </a:r>
          </a:p>
        </p:txBody>
      </p:sp>
      <p:sp>
        <p:nvSpPr>
          <p:cNvPr name="Freeform 4" id="4"/>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0" id="10"/>
          <p:cNvSpPr txBox="true"/>
          <p:nvPr/>
        </p:nvSpPr>
        <p:spPr>
          <a:xfrm rot="0">
            <a:off x="558995" y="2264551"/>
            <a:ext cx="17170011" cy="5421885"/>
          </a:xfrm>
          <a:prstGeom prst="rect">
            <a:avLst/>
          </a:prstGeom>
        </p:spPr>
        <p:txBody>
          <a:bodyPr anchor="t" rtlCol="false" tIns="0" lIns="0" bIns="0" rIns="0">
            <a:spAutoFit/>
          </a:bodyPr>
          <a:lstStyle/>
          <a:p>
            <a:pPr algn="l">
              <a:lnSpc>
                <a:spcPts val="6163"/>
              </a:lnSpc>
            </a:pPr>
            <a:r>
              <a:rPr lang="en-US" sz="3713">
                <a:solidFill>
                  <a:srgbClr val="000000"/>
                </a:solidFill>
                <a:latin typeface="Public Sans"/>
                <a:ea typeface="Public Sans"/>
                <a:cs typeface="Public Sans"/>
                <a:sym typeface="Public Sans"/>
              </a:rPr>
              <a:t> Để </a:t>
            </a:r>
            <a:r>
              <a:rPr lang="en-US" sz="3713">
                <a:solidFill>
                  <a:srgbClr val="000000"/>
                </a:solidFill>
                <a:latin typeface="Public Sans"/>
                <a:ea typeface="Public Sans"/>
                <a:cs typeface="Public Sans"/>
                <a:sym typeface="Public Sans"/>
              </a:rPr>
              <a:t>t</a:t>
            </a:r>
            <a:r>
              <a:rPr lang="en-US" sz="3713">
                <a:solidFill>
                  <a:srgbClr val="000000"/>
                </a:solidFill>
                <a:latin typeface="Public Sans"/>
                <a:ea typeface="Public Sans"/>
                <a:cs typeface="Public Sans"/>
                <a:sym typeface="Public Sans"/>
              </a:rPr>
              <a:t>rực</a:t>
            </a:r>
            <a:r>
              <a:rPr lang="en-US" sz="3713">
                <a:solidFill>
                  <a:srgbClr val="000000"/>
                </a:solidFill>
                <a:latin typeface="Public Sans"/>
                <a:ea typeface="Public Sans"/>
                <a:cs typeface="Public Sans"/>
                <a:sym typeface="Public Sans"/>
              </a:rPr>
              <a:t> qua</a:t>
            </a:r>
            <a:r>
              <a:rPr lang="en-US" sz="3713">
                <a:solidFill>
                  <a:srgbClr val="000000"/>
                </a:solidFill>
                <a:latin typeface="Public Sans"/>
                <a:ea typeface="Public Sans"/>
                <a:cs typeface="Public Sans"/>
                <a:sym typeface="Public Sans"/>
              </a:rPr>
              <a:t>n </a:t>
            </a:r>
            <a:r>
              <a:rPr lang="en-US" sz="3713">
                <a:solidFill>
                  <a:srgbClr val="000000"/>
                </a:solidFill>
                <a:latin typeface="Public Sans"/>
                <a:ea typeface="Public Sans"/>
                <a:cs typeface="Public Sans"/>
                <a:sym typeface="Public Sans"/>
              </a:rPr>
              <a:t>hó</a:t>
            </a:r>
            <a:r>
              <a:rPr lang="en-US" sz="3713">
                <a:solidFill>
                  <a:srgbClr val="000000"/>
                </a:solidFill>
                <a:latin typeface="Public Sans"/>
                <a:ea typeface="Public Sans"/>
                <a:cs typeface="Public Sans"/>
                <a:sym typeface="Public Sans"/>
              </a:rPr>
              <a:t>a</a:t>
            </a:r>
            <a:r>
              <a:rPr lang="en-US" sz="3713">
                <a:solidFill>
                  <a:srgbClr val="000000"/>
                </a:solidFill>
                <a:latin typeface="Public Sans"/>
                <a:ea typeface="Public Sans"/>
                <a:cs typeface="Public Sans"/>
                <a:sym typeface="Public Sans"/>
              </a:rPr>
              <a:t> mối qua</a:t>
            </a:r>
            <a:r>
              <a:rPr lang="en-US" sz="3713">
                <a:solidFill>
                  <a:srgbClr val="000000"/>
                </a:solidFill>
                <a:latin typeface="Public Sans"/>
                <a:ea typeface="Public Sans"/>
                <a:cs typeface="Public Sans"/>
                <a:sym typeface="Public Sans"/>
              </a:rPr>
              <a:t>n </a:t>
            </a:r>
            <a:r>
              <a:rPr lang="en-US" sz="3713">
                <a:solidFill>
                  <a:srgbClr val="000000"/>
                </a:solidFill>
                <a:latin typeface="Public Sans"/>
                <a:ea typeface="Public Sans"/>
                <a:cs typeface="Public Sans"/>
                <a:sym typeface="Public Sans"/>
              </a:rPr>
              <a:t>hệ giữa một</a:t>
            </a:r>
            <a:r>
              <a:rPr lang="en-US" sz="3713">
                <a:solidFill>
                  <a:srgbClr val="000000"/>
                </a:solidFill>
                <a:latin typeface="Public Sans"/>
                <a:ea typeface="Public Sans"/>
                <a:cs typeface="Public Sans"/>
                <a:sym typeface="Public Sans"/>
              </a:rPr>
              <a:t> biến </a:t>
            </a:r>
            <a:r>
              <a:rPr lang="en-US" sz="3713">
                <a:solidFill>
                  <a:srgbClr val="000000"/>
                </a:solidFill>
                <a:latin typeface="Public Sans"/>
                <a:ea typeface="Public Sans"/>
                <a:cs typeface="Public Sans"/>
                <a:sym typeface="Public Sans"/>
              </a:rPr>
              <a:t>số (l</a:t>
            </a:r>
            <a:r>
              <a:rPr lang="en-US" sz="3713">
                <a:solidFill>
                  <a:srgbClr val="000000"/>
                </a:solidFill>
                <a:latin typeface="Public Sans"/>
                <a:ea typeface="Public Sans"/>
                <a:cs typeface="Public Sans"/>
                <a:sym typeface="Public Sans"/>
              </a:rPr>
              <a:t>iê</a:t>
            </a:r>
            <a:r>
              <a:rPr lang="en-US" sz="3713">
                <a:solidFill>
                  <a:srgbClr val="000000"/>
                </a:solidFill>
                <a:latin typeface="Public Sans"/>
                <a:ea typeface="Public Sans"/>
                <a:cs typeface="Public Sans"/>
                <a:sym typeface="Public Sans"/>
              </a:rPr>
              <a:t>n tục) và một biến phâ</a:t>
            </a:r>
            <a:r>
              <a:rPr lang="en-US" sz="3713">
                <a:solidFill>
                  <a:srgbClr val="000000"/>
                </a:solidFill>
                <a:latin typeface="Public Sans"/>
                <a:ea typeface="Public Sans"/>
                <a:cs typeface="Public Sans"/>
                <a:sym typeface="Public Sans"/>
              </a:rPr>
              <a:t>n </a:t>
            </a:r>
            <a:r>
              <a:rPr lang="en-US" sz="3713">
                <a:solidFill>
                  <a:srgbClr val="000000"/>
                </a:solidFill>
                <a:latin typeface="Public Sans"/>
                <a:ea typeface="Public Sans"/>
                <a:cs typeface="Public Sans"/>
                <a:sym typeface="Public Sans"/>
              </a:rPr>
              <a:t>loạ</a:t>
            </a:r>
            <a:r>
              <a:rPr lang="en-US" sz="3713">
                <a:solidFill>
                  <a:srgbClr val="000000"/>
                </a:solidFill>
                <a:latin typeface="Public Sans"/>
                <a:ea typeface="Public Sans"/>
                <a:cs typeface="Public Sans"/>
                <a:sym typeface="Public Sans"/>
              </a:rPr>
              <a:t>i</a:t>
            </a:r>
            <a:r>
              <a:rPr lang="en-US" sz="3713">
                <a:solidFill>
                  <a:srgbClr val="000000"/>
                </a:solidFill>
                <a:latin typeface="Public Sans"/>
                <a:ea typeface="Public Sans"/>
                <a:cs typeface="Public Sans"/>
                <a:sym typeface="Public Sans"/>
              </a:rPr>
              <a:t> (rời rạc), có thể sử dụng biểu đồ </a:t>
            </a:r>
            <a:r>
              <a:rPr lang="en-US" b="true" sz="3713">
                <a:solidFill>
                  <a:srgbClr val="000000"/>
                </a:solidFill>
                <a:latin typeface="Public Sans Bold"/>
                <a:ea typeface="Public Sans Bold"/>
                <a:cs typeface="Public Sans Bold"/>
                <a:sym typeface="Public Sans Bold"/>
              </a:rPr>
              <a:t>boxplot</a:t>
            </a:r>
            <a:r>
              <a:rPr lang="en-US" sz="3713">
                <a:solidFill>
                  <a:srgbClr val="000000"/>
                </a:solidFill>
                <a:latin typeface="Public Sans"/>
                <a:ea typeface="Public Sans"/>
                <a:cs typeface="Public Sans"/>
                <a:sym typeface="Public Sans"/>
              </a:rPr>
              <a:t> hoặc </a:t>
            </a:r>
            <a:r>
              <a:rPr lang="en-US" b="true" sz="3713">
                <a:solidFill>
                  <a:srgbClr val="000000"/>
                </a:solidFill>
                <a:latin typeface="Public Sans Bold"/>
                <a:ea typeface="Public Sans Bold"/>
                <a:cs typeface="Public Sans Bold"/>
                <a:sym typeface="Public Sans Bold"/>
              </a:rPr>
              <a:t>violin plot</a:t>
            </a:r>
            <a:r>
              <a:rPr lang="en-US" sz="3713">
                <a:solidFill>
                  <a:srgbClr val="000000"/>
                </a:solidFill>
                <a:latin typeface="Public Sans"/>
                <a:ea typeface="Public Sans"/>
                <a:cs typeface="Public Sans"/>
                <a:sym typeface="Public Sans"/>
              </a:rPr>
              <a:t> với</a:t>
            </a:r>
            <a:r>
              <a:rPr lang="en-US" sz="3713">
                <a:solidFill>
                  <a:srgbClr val="000000"/>
                </a:solidFill>
                <a:latin typeface="Public Sans"/>
                <a:ea typeface="Public Sans"/>
                <a:cs typeface="Public Sans"/>
                <a:sym typeface="Public Sans"/>
              </a:rPr>
              <a:t> t</a:t>
            </a:r>
            <a:r>
              <a:rPr lang="en-US" sz="3713">
                <a:solidFill>
                  <a:srgbClr val="000000"/>
                </a:solidFill>
                <a:latin typeface="Public Sans"/>
                <a:ea typeface="Public Sans"/>
                <a:cs typeface="Public Sans"/>
                <a:sym typeface="Public Sans"/>
              </a:rPr>
              <a:t>hư</a:t>
            </a:r>
            <a:r>
              <a:rPr lang="en-US" sz="3713">
                <a:solidFill>
                  <a:srgbClr val="000000"/>
                </a:solidFill>
                <a:latin typeface="Public Sans"/>
                <a:ea typeface="Public Sans"/>
                <a:cs typeface="Public Sans"/>
                <a:sym typeface="Public Sans"/>
              </a:rPr>
              <a:t> viện</a:t>
            </a:r>
            <a:r>
              <a:rPr lang="en-US" sz="3713">
                <a:solidFill>
                  <a:srgbClr val="000000"/>
                </a:solidFill>
                <a:latin typeface="Public Sans"/>
                <a:ea typeface="Public Sans"/>
                <a:cs typeface="Public Sans"/>
                <a:sym typeface="Public Sans"/>
              </a:rPr>
              <a:t> se</a:t>
            </a:r>
            <a:r>
              <a:rPr lang="en-US" sz="3713">
                <a:solidFill>
                  <a:srgbClr val="000000"/>
                </a:solidFill>
                <a:latin typeface="Public Sans"/>
                <a:ea typeface="Public Sans"/>
                <a:cs typeface="Public Sans"/>
                <a:sym typeface="Public Sans"/>
              </a:rPr>
              <a:t>ab</a:t>
            </a:r>
            <a:r>
              <a:rPr lang="en-US" sz="3713">
                <a:solidFill>
                  <a:srgbClr val="000000"/>
                </a:solidFill>
                <a:latin typeface="Public Sans"/>
                <a:ea typeface="Public Sans"/>
                <a:cs typeface="Public Sans"/>
                <a:sym typeface="Public Sans"/>
              </a:rPr>
              <a:t>or</a:t>
            </a:r>
            <a:r>
              <a:rPr lang="en-US" sz="3713">
                <a:solidFill>
                  <a:srgbClr val="000000"/>
                </a:solidFill>
                <a:latin typeface="Public Sans"/>
                <a:ea typeface="Public Sans"/>
                <a:cs typeface="Public Sans"/>
                <a:sym typeface="Public Sans"/>
              </a:rPr>
              <a:t>n</a:t>
            </a:r>
            <a:r>
              <a:rPr lang="en-US" sz="3713">
                <a:solidFill>
                  <a:srgbClr val="000000"/>
                </a:solidFill>
                <a:latin typeface="Public Sans"/>
                <a:ea typeface="Public Sans"/>
                <a:cs typeface="Public Sans"/>
                <a:sym typeface="Public Sans"/>
              </a:rPr>
              <a:t> hoặc matplotlib.</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Boxplot</a:t>
            </a:r>
            <a:r>
              <a:rPr lang="en-US" sz="3713">
                <a:solidFill>
                  <a:srgbClr val="000000"/>
                </a:solidFill>
                <a:latin typeface="Public Sans"/>
                <a:ea typeface="Public Sans"/>
                <a:cs typeface="Public Sans"/>
                <a:sym typeface="Public Sans"/>
              </a:rPr>
              <a:t> giúp so sánh phân bố, trung vị, phạm vi và phát hiệ</a:t>
            </a:r>
            <a:r>
              <a:rPr lang="en-US" sz="3713">
                <a:solidFill>
                  <a:srgbClr val="000000"/>
                </a:solidFill>
                <a:latin typeface="Public Sans"/>
                <a:ea typeface="Public Sans"/>
                <a:cs typeface="Public Sans"/>
                <a:sym typeface="Public Sans"/>
              </a:rPr>
              <a:t>n outliers</a:t>
            </a:r>
            <a:r>
              <a:rPr lang="en-US" sz="3713">
                <a:solidFill>
                  <a:srgbClr val="000000"/>
                </a:solidFill>
                <a:latin typeface="Public Sans"/>
                <a:ea typeface="Public Sans"/>
                <a:cs typeface="Public Sans"/>
                <a:sym typeface="Public Sans"/>
              </a:rPr>
              <a:t> giữa các nhóm phân loại.</a:t>
            </a:r>
          </a:p>
          <a:p>
            <a:pPr algn="l" marL="801644" indent="-400822" lvl="1">
              <a:lnSpc>
                <a:spcPts val="6163"/>
              </a:lnSpc>
              <a:buFont typeface="Arial"/>
              <a:buChar char="•"/>
            </a:pPr>
            <a:r>
              <a:rPr lang="en-US" b="true" sz="3713">
                <a:solidFill>
                  <a:srgbClr val="000000"/>
                </a:solidFill>
                <a:latin typeface="Public Sans Bold"/>
                <a:ea typeface="Public Sans Bold"/>
                <a:cs typeface="Public Sans Bold"/>
                <a:sym typeface="Public Sans Bold"/>
              </a:rPr>
              <a:t>Violin plot</a:t>
            </a:r>
            <a:r>
              <a:rPr lang="en-US" sz="3713">
                <a:solidFill>
                  <a:srgbClr val="000000"/>
                </a:solidFill>
                <a:latin typeface="Public Sans"/>
                <a:ea typeface="Public Sans"/>
                <a:cs typeface="Public Sans"/>
                <a:sym typeface="Public Sans"/>
              </a:rPr>
              <a:t> ngoài việc thể h</a:t>
            </a:r>
            <a:r>
              <a:rPr lang="en-US" sz="3713">
                <a:solidFill>
                  <a:srgbClr val="000000"/>
                </a:solidFill>
                <a:latin typeface="Public Sans"/>
                <a:ea typeface="Public Sans"/>
                <a:cs typeface="Public Sans"/>
                <a:sym typeface="Public Sans"/>
              </a:rPr>
              <a:t>iện</a:t>
            </a:r>
            <a:r>
              <a:rPr lang="en-US" sz="3713">
                <a:solidFill>
                  <a:srgbClr val="000000"/>
                </a:solidFill>
                <a:latin typeface="Public Sans"/>
                <a:ea typeface="Public Sans"/>
                <a:cs typeface="Public Sans"/>
                <a:sym typeface="Public Sans"/>
              </a:rPr>
              <a:t> các đặc điểm như boxplot còn cho thấy hình dạng phân bố xác suất của từng nhóm.</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1028700" y="2375307"/>
            <a:ext cx="7661072" cy="6292035"/>
          </a:xfrm>
          <a:custGeom>
            <a:avLst/>
            <a:gdLst/>
            <a:ahLst/>
            <a:cxnLst/>
            <a:rect r="r" b="b" t="t" l="l"/>
            <a:pathLst>
              <a:path h="6292035" w="7661072">
                <a:moveTo>
                  <a:pt x="0" y="0"/>
                </a:moveTo>
                <a:lnTo>
                  <a:pt x="7661072" y="0"/>
                </a:lnTo>
                <a:lnTo>
                  <a:pt x="7661072" y="6292036"/>
                </a:lnTo>
                <a:lnTo>
                  <a:pt x="0" y="6292036"/>
                </a:lnTo>
                <a:lnTo>
                  <a:pt x="0" y="0"/>
                </a:lnTo>
                <a:close/>
              </a:path>
            </a:pathLst>
          </a:custGeom>
          <a:blipFill>
            <a:blip r:embed="rId14"/>
            <a:stretch>
              <a:fillRect l="0" t="0" r="0" b="0"/>
            </a:stretch>
          </a:blipFill>
        </p:spPr>
      </p:sp>
      <p:sp>
        <p:nvSpPr>
          <p:cNvPr name="Freeform 10" id="10"/>
          <p:cNvSpPr/>
          <p:nvPr/>
        </p:nvSpPr>
        <p:spPr>
          <a:xfrm flipH="false" flipV="false" rot="0">
            <a:off x="8804765" y="2375307"/>
            <a:ext cx="7661072" cy="6292035"/>
          </a:xfrm>
          <a:custGeom>
            <a:avLst/>
            <a:gdLst/>
            <a:ahLst/>
            <a:cxnLst/>
            <a:rect r="r" b="b" t="t" l="l"/>
            <a:pathLst>
              <a:path h="6292035" w="7661072">
                <a:moveTo>
                  <a:pt x="0" y="0"/>
                </a:moveTo>
                <a:lnTo>
                  <a:pt x="7661071" y="0"/>
                </a:lnTo>
                <a:lnTo>
                  <a:pt x="7661071" y="6292036"/>
                </a:lnTo>
                <a:lnTo>
                  <a:pt x="0" y="6292036"/>
                </a:lnTo>
                <a:lnTo>
                  <a:pt x="0" y="0"/>
                </a:lnTo>
                <a:close/>
              </a:path>
            </a:pathLst>
          </a:custGeom>
          <a:blipFill>
            <a:blip r:embed="rId15"/>
            <a:stretch>
              <a:fillRect l="0" t="0" r="0" b="0"/>
            </a:stretch>
          </a:blipFill>
        </p:spPr>
      </p:sp>
      <p:sp>
        <p:nvSpPr>
          <p:cNvPr name="TextBox 11" id="11"/>
          <p:cNvSpPr txBox="true"/>
          <p:nvPr/>
        </p:nvSpPr>
        <p:spPr>
          <a:xfrm rot="0">
            <a:off x="952400" y="1133475"/>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PHÂN TÍCH ĐƠN BIẾN VÀ HAI BIẾN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9" id="9"/>
          <p:cNvSpPr txBox="true"/>
          <p:nvPr/>
        </p:nvSpPr>
        <p:spPr>
          <a:xfrm rot="0">
            <a:off x="6300729" y="2405235"/>
            <a:ext cx="5812492"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BÀI THỰC HÀNH 1</a:t>
            </a:r>
          </a:p>
        </p:txBody>
      </p:sp>
      <p:sp>
        <p:nvSpPr>
          <p:cNvPr name="TextBox 10" id="10"/>
          <p:cNvSpPr txBox="true"/>
          <p:nvPr/>
        </p:nvSpPr>
        <p:spPr>
          <a:xfrm rot="0">
            <a:off x="1028700" y="3541885"/>
            <a:ext cx="16681178" cy="1146174"/>
          </a:xfrm>
          <a:prstGeom prst="rect">
            <a:avLst/>
          </a:prstGeom>
        </p:spPr>
        <p:txBody>
          <a:bodyPr anchor="t" rtlCol="false" tIns="0" lIns="0" bIns="0" rIns="0">
            <a:spAutoFit/>
          </a:bodyPr>
          <a:lstStyle/>
          <a:p>
            <a:pPr algn="l">
              <a:lnSpc>
                <a:spcPts val="4550"/>
              </a:lnSpc>
            </a:pPr>
            <a:r>
              <a:rPr lang="en-US" sz="3500">
                <a:solidFill>
                  <a:srgbClr val="000000"/>
                </a:solidFill>
                <a:latin typeface="Public Sans"/>
                <a:ea typeface="Public Sans"/>
                <a:cs typeface="Public Sans"/>
                <a:sym typeface="Public Sans"/>
              </a:rPr>
              <a:t>Tìm hiểu các tính năng và cách sử dụng sản phẩm SweetViz (</a:t>
            </a:r>
            <a:r>
              <a:rPr lang="en-US" sz="3500" u="none">
                <a:solidFill>
                  <a:srgbClr val="000000"/>
                </a:solidFill>
                <a:latin typeface="Public Sans"/>
                <a:ea typeface="Public Sans"/>
                <a:cs typeface="Public Sans"/>
                <a:sym typeface="Public Sans"/>
              </a:rPr>
              <a:t>https://pypi.org/project/sw</a:t>
            </a:r>
            <a:r>
              <a:rPr lang="en-US" sz="3500">
                <a:solidFill>
                  <a:srgbClr val="000000"/>
                </a:solidFill>
                <a:latin typeface="Public Sans"/>
                <a:ea typeface="Public Sans"/>
                <a:cs typeface="Public Sans"/>
                <a:sym typeface="Public Sans"/>
              </a:rPr>
              <a:t>e</a:t>
            </a:r>
            <a:r>
              <a:rPr lang="en-US" sz="3500" u="none">
                <a:solidFill>
                  <a:srgbClr val="000000"/>
                </a:solidFill>
                <a:latin typeface="Public Sans"/>
                <a:ea typeface="Public Sans"/>
                <a:cs typeface="Public Sans"/>
                <a:sym typeface="Public Sans"/>
              </a:rPr>
              <a:t>e</a:t>
            </a:r>
            <a:r>
              <a:rPr lang="en-US" sz="3500">
                <a:solidFill>
                  <a:srgbClr val="000000"/>
                </a:solidFill>
                <a:latin typeface="Public Sans"/>
                <a:ea typeface="Public Sans"/>
                <a:cs typeface="Public Sans"/>
                <a:sym typeface="Public Sans"/>
              </a:rPr>
              <a:t>tviz) áp dụng trên tập dữ liệu Marketin</a:t>
            </a:r>
            <a:r>
              <a:rPr lang="en-US" sz="3500" u="none">
                <a:solidFill>
                  <a:srgbClr val="000000"/>
                </a:solidFill>
                <a:latin typeface="Public Sans"/>
                <a:ea typeface="Public Sans"/>
                <a:cs typeface="Public Sans"/>
                <a:sym typeface="Public Sans"/>
              </a:rPr>
              <a:t>g C</a:t>
            </a:r>
            <a:r>
              <a:rPr lang="en-US" sz="3500">
                <a:solidFill>
                  <a:srgbClr val="000000"/>
                </a:solidFill>
                <a:latin typeface="Public Sans"/>
                <a:ea typeface="Public Sans"/>
                <a:cs typeface="Public Sans"/>
                <a:sym typeface="Public Sans"/>
              </a:rPr>
              <a:t>a</a:t>
            </a:r>
            <a:r>
              <a:rPr lang="en-US" sz="3500" u="none">
                <a:solidFill>
                  <a:srgbClr val="000000"/>
                </a:solidFill>
                <a:latin typeface="Public Sans"/>
                <a:ea typeface="Public Sans"/>
                <a:cs typeface="Public Sans"/>
                <a:sym typeface="Public Sans"/>
              </a:rPr>
              <a:t>mpaign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9" id="9"/>
          <p:cNvSpPr txBox="true"/>
          <p:nvPr/>
        </p:nvSpPr>
        <p:spPr>
          <a:xfrm rot="0">
            <a:off x="6300729" y="2405235"/>
            <a:ext cx="5812492"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BÀI THỰC HÀNH 2</a:t>
            </a:r>
          </a:p>
        </p:txBody>
      </p:sp>
      <p:sp>
        <p:nvSpPr>
          <p:cNvPr name="TextBox 10" id="10"/>
          <p:cNvSpPr txBox="true"/>
          <p:nvPr/>
        </p:nvSpPr>
        <p:spPr>
          <a:xfrm rot="0">
            <a:off x="1028700" y="3541885"/>
            <a:ext cx="16394573" cy="1146174"/>
          </a:xfrm>
          <a:prstGeom prst="rect">
            <a:avLst/>
          </a:prstGeom>
        </p:spPr>
        <p:txBody>
          <a:bodyPr anchor="t" rtlCol="false" tIns="0" lIns="0" bIns="0" rIns="0">
            <a:spAutoFit/>
          </a:bodyPr>
          <a:lstStyle/>
          <a:p>
            <a:pPr algn="l">
              <a:lnSpc>
                <a:spcPts val="4550"/>
              </a:lnSpc>
            </a:pPr>
            <a:r>
              <a:rPr lang="en-US" sz="3500">
                <a:solidFill>
                  <a:srgbClr val="000000"/>
                </a:solidFill>
                <a:latin typeface="Public Sans"/>
                <a:ea typeface="Public Sans"/>
                <a:cs typeface="Public Sans"/>
                <a:sym typeface="Public Sans"/>
              </a:rPr>
              <a:t>Tìm hiểu các tính năng và cách sử dụng sản phẩm AutoViz (</a:t>
            </a:r>
            <a:r>
              <a:rPr lang="en-US" sz="3500" u="none">
                <a:solidFill>
                  <a:srgbClr val="000000"/>
                </a:solidFill>
                <a:latin typeface="Public Sans"/>
                <a:ea typeface="Public Sans"/>
                <a:cs typeface="Public Sans"/>
                <a:sym typeface="Public Sans"/>
              </a:rPr>
              <a:t>https://pypi.org/project/au</a:t>
            </a:r>
            <a:r>
              <a:rPr lang="en-US" sz="3500">
                <a:solidFill>
                  <a:srgbClr val="000000"/>
                </a:solidFill>
                <a:latin typeface="Public Sans"/>
                <a:ea typeface="Public Sans"/>
                <a:cs typeface="Public Sans"/>
                <a:sym typeface="Public Sans"/>
              </a:rPr>
              <a:t>toviz) áp dụng trên tập dữ liệu Marketin</a:t>
            </a:r>
            <a:r>
              <a:rPr lang="en-US" sz="3500" u="none">
                <a:solidFill>
                  <a:srgbClr val="000000"/>
                </a:solidFill>
                <a:latin typeface="Public Sans"/>
                <a:ea typeface="Public Sans"/>
                <a:cs typeface="Public Sans"/>
                <a:sym typeface="Public Sans"/>
              </a:rPr>
              <a:t>g C</a:t>
            </a:r>
            <a:r>
              <a:rPr lang="en-US" sz="3500">
                <a:solidFill>
                  <a:srgbClr val="000000"/>
                </a:solidFill>
                <a:latin typeface="Public Sans"/>
                <a:ea typeface="Public Sans"/>
                <a:cs typeface="Public Sans"/>
                <a:sym typeface="Public Sans"/>
              </a:rPr>
              <a:t>a</a:t>
            </a:r>
            <a:r>
              <a:rPr lang="en-US" sz="3500" u="none">
                <a:solidFill>
                  <a:srgbClr val="000000"/>
                </a:solidFill>
                <a:latin typeface="Public Sans"/>
                <a:ea typeface="Public Sans"/>
                <a:cs typeface="Public Sans"/>
                <a:sym typeface="Public Sans"/>
              </a:rPr>
              <a:t>mpaign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282649">
            <a:off x="-610510" y="3966314"/>
            <a:ext cx="6899259" cy="2354372"/>
          </a:xfrm>
          <a:custGeom>
            <a:avLst/>
            <a:gdLst/>
            <a:ahLst/>
            <a:cxnLst/>
            <a:rect r="r" b="b" t="t" l="l"/>
            <a:pathLst>
              <a:path h="2354372" w="6899259">
                <a:moveTo>
                  <a:pt x="0" y="0"/>
                </a:moveTo>
                <a:lnTo>
                  <a:pt x="6899260" y="0"/>
                </a:lnTo>
                <a:lnTo>
                  <a:pt x="6899260" y="2354372"/>
                </a:lnTo>
                <a:lnTo>
                  <a:pt x="0" y="23543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0">
            <a:off x="678556" y="2345348"/>
            <a:ext cx="5026450" cy="5663606"/>
          </a:xfrm>
          <a:custGeom>
            <a:avLst/>
            <a:gdLst/>
            <a:ahLst/>
            <a:cxnLst/>
            <a:rect r="r" b="b" t="t" l="l"/>
            <a:pathLst>
              <a:path h="5663606" w="5026450">
                <a:moveTo>
                  <a:pt x="0" y="0"/>
                </a:moveTo>
                <a:lnTo>
                  <a:pt x="5026450" y="0"/>
                </a:lnTo>
                <a:lnTo>
                  <a:pt x="5026450" y="5663605"/>
                </a:lnTo>
                <a:lnTo>
                  <a:pt x="0" y="56636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9897513" y="1020196"/>
            <a:ext cx="3306025" cy="635508"/>
          </a:xfrm>
          <a:prstGeom prst="rect">
            <a:avLst/>
          </a:prstGeom>
        </p:spPr>
        <p:txBody>
          <a:bodyPr anchor="t" rtlCol="false" tIns="0" lIns="0" bIns="0" rIns="0">
            <a:spAutoFit/>
          </a:bodyPr>
          <a:lstStyle/>
          <a:p>
            <a:pPr algn="l">
              <a:lnSpc>
                <a:spcPts val="4656"/>
              </a:lnSpc>
            </a:pPr>
            <a:r>
              <a:rPr lang="en-US" sz="4800" b="true">
                <a:solidFill>
                  <a:srgbClr val="000000"/>
                </a:solidFill>
                <a:latin typeface="Public Sans Bold"/>
                <a:ea typeface="Public Sans Bold"/>
                <a:cs typeface="Public Sans Bold"/>
                <a:sym typeface="Public Sans Bold"/>
              </a:rPr>
              <a:t>KẾT LUẬN</a:t>
            </a:r>
          </a:p>
        </p:txBody>
      </p:sp>
      <p:sp>
        <p:nvSpPr>
          <p:cNvPr name="TextBox 5" id="5"/>
          <p:cNvSpPr txBox="true"/>
          <p:nvPr/>
        </p:nvSpPr>
        <p:spPr>
          <a:xfrm rot="0">
            <a:off x="5311498" y="1822509"/>
            <a:ext cx="12478055" cy="7743825"/>
          </a:xfrm>
          <a:prstGeom prst="rect">
            <a:avLst/>
          </a:prstGeom>
        </p:spPr>
        <p:txBody>
          <a:bodyPr anchor="t" rtlCol="false" tIns="0" lIns="0" bIns="0" rIns="0">
            <a:spAutoFit/>
          </a:bodyPr>
          <a:lstStyle/>
          <a:p>
            <a:pPr algn="l" marL="786680" indent="-393340" lvl="1">
              <a:lnSpc>
                <a:spcPts val="4372"/>
              </a:lnSpc>
              <a:buFont typeface="Arial"/>
              <a:buChar char="•"/>
            </a:pPr>
            <a:r>
              <a:rPr lang="en-US" b="true" sz="3643">
                <a:solidFill>
                  <a:srgbClr val="000000"/>
                </a:solidFill>
                <a:latin typeface="Public Sans Bold"/>
                <a:ea typeface="Public Sans Bold"/>
                <a:cs typeface="Public Sans Bold"/>
                <a:sym typeface="Public Sans Bold"/>
              </a:rPr>
              <a:t>Kết quả</a:t>
            </a:r>
            <a:r>
              <a:rPr lang="en-US" sz="3643">
                <a:solidFill>
                  <a:srgbClr val="000000"/>
                </a:solidFill>
                <a:latin typeface="Public Sans"/>
                <a:ea typeface="Public Sans"/>
                <a:cs typeface="Public Sans"/>
                <a:sym typeface="Public Sans"/>
              </a:rPr>
              <a:t>: Hiểu rõ đặc điểm, cấu trúc và chất lượng dữ liệu; phát hiện các mẫu, xu hướng và bất thường.</a:t>
            </a:r>
          </a:p>
          <a:p>
            <a:pPr algn="l" marL="786680" indent="-393340" lvl="1">
              <a:lnSpc>
                <a:spcPts val="4372"/>
              </a:lnSpc>
              <a:buFont typeface="Arial"/>
              <a:buChar char="•"/>
            </a:pPr>
            <a:r>
              <a:rPr lang="en-US" b="true" sz="3643">
                <a:solidFill>
                  <a:srgbClr val="000000"/>
                </a:solidFill>
                <a:latin typeface="Public Sans Bold"/>
                <a:ea typeface="Public Sans Bold"/>
                <a:cs typeface="Public Sans Bold"/>
                <a:sym typeface="Public Sans Bold"/>
              </a:rPr>
              <a:t>Ưu điểm</a:t>
            </a:r>
            <a:r>
              <a:rPr lang="en-US" sz="3643">
                <a:solidFill>
                  <a:srgbClr val="000000"/>
                </a:solidFill>
                <a:latin typeface="Public Sans"/>
                <a:ea typeface="Public Sans"/>
                <a:cs typeface="Public Sans"/>
                <a:sym typeface="Public Sans"/>
              </a:rPr>
              <a:t>:</a:t>
            </a:r>
          </a:p>
          <a:p>
            <a:pPr algn="l" marL="1573360" indent="-524453" lvl="2">
              <a:lnSpc>
                <a:spcPts val="4372"/>
              </a:lnSpc>
              <a:buFont typeface="Arial"/>
              <a:buChar char="⚬"/>
            </a:pPr>
            <a:r>
              <a:rPr lang="en-US" sz="3643">
                <a:solidFill>
                  <a:srgbClr val="000000"/>
                </a:solidFill>
                <a:latin typeface="Public Sans"/>
                <a:ea typeface="Public Sans"/>
                <a:cs typeface="Public Sans"/>
                <a:sym typeface="Public Sans"/>
              </a:rPr>
              <a:t>Giúp nắm bắt dữ liệu nhanh, trực quan.</a:t>
            </a:r>
          </a:p>
          <a:p>
            <a:pPr algn="l" marL="1573360" indent="-524453" lvl="2">
              <a:lnSpc>
                <a:spcPts val="4372"/>
              </a:lnSpc>
              <a:buFont typeface="Arial"/>
              <a:buChar char="⚬"/>
            </a:pPr>
            <a:r>
              <a:rPr lang="en-US" sz="3643">
                <a:solidFill>
                  <a:srgbClr val="000000"/>
                </a:solidFill>
                <a:latin typeface="Public Sans"/>
                <a:ea typeface="Public Sans"/>
                <a:cs typeface="Public Sans"/>
                <a:sym typeface="Public Sans"/>
              </a:rPr>
              <a:t>Hỗ trợ phát hiện lỗi, giá trị ngoại lai, dữ liệu thiếu.</a:t>
            </a:r>
          </a:p>
          <a:p>
            <a:pPr algn="l" marL="1573360" indent="-524453" lvl="2">
              <a:lnSpc>
                <a:spcPts val="4372"/>
              </a:lnSpc>
              <a:buFont typeface="Arial"/>
              <a:buChar char="⚬"/>
            </a:pPr>
            <a:r>
              <a:rPr lang="en-US" sz="3643">
                <a:solidFill>
                  <a:srgbClr val="000000"/>
                </a:solidFill>
                <a:latin typeface="Public Sans"/>
                <a:ea typeface="Public Sans"/>
                <a:cs typeface="Public Sans"/>
                <a:sym typeface="Public Sans"/>
              </a:rPr>
              <a:t>Là bước nền quan trọng cho phân tích và mô hình hóa.</a:t>
            </a:r>
          </a:p>
          <a:p>
            <a:pPr algn="l" marL="786680" indent="-393340" lvl="1">
              <a:lnSpc>
                <a:spcPts val="4372"/>
              </a:lnSpc>
              <a:buFont typeface="Arial"/>
              <a:buChar char="•"/>
            </a:pPr>
            <a:r>
              <a:rPr lang="en-US" b="true" sz="3643">
                <a:solidFill>
                  <a:srgbClr val="000000"/>
                </a:solidFill>
                <a:latin typeface="Public Sans Bold"/>
                <a:ea typeface="Public Sans Bold"/>
                <a:cs typeface="Public Sans Bold"/>
                <a:sym typeface="Public Sans Bold"/>
              </a:rPr>
              <a:t>Khó khăn</a:t>
            </a:r>
            <a:r>
              <a:rPr lang="en-US" sz="3643">
                <a:solidFill>
                  <a:srgbClr val="000000"/>
                </a:solidFill>
                <a:latin typeface="Public Sans"/>
                <a:ea typeface="Public Sans"/>
                <a:cs typeface="Public Sans"/>
                <a:sym typeface="Public Sans"/>
              </a:rPr>
              <a:t>:</a:t>
            </a:r>
          </a:p>
          <a:p>
            <a:pPr algn="l" marL="1573360" indent="-524453" lvl="2">
              <a:lnSpc>
                <a:spcPts val="4372"/>
              </a:lnSpc>
              <a:buFont typeface="Arial"/>
              <a:buChar char="⚬"/>
            </a:pPr>
            <a:r>
              <a:rPr lang="en-US" sz="3643">
                <a:solidFill>
                  <a:srgbClr val="000000"/>
                </a:solidFill>
                <a:latin typeface="Public Sans"/>
                <a:ea typeface="Public Sans"/>
                <a:cs typeface="Public Sans"/>
                <a:sym typeface="Public Sans"/>
              </a:rPr>
              <a:t>Dữ liệu phức tạp, thiếu hoặc không nhất quán → cần tiền xử lý kỹ.</a:t>
            </a:r>
          </a:p>
          <a:p>
            <a:pPr algn="l" marL="1573360" indent="-524453" lvl="2">
              <a:lnSpc>
                <a:spcPts val="4372"/>
              </a:lnSpc>
              <a:buFont typeface="Arial"/>
              <a:buChar char="⚬"/>
            </a:pPr>
            <a:r>
              <a:rPr lang="en-US" sz="3643">
                <a:solidFill>
                  <a:srgbClr val="000000"/>
                </a:solidFill>
                <a:latin typeface="Public Sans"/>
                <a:ea typeface="Public Sans"/>
                <a:cs typeface="Public Sans"/>
                <a:sym typeface="Public Sans"/>
              </a:rPr>
              <a:t>Khối lượng dữ liệu lớn → tốn thời gian và tài nguyên xử lý.</a:t>
            </a:r>
          </a:p>
          <a:p>
            <a:pPr algn="l" marL="1573360" indent="-524453" lvl="2">
              <a:lnSpc>
                <a:spcPts val="4372"/>
              </a:lnSpc>
              <a:spcBef>
                <a:spcPct val="0"/>
              </a:spcBef>
              <a:buFont typeface="Arial"/>
              <a:buChar char="⚬"/>
            </a:pPr>
            <a:r>
              <a:rPr lang="en-US" sz="3643">
                <a:solidFill>
                  <a:srgbClr val="000000"/>
                </a:solidFill>
                <a:latin typeface="Public Sans"/>
                <a:ea typeface="Public Sans"/>
                <a:cs typeface="Public Sans"/>
                <a:sym typeface="Public Sans"/>
              </a:rPr>
              <a:t>Đòi hỏi kỹ năng sử dụng công cụ và trực quan hóa tốt.</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5" id="15"/>
          <p:cNvSpPr txBox="true"/>
          <p:nvPr/>
        </p:nvSpPr>
        <p:spPr>
          <a:xfrm rot="0">
            <a:off x="-2784118" y="4580727"/>
            <a:ext cx="24205132" cy="1209674"/>
          </a:xfrm>
          <a:prstGeom prst="rect">
            <a:avLst/>
          </a:prstGeom>
        </p:spPr>
        <p:txBody>
          <a:bodyPr anchor="t" rtlCol="false" tIns="0" lIns="0" bIns="0" rIns="0">
            <a:spAutoFit/>
          </a:bodyPr>
          <a:lstStyle/>
          <a:p>
            <a:pPr algn="ctr">
              <a:lnSpc>
                <a:spcPts val="8699"/>
              </a:lnSpc>
            </a:pPr>
            <a:r>
              <a:rPr lang="en-US" b="true" sz="9999">
                <a:solidFill>
                  <a:srgbClr val="000000"/>
                </a:solidFill>
                <a:latin typeface="Public Sans Bold"/>
                <a:ea typeface="Public Sans Bold"/>
                <a:cs typeface="Public Sans Bold"/>
                <a:sym typeface="Public Sans Bold"/>
              </a:rPr>
              <a:t>Thanks for your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DAG1WwHIBBc</dc:identifier>
  <dcterms:modified xsi:type="dcterms:W3CDTF">2011-08-01T06:04:30Z</dcterms:modified>
  <cp:revision>1</cp:revision>
  <dc:title>Phân tích khám phá dữ liệu</dc:title>
</cp:coreProperties>
</file>