
<file path=[Content_Types].xml><?xml version="1.0" encoding="utf-8"?>
<Types xmlns="http://schemas.openxmlformats.org/package/2006/content-types">
  <Default ContentType="application/x-fontdata" Extension="fntdata"/>
  <Default ContentType="image/gif" Extension="gif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</p:sldIdLst>
  <p:sldSz cx="18288000" cy="10287000"/>
  <p:notesSz cx="6858000" cy="9144000"/>
  <p:embeddedFontLst>
    <p:embeddedFont>
      <p:font typeface="Paytone One" charset="1" panose="00000500000000000000"/>
      <p:regular r:id="rId26"/>
    </p:embeddedFont>
    <p:embeddedFont>
      <p:font typeface="Source Sans Pro Bold" charset="1" panose="020B0703030403020204"/>
      <p:regular r:id="rId27"/>
    </p:embeddedFont>
    <p:embeddedFont>
      <p:font typeface="Source Sans Pro" charset="1" panose="020B0503030403020204"/>
      <p:regular r:id="rId28"/>
    </p:embeddedFont>
    <p:embeddedFont>
      <p:font typeface="Montserrat Bold" charset="1" panose="00000800000000000000"/>
      <p:regular r:id="rId29"/>
    </p:embeddedFont>
    <p:embeddedFont>
      <p:font typeface="Source Sans Pro Italics" charset="1" panose="020B0503030403090204"/>
      <p:regular r:id="rId3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14" Target="../media/image13.gif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.png" Type="http://schemas.openxmlformats.org/officeDocument/2006/relationships/image"/><Relationship Id="rId11" Target="../media/image12.svg" Type="http://schemas.openxmlformats.org/officeDocument/2006/relationships/image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14.png" Type="http://schemas.openxmlformats.org/officeDocument/2006/relationships/image"/><Relationship Id="rId7" Target="../media/image15.svg" Type="http://schemas.openxmlformats.org/officeDocument/2006/relationships/image"/><Relationship Id="rId8" Target="../media/image9.png" Type="http://schemas.openxmlformats.org/officeDocument/2006/relationships/image"/><Relationship Id="rId9" Target="../media/image10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0.png" Type="http://schemas.openxmlformats.org/officeDocument/2006/relationships/image"/><Relationship Id="rId11" Target="../media/image21.svg" Type="http://schemas.openxmlformats.org/officeDocument/2006/relationships/image"/><Relationship Id="rId12" Target="../media/image22.png" Type="http://schemas.openxmlformats.org/officeDocument/2006/relationships/image"/><Relationship Id="rId13" Target="../media/image23.svg" Type="http://schemas.openxmlformats.org/officeDocument/2006/relationships/image"/><Relationship Id="rId14" Target="../media/image24.png" Type="http://schemas.openxmlformats.org/officeDocument/2006/relationships/image"/><Relationship Id="rId15" Target="../media/image25.svg" Type="http://schemas.openxmlformats.org/officeDocument/2006/relationships/image"/><Relationship Id="rId16" Target="../media/image26.png" Type="http://schemas.openxmlformats.org/officeDocument/2006/relationships/image"/><Relationship Id="rId17" Target="../media/image27.svg" Type="http://schemas.openxmlformats.org/officeDocument/2006/relationships/image"/><Relationship Id="rId18" Target="../media/image28.png" Type="http://schemas.openxmlformats.org/officeDocument/2006/relationships/image"/><Relationship Id="rId19" Target="../media/image29.svg" Type="http://schemas.openxmlformats.org/officeDocument/2006/relationships/image"/><Relationship Id="rId2" Target="../media/image3.png" Type="http://schemas.openxmlformats.org/officeDocument/2006/relationships/image"/><Relationship Id="rId20" Target="../media/image30.png" Type="http://schemas.openxmlformats.org/officeDocument/2006/relationships/image"/><Relationship Id="rId21" Target="../media/image31.svg" Type="http://schemas.openxmlformats.org/officeDocument/2006/relationships/image"/><Relationship Id="rId22" Target="../media/image1.png" Type="http://schemas.openxmlformats.org/officeDocument/2006/relationships/image"/><Relationship Id="rId23" Target="../media/image2.svg" Type="http://schemas.openxmlformats.org/officeDocument/2006/relationships/image"/><Relationship Id="rId3" Target="../media/image4.svg" Type="http://schemas.openxmlformats.org/officeDocument/2006/relationships/image"/><Relationship Id="rId4" Target="../media/image16.png" Type="http://schemas.openxmlformats.org/officeDocument/2006/relationships/image"/><Relationship Id="rId5" Target="../media/image17.svg" Type="http://schemas.openxmlformats.org/officeDocument/2006/relationships/image"/><Relationship Id="rId6" Target="../media/image9.png" Type="http://schemas.openxmlformats.org/officeDocument/2006/relationships/image"/><Relationship Id="rId7" Target="../media/image10.svg" Type="http://schemas.openxmlformats.org/officeDocument/2006/relationships/image"/><Relationship Id="rId8" Target="../media/image18.png" Type="http://schemas.openxmlformats.org/officeDocument/2006/relationships/image"/><Relationship Id="rId9" Target="../media/image19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.png" Type="http://schemas.openxmlformats.org/officeDocument/2006/relationships/image"/><Relationship Id="rId11" Target="../media/image12.svg" Type="http://schemas.openxmlformats.org/officeDocument/2006/relationships/image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14.png" Type="http://schemas.openxmlformats.org/officeDocument/2006/relationships/image"/><Relationship Id="rId7" Target="../media/image15.svg" Type="http://schemas.openxmlformats.org/officeDocument/2006/relationships/image"/><Relationship Id="rId8" Target="../media/image9.png" Type="http://schemas.openxmlformats.org/officeDocument/2006/relationships/image"/><Relationship Id="rId9" Target="../media/image10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.png" Type="http://schemas.openxmlformats.org/officeDocument/2006/relationships/image"/><Relationship Id="rId11" Target="../media/image12.svg" Type="http://schemas.openxmlformats.org/officeDocument/2006/relationships/image"/><Relationship Id="rId12" Target="../media/image32.png" Type="http://schemas.openxmlformats.org/officeDocument/2006/relationships/image"/><Relationship Id="rId13" Target="../media/image33.svg" Type="http://schemas.openxmlformats.org/officeDocument/2006/relationships/image"/><Relationship Id="rId14" Target="../media/image34.png" Type="http://schemas.openxmlformats.org/officeDocument/2006/relationships/image"/><Relationship Id="rId15" Target="../media/image35.svg" Type="http://schemas.openxmlformats.org/officeDocument/2006/relationships/image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14.png" Type="http://schemas.openxmlformats.org/officeDocument/2006/relationships/image"/><Relationship Id="rId7" Target="../media/image15.svg" Type="http://schemas.openxmlformats.org/officeDocument/2006/relationships/image"/><Relationship Id="rId8" Target="../media/image9.png" Type="http://schemas.openxmlformats.org/officeDocument/2006/relationships/image"/><Relationship Id="rId9" Target="../media/image10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.png" Type="http://schemas.openxmlformats.org/officeDocument/2006/relationships/image"/><Relationship Id="rId11" Target="../media/image12.svg" Type="http://schemas.openxmlformats.org/officeDocument/2006/relationships/image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14.png" Type="http://schemas.openxmlformats.org/officeDocument/2006/relationships/image"/><Relationship Id="rId7" Target="../media/image15.svg" Type="http://schemas.openxmlformats.org/officeDocument/2006/relationships/image"/><Relationship Id="rId8" Target="../media/image9.png" Type="http://schemas.openxmlformats.org/officeDocument/2006/relationships/image"/><Relationship Id="rId9" Target="../media/image10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.png" Type="http://schemas.openxmlformats.org/officeDocument/2006/relationships/image"/><Relationship Id="rId11" Target="../media/image12.svg" Type="http://schemas.openxmlformats.org/officeDocument/2006/relationships/image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14.png" Type="http://schemas.openxmlformats.org/officeDocument/2006/relationships/image"/><Relationship Id="rId7" Target="../media/image15.svg" Type="http://schemas.openxmlformats.org/officeDocument/2006/relationships/image"/><Relationship Id="rId8" Target="../media/image9.png" Type="http://schemas.openxmlformats.org/officeDocument/2006/relationships/image"/><Relationship Id="rId9" Target="../media/image10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4.png" Type="http://schemas.openxmlformats.org/officeDocument/2006/relationships/image"/><Relationship Id="rId11" Target="../media/image15.svg" Type="http://schemas.openxmlformats.org/officeDocument/2006/relationships/image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Relationship Id="rId6" Target="../media/image9.png" Type="http://schemas.openxmlformats.org/officeDocument/2006/relationships/image"/><Relationship Id="rId7" Target="../media/image10.svg" Type="http://schemas.openxmlformats.org/officeDocument/2006/relationships/image"/><Relationship Id="rId8" Target="../media/image1.png" Type="http://schemas.openxmlformats.org/officeDocument/2006/relationships/image"/><Relationship Id="rId9" Target="../media/image2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.png" Type="http://schemas.openxmlformats.org/officeDocument/2006/relationships/image"/><Relationship Id="rId11" Target="../media/image12.svg" Type="http://schemas.openxmlformats.org/officeDocument/2006/relationships/image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14.png" Type="http://schemas.openxmlformats.org/officeDocument/2006/relationships/image"/><Relationship Id="rId7" Target="../media/image15.svg" Type="http://schemas.openxmlformats.org/officeDocument/2006/relationships/image"/><Relationship Id="rId8" Target="../media/image9.png" Type="http://schemas.openxmlformats.org/officeDocument/2006/relationships/image"/><Relationship Id="rId9" Target="../media/image10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14.png" Type="http://schemas.openxmlformats.org/officeDocument/2006/relationships/image"/><Relationship Id="rId7" Target="../media/image15.svg" Type="http://schemas.openxmlformats.org/officeDocument/2006/relationships/image"/><Relationship Id="rId8" Target="../media/image36.png" Type="http://schemas.openxmlformats.org/officeDocument/2006/relationships/image"/><Relationship Id="rId9" Target="../media/image37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14.png" Type="http://schemas.openxmlformats.org/officeDocument/2006/relationships/image"/><Relationship Id="rId7" Target="../media/image15.svg" Type="http://schemas.openxmlformats.org/officeDocument/2006/relationships/image"/><Relationship Id="rId8" Target="../media/image38.png" Type="http://schemas.openxmlformats.org/officeDocument/2006/relationships/image"/><Relationship Id="rId9" Target="../media/image39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14.png" Type="http://schemas.openxmlformats.org/officeDocument/2006/relationships/image"/><Relationship Id="rId7" Target="../media/image15.svg" Type="http://schemas.openxmlformats.org/officeDocument/2006/relationships/image"/><Relationship Id="rId8" Target="../media/image40.png" Type="http://schemas.openxmlformats.org/officeDocument/2006/relationships/image"/><Relationship Id="rId9" Target="../media/image41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14.png" Type="http://schemas.openxmlformats.org/officeDocument/2006/relationships/image"/><Relationship Id="rId7" Target="../media/image15.svg" Type="http://schemas.openxmlformats.org/officeDocument/2006/relationships/image"/><Relationship Id="rId8" Target="../media/image42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14.png" Type="http://schemas.openxmlformats.org/officeDocument/2006/relationships/image"/><Relationship Id="rId7" Target="../media/image15.svg" Type="http://schemas.openxmlformats.org/officeDocument/2006/relationships/image"/><Relationship Id="rId8" Target="../media/image43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.png" Type="http://schemas.openxmlformats.org/officeDocument/2006/relationships/image"/><Relationship Id="rId11" Target="../media/image12.svg" Type="http://schemas.openxmlformats.org/officeDocument/2006/relationships/image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14.png" Type="http://schemas.openxmlformats.org/officeDocument/2006/relationships/image"/><Relationship Id="rId7" Target="../media/image15.svg" Type="http://schemas.openxmlformats.org/officeDocument/2006/relationships/image"/><Relationship Id="rId8" Target="../media/image9.png" Type="http://schemas.openxmlformats.org/officeDocument/2006/relationships/image"/><Relationship Id="rId9" Target="../media/image10.sv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.png" Type="http://schemas.openxmlformats.org/officeDocument/2006/relationships/image"/><Relationship Id="rId11" Target="../media/image12.svg" Type="http://schemas.openxmlformats.org/officeDocument/2006/relationships/image"/><Relationship Id="rId12" Target="../media/image32.png" Type="http://schemas.openxmlformats.org/officeDocument/2006/relationships/image"/><Relationship Id="rId13" Target="../media/image33.svg" Type="http://schemas.openxmlformats.org/officeDocument/2006/relationships/image"/><Relationship Id="rId14" Target="../media/image34.png" Type="http://schemas.openxmlformats.org/officeDocument/2006/relationships/image"/><Relationship Id="rId15" Target="../media/image35.svg" Type="http://schemas.openxmlformats.org/officeDocument/2006/relationships/image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14.png" Type="http://schemas.openxmlformats.org/officeDocument/2006/relationships/image"/><Relationship Id="rId7" Target="../media/image15.svg" Type="http://schemas.openxmlformats.org/officeDocument/2006/relationships/image"/><Relationship Id="rId8" Target="../media/image9.png" Type="http://schemas.openxmlformats.org/officeDocument/2006/relationships/image"/><Relationship Id="rId9" Target="../media/image10.sv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.png" Type="http://schemas.openxmlformats.org/officeDocument/2006/relationships/image"/><Relationship Id="rId11" Target="../media/image12.svg" Type="http://schemas.openxmlformats.org/officeDocument/2006/relationships/image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14.png" Type="http://schemas.openxmlformats.org/officeDocument/2006/relationships/image"/><Relationship Id="rId7" Target="../media/image15.svg" Type="http://schemas.openxmlformats.org/officeDocument/2006/relationships/image"/><Relationship Id="rId8" Target="../media/image9.png" Type="http://schemas.openxmlformats.org/officeDocument/2006/relationships/image"/><Relationship Id="rId9" Target="../media/image10.sv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.png" Type="http://schemas.openxmlformats.org/officeDocument/2006/relationships/image"/><Relationship Id="rId11" Target="../media/image12.svg" Type="http://schemas.openxmlformats.org/officeDocument/2006/relationships/image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14.png" Type="http://schemas.openxmlformats.org/officeDocument/2006/relationships/image"/><Relationship Id="rId7" Target="../media/image15.svg" Type="http://schemas.openxmlformats.org/officeDocument/2006/relationships/image"/><Relationship Id="rId8" Target="../media/image9.png" Type="http://schemas.openxmlformats.org/officeDocument/2006/relationships/image"/><Relationship Id="rId9" Target="../media/image10.sv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.png" Type="http://schemas.openxmlformats.org/officeDocument/2006/relationships/image"/><Relationship Id="rId11" Target="../media/image12.svg" Type="http://schemas.openxmlformats.org/officeDocument/2006/relationships/image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14.png" Type="http://schemas.openxmlformats.org/officeDocument/2006/relationships/image"/><Relationship Id="rId7" Target="../media/image15.svg" Type="http://schemas.openxmlformats.org/officeDocument/2006/relationships/image"/><Relationship Id="rId8" Target="../media/image9.png" Type="http://schemas.openxmlformats.org/officeDocument/2006/relationships/image"/><Relationship Id="rId9" Target="../media/image10.sv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6.png" Type="http://schemas.openxmlformats.org/officeDocument/2006/relationships/image"/><Relationship Id="rId11" Target="../media/image17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14" Target="../media/image9.png" Type="http://schemas.openxmlformats.org/officeDocument/2006/relationships/image"/><Relationship Id="rId15" Target="../media/image10.svg" Type="http://schemas.openxmlformats.org/officeDocument/2006/relationships/image"/><Relationship Id="rId16" Target="../media/image48.gif" Type="http://schemas.openxmlformats.org/officeDocument/2006/relationships/image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44.png" Type="http://schemas.openxmlformats.org/officeDocument/2006/relationships/image"/><Relationship Id="rId7" Target="../media/image45.svg" Type="http://schemas.openxmlformats.org/officeDocument/2006/relationships/image"/><Relationship Id="rId8" Target="../media/image46.png" Type="http://schemas.openxmlformats.org/officeDocument/2006/relationships/image"/><Relationship Id="rId9" Target="../media/image47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582233" y="595471"/>
            <a:ext cx="9853755" cy="9031118"/>
          </a:xfrm>
          <a:custGeom>
            <a:avLst/>
            <a:gdLst/>
            <a:ahLst/>
            <a:cxnLst/>
            <a:rect r="r" b="b" t="t" l="l"/>
            <a:pathLst>
              <a:path h="9031118" w="9853755">
                <a:moveTo>
                  <a:pt x="0" y="0"/>
                </a:moveTo>
                <a:lnTo>
                  <a:pt x="9853755" y="0"/>
                </a:lnTo>
                <a:lnTo>
                  <a:pt x="9853755" y="9031118"/>
                </a:lnTo>
                <a:lnTo>
                  <a:pt x="0" y="903111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550751" y="2284582"/>
            <a:ext cx="7474498" cy="9031118"/>
          </a:xfrm>
          <a:custGeom>
            <a:avLst/>
            <a:gdLst/>
            <a:ahLst/>
            <a:cxnLst/>
            <a:rect r="r" b="b" t="t" l="l"/>
            <a:pathLst>
              <a:path h="9031118" w="7474498">
                <a:moveTo>
                  <a:pt x="0" y="0"/>
                </a:moveTo>
                <a:lnTo>
                  <a:pt x="7474498" y="0"/>
                </a:lnTo>
                <a:lnTo>
                  <a:pt x="7474498" y="9031118"/>
                </a:lnTo>
                <a:lnTo>
                  <a:pt x="0" y="903111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3149031">
            <a:off x="-5495873" y="6405568"/>
            <a:ext cx="7869849" cy="9508804"/>
          </a:xfrm>
          <a:custGeom>
            <a:avLst/>
            <a:gdLst/>
            <a:ahLst/>
            <a:cxnLst/>
            <a:rect r="r" b="b" t="t" l="l"/>
            <a:pathLst>
              <a:path h="9508804" w="7869849">
                <a:moveTo>
                  <a:pt x="0" y="0"/>
                </a:moveTo>
                <a:lnTo>
                  <a:pt x="7869849" y="0"/>
                </a:lnTo>
                <a:lnTo>
                  <a:pt x="7869849" y="9508804"/>
                </a:lnTo>
                <a:lnTo>
                  <a:pt x="0" y="950880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465963">
            <a:off x="-6302046" y="-4126461"/>
            <a:ext cx="7869849" cy="9508804"/>
          </a:xfrm>
          <a:custGeom>
            <a:avLst/>
            <a:gdLst/>
            <a:ahLst/>
            <a:cxnLst/>
            <a:rect r="r" b="b" t="t" l="l"/>
            <a:pathLst>
              <a:path h="9508804" w="7869849">
                <a:moveTo>
                  <a:pt x="0" y="0"/>
                </a:moveTo>
                <a:lnTo>
                  <a:pt x="7869849" y="0"/>
                </a:lnTo>
                <a:lnTo>
                  <a:pt x="7869849" y="9508804"/>
                </a:lnTo>
                <a:lnTo>
                  <a:pt x="0" y="950880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620434" y="7200900"/>
            <a:ext cx="3882875" cy="4114800"/>
          </a:xfrm>
          <a:custGeom>
            <a:avLst/>
            <a:gdLst/>
            <a:ahLst/>
            <a:cxnLst/>
            <a:rect r="r" b="b" t="t" l="l"/>
            <a:pathLst>
              <a:path h="4114800" w="3882875">
                <a:moveTo>
                  <a:pt x="0" y="0"/>
                </a:moveTo>
                <a:lnTo>
                  <a:pt x="3882875" y="0"/>
                </a:lnTo>
                <a:lnTo>
                  <a:pt x="388287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1962339">
            <a:off x="534912" y="-1180722"/>
            <a:ext cx="1521284" cy="6387071"/>
          </a:xfrm>
          <a:custGeom>
            <a:avLst/>
            <a:gdLst/>
            <a:ahLst/>
            <a:cxnLst/>
            <a:rect r="r" b="b" t="t" l="l"/>
            <a:pathLst>
              <a:path h="6387071" w="1521284">
                <a:moveTo>
                  <a:pt x="0" y="0"/>
                </a:moveTo>
                <a:lnTo>
                  <a:pt x="1521284" y="0"/>
                </a:lnTo>
                <a:lnTo>
                  <a:pt x="1521284" y="6387070"/>
                </a:lnTo>
                <a:lnTo>
                  <a:pt x="0" y="638707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4147063" y="7666462"/>
            <a:ext cx="4769015" cy="2349824"/>
          </a:xfrm>
          <a:custGeom>
            <a:avLst/>
            <a:gdLst/>
            <a:ahLst/>
            <a:cxnLst/>
            <a:rect r="r" b="b" t="t" l="l"/>
            <a:pathLst>
              <a:path h="2349824" w="4769015">
                <a:moveTo>
                  <a:pt x="0" y="0"/>
                </a:moveTo>
                <a:lnTo>
                  <a:pt x="4769015" y="0"/>
                </a:lnTo>
                <a:lnTo>
                  <a:pt x="4769015" y="2349823"/>
                </a:lnTo>
                <a:lnTo>
                  <a:pt x="0" y="234982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3447173" y="0"/>
            <a:ext cx="7315200" cy="2566970"/>
          </a:xfrm>
          <a:custGeom>
            <a:avLst/>
            <a:gdLst/>
            <a:ahLst/>
            <a:cxnLst/>
            <a:rect r="r" b="b" t="t" l="l"/>
            <a:pathLst>
              <a:path h="2566970" w="7315200">
                <a:moveTo>
                  <a:pt x="0" y="0"/>
                </a:moveTo>
                <a:lnTo>
                  <a:pt x="7315200" y="0"/>
                </a:lnTo>
                <a:lnTo>
                  <a:pt x="7315200" y="2566970"/>
                </a:lnTo>
                <a:lnTo>
                  <a:pt x="0" y="256697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14"/>
          <a:srcRect l="0" t="0" r="0" b="0"/>
          <a:stretch>
            <a:fillRect/>
          </a:stretch>
        </p:blipFill>
        <p:spPr>
          <a:xfrm flipH="false" flipV="false" rot="1540288">
            <a:off x="12397295" y="1308779"/>
            <a:ext cx="6821344" cy="6996250"/>
          </a:xfrm>
          <a:prstGeom prst="rect">
            <a:avLst/>
          </a:prstGeom>
        </p:spPr>
      </p:pic>
      <p:sp>
        <p:nvSpPr>
          <p:cNvPr name="TextBox 11" id="11"/>
          <p:cNvSpPr txBox="true"/>
          <p:nvPr/>
        </p:nvSpPr>
        <p:spPr>
          <a:xfrm rot="0">
            <a:off x="1893501" y="3337774"/>
            <a:ext cx="14500999" cy="25326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156"/>
              </a:lnSpc>
            </a:pPr>
            <a:r>
              <a:rPr lang="en-US" sz="7254">
                <a:solidFill>
                  <a:srgbClr val="000000"/>
                </a:solidFill>
                <a:latin typeface="Paytone One"/>
                <a:ea typeface="Paytone One"/>
                <a:cs typeface="Paytone One"/>
                <a:sym typeface="Paytone One"/>
              </a:rPr>
              <a:t>PHÂN TÍCH DỮ LIỆU BÁN HÀNG CỦA CHUỖI SIÊU THỊ WALMART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262441" y="6364599"/>
            <a:ext cx="11763117" cy="7124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79"/>
              </a:lnSpc>
            </a:pPr>
            <a:r>
              <a:rPr lang="en-US" sz="4199" b="true">
                <a:solidFill>
                  <a:srgbClr val="000000"/>
                </a:solidFill>
                <a:latin typeface="Source Sans Pro Bold"/>
                <a:ea typeface="Source Sans Pro Bold"/>
                <a:cs typeface="Source Sans Pro Bold"/>
                <a:sym typeface="Source Sans Pro Bold"/>
              </a:rPr>
              <a:t>GIẢNG VIÊN HƯỚNG DẪN: TS. ĐỖ NHƯ TÀI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3149031">
            <a:off x="-5495873" y="6405568"/>
            <a:ext cx="7869849" cy="9508804"/>
          </a:xfrm>
          <a:custGeom>
            <a:avLst/>
            <a:gdLst/>
            <a:ahLst/>
            <a:cxnLst/>
            <a:rect r="r" b="b" t="t" l="l"/>
            <a:pathLst>
              <a:path h="9508804" w="7869849">
                <a:moveTo>
                  <a:pt x="0" y="0"/>
                </a:moveTo>
                <a:lnTo>
                  <a:pt x="7869849" y="0"/>
                </a:lnTo>
                <a:lnTo>
                  <a:pt x="7869849" y="9508804"/>
                </a:lnTo>
                <a:lnTo>
                  <a:pt x="0" y="950880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465963">
            <a:off x="-6302046" y="-4126461"/>
            <a:ext cx="7869849" cy="9508804"/>
          </a:xfrm>
          <a:custGeom>
            <a:avLst/>
            <a:gdLst/>
            <a:ahLst/>
            <a:cxnLst/>
            <a:rect r="r" b="b" t="t" l="l"/>
            <a:pathLst>
              <a:path h="9508804" w="7869849">
                <a:moveTo>
                  <a:pt x="0" y="0"/>
                </a:moveTo>
                <a:lnTo>
                  <a:pt x="7869849" y="0"/>
                </a:lnTo>
                <a:lnTo>
                  <a:pt x="7869849" y="9508804"/>
                </a:lnTo>
                <a:lnTo>
                  <a:pt x="0" y="950880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3149031">
            <a:off x="14903464" y="7132525"/>
            <a:ext cx="7869849" cy="9508804"/>
          </a:xfrm>
          <a:custGeom>
            <a:avLst/>
            <a:gdLst/>
            <a:ahLst/>
            <a:cxnLst/>
            <a:rect r="r" b="b" t="t" l="l"/>
            <a:pathLst>
              <a:path h="9508804" w="7869849">
                <a:moveTo>
                  <a:pt x="0" y="0"/>
                </a:moveTo>
                <a:lnTo>
                  <a:pt x="7869849" y="0"/>
                </a:lnTo>
                <a:lnTo>
                  <a:pt x="7869849" y="9508804"/>
                </a:lnTo>
                <a:lnTo>
                  <a:pt x="0" y="950880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465963">
            <a:off x="14588268" y="-6592603"/>
            <a:ext cx="7869849" cy="9508804"/>
          </a:xfrm>
          <a:custGeom>
            <a:avLst/>
            <a:gdLst/>
            <a:ahLst/>
            <a:cxnLst/>
            <a:rect r="r" b="b" t="t" l="l"/>
            <a:pathLst>
              <a:path h="9508804" w="7869849">
                <a:moveTo>
                  <a:pt x="0" y="0"/>
                </a:moveTo>
                <a:lnTo>
                  <a:pt x="7869849" y="0"/>
                </a:lnTo>
                <a:lnTo>
                  <a:pt x="7869849" y="9508804"/>
                </a:lnTo>
                <a:lnTo>
                  <a:pt x="0" y="950880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6015174" y="7713087"/>
            <a:ext cx="3371931" cy="3090427"/>
          </a:xfrm>
          <a:custGeom>
            <a:avLst/>
            <a:gdLst/>
            <a:ahLst/>
            <a:cxnLst/>
            <a:rect r="r" b="b" t="t" l="l"/>
            <a:pathLst>
              <a:path h="3090427" w="3371931">
                <a:moveTo>
                  <a:pt x="0" y="0"/>
                </a:moveTo>
                <a:lnTo>
                  <a:pt x="3371932" y="0"/>
                </a:lnTo>
                <a:lnTo>
                  <a:pt x="3371932" y="3090426"/>
                </a:lnTo>
                <a:lnTo>
                  <a:pt x="0" y="309042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3262441" y="4270257"/>
            <a:ext cx="11763117" cy="31242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99"/>
              </a:lnSpc>
            </a:pPr>
            <a:r>
              <a:rPr lang="en-US" sz="4499">
                <a:solidFill>
                  <a:srgbClr val="2E6FB7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Nguyễn Văn Minh - 3122410242</a:t>
            </a:r>
          </a:p>
          <a:p>
            <a:pPr algn="ctr">
              <a:lnSpc>
                <a:spcPts val="6299"/>
              </a:lnSpc>
            </a:pPr>
            <a:r>
              <a:rPr lang="en-US" sz="4499">
                <a:solidFill>
                  <a:srgbClr val="2E6FB7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Nguyễn Trương Hiệp - 3122410110</a:t>
            </a:r>
          </a:p>
          <a:p>
            <a:pPr algn="ctr">
              <a:lnSpc>
                <a:spcPts val="6299"/>
              </a:lnSpc>
            </a:pPr>
            <a:r>
              <a:rPr lang="en-US" sz="4499">
                <a:solidFill>
                  <a:srgbClr val="2E6FB7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Vũ Thị Thanh Ngân - 3122410255</a:t>
            </a:r>
          </a:p>
          <a:p>
            <a:pPr algn="ctr">
              <a:lnSpc>
                <a:spcPts val="6299"/>
              </a:lnSpc>
            </a:pPr>
            <a:r>
              <a:rPr lang="en-US" sz="4499">
                <a:solidFill>
                  <a:srgbClr val="2E6FB7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Trương Xuân Hưng - 3122410161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-486295" y="6780821"/>
            <a:ext cx="3029989" cy="4114800"/>
          </a:xfrm>
          <a:custGeom>
            <a:avLst/>
            <a:gdLst/>
            <a:ahLst/>
            <a:cxnLst/>
            <a:rect r="r" b="b" t="t" l="l"/>
            <a:pathLst>
              <a:path h="4114800" w="3029989">
                <a:moveTo>
                  <a:pt x="0" y="0"/>
                </a:moveTo>
                <a:lnTo>
                  <a:pt x="3029990" y="0"/>
                </a:lnTo>
                <a:lnTo>
                  <a:pt x="302999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4874793" y="-395644"/>
            <a:ext cx="4769015" cy="2349824"/>
          </a:xfrm>
          <a:custGeom>
            <a:avLst/>
            <a:gdLst/>
            <a:ahLst/>
            <a:cxnLst/>
            <a:rect r="r" b="b" t="t" l="l"/>
            <a:pathLst>
              <a:path h="2349824" w="4769015">
                <a:moveTo>
                  <a:pt x="0" y="0"/>
                </a:moveTo>
                <a:lnTo>
                  <a:pt x="4769014" y="0"/>
                </a:lnTo>
                <a:lnTo>
                  <a:pt x="4769014" y="2349824"/>
                </a:lnTo>
                <a:lnTo>
                  <a:pt x="0" y="234982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3262441" y="2159785"/>
            <a:ext cx="11763117" cy="1327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846"/>
              </a:lnSpc>
            </a:pPr>
            <a:r>
              <a:rPr lang="en-US" sz="7747">
                <a:solidFill>
                  <a:srgbClr val="2E6FB7"/>
                </a:solidFill>
                <a:latin typeface="Paytone One"/>
                <a:ea typeface="Paytone One"/>
                <a:cs typeface="Paytone One"/>
                <a:sym typeface="Paytone One"/>
              </a:rPr>
              <a:t>CÁC THÀNH VIÊN NHÓM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-3892220" y="-254785"/>
            <a:ext cx="7315200" cy="2566970"/>
          </a:xfrm>
          <a:custGeom>
            <a:avLst/>
            <a:gdLst/>
            <a:ahLst/>
            <a:cxnLst/>
            <a:rect r="r" b="b" t="t" l="l"/>
            <a:pathLst>
              <a:path h="2566970" w="7315200">
                <a:moveTo>
                  <a:pt x="0" y="0"/>
                </a:moveTo>
                <a:lnTo>
                  <a:pt x="7315200" y="0"/>
                </a:lnTo>
                <a:lnTo>
                  <a:pt x="7315200" y="2566970"/>
                </a:lnTo>
                <a:lnTo>
                  <a:pt x="0" y="256697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3149031">
            <a:off x="-5495873" y="6405568"/>
            <a:ext cx="7869849" cy="9508804"/>
          </a:xfrm>
          <a:custGeom>
            <a:avLst/>
            <a:gdLst/>
            <a:ahLst/>
            <a:cxnLst/>
            <a:rect r="r" b="b" t="t" l="l"/>
            <a:pathLst>
              <a:path h="9508804" w="7869849">
                <a:moveTo>
                  <a:pt x="0" y="0"/>
                </a:moveTo>
                <a:lnTo>
                  <a:pt x="7869849" y="0"/>
                </a:lnTo>
                <a:lnTo>
                  <a:pt x="7869849" y="9508804"/>
                </a:lnTo>
                <a:lnTo>
                  <a:pt x="0" y="950880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465963">
            <a:off x="-6302046" y="-4126461"/>
            <a:ext cx="7869849" cy="9508804"/>
          </a:xfrm>
          <a:custGeom>
            <a:avLst/>
            <a:gdLst/>
            <a:ahLst/>
            <a:cxnLst/>
            <a:rect r="r" b="b" t="t" l="l"/>
            <a:pathLst>
              <a:path h="9508804" w="7869849">
                <a:moveTo>
                  <a:pt x="0" y="0"/>
                </a:moveTo>
                <a:lnTo>
                  <a:pt x="7869849" y="0"/>
                </a:lnTo>
                <a:lnTo>
                  <a:pt x="7869849" y="9508804"/>
                </a:lnTo>
                <a:lnTo>
                  <a:pt x="0" y="950880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3149031">
            <a:off x="14903464" y="7132525"/>
            <a:ext cx="7869849" cy="9508804"/>
          </a:xfrm>
          <a:custGeom>
            <a:avLst/>
            <a:gdLst/>
            <a:ahLst/>
            <a:cxnLst/>
            <a:rect r="r" b="b" t="t" l="l"/>
            <a:pathLst>
              <a:path h="9508804" w="7869849">
                <a:moveTo>
                  <a:pt x="0" y="0"/>
                </a:moveTo>
                <a:lnTo>
                  <a:pt x="7869849" y="0"/>
                </a:lnTo>
                <a:lnTo>
                  <a:pt x="7869849" y="9508804"/>
                </a:lnTo>
                <a:lnTo>
                  <a:pt x="0" y="950880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465963">
            <a:off x="14588268" y="-6592603"/>
            <a:ext cx="7869849" cy="9508804"/>
          </a:xfrm>
          <a:custGeom>
            <a:avLst/>
            <a:gdLst/>
            <a:ahLst/>
            <a:cxnLst/>
            <a:rect r="r" b="b" t="t" l="l"/>
            <a:pathLst>
              <a:path h="9508804" w="7869849">
                <a:moveTo>
                  <a:pt x="0" y="0"/>
                </a:moveTo>
                <a:lnTo>
                  <a:pt x="7869849" y="0"/>
                </a:lnTo>
                <a:lnTo>
                  <a:pt x="7869849" y="9508804"/>
                </a:lnTo>
                <a:lnTo>
                  <a:pt x="0" y="950880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1560948" y="-193518"/>
            <a:ext cx="5679713" cy="4114800"/>
          </a:xfrm>
          <a:custGeom>
            <a:avLst/>
            <a:gdLst/>
            <a:ahLst/>
            <a:cxnLst/>
            <a:rect r="r" b="b" t="t" l="l"/>
            <a:pathLst>
              <a:path h="4114800" w="5679713">
                <a:moveTo>
                  <a:pt x="0" y="0"/>
                </a:moveTo>
                <a:lnTo>
                  <a:pt x="5679712" y="0"/>
                </a:lnTo>
                <a:lnTo>
                  <a:pt x="567971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4618091" y="627941"/>
            <a:ext cx="4769015" cy="2349824"/>
          </a:xfrm>
          <a:custGeom>
            <a:avLst/>
            <a:gdLst/>
            <a:ahLst/>
            <a:cxnLst/>
            <a:rect r="r" b="b" t="t" l="l"/>
            <a:pathLst>
              <a:path h="2349824" w="4769015">
                <a:moveTo>
                  <a:pt x="0" y="0"/>
                </a:moveTo>
                <a:lnTo>
                  <a:pt x="4769015" y="0"/>
                </a:lnTo>
                <a:lnTo>
                  <a:pt x="4769015" y="2349823"/>
                </a:lnTo>
                <a:lnTo>
                  <a:pt x="0" y="234982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8" id="8"/>
          <p:cNvSpPr/>
          <p:nvPr/>
        </p:nvSpPr>
        <p:spPr>
          <a:xfrm>
            <a:off x="7427272" y="5220692"/>
            <a:ext cx="1386039" cy="0"/>
          </a:xfrm>
          <a:prstGeom prst="line">
            <a:avLst/>
          </a:prstGeom>
          <a:ln cap="flat" w="9525">
            <a:solidFill>
              <a:srgbClr val="30303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" id="9"/>
          <p:cNvSpPr/>
          <p:nvPr/>
        </p:nvSpPr>
        <p:spPr>
          <a:xfrm>
            <a:off x="8813311" y="4304619"/>
            <a:ext cx="1149843" cy="0"/>
          </a:xfrm>
          <a:prstGeom prst="line">
            <a:avLst/>
          </a:prstGeom>
          <a:ln cap="flat" w="9525">
            <a:solidFill>
              <a:srgbClr val="30303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0" id="10"/>
          <p:cNvSpPr/>
          <p:nvPr/>
        </p:nvSpPr>
        <p:spPr>
          <a:xfrm>
            <a:off x="8822836" y="5810800"/>
            <a:ext cx="1149843" cy="0"/>
          </a:xfrm>
          <a:prstGeom prst="line">
            <a:avLst/>
          </a:prstGeom>
          <a:ln cap="flat" w="9525">
            <a:solidFill>
              <a:srgbClr val="30303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1" id="11"/>
          <p:cNvSpPr/>
          <p:nvPr/>
        </p:nvSpPr>
        <p:spPr>
          <a:xfrm>
            <a:off x="8822836" y="7286023"/>
            <a:ext cx="1149843" cy="0"/>
          </a:xfrm>
          <a:prstGeom prst="line">
            <a:avLst/>
          </a:prstGeom>
          <a:ln cap="flat" w="9525">
            <a:solidFill>
              <a:srgbClr val="30303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2" id="12"/>
          <p:cNvSpPr/>
          <p:nvPr/>
        </p:nvSpPr>
        <p:spPr>
          <a:xfrm flipH="true" flipV="true">
            <a:off x="8822836" y="2800189"/>
            <a:ext cx="0" cy="4515022"/>
          </a:xfrm>
          <a:prstGeom prst="line">
            <a:avLst/>
          </a:prstGeom>
          <a:ln cap="flat" w="9525">
            <a:solidFill>
              <a:srgbClr val="30303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3" id="13"/>
          <p:cNvSpPr/>
          <p:nvPr/>
        </p:nvSpPr>
        <p:spPr>
          <a:xfrm flipH="false" flipV="true" rot="-10800000">
            <a:off x="3099994" y="3015831"/>
            <a:ext cx="4400197" cy="4400197"/>
          </a:xfrm>
          <a:custGeom>
            <a:avLst/>
            <a:gdLst/>
            <a:ahLst/>
            <a:cxnLst/>
            <a:rect r="r" b="b" t="t" l="l"/>
            <a:pathLst>
              <a:path h="4400197" w="4400197">
                <a:moveTo>
                  <a:pt x="0" y="4400197"/>
                </a:moveTo>
                <a:lnTo>
                  <a:pt x="4400197" y="4400197"/>
                </a:lnTo>
                <a:lnTo>
                  <a:pt x="4400197" y="0"/>
                </a:lnTo>
                <a:lnTo>
                  <a:pt x="0" y="0"/>
                </a:lnTo>
                <a:lnTo>
                  <a:pt x="0" y="4400197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4" id="14"/>
          <p:cNvGrpSpPr/>
          <p:nvPr/>
        </p:nvGrpSpPr>
        <p:grpSpPr>
          <a:xfrm rot="0">
            <a:off x="10462988" y="2232836"/>
            <a:ext cx="7153976" cy="1134706"/>
            <a:chOff x="0" y="0"/>
            <a:chExt cx="14577869" cy="2312223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4577868" cy="2312223"/>
            </a:xfrm>
            <a:custGeom>
              <a:avLst/>
              <a:gdLst/>
              <a:ahLst/>
              <a:cxnLst/>
              <a:rect r="r" b="b" t="t" l="l"/>
              <a:pathLst>
                <a:path h="2312223" w="14577868">
                  <a:moveTo>
                    <a:pt x="0" y="0"/>
                  </a:moveTo>
                  <a:lnTo>
                    <a:pt x="14577868" y="0"/>
                  </a:lnTo>
                  <a:lnTo>
                    <a:pt x="14577868" y="2312223"/>
                  </a:lnTo>
                  <a:lnTo>
                    <a:pt x="0" y="231222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0448701" y="3732885"/>
            <a:ext cx="7153976" cy="1134706"/>
            <a:chOff x="0" y="0"/>
            <a:chExt cx="14577869" cy="2312223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4577868" cy="2312223"/>
            </a:xfrm>
            <a:custGeom>
              <a:avLst/>
              <a:gdLst/>
              <a:ahLst/>
              <a:cxnLst/>
              <a:rect r="r" b="b" t="t" l="l"/>
              <a:pathLst>
                <a:path h="2312223" w="14577868">
                  <a:moveTo>
                    <a:pt x="0" y="0"/>
                  </a:moveTo>
                  <a:lnTo>
                    <a:pt x="14577868" y="0"/>
                  </a:lnTo>
                  <a:lnTo>
                    <a:pt x="14577868" y="2312223"/>
                  </a:lnTo>
                  <a:lnTo>
                    <a:pt x="0" y="231222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Freeform 18" id="18"/>
          <p:cNvSpPr/>
          <p:nvPr/>
        </p:nvSpPr>
        <p:spPr>
          <a:xfrm flipH="false" flipV="false" rot="-5400000">
            <a:off x="9881348" y="3732885"/>
            <a:ext cx="1134706" cy="1134706"/>
          </a:xfrm>
          <a:custGeom>
            <a:avLst/>
            <a:gdLst/>
            <a:ahLst/>
            <a:cxnLst/>
            <a:rect r="r" b="b" t="t" l="l"/>
            <a:pathLst>
              <a:path h="1134706" w="1134706">
                <a:moveTo>
                  <a:pt x="0" y="0"/>
                </a:moveTo>
                <a:lnTo>
                  <a:pt x="1134706" y="0"/>
                </a:lnTo>
                <a:lnTo>
                  <a:pt x="1134706" y="1134706"/>
                </a:lnTo>
                <a:lnTo>
                  <a:pt x="0" y="113470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9" id="19"/>
          <p:cNvGrpSpPr/>
          <p:nvPr/>
        </p:nvGrpSpPr>
        <p:grpSpPr>
          <a:xfrm rot="0">
            <a:off x="10458226" y="5239066"/>
            <a:ext cx="7153976" cy="1134706"/>
            <a:chOff x="0" y="0"/>
            <a:chExt cx="14577869" cy="2312223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4577868" cy="2312223"/>
            </a:xfrm>
            <a:custGeom>
              <a:avLst/>
              <a:gdLst/>
              <a:ahLst/>
              <a:cxnLst/>
              <a:rect r="r" b="b" t="t" l="l"/>
              <a:pathLst>
                <a:path h="2312223" w="14577868">
                  <a:moveTo>
                    <a:pt x="0" y="0"/>
                  </a:moveTo>
                  <a:lnTo>
                    <a:pt x="14577868" y="0"/>
                  </a:lnTo>
                  <a:lnTo>
                    <a:pt x="14577868" y="2312223"/>
                  </a:lnTo>
                  <a:lnTo>
                    <a:pt x="0" y="231222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10458226" y="6709908"/>
            <a:ext cx="7153976" cy="1134706"/>
            <a:chOff x="0" y="0"/>
            <a:chExt cx="14577869" cy="2312223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4577868" cy="2312223"/>
            </a:xfrm>
            <a:custGeom>
              <a:avLst/>
              <a:gdLst/>
              <a:ahLst/>
              <a:cxnLst/>
              <a:rect r="r" b="b" t="t" l="l"/>
              <a:pathLst>
                <a:path h="2312223" w="14577868">
                  <a:moveTo>
                    <a:pt x="0" y="0"/>
                  </a:moveTo>
                  <a:lnTo>
                    <a:pt x="14577868" y="0"/>
                  </a:lnTo>
                  <a:lnTo>
                    <a:pt x="14577868" y="2312223"/>
                  </a:lnTo>
                  <a:lnTo>
                    <a:pt x="0" y="231222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Freeform 23" id="23"/>
          <p:cNvSpPr/>
          <p:nvPr/>
        </p:nvSpPr>
        <p:spPr>
          <a:xfrm flipH="false" flipV="false" rot="-5400000">
            <a:off x="9890873" y="5239066"/>
            <a:ext cx="1134706" cy="1134706"/>
          </a:xfrm>
          <a:custGeom>
            <a:avLst/>
            <a:gdLst/>
            <a:ahLst/>
            <a:cxnLst/>
            <a:rect r="r" b="b" t="t" l="l"/>
            <a:pathLst>
              <a:path h="1134706" w="1134706">
                <a:moveTo>
                  <a:pt x="0" y="0"/>
                </a:moveTo>
                <a:lnTo>
                  <a:pt x="1134706" y="0"/>
                </a:lnTo>
                <a:lnTo>
                  <a:pt x="1134706" y="1134706"/>
                </a:lnTo>
                <a:lnTo>
                  <a:pt x="0" y="113470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-5400000">
            <a:off x="9890873" y="6709908"/>
            <a:ext cx="1134706" cy="1134706"/>
          </a:xfrm>
          <a:custGeom>
            <a:avLst/>
            <a:gdLst/>
            <a:ahLst/>
            <a:cxnLst/>
            <a:rect r="r" b="b" t="t" l="l"/>
            <a:pathLst>
              <a:path h="1134706" w="1134706">
                <a:moveTo>
                  <a:pt x="0" y="0"/>
                </a:moveTo>
                <a:lnTo>
                  <a:pt x="1134706" y="0"/>
                </a:lnTo>
                <a:lnTo>
                  <a:pt x="1134706" y="1134706"/>
                </a:lnTo>
                <a:lnTo>
                  <a:pt x="0" y="113470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6224356" y="3303621"/>
            <a:ext cx="700728" cy="717692"/>
          </a:xfrm>
          <a:custGeom>
            <a:avLst/>
            <a:gdLst/>
            <a:ahLst/>
            <a:cxnLst/>
            <a:rect r="r" b="b" t="t" l="l"/>
            <a:pathLst>
              <a:path h="717692" w="700728">
                <a:moveTo>
                  <a:pt x="0" y="0"/>
                </a:moveTo>
                <a:lnTo>
                  <a:pt x="700728" y="0"/>
                </a:lnTo>
                <a:lnTo>
                  <a:pt x="700728" y="717692"/>
                </a:lnTo>
                <a:lnTo>
                  <a:pt x="0" y="717692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26" id="26"/>
          <p:cNvSpPr/>
          <p:nvPr/>
        </p:nvSpPr>
        <p:spPr>
          <a:xfrm>
            <a:off x="8827599" y="2804570"/>
            <a:ext cx="1149843" cy="0"/>
          </a:xfrm>
          <a:prstGeom prst="line">
            <a:avLst/>
          </a:prstGeom>
          <a:ln cap="flat" w="9525">
            <a:solidFill>
              <a:srgbClr val="30303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27" id="27"/>
          <p:cNvSpPr/>
          <p:nvPr/>
        </p:nvSpPr>
        <p:spPr>
          <a:xfrm flipH="false" flipV="false" rot="-5400000">
            <a:off x="9895635" y="2293379"/>
            <a:ext cx="1134706" cy="1134706"/>
          </a:xfrm>
          <a:custGeom>
            <a:avLst/>
            <a:gdLst/>
            <a:ahLst/>
            <a:cxnLst/>
            <a:rect r="r" b="b" t="t" l="l"/>
            <a:pathLst>
              <a:path h="1134706" w="1134706">
                <a:moveTo>
                  <a:pt x="0" y="0"/>
                </a:moveTo>
                <a:lnTo>
                  <a:pt x="1134706" y="0"/>
                </a:lnTo>
                <a:lnTo>
                  <a:pt x="1134706" y="1134706"/>
                </a:lnTo>
                <a:lnTo>
                  <a:pt x="0" y="113470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10138622" y="2553697"/>
            <a:ext cx="638798" cy="501747"/>
          </a:xfrm>
          <a:custGeom>
            <a:avLst/>
            <a:gdLst/>
            <a:ahLst/>
            <a:cxnLst/>
            <a:rect r="r" b="b" t="t" l="l"/>
            <a:pathLst>
              <a:path h="501747" w="638798">
                <a:moveTo>
                  <a:pt x="0" y="0"/>
                </a:moveTo>
                <a:lnTo>
                  <a:pt x="638798" y="0"/>
                </a:lnTo>
                <a:lnTo>
                  <a:pt x="638798" y="501747"/>
                </a:lnTo>
                <a:lnTo>
                  <a:pt x="0" y="501747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10103771" y="5514414"/>
            <a:ext cx="672291" cy="541145"/>
          </a:xfrm>
          <a:custGeom>
            <a:avLst/>
            <a:gdLst/>
            <a:ahLst/>
            <a:cxnLst/>
            <a:rect r="r" b="b" t="t" l="l"/>
            <a:pathLst>
              <a:path h="541145" w="672291">
                <a:moveTo>
                  <a:pt x="0" y="0"/>
                </a:moveTo>
                <a:lnTo>
                  <a:pt x="672291" y="0"/>
                </a:lnTo>
                <a:lnTo>
                  <a:pt x="672291" y="541145"/>
                </a:lnTo>
                <a:lnTo>
                  <a:pt x="0" y="541145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0">
            <a:off x="10151055" y="7035478"/>
            <a:ext cx="626365" cy="501092"/>
          </a:xfrm>
          <a:custGeom>
            <a:avLst/>
            <a:gdLst/>
            <a:ahLst/>
            <a:cxnLst/>
            <a:rect r="r" b="b" t="t" l="l"/>
            <a:pathLst>
              <a:path h="501092" w="626365">
                <a:moveTo>
                  <a:pt x="0" y="0"/>
                </a:moveTo>
                <a:lnTo>
                  <a:pt x="626365" y="0"/>
                </a:lnTo>
                <a:lnTo>
                  <a:pt x="626365" y="501091"/>
                </a:lnTo>
                <a:lnTo>
                  <a:pt x="0" y="501091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1" id="31"/>
          <p:cNvSpPr/>
          <p:nvPr/>
        </p:nvSpPr>
        <p:spPr>
          <a:xfrm flipH="false" flipV="false" rot="0">
            <a:off x="10113296" y="3962609"/>
            <a:ext cx="635819" cy="657331"/>
          </a:xfrm>
          <a:custGeom>
            <a:avLst/>
            <a:gdLst/>
            <a:ahLst/>
            <a:cxnLst/>
            <a:rect r="r" b="b" t="t" l="l"/>
            <a:pathLst>
              <a:path h="657331" w="635819">
                <a:moveTo>
                  <a:pt x="0" y="0"/>
                </a:moveTo>
                <a:lnTo>
                  <a:pt x="635819" y="0"/>
                </a:lnTo>
                <a:lnTo>
                  <a:pt x="635819" y="657332"/>
                </a:lnTo>
                <a:lnTo>
                  <a:pt x="0" y="657332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2" id="32"/>
          <p:cNvSpPr txBox="true"/>
          <p:nvPr/>
        </p:nvSpPr>
        <p:spPr>
          <a:xfrm rot="0">
            <a:off x="11366299" y="3989776"/>
            <a:ext cx="4617439" cy="5458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563"/>
              </a:lnSpc>
            </a:pPr>
            <a:r>
              <a:rPr lang="en-US" b="true" sz="3259">
                <a:solidFill>
                  <a:srgbClr val="303030"/>
                </a:solidFill>
                <a:latin typeface="Source Sans Pro Bold"/>
                <a:ea typeface="Source Sans Pro Bold"/>
                <a:cs typeface="Source Sans Pro Bold"/>
                <a:sym typeface="Source Sans Pro Bold"/>
              </a:rPr>
              <a:t>HÀNH TRÌNH PHÂN TÍCH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3327747" y="4653072"/>
            <a:ext cx="3849440" cy="8533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41"/>
              </a:lnSpc>
            </a:pPr>
            <a:r>
              <a:rPr lang="en-US" sz="5029" spc="266">
                <a:solidFill>
                  <a:srgbClr val="FFFFFF"/>
                </a:solidFill>
                <a:latin typeface="Paytone One"/>
                <a:ea typeface="Paytone One"/>
                <a:cs typeface="Paytone One"/>
                <a:sym typeface="Paytone One"/>
              </a:rPr>
              <a:t>NỘI DUNG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1356774" y="7013712"/>
            <a:ext cx="5111037" cy="5458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563"/>
              </a:lnSpc>
            </a:pPr>
            <a:r>
              <a:rPr lang="en-US" b="true" sz="3259">
                <a:solidFill>
                  <a:srgbClr val="303030"/>
                </a:solidFill>
                <a:latin typeface="Source Sans Pro Bold"/>
                <a:ea typeface="Source Sans Pro Bold"/>
                <a:cs typeface="Source Sans Pro Bold"/>
                <a:sym typeface="Source Sans Pro Bold"/>
              </a:rPr>
              <a:t>KIẾN NGHỊ &amp; KẾT LUẬN</a:t>
            </a:r>
          </a:p>
        </p:txBody>
      </p:sp>
      <p:sp>
        <p:nvSpPr>
          <p:cNvPr name="Freeform 35" id="35"/>
          <p:cNvSpPr/>
          <p:nvPr/>
        </p:nvSpPr>
        <p:spPr>
          <a:xfrm flipH="false" flipV="false" rot="0">
            <a:off x="16015174" y="7713087"/>
            <a:ext cx="3371931" cy="3090427"/>
          </a:xfrm>
          <a:custGeom>
            <a:avLst/>
            <a:gdLst/>
            <a:ahLst/>
            <a:cxnLst/>
            <a:rect r="r" b="b" t="t" l="l"/>
            <a:pathLst>
              <a:path h="3090427" w="3371931">
                <a:moveTo>
                  <a:pt x="0" y="0"/>
                </a:moveTo>
                <a:lnTo>
                  <a:pt x="3371932" y="0"/>
                </a:lnTo>
                <a:lnTo>
                  <a:pt x="3371932" y="3090426"/>
                </a:lnTo>
                <a:lnTo>
                  <a:pt x="0" y="3090426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6" id="36"/>
          <p:cNvSpPr txBox="true"/>
          <p:nvPr/>
        </p:nvSpPr>
        <p:spPr>
          <a:xfrm rot="0">
            <a:off x="11356774" y="2535202"/>
            <a:ext cx="3940660" cy="5458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563"/>
              </a:lnSpc>
            </a:pPr>
            <a:r>
              <a:rPr lang="en-US" b="true" sz="3259">
                <a:solidFill>
                  <a:srgbClr val="303030"/>
                </a:solidFill>
                <a:latin typeface="Source Sans Pro Bold"/>
                <a:ea typeface="Source Sans Pro Bold"/>
                <a:cs typeface="Source Sans Pro Bold"/>
                <a:sym typeface="Source Sans Pro Bold"/>
              </a:rPr>
              <a:t>BỐI CẢNH VÀ VẤN ĐỀ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1330379" y="5463336"/>
            <a:ext cx="4617439" cy="5458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563"/>
              </a:lnSpc>
            </a:pPr>
            <a:r>
              <a:rPr lang="en-US" b="true" sz="3259">
                <a:solidFill>
                  <a:srgbClr val="303030"/>
                </a:solidFill>
                <a:latin typeface="Source Sans Pro Bold"/>
                <a:ea typeface="Source Sans Pro Bold"/>
                <a:cs typeface="Source Sans Pro Bold"/>
                <a:sym typeface="Source Sans Pro Bold"/>
              </a:rPr>
              <a:t>KHÁM PHÁ CỐT LÕI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3149031">
            <a:off x="-5495873" y="6405568"/>
            <a:ext cx="7869849" cy="9508804"/>
          </a:xfrm>
          <a:custGeom>
            <a:avLst/>
            <a:gdLst/>
            <a:ahLst/>
            <a:cxnLst/>
            <a:rect r="r" b="b" t="t" l="l"/>
            <a:pathLst>
              <a:path h="9508804" w="7869849">
                <a:moveTo>
                  <a:pt x="0" y="0"/>
                </a:moveTo>
                <a:lnTo>
                  <a:pt x="7869849" y="0"/>
                </a:lnTo>
                <a:lnTo>
                  <a:pt x="7869849" y="9508804"/>
                </a:lnTo>
                <a:lnTo>
                  <a:pt x="0" y="950880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465963">
            <a:off x="-6302046" y="-4126461"/>
            <a:ext cx="7869849" cy="9508804"/>
          </a:xfrm>
          <a:custGeom>
            <a:avLst/>
            <a:gdLst/>
            <a:ahLst/>
            <a:cxnLst/>
            <a:rect r="r" b="b" t="t" l="l"/>
            <a:pathLst>
              <a:path h="9508804" w="7869849">
                <a:moveTo>
                  <a:pt x="0" y="0"/>
                </a:moveTo>
                <a:lnTo>
                  <a:pt x="7869849" y="0"/>
                </a:lnTo>
                <a:lnTo>
                  <a:pt x="7869849" y="9508804"/>
                </a:lnTo>
                <a:lnTo>
                  <a:pt x="0" y="950880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3149031">
            <a:off x="14903464" y="7132525"/>
            <a:ext cx="7869849" cy="9508804"/>
          </a:xfrm>
          <a:custGeom>
            <a:avLst/>
            <a:gdLst/>
            <a:ahLst/>
            <a:cxnLst/>
            <a:rect r="r" b="b" t="t" l="l"/>
            <a:pathLst>
              <a:path h="9508804" w="7869849">
                <a:moveTo>
                  <a:pt x="0" y="0"/>
                </a:moveTo>
                <a:lnTo>
                  <a:pt x="7869849" y="0"/>
                </a:lnTo>
                <a:lnTo>
                  <a:pt x="7869849" y="9508804"/>
                </a:lnTo>
                <a:lnTo>
                  <a:pt x="0" y="950880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465963">
            <a:off x="14588268" y="-6592603"/>
            <a:ext cx="7869849" cy="9508804"/>
          </a:xfrm>
          <a:custGeom>
            <a:avLst/>
            <a:gdLst/>
            <a:ahLst/>
            <a:cxnLst/>
            <a:rect r="r" b="b" t="t" l="l"/>
            <a:pathLst>
              <a:path h="9508804" w="7869849">
                <a:moveTo>
                  <a:pt x="0" y="0"/>
                </a:moveTo>
                <a:lnTo>
                  <a:pt x="7869849" y="0"/>
                </a:lnTo>
                <a:lnTo>
                  <a:pt x="7869849" y="9508804"/>
                </a:lnTo>
                <a:lnTo>
                  <a:pt x="0" y="950880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6015174" y="7713087"/>
            <a:ext cx="3371931" cy="3090427"/>
          </a:xfrm>
          <a:custGeom>
            <a:avLst/>
            <a:gdLst/>
            <a:ahLst/>
            <a:cxnLst/>
            <a:rect r="r" b="b" t="t" l="l"/>
            <a:pathLst>
              <a:path h="3090427" w="3371931">
                <a:moveTo>
                  <a:pt x="0" y="0"/>
                </a:moveTo>
                <a:lnTo>
                  <a:pt x="3371932" y="0"/>
                </a:lnTo>
                <a:lnTo>
                  <a:pt x="3371932" y="3090426"/>
                </a:lnTo>
                <a:lnTo>
                  <a:pt x="0" y="309042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486295" y="6780821"/>
            <a:ext cx="3029989" cy="4114800"/>
          </a:xfrm>
          <a:custGeom>
            <a:avLst/>
            <a:gdLst/>
            <a:ahLst/>
            <a:cxnLst/>
            <a:rect r="r" b="b" t="t" l="l"/>
            <a:pathLst>
              <a:path h="4114800" w="3029989">
                <a:moveTo>
                  <a:pt x="0" y="0"/>
                </a:moveTo>
                <a:lnTo>
                  <a:pt x="3029990" y="0"/>
                </a:lnTo>
                <a:lnTo>
                  <a:pt x="302999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4874793" y="-395644"/>
            <a:ext cx="4769015" cy="2349824"/>
          </a:xfrm>
          <a:custGeom>
            <a:avLst/>
            <a:gdLst/>
            <a:ahLst/>
            <a:cxnLst/>
            <a:rect r="r" b="b" t="t" l="l"/>
            <a:pathLst>
              <a:path h="2349824" w="4769015">
                <a:moveTo>
                  <a:pt x="0" y="0"/>
                </a:moveTo>
                <a:lnTo>
                  <a:pt x="4769014" y="0"/>
                </a:lnTo>
                <a:lnTo>
                  <a:pt x="4769014" y="2349824"/>
                </a:lnTo>
                <a:lnTo>
                  <a:pt x="0" y="234982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390504" y="3989732"/>
            <a:ext cx="17506992" cy="19675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142"/>
              </a:lnSpc>
            </a:pPr>
            <a:r>
              <a:rPr lang="en-US" sz="11530">
                <a:solidFill>
                  <a:srgbClr val="2E6FB7"/>
                </a:solidFill>
                <a:latin typeface="Paytone One"/>
                <a:ea typeface="Paytone One"/>
                <a:cs typeface="Paytone One"/>
                <a:sym typeface="Paytone One"/>
              </a:rPr>
              <a:t>BỐI CẢNH &amp; VẤN ĐỀ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-3892220" y="-254785"/>
            <a:ext cx="7315200" cy="2566970"/>
          </a:xfrm>
          <a:custGeom>
            <a:avLst/>
            <a:gdLst/>
            <a:ahLst/>
            <a:cxnLst/>
            <a:rect r="r" b="b" t="t" l="l"/>
            <a:pathLst>
              <a:path h="2566970" w="7315200">
                <a:moveTo>
                  <a:pt x="0" y="0"/>
                </a:moveTo>
                <a:lnTo>
                  <a:pt x="7315200" y="0"/>
                </a:lnTo>
                <a:lnTo>
                  <a:pt x="7315200" y="2566970"/>
                </a:lnTo>
                <a:lnTo>
                  <a:pt x="0" y="256697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3149031">
            <a:off x="-5495873" y="6405568"/>
            <a:ext cx="7869849" cy="9508804"/>
          </a:xfrm>
          <a:custGeom>
            <a:avLst/>
            <a:gdLst/>
            <a:ahLst/>
            <a:cxnLst/>
            <a:rect r="r" b="b" t="t" l="l"/>
            <a:pathLst>
              <a:path h="9508804" w="7869849">
                <a:moveTo>
                  <a:pt x="0" y="0"/>
                </a:moveTo>
                <a:lnTo>
                  <a:pt x="7869849" y="0"/>
                </a:lnTo>
                <a:lnTo>
                  <a:pt x="7869849" y="9508804"/>
                </a:lnTo>
                <a:lnTo>
                  <a:pt x="0" y="950880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465963">
            <a:off x="-6302046" y="-4126461"/>
            <a:ext cx="7869849" cy="9508804"/>
          </a:xfrm>
          <a:custGeom>
            <a:avLst/>
            <a:gdLst/>
            <a:ahLst/>
            <a:cxnLst/>
            <a:rect r="r" b="b" t="t" l="l"/>
            <a:pathLst>
              <a:path h="9508804" w="7869849">
                <a:moveTo>
                  <a:pt x="0" y="0"/>
                </a:moveTo>
                <a:lnTo>
                  <a:pt x="7869849" y="0"/>
                </a:lnTo>
                <a:lnTo>
                  <a:pt x="7869849" y="9508804"/>
                </a:lnTo>
                <a:lnTo>
                  <a:pt x="0" y="950880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3149031">
            <a:off x="14903464" y="7132525"/>
            <a:ext cx="7869849" cy="9508804"/>
          </a:xfrm>
          <a:custGeom>
            <a:avLst/>
            <a:gdLst/>
            <a:ahLst/>
            <a:cxnLst/>
            <a:rect r="r" b="b" t="t" l="l"/>
            <a:pathLst>
              <a:path h="9508804" w="7869849">
                <a:moveTo>
                  <a:pt x="0" y="0"/>
                </a:moveTo>
                <a:lnTo>
                  <a:pt x="7869849" y="0"/>
                </a:lnTo>
                <a:lnTo>
                  <a:pt x="7869849" y="9508804"/>
                </a:lnTo>
                <a:lnTo>
                  <a:pt x="0" y="950880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465963">
            <a:off x="14588268" y="-6592603"/>
            <a:ext cx="7869849" cy="9508804"/>
          </a:xfrm>
          <a:custGeom>
            <a:avLst/>
            <a:gdLst/>
            <a:ahLst/>
            <a:cxnLst/>
            <a:rect r="r" b="b" t="t" l="l"/>
            <a:pathLst>
              <a:path h="9508804" w="7869849">
                <a:moveTo>
                  <a:pt x="0" y="0"/>
                </a:moveTo>
                <a:lnTo>
                  <a:pt x="7869849" y="0"/>
                </a:lnTo>
                <a:lnTo>
                  <a:pt x="7869849" y="9508804"/>
                </a:lnTo>
                <a:lnTo>
                  <a:pt x="0" y="950880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6015174" y="7713087"/>
            <a:ext cx="3371931" cy="3090427"/>
          </a:xfrm>
          <a:custGeom>
            <a:avLst/>
            <a:gdLst/>
            <a:ahLst/>
            <a:cxnLst/>
            <a:rect r="r" b="b" t="t" l="l"/>
            <a:pathLst>
              <a:path h="3090427" w="3371931">
                <a:moveTo>
                  <a:pt x="0" y="0"/>
                </a:moveTo>
                <a:lnTo>
                  <a:pt x="3371932" y="0"/>
                </a:lnTo>
                <a:lnTo>
                  <a:pt x="3371932" y="3090426"/>
                </a:lnTo>
                <a:lnTo>
                  <a:pt x="0" y="309042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486295" y="6780821"/>
            <a:ext cx="3029989" cy="4114800"/>
          </a:xfrm>
          <a:custGeom>
            <a:avLst/>
            <a:gdLst/>
            <a:ahLst/>
            <a:cxnLst/>
            <a:rect r="r" b="b" t="t" l="l"/>
            <a:pathLst>
              <a:path h="4114800" w="3029989">
                <a:moveTo>
                  <a:pt x="0" y="0"/>
                </a:moveTo>
                <a:lnTo>
                  <a:pt x="3029990" y="0"/>
                </a:lnTo>
                <a:lnTo>
                  <a:pt x="302999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4874793" y="-395644"/>
            <a:ext cx="4769015" cy="2349824"/>
          </a:xfrm>
          <a:custGeom>
            <a:avLst/>
            <a:gdLst/>
            <a:ahLst/>
            <a:cxnLst/>
            <a:rect r="r" b="b" t="t" l="l"/>
            <a:pathLst>
              <a:path h="2349824" w="4769015">
                <a:moveTo>
                  <a:pt x="0" y="0"/>
                </a:moveTo>
                <a:lnTo>
                  <a:pt x="4769014" y="0"/>
                </a:lnTo>
                <a:lnTo>
                  <a:pt x="4769014" y="2349824"/>
                </a:lnTo>
                <a:lnTo>
                  <a:pt x="0" y="234982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-3892220" y="-254785"/>
            <a:ext cx="7315200" cy="2566970"/>
          </a:xfrm>
          <a:custGeom>
            <a:avLst/>
            <a:gdLst/>
            <a:ahLst/>
            <a:cxnLst/>
            <a:rect r="r" b="b" t="t" l="l"/>
            <a:pathLst>
              <a:path h="2566970" w="7315200">
                <a:moveTo>
                  <a:pt x="0" y="0"/>
                </a:moveTo>
                <a:lnTo>
                  <a:pt x="7315200" y="0"/>
                </a:lnTo>
                <a:lnTo>
                  <a:pt x="7315200" y="2566970"/>
                </a:lnTo>
                <a:lnTo>
                  <a:pt x="0" y="256697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true" rot="3147151">
            <a:off x="13059204" y="4571976"/>
            <a:ext cx="1999692" cy="564913"/>
          </a:xfrm>
          <a:custGeom>
            <a:avLst/>
            <a:gdLst/>
            <a:ahLst/>
            <a:cxnLst/>
            <a:rect r="r" b="b" t="t" l="l"/>
            <a:pathLst>
              <a:path h="564913" w="1999692">
                <a:moveTo>
                  <a:pt x="0" y="564913"/>
                </a:moveTo>
                <a:lnTo>
                  <a:pt x="1999692" y="564913"/>
                </a:lnTo>
                <a:lnTo>
                  <a:pt x="1999692" y="0"/>
                </a:lnTo>
                <a:lnTo>
                  <a:pt x="0" y="0"/>
                </a:lnTo>
                <a:lnTo>
                  <a:pt x="0" y="564913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6422409">
            <a:off x="8652614" y="4464028"/>
            <a:ext cx="2051283" cy="579487"/>
          </a:xfrm>
          <a:custGeom>
            <a:avLst/>
            <a:gdLst/>
            <a:ahLst/>
            <a:cxnLst/>
            <a:rect r="r" b="b" t="t" l="l"/>
            <a:pathLst>
              <a:path h="579487" w="2051283">
                <a:moveTo>
                  <a:pt x="0" y="0"/>
                </a:moveTo>
                <a:lnTo>
                  <a:pt x="2051283" y="0"/>
                </a:lnTo>
                <a:lnTo>
                  <a:pt x="2051283" y="579487"/>
                </a:lnTo>
                <a:lnTo>
                  <a:pt x="0" y="579487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true" flipV="true" rot="-2700000">
            <a:off x="3789592" y="4574903"/>
            <a:ext cx="1978973" cy="559060"/>
          </a:xfrm>
          <a:custGeom>
            <a:avLst/>
            <a:gdLst/>
            <a:ahLst/>
            <a:cxnLst/>
            <a:rect r="r" b="b" t="t" l="l"/>
            <a:pathLst>
              <a:path h="559060" w="1978973">
                <a:moveTo>
                  <a:pt x="1978973" y="559060"/>
                </a:moveTo>
                <a:lnTo>
                  <a:pt x="0" y="559060"/>
                </a:lnTo>
                <a:lnTo>
                  <a:pt x="0" y="0"/>
                </a:lnTo>
                <a:lnTo>
                  <a:pt x="1978973" y="0"/>
                </a:lnTo>
                <a:lnTo>
                  <a:pt x="1978973" y="55906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5676408" y="1262649"/>
            <a:ext cx="7411434" cy="3368833"/>
          </a:xfrm>
          <a:custGeom>
            <a:avLst/>
            <a:gdLst/>
            <a:ahLst/>
            <a:cxnLst/>
            <a:rect r="r" b="b" t="t" l="l"/>
            <a:pathLst>
              <a:path h="3368833" w="7411434">
                <a:moveTo>
                  <a:pt x="0" y="0"/>
                </a:moveTo>
                <a:lnTo>
                  <a:pt x="7411434" y="0"/>
                </a:lnTo>
                <a:lnTo>
                  <a:pt x="7411434" y="3368834"/>
                </a:lnTo>
                <a:lnTo>
                  <a:pt x="0" y="3368834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4" id="14"/>
          <p:cNvGrpSpPr/>
          <p:nvPr/>
        </p:nvGrpSpPr>
        <p:grpSpPr>
          <a:xfrm rot="0">
            <a:off x="6869955" y="6296051"/>
            <a:ext cx="5127435" cy="2810551"/>
            <a:chOff x="0" y="0"/>
            <a:chExt cx="1350436" cy="740227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350436" cy="740227"/>
            </a:xfrm>
            <a:custGeom>
              <a:avLst/>
              <a:gdLst/>
              <a:ahLst/>
              <a:cxnLst/>
              <a:rect r="r" b="b" t="t" l="l"/>
              <a:pathLst>
                <a:path h="740227" w="1350436">
                  <a:moveTo>
                    <a:pt x="77005" y="0"/>
                  </a:moveTo>
                  <a:lnTo>
                    <a:pt x="1273431" y="0"/>
                  </a:lnTo>
                  <a:cubicBezTo>
                    <a:pt x="1293854" y="0"/>
                    <a:pt x="1313440" y="8113"/>
                    <a:pt x="1327881" y="22554"/>
                  </a:cubicBezTo>
                  <a:cubicBezTo>
                    <a:pt x="1342323" y="36995"/>
                    <a:pt x="1350436" y="56582"/>
                    <a:pt x="1350436" y="77005"/>
                  </a:cubicBezTo>
                  <a:lnTo>
                    <a:pt x="1350436" y="663222"/>
                  </a:lnTo>
                  <a:cubicBezTo>
                    <a:pt x="1350436" y="683645"/>
                    <a:pt x="1342323" y="703232"/>
                    <a:pt x="1327881" y="717673"/>
                  </a:cubicBezTo>
                  <a:cubicBezTo>
                    <a:pt x="1313440" y="732114"/>
                    <a:pt x="1293854" y="740227"/>
                    <a:pt x="1273431" y="740227"/>
                  </a:cubicBezTo>
                  <a:lnTo>
                    <a:pt x="77005" y="740227"/>
                  </a:lnTo>
                  <a:cubicBezTo>
                    <a:pt x="56582" y="740227"/>
                    <a:pt x="36995" y="732114"/>
                    <a:pt x="22554" y="717673"/>
                  </a:cubicBezTo>
                  <a:cubicBezTo>
                    <a:pt x="8113" y="703232"/>
                    <a:pt x="0" y="683645"/>
                    <a:pt x="0" y="663222"/>
                  </a:cubicBezTo>
                  <a:lnTo>
                    <a:pt x="0" y="77005"/>
                  </a:lnTo>
                  <a:cubicBezTo>
                    <a:pt x="0" y="56582"/>
                    <a:pt x="8113" y="36995"/>
                    <a:pt x="22554" y="22554"/>
                  </a:cubicBezTo>
                  <a:cubicBezTo>
                    <a:pt x="36995" y="8113"/>
                    <a:pt x="56582" y="0"/>
                    <a:pt x="77005" y="0"/>
                  </a:cubicBezTo>
                  <a:close/>
                </a:path>
              </a:pathLst>
            </a:custGeom>
            <a:solidFill>
              <a:srgbClr val="C4E2FF"/>
            </a:solidFill>
            <a:ln w="38100" cap="rnd">
              <a:solidFill>
                <a:srgbClr val="41B8D5"/>
              </a:solidFill>
              <a:prstDash val="solid"/>
              <a:round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28575"/>
              <a:ext cx="1350436" cy="76880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7"/>
                </a:lnSpc>
              </a:pP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7092155" y="6252333"/>
            <a:ext cx="4665913" cy="27881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16"/>
              </a:lnSpc>
            </a:pPr>
            <a:r>
              <a:rPr lang="en-US" sz="3600" b="true">
                <a:solidFill>
                  <a:srgbClr val="000000"/>
                </a:solidFill>
                <a:latin typeface="Source Sans Pro Bold"/>
                <a:ea typeface="Source Sans Pro Bold"/>
                <a:cs typeface="Source Sans Pro Bold"/>
                <a:sym typeface="Source Sans Pro Bold"/>
              </a:rPr>
              <a:t>Vấn đề Cốt</a:t>
            </a:r>
            <a:r>
              <a:rPr lang="en-US" b="true" sz="3600">
                <a:solidFill>
                  <a:srgbClr val="000000"/>
                </a:solidFill>
                <a:latin typeface="Source Sans Pro Bold"/>
                <a:ea typeface="Source Sans Pro Bold"/>
                <a:cs typeface="Source Sans Pro Bold"/>
                <a:sym typeface="Source Sans Pro Bold"/>
              </a:rPr>
              <a:t> lõi: Tỷ suất lợi nhuận mỏng. Sai lầm trong tồn kho sẽ dẫn tới Lỗ lớn.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728085" y="6341541"/>
            <a:ext cx="4740459" cy="2563355"/>
            <a:chOff x="0" y="0"/>
            <a:chExt cx="1248516" cy="675122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248516" cy="675122"/>
            </a:xfrm>
            <a:custGeom>
              <a:avLst/>
              <a:gdLst/>
              <a:ahLst/>
              <a:cxnLst/>
              <a:rect r="r" b="b" t="t" l="l"/>
              <a:pathLst>
                <a:path h="675122" w="1248516">
                  <a:moveTo>
                    <a:pt x="83291" y="0"/>
                  </a:moveTo>
                  <a:lnTo>
                    <a:pt x="1165225" y="0"/>
                  </a:lnTo>
                  <a:cubicBezTo>
                    <a:pt x="1187315" y="0"/>
                    <a:pt x="1208500" y="8775"/>
                    <a:pt x="1224121" y="24395"/>
                  </a:cubicBezTo>
                  <a:cubicBezTo>
                    <a:pt x="1239741" y="40015"/>
                    <a:pt x="1248516" y="61201"/>
                    <a:pt x="1248516" y="83291"/>
                  </a:cubicBezTo>
                  <a:lnTo>
                    <a:pt x="1248516" y="591831"/>
                  </a:lnTo>
                  <a:cubicBezTo>
                    <a:pt x="1248516" y="613921"/>
                    <a:pt x="1239741" y="635107"/>
                    <a:pt x="1224121" y="650727"/>
                  </a:cubicBezTo>
                  <a:cubicBezTo>
                    <a:pt x="1208500" y="666347"/>
                    <a:pt x="1187315" y="675122"/>
                    <a:pt x="1165225" y="675122"/>
                  </a:cubicBezTo>
                  <a:lnTo>
                    <a:pt x="83291" y="675122"/>
                  </a:lnTo>
                  <a:cubicBezTo>
                    <a:pt x="61201" y="675122"/>
                    <a:pt x="40015" y="666347"/>
                    <a:pt x="24395" y="650727"/>
                  </a:cubicBezTo>
                  <a:cubicBezTo>
                    <a:pt x="8775" y="635107"/>
                    <a:pt x="0" y="613921"/>
                    <a:pt x="0" y="591831"/>
                  </a:cubicBezTo>
                  <a:lnTo>
                    <a:pt x="0" y="83291"/>
                  </a:lnTo>
                  <a:cubicBezTo>
                    <a:pt x="0" y="61201"/>
                    <a:pt x="8775" y="40015"/>
                    <a:pt x="24395" y="24395"/>
                  </a:cubicBezTo>
                  <a:cubicBezTo>
                    <a:pt x="40015" y="8775"/>
                    <a:pt x="61201" y="0"/>
                    <a:pt x="83291" y="0"/>
                  </a:cubicBezTo>
                  <a:close/>
                </a:path>
              </a:pathLst>
            </a:custGeom>
            <a:solidFill>
              <a:srgbClr val="C4E2FF"/>
            </a:solidFill>
            <a:ln w="38100" cap="rnd">
              <a:solidFill>
                <a:srgbClr val="41B8D5"/>
              </a:solidFill>
              <a:prstDash val="solid"/>
              <a:round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28575"/>
              <a:ext cx="1248516" cy="7036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7"/>
                </a:lnSpc>
              </a:pP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843030" y="6533011"/>
            <a:ext cx="4491519" cy="20833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15"/>
              </a:lnSpc>
            </a:pPr>
            <a:r>
              <a:rPr lang="en-US" sz="3599" b="true">
                <a:solidFill>
                  <a:srgbClr val="000000"/>
                </a:solidFill>
                <a:latin typeface="Source Sans Pro Bold"/>
                <a:ea typeface="Source Sans Pro Bold"/>
                <a:cs typeface="Source Sans Pro Bold"/>
                <a:sym typeface="Source Sans Pro Bold"/>
              </a:rPr>
              <a:t>Thách thức: Quả</a:t>
            </a:r>
            <a:r>
              <a:rPr lang="en-US" b="true" sz="3599">
                <a:solidFill>
                  <a:srgbClr val="000000"/>
                </a:solidFill>
                <a:latin typeface="Source Sans Pro Bold"/>
                <a:ea typeface="Source Sans Pro Bold"/>
                <a:cs typeface="Source Sans Pro Bold"/>
                <a:sym typeface="Source Sans Pro Bold"/>
              </a:rPr>
              <a:t>n lý 421,570 dòng giao dịch từ 45 cửa hàng.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6010231" y="1549962"/>
            <a:ext cx="6667587" cy="27656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374"/>
              </a:lnSpc>
            </a:pPr>
            <a:r>
              <a:rPr lang="en-US" sz="5230" spc="167">
                <a:solidFill>
                  <a:srgbClr val="FFFFFF"/>
                </a:solidFill>
                <a:latin typeface="Paytone One"/>
                <a:ea typeface="Paytone One"/>
                <a:cs typeface="Paytone One"/>
                <a:sym typeface="Paytone One"/>
              </a:rPr>
              <a:t>DỮ LIỆU BÁN LẺ: SỰ CẠNH TRANH TỪNG GIÂY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12674317" y="6272075"/>
            <a:ext cx="5026823" cy="2834527"/>
            <a:chOff x="0" y="0"/>
            <a:chExt cx="1323937" cy="746542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323937" cy="746542"/>
            </a:xfrm>
            <a:custGeom>
              <a:avLst/>
              <a:gdLst/>
              <a:ahLst/>
              <a:cxnLst/>
              <a:rect r="r" b="b" t="t" l="l"/>
              <a:pathLst>
                <a:path h="746542" w="1323937">
                  <a:moveTo>
                    <a:pt x="78546" y="0"/>
                  </a:moveTo>
                  <a:lnTo>
                    <a:pt x="1245391" y="0"/>
                  </a:lnTo>
                  <a:cubicBezTo>
                    <a:pt x="1266222" y="0"/>
                    <a:pt x="1286201" y="8275"/>
                    <a:pt x="1300931" y="23006"/>
                  </a:cubicBezTo>
                  <a:cubicBezTo>
                    <a:pt x="1315662" y="37736"/>
                    <a:pt x="1323937" y="57714"/>
                    <a:pt x="1323937" y="78546"/>
                  </a:cubicBezTo>
                  <a:lnTo>
                    <a:pt x="1323937" y="667996"/>
                  </a:lnTo>
                  <a:cubicBezTo>
                    <a:pt x="1323937" y="711376"/>
                    <a:pt x="1288771" y="746542"/>
                    <a:pt x="1245391" y="746542"/>
                  </a:cubicBezTo>
                  <a:lnTo>
                    <a:pt x="78546" y="746542"/>
                  </a:lnTo>
                  <a:cubicBezTo>
                    <a:pt x="57714" y="746542"/>
                    <a:pt x="37736" y="738267"/>
                    <a:pt x="23006" y="723537"/>
                  </a:cubicBezTo>
                  <a:cubicBezTo>
                    <a:pt x="8275" y="708806"/>
                    <a:pt x="0" y="688828"/>
                    <a:pt x="0" y="667996"/>
                  </a:cubicBezTo>
                  <a:lnTo>
                    <a:pt x="0" y="78546"/>
                  </a:lnTo>
                  <a:cubicBezTo>
                    <a:pt x="0" y="57714"/>
                    <a:pt x="8275" y="37736"/>
                    <a:pt x="23006" y="23006"/>
                  </a:cubicBezTo>
                  <a:cubicBezTo>
                    <a:pt x="37736" y="8275"/>
                    <a:pt x="57714" y="0"/>
                    <a:pt x="78546" y="0"/>
                  </a:cubicBezTo>
                  <a:close/>
                </a:path>
              </a:pathLst>
            </a:custGeom>
            <a:solidFill>
              <a:srgbClr val="C4E2FF"/>
            </a:solidFill>
            <a:ln w="38100" cap="rnd">
              <a:solidFill>
                <a:srgbClr val="41B8D5"/>
              </a:solidFill>
              <a:prstDash val="solid"/>
              <a:round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0" y="-28575"/>
              <a:ext cx="1323937" cy="7751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7"/>
                </a:lnSpc>
              </a:pPr>
            </a:p>
          </p:txBody>
        </p:sp>
      </p:grpSp>
      <p:sp>
        <p:nvSpPr>
          <p:cNvPr name="TextBox 26" id="26"/>
          <p:cNvSpPr txBox="true"/>
          <p:nvPr/>
        </p:nvSpPr>
        <p:spPr>
          <a:xfrm rot="0">
            <a:off x="12754019" y="6270819"/>
            <a:ext cx="4819606" cy="27881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16"/>
              </a:lnSpc>
            </a:pPr>
            <a:r>
              <a:rPr lang="en-US" sz="3600" b="true">
                <a:solidFill>
                  <a:srgbClr val="000000"/>
                </a:solidFill>
                <a:latin typeface="Source Sans Pro Bold"/>
                <a:ea typeface="Source Sans Pro Bold"/>
                <a:cs typeface="Source Sans Pro Bold"/>
                <a:sym typeface="Source Sans Pro Bold"/>
              </a:rPr>
              <a:t>Mục tiêu: Cần biết chính xác Thời điểm Vàng và Cửa hàng Tiềm năng để tối ưu hóa nguồn lực.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3149031">
            <a:off x="-5495873" y="6405568"/>
            <a:ext cx="7869849" cy="9508804"/>
          </a:xfrm>
          <a:custGeom>
            <a:avLst/>
            <a:gdLst/>
            <a:ahLst/>
            <a:cxnLst/>
            <a:rect r="r" b="b" t="t" l="l"/>
            <a:pathLst>
              <a:path h="9508804" w="7869849">
                <a:moveTo>
                  <a:pt x="0" y="0"/>
                </a:moveTo>
                <a:lnTo>
                  <a:pt x="7869849" y="0"/>
                </a:lnTo>
                <a:lnTo>
                  <a:pt x="7869849" y="9508804"/>
                </a:lnTo>
                <a:lnTo>
                  <a:pt x="0" y="950880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465963">
            <a:off x="-6302046" y="-4126461"/>
            <a:ext cx="7869849" cy="9508804"/>
          </a:xfrm>
          <a:custGeom>
            <a:avLst/>
            <a:gdLst/>
            <a:ahLst/>
            <a:cxnLst/>
            <a:rect r="r" b="b" t="t" l="l"/>
            <a:pathLst>
              <a:path h="9508804" w="7869849">
                <a:moveTo>
                  <a:pt x="0" y="0"/>
                </a:moveTo>
                <a:lnTo>
                  <a:pt x="7869849" y="0"/>
                </a:lnTo>
                <a:lnTo>
                  <a:pt x="7869849" y="9508804"/>
                </a:lnTo>
                <a:lnTo>
                  <a:pt x="0" y="950880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3149031">
            <a:off x="15708883" y="7267585"/>
            <a:ext cx="7869849" cy="9508804"/>
          </a:xfrm>
          <a:custGeom>
            <a:avLst/>
            <a:gdLst/>
            <a:ahLst/>
            <a:cxnLst/>
            <a:rect r="r" b="b" t="t" l="l"/>
            <a:pathLst>
              <a:path h="9508804" w="7869849">
                <a:moveTo>
                  <a:pt x="0" y="0"/>
                </a:moveTo>
                <a:lnTo>
                  <a:pt x="7869849" y="0"/>
                </a:lnTo>
                <a:lnTo>
                  <a:pt x="7869849" y="9508804"/>
                </a:lnTo>
                <a:lnTo>
                  <a:pt x="0" y="950880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465963">
            <a:off x="14588268" y="-6592603"/>
            <a:ext cx="7869849" cy="9508804"/>
          </a:xfrm>
          <a:custGeom>
            <a:avLst/>
            <a:gdLst/>
            <a:ahLst/>
            <a:cxnLst/>
            <a:rect r="r" b="b" t="t" l="l"/>
            <a:pathLst>
              <a:path h="9508804" w="7869849">
                <a:moveTo>
                  <a:pt x="0" y="0"/>
                </a:moveTo>
                <a:lnTo>
                  <a:pt x="7869849" y="0"/>
                </a:lnTo>
                <a:lnTo>
                  <a:pt x="7869849" y="9508804"/>
                </a:lnTo>
                <a:lnTo>
                  <a:pt x="0" y="950880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6015174" y="7713087"/>
            <a:ext cx="3371931" cy="3090427"/>
          </a:xfrm>
          <a:custGeom>
            <a:avLst/>
            <a:gdLst/>
            <a:ahLst/>
            <a:cxnLst/>
            <a:rect r="r" b="b" t="t" l="l"/>
            <a:pathLst>
              <a:path h="3090427" w="3371931">
                <a:moveTo>
                  <a:pt x="0" y="0"/>
                </a:moveTo>
                <a:lnTo>
                  <a:pt x="3371932" y="0"/>
                </a:lnTo>
                <a:lnTo>
                  <a:pt x="3371932" y="3090426"/>
                </a:lnTo>
                <a:lnTo>
                  <a:pt x="0" y="309042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486295" y="6780821"/>
            <a:ext cx="3029989" cy="4114800"/>
          </a:xfrm>
          <a:custGeom>
            <a:avLst/>
            <a:gdLst/>
            <a:ahLst/>
            <a:cxnLst/>
            <a:rect r="r" b="b" t="t" l="l"/>
            <a:pathLst>
              <a:path h="4114800" w="3029989">
                <a:moveTo>
                  <a:pt x="0" y="0"/>
                </a:moveTo>
                <a:lnTo>
                  <a:pt x="3029990" y="0"/>
                </a:lnTo>
                <a:lnTo>
                  <a:pt x="302999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5132334" y="-1049560"/>
            <a:ext cx="4769015" cy="2349824"/>
          </a:xfrm>
          <a:custGeom>
            <a:avLst/>
            <a:gdLst/>
            <a:ahLst/>
            <a:cxnLst/>
            <a:rect r="r" b="b" t="t" l="l"/>
            <a:pathLst>
              <a:path h="2349824" w="4769015">
                <a:moveTo>
                  <a:pt x="0" y="0"/>
                </a:moveTo>
                <a:lnTo>
                  <a:pt x="4769015" y="0"/>
                </a:lnTo>
                <a:lnTo>
                  <a:pt x="4769015" y="2349824"/>
                </a:lnTo>
                <a:lnTo>
                  <a:pt x="0" y="234982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-3802573" y="-254785"/>
            <a:ext cx="7315200" cy="2566970"/>
          </a:xfrm>
          <a:custGeom>
            <a:avLst/>
            <a:gdLst/>
            <a:ahLst/>
            <a:cxnLst/>
            <a:rect r="r" b="b" t="t" l="l"/>
            <a:pathLst>
              <a:path h="2566970" w="7315200">
                <a:moveTo>
                  <a:pt x="0" y="0"/>
                </a:moveTo>
                <a:lnTo>
                  <a:pt x="7315200" y="0"/>
                </a:lnTo>
                <a:lnTo>
                  <a:pt x="7315200" y="2566970"/>
                </a:lnTo>
                <a:lnTo>
                  <a:pt x="0" y="256697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2370445" y="2780910"/>
            <a:ext cx="6340985" cy="3291913"/>
            <a:chOff x="0" y="0"/>
            <a:chExt cx="2161425" cy="112210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161425" cy="1122101"/>
            </a:xfrm>
            <a:custGeom>
              <a:avLst/>
              <a:gdLst/>
              <a:ahLst/>
              <a:cxnLst/>
              <a:rect r="r" b="b" t="t" l="l"/>
              <a:pathLst>
                <a:path h="1122101" w="2161425">
                  <a:moveTo>
                    <a:pt x="21977" y="0"/>
                  </a:moveTo>
                  <a:lnTo>
                    <a:pt x="2139448" y="0"/>
                  </a:lnTo>
                  <a:cubicBezTo>
                    <a:pt x="2145277" y="0"/>
                    <a:pt x="2150867" y="2315"/>
                    <a:pt x="2154988" y="6437"/>
                  </a:cubicBezTo>
                  <a:cubicBezTo>
                    <a:pt x="2159110" y="10558"/>
                    <a:pt x="2161425" y="16148"/>
                    <a:pt x="2161425" y="21977"/>
                  </a:cubicBezTo>
                  <a:lnTo>
                    <a:pt x="2161425" y="1100124"/>
                  </a:lnTo>
                  <a:cubicBezTo>
                    <a:pt x="2161425" y="1105952"/>
                    <a:pt x="2159110" y="1111542"/>
                    <a:pt x="2154988" y="1115664"/>
                  </a:cubicBezTo>
                  <a:cubicBezTo>
                    <a:pt x="2150867" y="1119785"/>
                    <a:pt x="2145277" y="1122101"/>
                    <a:pt x="2139448" y="1122101"/>
                  </a:cubicBezTo>
                  <a:lnTo>
                    <a:pt x="21977" y="1122101"/>
                  </a:lnTo>
                  <a:cubicBezTo>
                    <a:pt x="16148" y="1122101"/>
                    <a:pt x="10558" y="1119785"/>
                    <a:pt x="6437" y="1115664"/>
                  </a:cubicBezTo>
                  <a:cubicBezTo>
                    <a:pt x="2315" y="1111542"/>
                    <a:pt x="0" y="1105952"/>
                    <a:pt x="0" y="1100124"/>
                  </a:cubicBezTo>
                  <a:lnTo>
                    <a:pt x="0" y="21977"/>
                  </a:lnTo>
                  <a:cubicBezTo>
                    <a:pt x="0" y="16148"/>
                    <a:pt x="2315" y="10558"/>
                    <a:pt x="6437" y="6437"/>
                  </a:cubicBezTo>
                  <a:cubicBezTo>
                    <a:pt x="10558" y="2315"/>
                    <a:pt x="16148" y="0"/>
                    <a:pt x="21977" y="0"/>
                  </a:cubicBezTo>
                  <a:close/>
                </a:path>
              </a:pathLst>
            </a:custGeom>
            <a:solidFill>
              <a:srgbClr val="2D8BBA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85725"/>
              <a:ext cx="2161425" cy="1207826"/>
            </a:xfrm>
            <a:prstGeom prst="rect">
              <a:avLst/>
            </a:prstGeom>
          </p:spPr>
          <p:txBody>
            <a:bodyPr anchor="ctr" rtlCol="false" tIns="31171" lIns="31171" bIns="31171" rIns="31171"/>
            <a:lstStyle/>
            <a:p>
              <a:pPr algn="ctr">
                <a:lnSpc>
                  <a:spcPts val="5780"/>
                </a:lnSpc>
              </a:pPr>
              <a:r>
                <a:rPr lang="en-US" sz="4099" spc="86">
                  <a:solidFill>
                    <a:srgbClr val="FFFFFF"/>
                  </a:solidFill>
                  <a:latin typeface="Paytone One"/>
                  <a:ea typeface="Paytone One"/>
                  <a:cs typeface="Paytone One"/>
                  <a:sym typeface="Paytone One"/>
                </a:rPr>
                <a:t>ĐIỀU GÌ THỰC SỰ QUYẾT ĐỊNH THÀNH CÔNG?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0487589" y="5738222"/>
            <a:ext cx="5386835" cy="1233099"/>
            <a:chOff x="0" y="0"/>
            <a:chExt cx="1836188" cy="420321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836188" cy="420321"/>
            </a:xfrm>
            <a:custGeom>
              <a:avLst/>
              <a:gdLst/>
              <a:ahLst/>
              <a:cxnLst/>
              <a:rect r="r" b="b" t="t" l="l"/>
              <a:pathLst>
                <a:path h="420321" w="1836188">
                  <a:moveTo>
                    <a:pt x="25869" y="0"/>
                  </a:moveTo>
                  <a:lnTo>
                    <a:pt x="1810319" y="0"/>
                  </a:lnTo>
                  <a:cubicBezTo>
                    <a:pt x="1817180" y="0"/>
                    <a:pt x="1823760" y="2726"/>
                    <a:pt x="1828611" y="7577"/>
                  </a:cubicBezTo>
                  <a:cubicBezTo>
                    <a:pt x="1833463" y="12428"/>
                    <a:pt x="1836188" y="19008"/>
                    <a:pt x="1836188" y="25869"/>
                  </a:cubicBezTo>
                  <a:lnTo>
                    <a:pt x="1836188" y="394452"/>
                  </a:lnTo>
                  <a:cubicBezTo>
                    <a:pt x="1836188" y="401313"/>
                    <a:pt x="1833463" y="407893"/>
                    <a:pt x="1828611" y="412744"/>
                  </a:cubicBezTo>
                  <a:cubicBezTo>
                    <a:pt x="1823760" y="417596"/>
                    <a:pt x="1817180" y="420321"/>
                    <a:pt x="1810319" y="420321"/>
                  </a:cubicBezTo>
                  <a:lnTo>
                    <a:pt x="25869" y="420321"/>
                  </a:lnTo>
                  <a:cubicBezTo>
                    <a:pt x="19008" y="420321"/>
                    <a:pt x="12428" y="417596"/>
                    <a:pt x="7577" y="412744"/>
                  </a:cubicBezTo>
                  <a:cubicBezTo>
                    <a:pt x="2726" y="407893"/>
                    <a:pt x="0" y="401313"/>
                    <a:pt x="0" y="394452"/>
                  </a:cubicBezTo>
                  <a:lnTo>
                    <a:pt x="0" y="25869"/>
                  </a:lnTo>
                  <a:cubicBezTo>
                    <a:pt x="0" y="19008"/>
                    <a:pt x="2726" y="12428"/>
                    <a:pt x="7577" y="7577"/>
                  </a:cubicBezTo>
                  <a:cubicBezTo>
                    <a:pt x="12428" y="2726"/>
                    <a:pt x="19008" y="0"/>
                    <a:pt x="25869" y="0"/>
                  </a:cubicBezTo>
                  <a:close/>
                </a:path>
              </a:pathLst>
            </a:custGeom>
            <a:solidFill>
              <a:srgbClr val="BFE4FF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9525"/>
              <a:ext cx="1836188" cy="410796"/>
            </a:xfrm>
            <a:prstGeom prst="rect">
              <a:avLst/>
            </a:prstGeom>
          </p:spPr>
          <p:txBody>
            <a:bodyPr anchor="ctr" rtlCol="false" tIns="31171" lIns="31171" bIns="31171" rIns="31171"/>
            <a:lstStyle/>
            <a:p>
              <a:pPr algn="ctr">
                <a:lnSpc>
                  <a:spcPts val="4199"/>
                </a:lnSpc>
              </a:pPr>
              <a:r>
                <a:rPr lang="en-US" b="true" sz="3499">
                  <a:solidFill>
                    <a:srgbClr val="000000"/>
                  </a:solidFill>
                  <a:latin typeface="Source Sans Pro Bold"/>
                  <a:ea typeface="Source Sans Pro Bold"/>
                  <a:cs typeface="Source Sans Pro Bold"/>
                  <a:sym typeface="Source Sans Pro Bold"/>
                </a:rPr>
                <a:t>Yếu tố bên NGOÀI</a:t>
              </a:r>
            </a:p>
          </p:txBody>
        </p:sp>
      </p:grpSp>
      <p:sp>
        <p:nvSpPr>
          <p:cNvPr name="AutoShape 16" id="16"/>
          <p:cNvSpPr/>
          <p:nvPr/>
        </p:nvSpPr>
        <p:spPr>
          <a:xfrm flipV="true">
            <a:off x="8711430" y="2208095"/>
            <a:ext cx="1801976" cy="2218772"/>
          </a:xfrm>
          <a:prstGeom prst="line">
            <a:avLst/>
          </a:prstGeom>
          <a:ln cap="flat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7" id="17"/>
          <p:cNvSpPr/>
          <p:nvPr/>
        </p:nvSpPr>
        <p:spPr>
          <a:xfrm>
            <a:off x="8711430" y="4426867"/>
            <a:ext cx="1776159" cy="1927905"/>
          </a:xfrm>
          <a:prstGeom prst="line">
            <a:avLst/>
          </a:prstGeom>
          <a:ln cap="flat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8" id="18"/>
          <p:cNvGrpSpPr/>
          <p:nvPr/>
        </p:nvGrpSpPr>
        <p:grpSpPr>
          <a:xfrm rot="0">
            <a:off x="10513406" y="1570420"/>
            <a:ext cx="5404149" cy="1275350"/>
            <a:chOff x="0" y="0"/>
            <a:chExt cx="1842090" cy="434723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842090" cy="434723"/>
            </a:xfrm>
            <a:custGeom>
              <a:avLst/>
              <a:gdLst/>
              <a:ahLst/>
              <a:cxnLst/>
              <a:rect r="r" b="b" t="t" l="l"/>
              <a:pathLst>
                <a:path h="434723" w="1842090">
                  <a:moveTo>
                    <a:pt x="25787" y="0"/>
                  </a:moveTo>
                  <a:lnTo>
                    <a:pt x="1816303" y="0"/>
                  </a:lnTo>
                  <a:cubicBezTo>
                    <a:pt x="1830545" y="0"/>
                    <a:pt x="1842090" y="11545"/>
                    <a:pt x="1842090" y="25787"/>
                  </a:cubicBezTo>
                  <a:lnTo>
                    <a:pt x="1842090" y="408937"/>
                  </a:lnTo>
                  <a:cubicBezTo>
                    <a:pt x="1842090" y="423178"/>
                    <a:pt x="1830545" y="434723"/>
                    <a:pt x="1816303" y="434723"/>
                  </a:cubicBezTo>
                  <a:lnTo>
                    <a:pt x="25787" y="434723"/>
                  </a:lnTo>
                  <a:cubicBezTo>
                    <a:pt x="18948" y="434723"/>
                    <a:pt x="12389" y="432006"/>
                    <a:pt x="7553" y="427171"/>
                  </a:cubicBezTo>
                  <a:cubicBezTo>
                    <a:pt x="2717" y="422335"/>
                    <a:pt x="0" y="415776"/>
                    <a:pt x="0" y="408937"/>
                  </a:cubicBezTo>
                  <a:lnTo>
                    <a:pt x="0" y="25787"/>
                  </a:lnTo>
                  <a:cubicBezTo>
                    <a:pt x="0" y="11545"/>
                    <a:pt x="11545" y="0"/>
                    <a:pt x="25787" y="0"/>
                  </a:cubicBezTo>
                  <a:close/>
                </a:path>
              </a:pathLst>
            </a:custGeom>
            <a:solidFill>
              <a:srgbClr val="BFE4FF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9525"/>
              <a:ext cx="1842090" cy="425198"/>
            </a:xfrm>
            <a:prstGeom prst="rect">
              <a:avLst/>
            </a:prstGeom>
          </p:spPr>
          <p:txBody>
            <a:bodyPr anchor="ctr" rtlCol="false" tIns="31171" lIns="31171" bIns="31171" rIns="31171"/>
            <a:lstStyle/>
            <a:p>
              <a:pPr algn="ctr">
                <a:lnSpc>
                  <a:spcPts val="4199"/>
                </a:lnSpc>
              </a:pPr>
              <a:r>
                <a:rPr lang="en-US" b="true" sz="3499">
                  <a:solidFill>
                    <a:srgbClr val="000000"/>
                  </a:solidFill>
                  <a:latin typeface="Source Sans Pro Bold"/>
                  <a:ea typeface="Source Sans Pro Bold"/>
                  <a:cs typeface="Source Sans Pro Bold"/>
                  <a:sym typeface="Source Sans Pro Bold"/>
                </a:rPr>
                <a:t>Yếu tố bên TRONG</a:t>
              </a: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3062951" y="7722612"/>
            <a:ext cx="12069383" cy="1772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719"/>
              </a:lnSpc>
              <a:spcBef>
                <a:spcPct val="0"/>
              </a:spcBef>
            </a:pPr>
            <a:r>
              <a:rPr lang="en-US" b="true" sz="3999" spc="87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=&gt; </a:t>
            </a:r>
            <a:r>
              <a:rPr lang="en-US" b="true" sz="3999" spc="87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Tìm ra yếu tố mạnh nhất và dùng Decision Tree để Dự đoán Tuần Cao Điểm (Tạo ra Hành động cụ thể).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3149031">
            <a:off x="-5495873" y="6405568"/>
            <a:ext cx="7869849" cy="9508804"/>
          </a:xfrm>
          <a:custGeom>
            <a:avLst/>
            <a:gdLst/>
            <a:ahLst/>
            <a:cxnLst/>
            <a:rect r="r" b="b" t="t" l="l"/>
            <a:pathLst>
              <a:path h="9508804" w="7869849">
                <a:moveTo>
                  <a:pt x="0" y="0"/>
                </a:moveTo>
                <a:lnTo>
                  <a:pt x="7869849" y="0"/>
                </a:lnTo>
                <a:lnTo>
                  <a:pt x="7869849" y="9508804"/>
                </a:lnTo>
                <a:lnTo>
                  <a:pt x="0" y="950880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465963">
            <a:off x="-6302046" y="-4126461"/>
            <a:ext cx="7869849" cy="9508804"/>
          </a:xfrm>
          <a:custGeom>
            <a:avLst/>
            <a:gdLst/>
            <a:ahLst/>
            <a:cxnLst/>
            <a:rect r="r" b="b" t="t" l="l"/>
            <a:pathLst>
              <a:path h="9508804" w="7869849">
                <a:moveTo>
                  <a:pt x="0" y="0"/>
                </a:moveTo>
                <a:lnTo>
                  <a:pt x="7869849" y="0"/>
                </a:lnTo>
                <a:lnTo>
                  <a:pt x="7869849" y="9508804"/>
                </a:lnTo>
                <a:lnTo>
                  <a:pt x="0" y="950880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3149031">
            <a:off x="14903464" y="7132525"/>
            <a:ext cx="7869849" cy="9508804"/>
          </a:xfrm>
          <a:custGeom>
            <a:avLst/>
            <a:gdLst/>
            <a:ahLst/>
            <a:cxnLst/>
            <a:rect r="r" b="b" t="t" l="l"/>
            <a:pathLst>
              <a:path h="9508804" w="7869849">
                <a:moveTo>
                  <a:pt x="0" y="0"/>
                </a:moveTo>
                <a:lnTo>
                  <a:pt x="7869849" y="0"/>
                </a:lnTo>
                <a:lnTo>
                  <a:pt x="7869849" y="9508804"/>
                </a:lnTo>
                <a:lnTo>
                  <a:pt x="0" y="950880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465963">
            <a:off x="14588268" y="-6592603"/>
            <a:ext cx="7869849" cy="9508804"/>
          </a:xfrm>
          <a:custGeom>
            <a:avLst/>
            <a:gdLst/>
            <a:ahLst/>
            <a:cxnLst/>
            <a:rect r="r" b="b" t="t" l="l"/>
            <a:pathLst>
              <a:path h="9508804" w="7869849">
                <a:moveTo>
                  <a:pt x="0" y="0"/>
                </a:moveTo>
                <a:lnTo>
                  <a:pt x="7869849" y="0"/>
                </a:lnTo>
                <a:lnTo>
                  <a:pt x="7869849" y="9508804"/>
                </a:lnTo>
                <a:lnTo>
                  <a:pt x="0" y="950880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6015174" y="7713087"/>
            <a:ext cx="3371931" cy="3090427"/>
          </a:xfrm>
          <a:custGeom>
            <a:avLst/>
            <a:gdLst/>
            <a:ahLst/>
            <a:cxnLst/>
            <a:rect r="r" b="b" t="t" l="l"/>
            <a:pathLst>
              <a:path h="3090427" w="3371931">
                <a:moveTo>
                  <a:pt x="0" y="0"/>
                </a:moveTo>
                <a:lnTo>
                  <a:pt x="3371932" y="0"/>
                </a:lnTo>
                <a:lnTo>
                  <a:pt x="3371932" y="3090426"/>
                </a:lnTo>
                <a:lnTo>
                  <a:pt x="0" y="309042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486295" y="6780821"/>
            <a:ext cx="3029989" cy="4114800"/>
          </a:xfrm>
          <a:custGeom>
            <a:avLst/>
            <a:gdLst/>
            <a:ahLst/>
            <a:cxnLst/>
            <a:rect r="r" b="b" t="t" l="l"/>
            <a:pathLst>
              <a:path h="4114800" w="3029989">
                <a:moveTo>
                  <a:pt x="0" y="0"/>
                </a:moveTo>
                <a:lnTo>
                  <a:pt x="3029990" y="0"/>
                </a:lnTo>
                <a:lnTo>
                  <a:pt x="302999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4874793" y="-395644"/>
            <a:ext cx="4769015" cy="2349824"/>
          </a:xfrm>
          <a:custGeom>
            <a:avLst/>
            <a:gdLst/>
            <a:ahLst/>
            <a:cxnLst/>
            <a:rect r="r" b="b" t="t" l="l"/>
            <a:pathLst>
              <a:path h="2349824" w="4769015">
                <a:moveTo>
                  <a:pt x="0" y="0"/>
                </a:moveTo>
                <a:lnTo>
                  <a:pt x="4769014" y="0"/>
                </a:lnTo>
                <a:lnTo>
                  <a:pt x="4769014" y="2349824"/>
                </a:lnTo>
                <a:lnTo>
                  <a:pt x="0" y="234982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390504" y="4069239"/>
            <a:ext cx="17506992" cy="17994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742"/>
              </a:lnSpc>
            </a:pPr>
            <a:r>
              <a:rPr lang="en-US" sz="10530">
                <a:solidFill>
                  <a:srgbClr val="2E6FB7"/>
                </a:solidFill>
                <a:latin typeface="Paytone One"/>
                <a:ea typeface="Paytone One"/>
                <a:cs typeface="Paytone One"/>
                <a:sym typeface="Paytone One"/>
              </a:rPr>
              <a:t>HÀNH TRÌNH PHÂN TÍCH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-3892220" y="-254785"/>
            <a:ext cx="7315200" cy="2566970"/>
          </a:xfrm>
          <a:custGeom>
            <a:avLst/>
            <a:gdLst/>
            <a:ahLst/>
            <a:cxnLst/>
            <a:rect r="r" b="b" t="t" l="l"/>
            <a:pathLst>
              <a:path h="2566970" w="7315200">
                <a:moveTo>
                  <a:pt x="0" y="0"/>
                </a:moveTo>
                <a:lnTo>
                  <a:pt x="7315200" y="0"/>
                </a:lnTo>
                <a:lnTo>
                  <a:pt x="7315200" y="2566970"/>
                </a:lnTo>
                <a:lnTo>
                  <a:pt x="0" y="256697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3149031">
            <a:off x="-5495873" y="6405568"/>
            <a:ext cx="7869849" cy="9508804"/>
          </a:xfrm>
          <a:custGeom>
            <a:avLst/>
            <a:gdLst/>
            <a:ahLst/>
            <a:cxnLst/>
            <a:rect r="r" b="b" t="t" l="l"/>
            <a:pathLst>
              <a:path h="9508804" w="7869849">
                <a:moveTo>
                  <a:pt x="0" y="0"/>
                </a:moveTo>
                <a:lnTo>
                  <a:pt x="7869849" y="0"/>
                </a:lnTo>
                <a:lnTo>
                  <a:pt x="7869849" y="9508804"/>
                </a:lnTo>
                <a:lnTo>
                  <a:pt x="0" y="950880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3892220" y="-254785"/>
            <a:ext cx="7315200" cy="2566970"/>
          </a:xfrm>
          <a:custGeom>
            <a:avLst/>
            <a:gdLst/>
            <a:ahLst/>
            <a:cxnLst/>
            <a:rect r="r" b="b" t="t" l="l"/>
            <a:pathLst>
              <a:path h="2566970" w="7315200">
                <a:moveTo>
                  <a:pt x="0" y="0"/>
                </a:moveTo>
                <a:lnTo>
                  <a:pt x="7315200" y="0"/>
                </a:lnTo>
                <a:lnTo>
                  <a:pt x="7315200" y="2566970"/>
                </a:lnTo>
                <a:lnTo>
                  <a:pt x="0" y="256697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465963">
            <a:off x="-6302046" y="-4126461"/>
            <a:ext cx="7869849" cy="9508804"/>
          </a:xfrm>
          <a:custGeom>
            <a:avLst/>
            <a:gdLst/>
            <a:ahLst/>
            <a:cxnLst/>
            <a:rect r="r" b="b" t="t" l="l"/>
            <a:pathLst>
              <a:path h="9508804" w="7869849">
                <a:moveTo>
                  <a:pt x="0" y="0"/>
                </a:moveTo>
                <a:lnTo>
                  <a:pt x="7869849" y="0"/>
                </a:lnTo>
                <a:lnTo>
                  <a:pt x="7869849" y="9508804"/>
                </a:lnTo>
                <a:lnTo>
                  <a:pt x="0" y="950880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3149031">
            <a:off x="15708883" y="7267585"/>
            <a:ext cx="7869849" cy="9508804"/>
          </a:xfrm>
          <a:custGeom>
            <a:avLst/>
            <a:gdLst/>
            <a:ahLst/>
            <a:cxnLst/>
            <a:rect r="r" b="b" t="t" l="l"/>
            <a:pathLst>
              <a:path h="9508804" w="7869849">
                <a:moveTo>
                  <a:pt x="0" y="0"/>
                </a:moveTo>
                <a:lnTo>
                  <a:pt x="7869849" y="0"/>
                </a:lnTo>
                <a:lnTo>
                  <a:pt x="7869849" y="9508804"/>
                </a:lnTo>
                <a:lnTo>
                  <a:pt x="0" y="950880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4874793" y="-395644"/>
            <a:ext cx="4769015" cy="2349824"/>
          </a:xfrm>
          <a:custGeom>
            <a:avLst/>
            <a:gdLst/>
            <a:ahLst/>
            <a:cxnLst/>
            <a:rect r="r" b="b" t="t" l="l"/>
            <a:pathLst>
              <a:path h="2349824" w="4769015">
                <a:moveTo>
                  <a:pt x="0" y="0"/>
                </a:moveTo>
                <a:lnTo>
                  <a:pt x="4769014" y="0"/>
                </a:lnTo>
                <a:lnTo>
                  <a:pt x="4769014" y="2349824"/>
                </a:lnTo>
                <a:lnTo>
                  <a:pt x="0" y="234982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465963">
            <a:off x="14588268" y="-6592603"/>
            <a:ext cx="7869849" cy="9508804"/>
          </a:xfrm>
          <a:custGeom>
            <a:avLst/>
            <a:gdLst/>
            <a:ahLst/>
            <a:cxnLst/>
            <a:rect r="r" b="b" t="t" l="l"/>
            <a:pathLst>
              <a:path h="9508804" w="7869849">
                <a:moveTo>
                  <a:pt x="0" y="0"/>
                </a:moveTo>
                <a:lnTo>
                  <a:pt x="7869849" y="0"/>
                </a:lnTo>
                <a:lnTo>
                  <a:pt x="7869849" y="9508804"/>
                </a:lnTo>
                <a:lnTo>
                  <a:pt x="0" y="950880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6015174" y="7713087"/>
            <a:ext cx="3371931" cy="3090427"/>
          </a:xfrm>
          <a:custGeom>
            <a:avLst/>
            <a:gdLst/>
            <a:ahLst/>
            <a:cxnLst/>
            <a:rect r="r" b="b" t="t" l="l"/>
            <a:pathLst>
              <a:path h="3090427" w="3371931">
                <a:moveTo>
                  <a:pt x="0" y="0"/>
                </a:moveTo>
                <a:lnTo>
                  <a:pt x="3371932" y="0"/>
                </a:lnTo>
                <a:lnTo>
                  <a:pt x="3371932" y="3090426"/>
                </a:lnTo>
                <a:lnTo>
                  <a:pt x="0" y="309042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-486295" y="6780821"/>
            <a:ext cx="3029989" cy="4114800"/>
          </a:xfrm>
          <a:custGeom>
            <a:avLst/>
            <a:gdLst/>
            <a:ahLst/>
            <a:cxnLst/>
            <a:rect r="r" b="b" t="t" l="l"/>
            <a:pathLst>
              <a:path h="4114800" w="3029989">
                <a:moveTo>
                  <a:pt x="0" y="0"/>
                </a:moveTo>
                <a:lnTo>
                  <a:pt x="3029990" y="0"/>
                </a:lnTo>
                <a:lnTo>
                  <a:pt x="302999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874383" y="2587906"/>
            <a:ext cx="15384917" cy="58423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022783" indent="-511392" lvl="1">
              <a:lnSpc>
                <a:spcPts val="6632"/>
              </a:lnSpc>
              <a:buFont typeface="Arial"/>
              <a:buChar char="•"/>
            </a:pPr>
            <a:r>
              <a:rPr lang="en-US" b="true" sz="4737">
                <a:solidFill>
                  <a:srgbClr val="2E6FB7"/>
                </a:solidFill>
                <a:latin typeface="Source Sans Pro Bold"/>
                <a:ea typeface="Source Sans Pro Bold"/>
                <a:cs typeface="Source Sans Pro Bold"/>
                <a:sym typeface="Source Sans Pro Bold"/>
              </a:rPr>
              <a:t>Dữ liệu</a:t>
            </a:r>
            <a:r>
              <a:rPr lang="en-US" sz="4737">
                <a:solidFill>
                  <a:srgbClr val="2E6FB7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: Walmart Store Sales (Tải từ Kaggle)</a:t>
            </a:r>
          </a:p>
          <a:p>
            <a:pPr algn="l" marL="1022783" indent="-511392" lvl="1">
              <a:lnSpc>
                <a:spcPts val="6632"/>
              </a:lnSpc>
              <a:buFont typeface="Arial"/>
              <a:buChar char="•"/>
            </a:pPr>
            <a:r>
              <a:rPr lang="en-US" b="true" sz="4737">
                <a:solidFill>
                  <a:srgbClr val="2E6FB7"/>
                </a:solidFill>
                <a:latin typeface="Source Sans Pro Bold"/>
                <a:ea typeface="Source Sans Pro Bold"/>
                <a:cs typeface="Source Sans Pro Bold"/>
                <a:sym typeface="Source Sans Pro Bold"/>
              </a:rPr>
              <a:t>Cô</a:t>
            </a:r>
            <a:r>
              <a:rPr lang="en-US" b="true" sz="4737">
                <a:solidFill>
                  <a:srgbClr val="2E6FB7"/>
                </a:solidFill>
                <a:latin typeface="Source Sans Pro Bold"/>
                <a:ea typeface="Source Sans Pro Bold"/>
                <a:cs typeface="Source Sans Pro Bold"/>
                <a:sym typeface="Source Sans Pro Bold"/>
              </a:rPr>
              <a:t>ng cụ</a:t>
            </a:r>
            <a:r>
              <a:rPr lang="en-US" sz="4737">
                <a:solidFill>
                  <a:srgbClr val="2E6FB7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: Python (Pandas, Matplotlib, Scikit-learn)</a:t>
            </a:r>
          </a:p>
          <a:p>
            <a:pPr algn="l" marL="1022783" indent="-511392" lvl="1">
              <a:lnSpc>
                <a:spcPts val="6632"/>
              </a:lnSpc>
              <a:buFont typeface="Arial"/>
              <a:buChar char="•"/>
            </a:pPr>
            <a:r>
              <a:rPr lang="en-US" b="true" sz="4737">
                <a:solidFill>
                  <a:srgbClr val="2E6FB7"/>
                </a:solidFill>
                <a:latin typeface="Source Sans Pro Bold"/>
                <a:ea typeface="Source Sans Pro Bold"/>
                <a:cs typeface="Source Sans Pro Bold"/>
                <a:sym typeface="Source Sans Pro Bold"/>
              </a:rPr>
              <a:t>P</a:t>
            </a:r>
            <a:r>
              <a:rPr lang="en-US" b="true" sz="4737">
                <a:solidFill>
                  <a:srgbClr val="2E6FB7"/>
                </a:solidFill>
                <a:latin typeface="Source Sans Pro Bold"/>
                <a:ea typeface="Source Sans Pro Bold"/>
                <a:cs typeface="Source Sans Pro Bold"/>
                <a:sym typeface="Source Sans Pro Bold"/>
              </a:rPr>
              <a:t>hươ</a:t>
            </a:r>
            <a:r>
              <a:rPr lang="en-US" b="true" sz="4737">
                <a:solidFill>
                  <a:srgbClr val="2E6FB7"/>
                </a:solidFill>
                <a:latin typeface="Source Sans Pro Bold"/>
                <a:ea typeface="Source Sans Pro Bold"/>
                <a:cs typeface="Source Sans Pro Bold"/>
                <a:sym typeface="Source Sans Pro Bold"/>
              </a:rPr>
              <a:t>ng pháp Phân tích:</a:t>
            </a:r>
          </a:p>
          <a:p>
            <a:pPr algn="l" marL="2045566" indent="-681855" lvl="2">
              <a:lnSpc>
                <a:spcPts val="6632"/>
              </a:lnSpc>
              <a:buFont typeface="Arial"/>
              <a:buChar char="⚬"/>
            </a:pPr>
            <a:r>
              <a:rPr lang="en-US" b="true" sz="4737">
                <a:solidFill>
                  <a:srgbClr val="2E6FB7"/>
                </a:solidFill>
                <a:latin typeface="Source Sans Pro Bold"/>
                <a:ea typeface="Source Sans Pro Bold"/>
                <a:cs typeface="Source Sans Pro Bold"/>
                <a:sym typeface="Source Sans Pro Bold"/>
              </a:rPr>
              <a:t>Phân tích Mô tả: </a:t>
            </a:r>
            <a:r>
              <a:rPr lang="en-US" sz="4737">
                <a:solidFill>
                  <a:srgbClr val="2E6FB7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Trả lời </a:t>
            </a:r>
            <a:r>
              <a:rPr lang="en-US" sz="4737" i="true">
                <a:solidFill>
                  <a:srgbClr val="2E6FB7"/>
                </a:solidFill>
                <a:latin typeface="Source Sans Pro Italics"/>
                <a:ea typeface="Source Sans Pro Italics"/>
                <a:cs typeface="Source Sans Pro Italics"/>
                <a:sym typeface="Source Sans Pro Italics"/>
              </a:rPr>
              <a:t>Cái gì đang xảy ra.</a:t>
            </a:r>
          </a:p>
          <a:p>
            <a:pPr algn="l" marL="2045566" indent="-681855" lvl="2">
              <a:lnSpc>
                <a:spcPts val="6632"/>
              </a:lnSpc>
              <a:buFont typeface="Arial"/>
              <a:buChar char="⚬"/>
            </a:pPr>
            <a:r>
              <a:rPr lang="en-US" b="true" sz="4737">
                <a:solidFill>
                  <a:srgbClr val="2E6FB7"/>
                </a:solidFill>
                <a:latin typeface="Source Sans Pro Bold"/>
                <a:ea typeface="Source Sans Pro Bold"/>
                <a:cs typeface="Source Sans Pro Bold"/>
                <a:sym typeface="Source Sans Pro Bold"/>
              </a:rPr>
              <a:t>Phân Cụm: Trả lời </a:t>
            </a:r>
            <a:r>
              <a:rPr lang="en-US" sz="4737" i="true">
                <a:solidFill>
                  <a:srgbClr val="2E6FB7"/>
                </a:solidFill>
                <a:latin typeface="Source Sans Pro Italics"/>
                <a:ea typeface="Source Sans Pro Italics"/>
                <a:cs typeface="Source Sans Pro Italics"/>
                <a:sym typeface="Source Sans Pro Italics"/>
              </a:rPr>
              <a:t>Ai là ai </a:t>
            </a:r>
            <a:r>
              <a:rPr lang="en-US" sz="4737">
                <a:solidFill>
                  <a:srgbClr val="2E6FB7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(phân khúc cửa hàng).</a:t>
            </a:r>
          </a:p>
          <a:p>
            <a:pPr algn="l" marL="2045566" indent="-681855" lvl="2">
              <a:lnSpc>
                <a:spcPts val="6632"/>
              </a:lnSpc>
              <a:buFont typeface="Arial"/>
              <a:buChar char="⚬"/>
            </a:pPr>
            <a:r>
              <a:rPr lang="en-US" b="true" sz="4737">
                <a:solidFill>
                  <a:srgbClr val="2E6FB7"/>
                </a:solidFill>
                <a:latin typeface="Source Sans Pro Bold"/>
                <a:ea typeface="Source Sans Pro Bold"/>
                <a:cs typeface="Source Sans Pro Bold"/>
                <a:sym typeface="Source Sans Pro Bold"/>
              </a:rPr>
              <a:t>Phân Loại/Dự đoán:</a:t>
            </a:r>
            <a:r>
              <a:rPr lang="en-US" sz="4737">
                <a:solidFill>
                  <a:srgbClr val="2E6FB7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Trả lời </a:t>
            </a:r>
            <a:r>
              <a:rPr lang="en-US" sz="4737" i="true">
                <a:solidFill>
                  <a:srgbClr val="2E6FB7"/>
                </a:solidFill>
                <a:latin typeface="Source Sans Pro Italics"/>
                <a:ea typeface="Source Sans Pro Italics"/>
                <a:cs typeface="Source Sans Pro Italics"/>
                <a:sym typeface="Source Sans Pro Italics"/>
              </a:rPr>
              <a:t>Điều gì sẽ xảy ra tiếp theo.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23740" y="923925"/>
            <a:ext cx="16640519" cy="9203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518"/>
              </a:lnSpc>
            </a:pPr>
            <a:r>
              <a:rPr lang="en-US" sz="5370">
                <a:solidFill>
                  <a:srgbClr val="2E6FB7"/>
                </a:solidFill>
                <a:latin typeface="Paytone One"/>
                <a:ea typeface="Paytone One"/>
                <a:cs typeface="Paytone One"/>
                <a:sym typeface="Paytone One"/>
              </a:rPr>
              <a:t>TỪ DỮ LIỆU THÔ ĐẾN QUYẾT ĐỊNH KINH DOANH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3149031">
            <a:off x="-5495873" y="6405568"/>
            <a:ext cx="7869849" cy="9508804"/>
          </a:xfrm>
          <a:custGeom>
            <a:avLst/>
            <a:gdLst/>
            <a:ahLst/>
            <a:cxnLst/>
            <a:rect r="r" b="b" t="t" l="l"/>
            <a:pathLst>
              <a:path h="9508804" w="7869849">
                <a:moveTo>
                  <a:pt x="0" y="0"/>
                </a:moveTo>
                <a:lnTo>
                  <a:pt x="7869849" y="0"/>
                </a:lnTo>
                <a:lnTo>
                  <a:pt x="7869849" y="9508804"/>
                </a:lnTo>
                <a:lnTo>
                  <a:pt x="0" y="950880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465963">
            <a:off x="-6302046" y="-4126461"/>
            <a:ext cx="7869849" cy="9508804"/>
          </a:xfrm>
          <a:custGeom>
            <a:avLst/>
            <a:gdLst/>
            <a:ahLst/>
            <a:cxnLst/>
            <a:rect r="r" b="b" t="t" l="l"/>
            <a:pathLst>
              <a:path h="9508804" w="7869849">
                <a:moveTo>
                  <a:pt x="0" y="0"/>
                </a:moveTo>
                <a:lnTo>
                  <a:pt x="7869849" y="0"/>
                </a:lnTo>
                <a:lnTo>
                  <a:pt x="7869849" y="9508804"/>
                </a:lnTo>
                <a:lnTo>
                  <a:pt x="0" y="950880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3149031">
            <a:off x="14903464" y="7132525"/>
            <a:ext cx="7869849" cy="9508804"/>
          </a:xfrm>
          <a:custGeom>
            <a:avLst/>
            <a:gdLst/>
            <a:ahLst/>
            <a:cxnLst/>
            <a:rect r="r" b="b" t="t" l="l"/>
            <a:pathLst>
              <a:path h="9508804" w="7869849">
                <a:moveTo>
                  <a:pt x="0" y="0"/>
                </a:moveTo>
                <a:lnTo>
                  <a:pt x="7869849" y="0"/>
                </a:lnTo>
                <a:lnTo>
                  <a:pt x="7869849" y="9508804"/>
                </a:lnTo>
                <a:lnTo>
                  <a:pt x="0" y="950880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465963">
            <a:off x="14588268" y="-6592603"/>
            <a:ext cx="7869849" cy="9508804"/>
          </a:xfrm>
          <a:custGeom>
            <a:avLst/>
            <a:gdLst/>
            <a:ahLst/>
            <a:cxnLst/>
            <a:rect r="r" b="b" t="t" l="l"/>
            <a:pathLst>
              <a:path h="9508804" w="7869849">
                <a:moveTo>
                  <a:pt x="0" y="0"/>
                </a:moveTo>
                <a:lnTo>
                  <a:pt x="7869849" y="0"/>
                </a:lnTo>
                <a:lnTo>
                  <a:pt x="7869849" y="9508804"/>
                </a:lnTo>
                <a:lnTo>
                  <a:pt x="0" y="950880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6015174" y="7713087"/>
            <a:ext cx="3371931" cy="3090427"/>
          </a:xfrm>
          <a:custGeom>
            <a:avLst/>
            <a:gdLst/>
            <a:ahLst/>
            <a:cxnLst/>
            <a:rect r="r" b="b" t="t" l="l"/>
            <a:pathLst>
              <a:path h="3090427" w="3371931">
                <a:moveTo>
                  <a:pt x="0" y="0"/>
                </a:moveTo>
                <a:lnTo>
                  <a:pt x="3371932" y="0"/>
                </a:lnTo>
                <a:lnTo>
                  <a:pt x="3371932" y="3090426"/>
                </a:lnTo>
                <a:lnTo>
                  <a:pt x="0" y="309042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486295" y="6780821"/>
            <a:ext cx="3029989" cy="4114800"/>
          </a:xfrm>
          <a:custGeom>
            <a:avLst/>
            <a:gdLst/>
            <a:ahLst/>
            <a:cxnLst/>
            <a:rect r="r" b="b" t="t" l="l"/>
            <a:pathLst>
              <a:path h="4114800" w="3029989">
                <a:moveTo>
                  <a:pt x="0" y="0"/>
                </a:moveTo>
                <a:lnTo>
                  <a:pt x="3029990" y="0"/>
                </a:lnTo>
                <a:lnTo>
                  <a:pt x="302999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4874793" y="-395644"/>
            <a:ext cx="4769015" cy="2349824"/>
          </a:xfrm>
          <a:custGeom>
            <a:avLst/>
            <a:gdLst/>
            <a:ahLst/>
            <a:cxnLst/>
            <a:rect r="r" b="b" t="t" l="l"/>
            <a:pathLst>
              <a:path h="2349824" w="4769015">
                <a:moveTo>
                  <a:pt x="0" y="0"/>
                </a:moveTo>
                <a:lnTo>
                  <a:pt x="4769014" y="0"/>
                </a:lnTo>
                <a:lnTo>
                  <a:pt x="4769014" y="2349824"/>
                </a:lnTo>
                <a:lnTo>
                  <a:pt x="0" y="234982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390504" y="4069239"/>
            <a:ext cx="17506992" cy="17994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742"/>
              </a:lnSpc>
            </a:pPr>
            <a:r>
              <a:rPr lang="en-US" sz="10530">
                <a:solidFill>
                  <a:srgbClr val="2E6FB7"/>
                </a:solidFill>
                <a:latin typeface="Paytone One"/>
                <a:ea typeface="Paytone One"/>
                <a:cs typeface="Paytone One"/>
                <a:sym typeface="Paytone One"/>
              </a:rPr>
              <a:t>KHÁM PHÁ CỐT LÕI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-3892220" y="-254785"/>
            <a:ext cx="7315200" cy="2566970"/>
          </a:xfrm>
          <a:custGeom>
            <a:avLst/>
            <a:gdLst/>
            <a:ahLst/>
            <a:cxnLst/>
            <a:rect r="r" b="b" t="t" l="l"/>
            <a:pathLst>
              <a:path h="2566970" w="7315200">
                <a:moveTo>
                  <a:pt x="0" y="0"/>
                </a:moveTo>
                <a:lnTo>
                  <a:pt x="7315200" y="0"/>
                </a:lnTo>
                <a:lnTo>
                  <a:pt x="7315200" y="2566970"/>
                </a:lnTo>
                <a:lnTo>
                  <a:pt x="0" y="256697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3149031">
            <a:off x="-5495873" y="6405568"/>
            <a:ext cx="7869849" cy="9508804"/>
          </a:xfrm>
          <a:custGeom>
            <a:avLst/>
            <a:gdLst/>
            <a:ahLst/>
            <a:cxnLst/>
            <a:rect r="r" b="b" t="t" l="l"/>
            <a:pathLst>
              <a:path h="9508804" w="7869849">
                <a:moveTo>
                  <a:pt x="0" y="0"/>
                </a:moveTo>
                <a:lnTo>
                  <a:pt x="7869849" y="0"/>
                </a:lnTo>
                <a:lnTo>
                  <a:pt x="7869849" y="9508804"/>
                </a:lnTo>
                <a:lnTo>
                  <a:pt x="0" y="950880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3149031">
            <a:off x="15708883" y="7267585"/>
            <a:ext cx="7869849" cy="9508804"/>
          </a:xfrm>
          <a:custGeom>
            <a:avLst/>
            <a:gdLst/>
            <a:ahLst/>
            <a:cxnLst/>
            <a:rect r="r" b="b" t="t" l="l"/>
            <a:pathLst>
              <a:path h="9508804" w="7869849">
                <a:moveTo>
                  <a:pt x="0" y="0"/>
                </a:moveTo>
                <a:lnTo>
                  <a:pt x="7869849" y="0"/>
                </a:lnTo>
                <a:lnTo>
                  <a:pt x="7869849" y="9508804"/>
                </a:lnTo>
                <a:lnTo>
                  <a:pt x="0" y="950880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015174" y="7713087"/>
            <a:ext cx="3371931" cy="3090427"/>
          </a:xfrm>
          <a:custGeom>
            <a:avLst/>
            <a:gdLst/>
            <a:ahLst/>
            <a:cxnLst/>
            <a:rect r="r" b="b" t="t" l="l"/>
            <a:pathLst>
              <a:path h="3090427" w="3371931">
                <a:moveTo>
                  <a:pt x="0" y="0"/>
                </a:moveTo>
                <a:lnTo>
                  <a:pt x="3371932" y="0"/>
                </a:lnTo>
                <a:lnTo>
                  <a:pt x="3371932" y="3090426"/>
                </a:lnTo>
                <a:lnTo>
                  <a:pt x="0" y="309042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486295" y="6780821"/>
            <a:ext cx="3029989" cy="4114800"/>
          </a:xfrm>
          <a:custGeom>
            <a:avLst/>
            <a:gdLst/>
            <a:ahLst/>
            <a:cxnLst/>
            <a:rect r="r" b="b" t="t" l="l"/>
            <a:pathLst>
              <a:path h="4114800" w="3029989">
                <a:moveTo>
                  <a:pt x="0" y="0"/>
                </a:moveTo>
                <a:lnTo>
                  <a:pt x="3029990" y="0"/>
                </a:lnTo>
                <a:lnTo>
                  <a:pt x="302999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4380294" y="737728"/>
            <a:ext cx="9803163" cy="4881373"/>
          </a:xfrm>
          <a:custGeom>
            <a:avLst/>
            <a:gdLst/>
            <a:ahLst/>
            <a:cxnLst/>
            <a:rect r="r" b="b" t="t" l="l"/>
            <a:pathLst>
              <a:path h="4881373" w="9803163">
                <a:moveTo>
                  <a:pt x="0" y="0"/>
                </a:moveTo>
                <a:lnTo>
                  <a:pt x="9803162" y="0"/>
                </a:lnTo>
                <a:lnTo>
                  <a:pt x="9803162" y="4881374"/>
                </a:lnTo>
                <a:lnTo>
                  <a:pt x="0" y="488137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353" t="0" r="-353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4399344" y="5478036"/>
            <a:ext cx="9803163" cy="4847064"/>
          </a:xfrm>
          <a:custGeom>
            <a:avLst/>
            <a:gdLst/>
            <a:ahLst/>
            <a:cxnLst/>
            <a:rect r="r" b="b" t="t" l="l"/>
            <a:pathLst>
              <a:path h="4847064" w="9803163">
                <a:moveTo>
                  <a:pt x="0" y="0"/>
                </a:moveTo>
                <a:lnTo>
                  <a:pt x="9803162" y="0"/>
                </a:lnTo>
                <a:lnTo>
                  <a:pt x="9803162" y="4847064"/>
                </a:lnTo>
                <a:lnTo>
                  <a:pt x="0" y="4847064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3149031">
            <a:off x="-5495873" y="6405568"/>
            <a:ext cx="7869849" cy="9508804"/>
          </a:xfrm>
          <a:custGeom>
            <a:avLst/>
            <a:gdLst/>
            <a:ahLst/>
            <a:cxnLst/>
            <a:rect r="r" b="b" t="t" l="l"/>
            <a:pathLst>
              <a:path h="9508804" w="7869849">
                <a:moveTo>
                  <a:pt x="0" y="0"/>
                </a:moveTo>
                <a:lnTo>
                  <a:pt x="7869849" y="0"/>
                </a:lnTo>
                <a:lnTo>
                  <a:pt x="7869849" y="9508804"/>
                </a:lnTo>
                <a:lnTo>
                  <a:pt x="0" y="950880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3149031">
            <a:off x="15708883" y="7267585"/>
            <a:ext cx="7869849" cy="9508804"/>
          </a:xfrm>
          <a:custGeom>
            <a:avLst/>
            <a:gdLst/>
            <a:ahLst/>
            <a:cxnLst/>
            <a:rect r="r" b="b" t="t" l="l"/>
            <a:pathLst>
              <a:path h="9508804" w="7869849">
                <a:moveTo>
                  <a:pt x="0" y="0"/>
                </a:moveTo>
                <a:lnTo>
                  <a:pt x="7869849" y="0"/>
                </a:lnTo>
                <a:lnTo>
                  <a:pt x="7869849" y="9508804"/>
                </a:lnTo>
                <a:lnTo>
                  <a:pt x="0" y="950880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015174" y="7713087"/>
            <a:ext cx="3371931" cy="3090427"/>
          </a:xfrm>
          <a:custGeom>
            <a:avLst/>
            <a:gdLst/>
            <a:ahLst/>
            <a:cxnLst/>
            <a:rect r="r" b="b" t="t" l="l"/>
            <a:pathLst>
              <a:path h="3090427" w="3371931">
                <a:moveTo>
                  <a:pt x="0" y="0"/>
                </a:moveTo>
                <a:lnTo>
                  <a:pt x="3371932" y="0"/>
                </a:lnTo>
                <a:lnTo>
                  <a:pt x="3371932" y="3090426"/>
                </a:lnTo>
                <a:lnTo>
                  <a:pt x="0" y="309042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486295" y="6780821"/>
            <a:ext cx="3029989" cy="4114800"/>
          </a:xfrm>
          <a:custGeom>
            <a:avLst/>
            <a:gdLst/>
            <a:ahLst/>
            <a:cxnLst/>
            <a:rect r="r" b="b" t="t" l="l"/>
            <a:pathLst>
              <a:path h="4114800" w="3029989">
                <a:moveTo>
                  <a:pt x="0" y="0"/>
                </a:moveTo>
                <a:lnTo>
                  <a:pt x="3029990" y="0"/>
                </a:lnTo>
                <a:lnTo>
                  <a:pt x="302999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2813668" y="823748"/>
            <a:ext cx="13069764" cy="4849787"/>
          </a:xfrm>
          <a:custGeom>
            <a:avLst/>
            <a:gdLst/>
            <a:ahLst/>
            <a:cxnLst/>
            <a:rect r="r" b="b" t="t" l="l"/>
            <a:pathLst>
              <a:path h="4849787" w="13069764">
                <a:moveTo>
                  <a:pt x="0" y="0"/>
                </a:moveTo>
                <a:lnTo>
                  <a:pt x="13069764" y="0"/>
                </a:lnTo>
                <a:lnTo>
                  <a:pt x="13069764" y="4849787"/>
                </a:lnTo>
                <a:lnTo>
                  <a:pt x="0" y="484978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2813668" y="5585614"/>
            <a:ext cx="12964989" cy="4570392"/>
          </a:xfrm>
          <a:custGeom>
            <a:avLst/>
            <a:gdLst/>
            <a:ahLst/>
            <a:cxnLst/>
            <a:rect r="r" b="b" t="t" l="l"/>
            <a:pathLst>
              <a:path h="4570392" w="12964989">
                <a:moveTo>
                  <a:pt x="0" y="0"/>
                </a:moveTo>
                <a:lnTo>
                  <a:pt x="12964989" y="0"/>
                </a:lnTo>
                <a:lnTo>
                  <a:pt x="12964989" y="4570391"/>
                </a:lnTo>
                <a:lnTo>
                  <a:pt x="0" y="4570391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245204" y="75043"/>
            <a:ext cx="16206692" cy="6534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57"/>
              </a:lnSpc>
            </a:pPr>
            <a:r>
              <a:rPr lang="en-US" sz="3898">
                <a:solidFill>
                  <a:srgbClr val="2E6FB7"/>
                </a:solidFill>
                <a:latin typeface="Paytone One"/>
                <a:ea typeface="Paytone One"/>
                <a:cs typeface="Paytone One"/>
                <a:sym typeface="Paytone One"/>
              </a:rPr>
              <a:t>ĐỊNH ĐOẠT CHIẾN TRƯỜNG VÀ QUÂN ĐỘI CHỦ LỰC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3149031">
            <a:off x="-5495873" y="6405568"/>
            <a:ext cx="7869849" cy="9508804"/>
          </a:xfrm>
          <a:custGeom>
            <a:avLst/>
            <a:gdLst/>
            <a:ahLst/>
            <a:cxnLst/>
            <a:rect r="r" b="b" t="t" l="l"/>
            <a:pathLst>
              <a:path h="9508804" w="7869849">
                <a:moveTo>
                  <a:pt x="0" y="0"/>
                </a:moveTo>
                <a:lnTo>
                  <a:pt x="7869849" y="0"/>
                </a:lnTo>
                <a:lnTo>
                  <a:pt x="7869849" y="9508804"/>
                </a:lnTo>
                <a:lnTo>
                  <a:pt x="0" y="950880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3149031">
            <a:off x="15708883" y="7267585"/>
            <a:ext cx="7869849" cy="9508804"/>
          </a:xfrm>
          <a:custGeom>
            <a:avLst/>
            <a:gdLst/>
            <a:ahLst/>
            <a:cxnLst/>
            <a:rect r="r" b="b" t="t" l="l"/>
            <a:pathLst>
              <a:path h="9508804" w="7869849">
                <a:moveTo>
                  <a:pt x="0" y="0"/>
                </a:moveTo>
                <a:lnTo>
                  <a:pt x="7869849" y="0"/>
                </a:lnTo>
                <a:lnTo>
                  <a:pt x="7869849" y="9508804"/>
                </a:lnTo>
                <a:lnTo>
                  <a:pt x="0" y="950880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015174" y="7713087"/>
            <a:ext cx="3371931" cy="3090427"/>
          </a:xfrm>
          <a:custGeom>
            <a:avLst/>
            <a:gdLst/>
            <a:ahLst/>
            <a:cxnLst/>
            <a:rect r="r" b="b" t="t" l="l"/>
            <a:pathLst>
              <a:path h="3090427" w="3371931">
                <a:moveTo>
                  <a:pt x="0" y="0"/>
                </a:moveTo>
                <a:lnTo>
                  <a:pt x="3371932" y="0"/>
                </a:lnTo>
                <a:lnTo>
                  <a:pt x="3371932" y="3090426"/>
                </a:lnTo>
                <a:lnTo>
                  <a:pt x="0" y="309042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486295" y="6780821"/>
            <a:ext cx="3029989" cy="4114800"/>
          </a:xfrm>
          <a:custGeom>
            <a:avLst/>
            <a:gdLst/>
            <a:ahLst/>
            <a:cxnLst/>
            <a:rect r="r" b="b" t="t" l="l"/>
            <a:pathLst>
              <a:path h="4114800" w="3029989">
                <a:moveTo>
                  <a:pt x="0" y="0"/>
                </a:moveTo>
                <a:lnTo>
                  <a:pt x="3029990" y="0"/>
                </a:lnTo>
                <a:lnTo>
                  <a:pt x="302999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240838" y="2339194"/>
            <a:ext cx="10010817" cy="5984176"/>
          </a:xfrm>
          <a:custGeom>
            <a:avLst/>
            <a:gdLst/>
            <a:ahLst/>
            <a:cxnLst/>
            <a:rect r="r" b="b" t="t" l="l"/>
            <a:pathLst>
              <a:path h="5984176" w="10010817">
                <a:moveTo>
                  <a:pt x="0" y="0"/>
                </a:moveTo>
                <a:lnTo>
                  <a:pt x="10010817" y="0"/>
                </a:lnTo>
                <a:lnTo>
                  <a:pt x="10010817" y="5984177"/>
                </a:lnTo>
                <a:lnTo>
                  <a:pt x="0" y="598417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0251655" y="1753373"/>
            <a:ext cx="8036345" cy="6569998"/>
          </a:xfrm>
          <a:custGeom>
            <a:avLst/>
            <a:gdLst/>
            <a:ahLst/>
            <a:cxnLst/>
            <a:rect r="r" b="b" t="t" l="l"/>
            <a:pathLst>
              <a:path h="6569998" w="8036345">
                <a:moveTo>
                  <a:pt x="0" y="0"/>
                </a:moveTo>
                <a:lnTo>
                  <a:pt x="8036345" y="0"/>
                </a:lnTo>
                <a:lnTo>
                  <a:pt x="8036345" y="6569998"/>
                </a:lnTo>
                <a:lnTo>
                  <a:pt x="0" y="6569998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245204" y="509715"/>
            <a:ext cx="16206692" cy="6534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57"/>
              </a:lnSpc>
            </a:pPr>
            <a:r>
              <a:rPr lang="en-US" sz="3898">
                <a:solidFill>
                  <a:srgbClr val="2E6FB7"/>
                </a:solidFill>
                <a:latin typeface="Paytone One"/>
                <a:ea typeface="Paytone One"/>
                <a:cs typeface="Paytone One"/>
                <a:sym typeface="Paytone One"/>
              </a:rPr>
              <a:t>BẰNG CHỨNG QUY MÔ &amp; CẢNH BÁO ĐE DỌA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3149031">
            <a:off x="-5495873" y="6405568"/>
            <a:ext cx="7869849" cy="9508804"/>
          </a:xfrm>
          <a:custGeom>
            <a:avLst/>
            <a:gdLst/>
            <a:ahLst/>
            <a:cxnLst/>
            <a:rect r="r" b="b" t="t" l="l"/>
            <a:pathLst>
              <a:path h="9508804" w="7869849">
                <a:moveTo>
                  <a:pt x="0" y="0"/>
                </a:moveTo>
                <a:lnTo>
                  <a:pt x="7869849" y="0"/>
                </a:lnTo>
                <a:lnTo>
                  <a:pt x="7869849" y="9508804"/>
                </a:lnTo>
                <a:lnTo>
                  <a:pt x="0" y="950880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3149031">
            <a:off x="15708883" y="7267585"/>
            <a:ext cx="7869849" cy="9508804"/>
          </a:xfrm>
          <a:custGeom>
            <a:avLst/>
            <a:gdLst/>
            <a:ahLst/>
            <a:cxnLst/>
            <a:rect r="r" b="b" t="t" l="l"/>
            <a:pathLst>
              <a:path h="9508804" w="7869849">
                <a:moveTo>
                  <a:pt x="0" y="0"/>
                </a:moveTo>
                <a:lnTo>
                  <a:pt x="7869849" y="0"/>
                </a:lnTo>
                <a:lnTo>
                  <a:pt x="7869849" y="9508804"/>
                </a:lnTo>
                <a:lnTo>
                  <a:pt x="0" y="950880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015174" y="7713087"/>
            <a:ext cx="3371931" cy="3090427"/>
          </a:xfrm>
          <a:custGeom>
            <a:avLst/>
            <a:gdLst/>
            <a:ahLst/>
            <a:cxnLst/>
            <a:rect r="r" b="b" t="t" l="l"/>
            <a:pathLst>
              <a:path h="3090427" w="3371931">
                <a:moveTo>
                  <a:pt x="0" y="0"/>
                </a:moveTo>
                <a:lnTo>
                  <a:pt x="3371932" y="0"/>
                </a:lnTo>
                <a:lnTo>
                  <a:pt x="3371932" y="3090426"/>
                </a:lnTo>
                <a:lnTo>
                  <a:pt x="0" y="309042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486295" y="6780821"/>
            <a:ext cx="3029989" cy="4114800"/>
          </a:xfrm>
          <a:custGeom>
            <a:avLst/>
            <a:gdLst/>
            <a:ahLst/>
            <a:cxnLst/>
            <a:rect r="r" b="b" t="t" l="l"/>
            <a:pathLst>
              <a:path h="4114800" w="3029989">
                <a:moveTo>
                  <a:pt x="0" y="0"/>
                </a:moveTo>
                <a:lnTo>
                  <a:pt x="3029990" y="0"/>
                </a:lnTo>
                <a:lnTo>
                  <a:pt x="302999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2859395" y="1587622"/>
            <a:ext cx="13155779" cy="7864143"/>
          </a:xfrm>
          <a:custGeom>
            <a:avLst/>
            <a:gdLst/>
            <a:ahLst/>
            <a:cxnLst/>
            <a:rect r="r" b="b" t="t" l="l"/>
            <a:pathLst>
              <a:path h="7864143" w="13155779">
                <a:moveTo>
                  <a:pt x="0" y="0"/>
                </a:moveTo>
                <a:lnTo>
                  <a:pt x="13155779" y="0"/>
                </a:lnTo>
                <a:lnTo>
                  <a:pt x="13155779" y="7864144"/>
                </a:lnTo>
                <a:lnTo>
                  <a:pt x="0" y="786414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245204" y="509715"/>
            <a:ext cx="16206692" cy="6534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57"/>
              </a:lnSpc>
            </a:pPr>
            <a:r>
              <a:rPr lang="en-US" sz="3898">
                <a:solidFill>
                  <a:srgbClr val="2E6FB7"/>
                </a:solidFill>
                <a:latin typeface="Paytone One"/>
                <a:ea typeface="Paytone One"/>
                <a:cs typeface="Paytone One"/>
                <a:sym typeface="Paytone One"/>
              </a:rPr>
              <a:t>GIẢI PHÁP TỐI THƯỢNG: CÁ NHÂN HÓA VÀ KẾT QUẢ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3149031">
            <a:off x="-5495873" y="6405568"/>
            <a:ext cx="7869849" cy="9508804"/>
          </a:xfrm>
          <a:custGeom>
            <a:avLst/>
            <a:gdLst/>
            <a:ahLst/>
            <a:cxnLst/>
            <a:rect r="r" b="b" t="t" l="l"/>
            <a:pathLst>
              <a:path h="9508804" w="7869849">
                <a:moveTo>
                  <a:pt x="0" y="0"/>
                </a:moveTo>
                <a:lnTo>
                  <a:pt x="7869849" y="0"/>
                </a:lnTo>
                <a:lnTo>
                  <a:pt x="7869849" y="9508804"/>
                </a:lnTo>
                <a:lnTo>
                  <a:pt x="0" y="950880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3149031">
            <a:off x="15708883" y="7267585"/>
            <a:ext cx="7869849" cy="9508804"/>
          </a:xfrm>
          <a:custGeom>
            <a:avLst/>
            <a:gdLst/>
            <a:ahLst/>
            <a:cxnLst/>
            <a:rect r="r" b="b" t="t" l="l"/>
            <a:pathLst>
              <a:path h="9508804" w="7869849">
                <a:moveTo>
                  <a:pt x="0" y="0"/>
                </a:moveTo>
                <a:lnTo>
                  <a:pt x="7869849" y="0"/>
                </a:lnTo>
                <a:lnTo>
                  <a:pt x="7869849" y="9508804"/>
                </a:lnTo>
                <a:lnTo>
                  <a:pt x="0" y="950880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015174" y="7713087"/>
            <a:ext cx="3371931" cy="3090427"/>
          </a:xfrm>
          <a:custGeom>
            <a:avLst/>
            <a:gdLst/>
            <a:ahLst/>
            <a:cxnLst/>
            <a:rect r="r" b="b" t="t" l="l"/>
            <a:pathLst>
              <a:path h="3090427" w="3371931">
                <a:moveTo>
                  <a:pt x="0" y="0"/>
                </a:moveTo>
                <a:lnTo>
                  <a:pt x="3371932" y="0"/>
                </a:lnTo>
                <a:lnTo>
                  <a:pt x="3371932" y="3090426"/>
                </a:lnTo>
                <a:lnTo>
                  <a:pt x="0" y="309042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486295" y="6780821"/>
            <a:ext cx="3029989" cy="4114800"/>
          </a:xfrm>
          <a:custGeom>
            <a:avLst/>
            <a:gdLst/>
            <a:ahLst/>
            <a:cxnLst/>
            <a:rect r="r" b="b" t="t" l="l"/>
            <a:pathLst>
              <a:path h="4114800" w="3029989">
                <a:moveTo>
                  <a:pt x="0" y="0"/>
                </a:moveTo>
                <a:lnTo>
                  <a:pt x="3029990" y="0"/>
                </a:lnTo>
                <a:lnTo>
                  <a:pt x="302999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0" y="1200150"/>
            <a:ext cx="18288000" cy="9086850"/>
          </a:xfrm>
          <a:custGeom>
            <a:avLst/>
            <a:gdLst/>
            <a:ahLst/>
            <a:cxnLst/>
            <a:rect r="r" b="b" t="t" l="l"/>
            <a:pathLst>
              <a:path h="9086850" w="18288000">
                <a:moveTo>
                  <a:pt x="0" y="0"/>
                </a:moveTo>
                <a:lnTo>
                  <a:pt x="18288000" y="0"/>
                </a:lnTo>
                <a:lnTo>
                  <a:pt x="18288000" y="9086850"/>
                </a:lnTo>
                <a:lnTo>
                  <a:pt x="0" y="908685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245204" y="375245"/>
            <a:ext cx="16206692" cy="6534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57"/>
              </a:lnSpc>
            </a:pPr>
            <a:r>
              <a:rPr lang="en-US" sz="3898">
                <a:solidFill>
                  <a:srgbClr val="2E6FB7"/>
                </a:solidFill>
                <a:latin typeface="Paytone One"/>
                <a:ea typeface="Paytone One"/>
                <a:cs typeface="Paytone One"/>
                <a:sym typeface="Paytone One"/>
              </a:rPr>
              <a:t>GIẢI PHÁP TỐI THƯỢNG: CÁ NHÂN HÓA VÀ KẾT QUẢ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3149031">
            <a:off x="-5495873" y="6405568"/>
            <a:ext cx="7869849" cy="9508804"/>
          </a:xfrm>
          <a:custGeom>
            <a:avLst/>
            <a:gdLst/>
            <a:ahLst/>
            <a:cxnLst/>
            <a:rect r="r" b="b" t="t" l="l"/>
            <a:pathLst>
              <a:path h="9508804" w="7869849">
                <a:moveTo>
                  <a:pt x="0" y="0"/>
                </a:moveTo>
                <a:lnTo>
                  <a:pt x="7869849" y="0"/>
                </a:lnTo>
                <a:lnTo>
                  <a:pt x="7869849" y="9508804"/>
                </a:lnTo>
                <a:lnTo>
                  <a:pt x="0" y="950880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465963">
            <a:off x="-6302046" y="-4126461"/>
            <a:ext cx="7869849" cy="9508804"/>
          </a:xfrm>
          <a:custGeom>
            <a:avLst/>
            <a:gdLst/>
            <a:ahLst/>
            <a:cxnLst/>
            <a:rect r="r" b="b" t="t" l="l"/>
            <a:pathLst>
              <a:path h="9508804" w="7869849">
                <a:moveTo>
                  <a:pt x="0" y="0"/>
                </a:moveTo>
                <a:lnTo>
                  <a:pt x="7869849" y="0"/>
                </a:lnTo>
                <a:lnTo>
                  <a:pt x="7869849" y="9508804"/>
                </a:lnTo>
                <a:lnTo>
                  <a:pt x="0" y="950880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3149031">
            <a:off x="14903464" y="7132525"/>
            <a:ext cx="7869849" cy="9508804"/>
          </a:xfrm>
          <a:custGeom>
            <a:avLst/>
            <a:gdLst/>
            <a:ahLst/>
            <a:cxnLst/>
            <a:rect r="r" b="b" t="t" l="l"/>
            <a:pathLst>
              <a:path h="9508804" w="7869849">
                <a:moveTo>
                  <a:pt x="0" y="0"/>
                </a:moveTo>
                <a:lnTo>
                  <a:pt x="7869849" y="0"/>
                </a:lnTo>
                <a:lnTo>
                  <a:pt x="7869849" y="9508804"/>
                </a:lnTo>
                <a:lnTo>
                  <a:pt x="0" y="950880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465963">
            <a:off x="14588268" y="-6592603"/>
            <a:ext cx="7869849" cy="9508804"/>
          </a:xfrm>
          <a:custGeom>
            <a:avLst/>
            <a:gdLst/>
            <a:ahLst/>
            <a:cxnLst/>
            <a:rect r="r" b="b" t="t" l="l"/>
            <a:pathLst>
              <a:path h="9508804" w="7869849">
                <a:moveTo>
                  <a:pt x="0" y="0"/>
                </a:moveTo>
                <a:lnTo>
                  <a:pt x="7869849" y="0"/>
                </a:lnTo>
                <a:lnTo>
                  <a:pt x="7869849" y="9508804"/>
                </a:lnTo>
                <a:lnTo>
                  <a:pt x="0" y="950880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6015174" y="7713087"/>
            <a:ext cx="3371931" cy="3090427"/>
          </a:xfrm>
          <a:custGeom>
            <a:avLst/>
            <a:gdLst/>
            <a:ahLst/>
            <a:cxnLst/>
            <a:rect r="r" b="b" t="t" l="l"/>
            <a:pathLst>
              <a:path h="3090427" w="3371931">
                <a:moveTo>
                  <a:pt x="0" y="0"/>
                </a:moveTo>
                <a:lnTo>
                  <a:pt x="3371932" y="0"/>
                </a:lnTo>
                <a:lnTo>
                  <a:pt x="3371932" y="3090426"/>
                </a:lnTo>
                <a:lnTo>
                  <a:pt x="0" y="309042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486295" y="6780821"/>
            <a:ext cx="3029989" cy="4114800"/>
          </a:xfrm>
          <a:custGeom>
            <a:avLst/>
            <a:gdLst/>
            <a:ahLst/>
            <a:cxnLst/>
            <a:rect r="r" b="b" t="t" l="l"/>
            <a:pathLst>
              <a:path h="4114800" w="3029989">
                <a:moveTo>
                  <a:pt x="0" y="0"/>
                </a:moveTo>
                <a:lnTo>
                  <a:pt x="3029990" y="0"/>
                </a:lnTo>
                <a:lnTo>
                  <a:pt x="302999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4874793" y="-395644"/>
            <a:ext cx="4769015" cy="2349824"/>
          </a:xfrm>
          <a:custGeom>
            <a:avLst/>
            <a:gdLst/>
            <a:ahLst/>
            <a:cxnLst/>
            <a:rect r="r" b="b" t="t" l="l"/>
            <a:pathLst>
              <a:path h="2349824" w="4769015">
                <a:moveTo>
                  <a:pt x="0" y="0"/>
                </a:moveTo>
                <a:lnTo>
                  <a:pt x="4769014" y="0"/>
                </a:lnTo>
                <a:lnTo>
                  <a:pt x="4769014" y="2349824"/>
                </a:lnTo>
                <a:lnTo>
                  <a:pt x="0" y="234982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390504" y="4230688"/>
            <a:ext cx="17506992" cy="16351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300"/>
              </a:lnSpc>
            </a:pPr>
            <a:r>
              <a:rPr lang="en-US" sz="9500">
                <a:solidFill>
                  <a:srgbClr val="2E6FB7"/>
                </a:solidFill>
                <a:latin typeface="Paytone One"/>
                <a:ea typeface="Paytone One"/>
                <a:cs typeface="Paytone One"/>
                <a:sym typeface="Paytone One"/>
              </a:rPr>
              <a:t>KIẾN NGHỊ HÀNH ĐỘNG 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-3892220" y="-254785"/>
            <a:ext cx="7315200" cy="2566970"/>
          </a:xfrm>
          <a:custGeom>
            <a:avLst/>
            <a:gdLst/>
            <a:ahLst/>
            <a:cxnLst/>
            <a:rect r="r" b="b" t="t" l="l"/>
            <a:pathLst>
              <a:path h="2566970" w="7315200">
                <a:moveTo>
                  <a:pt x="0" y="0"/>
                </a:moveTo>
                <a:lnTo>
                  <a:pt x="7315200" y="0"/>
                </a:lnTo>
                <a:lnTo>
                  <a:pt x="7315200" y="2566970"/>
                </a:lnTo>
                <a:lnTo>
                  <a:pt x="0" y="256697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3149031">
            <a:off x="-5495873" y="6405568"/>
            <a:ext cx="7869849" cy="9508804"/>
          </a:xfrm>
          <a:custGeom>
            <a:avLst/>
            <a:gdLst/>
            <a:ahLst/>
            <a:cxnLst/>
            <a:rect r="r" b="b" t="t" l="l"/>
            <a:pathLst>
              <a:path h="9508804" w="7869849">
                <a:moveTo>
                  <a:pt x="0" y="0"/>
                </a:moveTo>
                <a:lnTo>
                  <a:pt x="7869849" y="0"/>
                </a:lnTo>
                <a:lnTo>
                  <a:pt x="7869849" y="9508804"/>
                </a:lnTo>
                <a:lnTo>
                  <a:pt x="0" y="950880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465963">
            <a:off x="-6302046" y="-4126461"/>
            <a:ext cx="7869849" cy="9508804"/>
          </a:xfrm>
          <a:custGeom>
            <a:avLst/>
            <a:gdLst/>
            <a:ahLst/>
            <a:cxnLst/>
            <a:rect r="r" b="b" t="t" l="l"/>
            <a:pathLst>
              <a:path h="9508804" w="7869849">
                <a:moveTo>
                  <a:pt x="0" y="0"/>
                </a:moveTo>
                <a:lnTo>
                  <a:pt x="7869849" y="0"/>
                </a:lnTo>
                <a:lnTo>
                  <a:pt x="7869849" y="9508804"/>
                </a:lnTo>
                <a:lnTo>
                  <a:pt x="0" y="950880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3149031">
            <a:off x="14903464" y="7132525"/>
            <a:ext cx="7869849" cy="9508804"/>
          </a:xfrm>
          <a:custGeom>
            <a:avLst/>
            <a:gdLst/>
            <a:ahLst/>
            <a:cxnLst/>
            <a:rect r="r" b="b" t="t" l="l"/>
            <a:pathLst>
              <a:path h="9508804" w="7869849">
                <a:moveTo>
                  <a:pt x="0" y="0"/>
                </a:moveTo>
                <a:lnTo>
                  <a:pt x="7869849" y="0"/>
                </a:lnTo>
                <a:lnTo>
                  <a:pt x="7869849" y="9508804"/>
                </a:lnTo>
                <a:lnTo>
                  <a:pt x="0" y="950880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465963">
            <a:off x="14588268" y="-6592603"/>
            <a:ext cx="7869849" cy="9508804"/>
          </a:xfrm>
          <a:custGeom>
            <a:avLst/>
            <a:gdLst/>
            <a:ahLst/>
            <a:cxnLst/>
            <a:rect r="r" b="b" t="t" l="l"/>
            <a:pathLst>
              <a:path h="9508804" w="7869849">
                <a:moveTo>
                  <a:pt x="0" y="0"/>
                </a:moveTo>
                <a:lnTo>
                  <a:pt x="7869849" y="0"/>
                </a:lnTo>
                <a:lnTo>
                  <a:pt x="7869849" y="9508804"/>
                </a:lnTo>
                <a:lnTo>
                  <a:pt x="0" y="950880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6015174" y="7713087"/>
            <a:ext cx="3371931" cy="3090427"/>
          </a:xfrm>
          <a:custGeom>
            <a:avLst/>
            <a:gdLst/>
            <a:ahLst/>
            <a:cxnLst/>
            <a:rect r="r" b="b" t="t" l="l"/>
            <a:pathLst>
              <a:path h="3090427" w="3371931">
                <a:moveTo>
                  <a:pt x="0" y="0"/>
                </a:moveTo>
                <a:lnTo>
                  <a:pt x="3371932" y="0"/>
                </a:lnTo>
                <a:lnTo>
                  <a:pt x="3371932" y="3090426"/>
                </a:lnTo>
                <a:lnTo>
                  <a:pt x="0" y="309042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486295" y="6780821"/>
            <a:ext cx="3029989" cy="4114800"/>
          </a:xfrm>
          <a:custGeom>
            <a:avLst/>
            <a:gdLst/>
            <a:ahLst/>
            <a:cxnLst/>
            <a:rect r="r" b="b" t="t" l="l"/>
            <a:pathLst>
              <a:path h="4114800" w="3029989">
                <a:moveTo>
                  <a:pt x="0" y="0"/>
                </a:moveTo>
                <a:lnTo>
                  <a:pt x="3029990" y="0"/>
                </a:lnTo>
                <a:lnTo>
                  <a:pt x="302999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4874793" y="-395644"/>
            <a:ext cx="4769015" cy="2349824"/>
          </a:xfrm>
          <a:custGeom>
            <a:avLst/>
            <a:gdLst/>
            <a:ahLst/>
            <a:cxnLst/>
            <a:rect r="r" b="b" t="t" l="l"/>
            <a:pathLst>
              <a:path h="2349824" w="4769015">
                <a:moveTo>
                  <a:pt x="0" y="0"/>
                </a:moveTo>
                <a:lnTo>
                  <a:pt x="4769014" y="0"/>
                </a:lnTo>
                <a:lnTo>
                  <a:pt x="4769014" y="2349824"/>
                </a:lnTo>
                <a:lnTo>
                  <a:pt x="0" y="234982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-3892220" y="-254785"/>
            <a:ext cx="7315200" cy="2566970"/>
          </a:xfrm>
          <a:custGeom>
            <a:avLst/>
            <a:gdLst/>
            <a:ahLst/>
            <a:cxnLst/>
            <a:rect r="r" b="b" t="t" l="l"/>
            <a:pathLst>
              <a:path h="2566970" w="7315200">
                <a:moveTo>
                  <a:pt x="0" y="0"/>
                </a:moveTo>
                <a:lnTo>
                  <a:pt x="7315200" y="0"/>
                </a:lnTo>
                <a:lnTo>
                  <a:pt x="7315200" y="2566970"/>
                </a:lnTo>
                <a:lnTo>
                  <a:pt x="0" y="256697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true" rot="-1957860">
            <a:off x="10516631" y="2401404"/>
            <a:ext cx="1759904" cy="497173"/>
          </a:xfrm>
          <a:custGeom>
            <a:avLst/>
            <a:gdLst/>
            <a:ahLst/>
            <a:cxnLst/>
            <a:rect r="r" b="b" t="t" l="l"/>
            <a:pathLst>
              <a:path h="497173" w="1759904">
                <a:moveTo>
                  <a:pt x="0" y="497173"/>
                </a:moveTo>
                <a:lnTo>
                  <a:pt x="1759904" y="497173"/>
                </a:lnTo>
                <a:lnTo>
                  <a:pt x="1759904" y="0"/>
                </a:lnTo>
                <a:lnTo>
                  <a:pt x="0" y="0"/>
                </a:lnTo>
                <a:lnTo>
                  <a:pt x="0" y="497173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2043651">
            <a:off x="10423883" y="7268677"/>
            <a:ext cx="2051283" cy="579487"/>
          </a:xfrm>
          <a:custGeom>
            <a:avLst/>
            <a:gdLst/>
            <a:ahLst/>
            <a:cxnLst/>
            <a:rect r="r" b="b" t="t" l="l"/>
            <a:pathLst>
              <a:path h="579487" w="2051283">
                <a:moveTo>
                  <a:pt x="0" y="0"/>
                </a:moveTo>
                <a:lnTo>
                  <a:pt x="2051283" y="0"/>
                </a:lnTo>
                <a:lnTo>
                  <a:pt x="2051283" y="579488"/>
                </a:lnTo>
                <a:lnTo>
                  <a:pt x="0" y="579488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true" flipV="true" rot="1788667">
            <a:off x="6097620" y="2240450"/>
            <a:ext cx="1749761" cy="494308"/>
          </a:xfrm>
          <a:custGeom>
            <a:avLst/>
            <a:gdLst/>
            <a:ahLst/>
            <a:cxnLst/>
            <a:rect r="r" b="b" t="t" l="l"/>
            <a:pathLst>
              <a:path h="494308" w="1749761">
                <a:moveTo>
                  <a:pt x="1749761" y="494308"/>
                </a:moveTo>
                <a:lnTo>
                  <a:pt x="0" y="494308"/>
                </a:lnTo>
                <a:lnTo>
                  <a:pt x="0" y="0"/>
                </a:lnTo>
                <a:lnTo>
                  <a:pt x="1749761" y="0"/>
                </a:lnTo>
                <a:lnTo>
                  <a:pt x="1749761" y="494308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true" flipV="false" rot="-2068969">
            <a:off x="6075634" y="7231803"/>
            <a:ext cx="1888988" cy="533639"/>
          </a:xfrm>
          <a:custGeom>
            <a:avLst/>
            <a:gdLst/>
            <a:ahLst/>
            <a:cxnLst/>
            <a:rect r="r" b="b" t="t" l="l"/>
            <a:pathLst>
              <a:path h="533639" w="1888988">
                <a:moveTo>
                  <a:pt x="1888988" y="0"/>
                </a:moveTo>
                <a:lnTo>
                  <a:pt x="0" y="0"/>
                </a:lnTo>
                <a:lnTo>
                  <a:pt x="0" y="533639"/>
                </a:lnTo>
                <a:lnTo>
                  <a:pt x="1888988" y="533639"/>
                </a:lnTo>
                <a:lnTo>
                  <a:pt x="1888988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5388442" y="3288953"/>
            <a:ext cx="7411434" cy="3368833"/>
          </a:xfrm>
          <a:custGeom>
            <a:avLst/>
            <a:gdLst/>
            <a:ahLst/>
            <a:cxnLst/>
            <a:rect r="r" b="b" t="t" l="l"/>
            <a:pathLst>
              <a:path h="3368833" w="7411434">
                <a:moveTo>
                  <a:pt x="0" y="0"/>
                </a:moveTo>
                <a:lnTo>
                  <a:pt x="7411434" y="0"/>
                </a:lnTo>
                <a:lnTo>
                  <a:pt x="7411434" y="3368833"/>
                </a:lnTo>
                <a:lnTo>
                  <a:pt x="0" y="3368833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5" id="15"/>
          <p:cNvGrpSpPr/>
          <p:nvPr/>
        </p:nvGrpSpPr>
        <p:grpSpPr>
          <a:xfrm rot="0">
            <a:off x="12419916" y="182931"/>
            <a:ext cx="5281224" cy="2984161"/>
            <a:chOff x="0" y="0"/>
            <a:chExt cx="1390940" cy="785952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390940" cy="785952"/>
            </a:xfrm>
            <a:custGeom>
              <a:avLst/>
              <a:gdLst/>
              <a:ahLst/>
              <a:cxnLst/>
              <a:rect r="r" b="b" t="t" l="l"/>
              <a:pathLst>
                <a:path h="785952" w="1390940">
                  <a:moveTo>
                    <a:pt x="74763" y="0"/>
                  </a:moveTo>
                  <a:lnTo>
                    <a:pt x="1316177" y="0"/>
                  </a:lnTo>
                  <a:cubicBezTo>
                    <a:pt x="1336005" y="0"/>
                    <a:pt x="1355021" y="7877"/>
                    <a:pt x="1369042" y="21897"/>
                  </a:cubicBezTo>
                  <a:cubicBezTo>
                    <a:pt x="1383063" y="35918"/>
                    <a:pt x="1390940" y="54934"/>
                    <a:pt x="1390940" y="74763"/>
                  </a:cubicBezTo>
                  <a:lnTo>
                    <a:pt x="1390940" y="711189"/>
                  </a:lnTo>
                  <a:cubicBezTo>
                    <a:pt x="1390940" y="731018"/>
                    <a:pt x="1383063" y="750034"/>
                    <a:pt x="1369042" y="764054"/>
                  </a:cubicBezTo>
                  <a:cubicBezTo>
                    <a:pt x="1355021" y="778075"/>
                    <a:pt x="1336005" y="785952"/>
                    <a:pt x="1316177" y="785952"/>
                  </a:cubicBezTo>
                  <a:lnTo>
                    <a:pt x="74763" y="785952"/>
                  </a:lnTo>
                  <a:cubicBezTo>
                    <a:pt x="54934" y="785952"/>
                    <a:pt x="35918" y="778075"/>
                    <a:pt x="21897" y="764054"/>
                  </a:cubicBezTo>
                  <a:cubicBezTo>
                    <a:pt x="7877" y="750034"/>
                    <a:pt x="0" y="731018"/>
                    <a:pt x="0" y="711189"/>
                  </a:cubicBezTo>
                  <a:lnTo>
                    <a:pt x="0" y="74763"/>
                  </a:lnTo>
                  <a:cubicBezTo>
                    <a:pt x="0" y="54934"/>
                    <a:pt x="7877" y="35918"/>
                    <a:pt x="21897" y="21897"/>
                  </a:cubicBezTo>
                  <a:cubicBezTo>
                    <a:pt x="35918" y="7877"/>
                    <a:pt x="54934" y="0"/>
                    <a:pt x="74763" y="0"/>
                  </a:cubicBezTo>
                  <a:close/>
                </a:path>
              </a:pathLst>
            </a:custGeom>
            <a:solidFill>
              <a:srgbClr val="C4E2FF"/>
            </a:solidFill>
            <a:ln w="38100" cap="rnd">
              <a:solidFill>
                <a:srgbClr val="41B8D5"/>
              </a:solidFill>
              <a:prstDash val="solid"/>
              <a:round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28575"/>
              <a:ext cx="1390940" cy="8145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7"/>
                </a:lnSpc>
              </a:pP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12619110" y="566683"/>
            <a:ext cx="4882837" cy="20833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16"/>
              </a:lnSpc>
            </a:pPr>
            <a:r>
              <a:rPr lang="en-US" sz="3600" b="true">
                <a:solidFill>
                  <a:srgbClr val="000000"/>
                </a:solidFill>
                <a:latin typeface="Source Sans Pro Bold"/>
                <a:ea typeface="Source Sans Pro Bold"/>
                <a:cs typeface="Source Sans Pro Bold"/>
                <a:sym typeface="Source Sans Pro Bold"/>
              </a:rPr>
              <a:t>CHIẾN LƯỢC MỞ RỘNG: </a:t>
            </a:r>
            <a:r>
              <a:rPr lang="en-US" sz="3600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Ưu tiên</a:t>
            </a:r>
            <a:r>
              <a:rPr lang="en-US" sz="3600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phát triển các cửa hàng Type A quy mô lớn.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471564" y="205000"/>
            <a:ext cx="5513418" cy="3199316"/>
            <a:chOff x="0" y="0"/>
            <a:chExt cx="1452094" cy="842618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452094" cy="842618"/>
            </a:xfrm>
            <a:custGeom>
              <a:avLst/>
              <a:gdLst/>
              <a:ahLst/>
              <a:cxnLst/>
              <a:rect r="r" b="b" t="t" l="l"/>
              <a:pathLst>
                <a:path h="842618" w="1452094">
                  <a:moveTo>
                    <a:pt x="71614" y="0"/>
                  </a:moveTo>
                  <a:lnTo>
                    <a:pt x="1380480" y="0"/>
                  </a:lnTo>
                  <a:cubicBezTo>
                    <a:pt x="1420031" y="0"/>
                    <a:pt x="1452094" y="32063"/>
                    <a:pt x="1452094" y="71614"/>
                  </a:cubicBezTo>
                  <a:lnTo>
                    <a:pt x="1452094" y="771004"/>
                  </a:lnTo>
                  <a:cubicBezTo>
                    <a:pt x="1452094" y="810555"/>
                    <a:pt x="1420031" y="842618"/>
                    <a:pt x="1380480" y="842618"/>
                  </a:cubicBezTo>
                  <a:lnTo>
                    <a:pt x="71614" y="842618"/>
                  </a:lnTo>
                  <a:cubicBezTo>
                    <a:pt x="52621" y="842618"/>
                    <a:pt x="34405" y="835073"/>
                    <a:pt x="20975" y="821643"/>
                  </a:cubicBezTo>
                  <a:cubicBezTo>
                    <a:pt x="7545" y="808213"/>
                    <a:pt x="0" y="789997"/>
                    <a:pt x="0" y="771004"/>
                  </a:cubicBezTo>
                  <a:lnTo>
                    <a:pt x="0" y="71614"/>
                  </a:lnTo>
                  <a:cubicBezTo>
                    <a:pt x="0" y="32063"/>
                    <a:pt x="32063" y="0"/>
                    <a:pt x="71614" y="0"/>
                  </a:cubicBezTo>
                  <a:close/>
                </a:path>
              </a:pathLst>
            </a:custGeom>
            <a:solidFill>
              <a:srgbClr val="C4E2FF"/>
            </a:solidFill>
            <a:ln w="38100" cap="rnd">
              <a:solidFill>
                <a:srgbClr val="41B8D5"/>
              </a:solidFill>
              <a:prstDash val="solid"/>
              <a:round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-28575"/>
              <a:ext cx="1452094" cy="8711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7"/>
                </a:lnSpc>
              </a:pP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561638" y="477324"/>
            <a:ext cx="5333270" cy="25403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32"/>
              </a:lnSpc>
            </a:pPr>
            <a:r>
              <a:rPr lang="en-US" sz="3289" b="true">
                <a:solidFill>
                  <a:srgbClr val="000000"/>
                </a:solidFill>
                <a:latin typeface="Source Sans Pro Bold"/>
                <a:ea typeface="Source Sans Pro Bold"/>
                <a:cs typeface="Source Sans Pro Bold"/>
                <a:sym typeface="Source Sans Pro Bold"/>
              </a:rPr>
              <a:t>TỐI ƯU HÓA THỜI ĐIỂM (Q4): </a:t>
            </a:r>
            <a:r>
              <a:rPr lang="en-US" sz="3289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Tập trung 80% nguồn lực (Tồ</a:t>
            </a:r>
            <a:r>
              <a:rPr lang="en-US" sz="3289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n kho, Nhân sự, Marketing) vào các tuần Ngày Lễ.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222567" y="6680294"/>
            <a:ext cx="5762415" cy="3385195"/>
            <a:chOff x="0" y="0"/>
            <a:chExt cx="1517673" cy="891574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517673" cy="891574"/>
            </a:xfrm>
            <a:custGeom>
              <a:avLst/>
              <a:gdLst/>
              <a:ahLst/>
              <a:cxnLst/>
              <a:rect r="r" b="b" t="t" l="l"/>
              <a:pathLst>
                <a:path h="891574" w="1517673">
                  <a:moveTo>
                    <a:pt x="68520" y="0"/>
                  </a:moveTo>
                  <a:lnTo>
                    <a:pt x="1449154" y="0"/>
                  </a:lnTo>
                  <a:cubicBezTo>
                    <a:pt x="1467326" y="0"/>
                    <a:pt x="1484754" y="7219"/>
                    <a:pt x="1497604" y="20069"/>
                  </a:cubicBezTo>
                  <a:cubicBezTo>
                    <a:pt x="1510454" y="32919"/>
                    <a:pt x="1517673" y="50347"/>
                    <a:pt x="1517673" y="68520"/>
                  </a:cubicBezTo>
                  <a:lnTo>
                    <a:pt x="1517673" y="823055"/>
                  </a:lnTo>
                  <a:cubicBezTo>
                    <a:pt x="1517673" y="841227"/>
                    <a:pt x="1510454" y="858655"/>
                    <a:pt x="1497604" y="871505"/>
                  </a:cubicBezTo>
                  <a:cubicBezTo>
                    <a:pt x="1484754" y="884355"/>
                    <a:pt x="1467326" y="891574"/>
                    <a:pt x="1449154" y="891574"/>
                  </a:cubicBezTo>
                  <a:lnTo>
                    <a:pt x="68520" y="891574"/>
                  </a:lnTo>
                  <a:cubicBezTo>
                    <a:pt x="50347" y="891574"/>
                    <a:pt x="32919" y="884355"/>
                    <a:pt x="20069" y="871505"/>
                  </a:cubicBezTo>
                  <a:cubicBezTo>
                    <a:pt x="7219" y="858655"/>
                    <a:pt x="0" y="841227"/>
                    <a:pt x="0" y="823055"/>
                  </a:cubicBezTo>
                  <a:lnTo>
                    <a:pt x="0" y="68520"/>
                  </a:lnTo>
                  <a:cubicBezTo>
                    <a:pt x="0" y="50347"/>
                    <a:pt x="7219" y="32919"/>
                    <a:pt x="20069" y="20069"/>
                  </a:cubicBezTo>
                  <a:cubicBezTo>
                    <a:pt x="32919" y="7219"/>
                    <a:pt x="50347" y="0"/>
                    <a:pt x="68520" y="0"/>
                  </a:cubicBezTo>
                  <a:close/>
                </a:path>
              </a:pathLst>
            </a:custGeom>
            <a:solidFill>
              <a:srgbClr val="C4E2FF"/>
            </a:solidFill>
            <a:ln w="38100" cap="rnd">
              <a:solidFill>
                <a:srgbClr val="41B8D5"/>
              </a:solidFill>
              <a:prstDash val="solid"/>
              <a:round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0" y="-28575"/>
              <a:ext cx="1517673" cy="92014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7"/>
                </a:lnSpc>
              </a:pPr>
            </a:p>
          </p:txBody>
        </p:sp>
      </p:grpSp>
      <p:sp>
        <p:nvSpPr>
          <p:cNvPr name="TextBox 26" id="26"/>
          <p:cNvSpPr txBox="true"/>
          <p:nvPr/>
        </p:nvSpPr>
        <p:spPr>
          <a:xfrm rot="0">
            <a:off x="400457" y="6934645"/>
            <a:ext cx="5333270" cy="27881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15"/>
              </a:lnSpc>
            </a:pPr>
            <a:r>
              <a:rPr lang="en-US" sz="3599" b="true">
                <a:solidFill>
                  <a:srgbClr val="000000"/>
                </a:solidFill>
                <a:latin typeface="Source Sans Pro Bold"/>
                <a:ea typeface="Source Sans Pro Bold"/>
                <a:cs typeface="Source Sans Pro Bold"/>
                <a:sym typeface="Source Sans Pro Bold"/>
              </a:rPr>
              <a:t>CÁ NHÂN HÓA VẬN HÀNH: </a:t>
            </a:r>
            <a:r>
              <a:rPr lang="en-US" sz="3599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Thiết lập chiến lược riêng cho 3 Cụm Cửa hàng dựa trên kết quả Phân Cụm</a:t>
            </a:r>
            <a:r>
              <a:rPr lang="en-US" sz="3599" b="true">
                <a:solidFill>
                  <a:srgbClr val="000000"/>
                </a:solidFill>
                <a:latin typeface="Source Sans Pro Bold"/>
                <a:ea typeface="Source Sans Pro Bold"/>
                <a:cs typeface="Source Sans Pro Bold"/>
                <a:sym typeface="Source Sans Pro Bold"/>
              </a:rPr>
              <a:t>.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5984982" y="3771207"/>
            <a:ext cx="5993094" cy="21947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800"/>
              </a:lnSpc>
            </a:pPr>
            <a:r>
              <a:rPr lang="en-US" sz="6241" spc="199">
                <a:solidFill>
                  <a:srgbClr val="FFFFFF"/>
                </a:solidFill>
                <a:latin typeface="Paytone One"/>
                <a:ea typeface="Paytone One"/>
                <a:cs typeface="Paytone One"/>
                <a:sym typeface="Paytone One"/>
              </a:rPr>
              <a:t>KIẾN NGHỊ </a:t>
            </a:r>
          </a:p>
          <a:p>
            <a:pPr algn="ctr">
              <a:lnSpc>
                <a:spcPts val="8800"/>
              </a:lnSpc>
            </a:pPr>
            <a:r>
              <a:rPr lang="en-US" sz="6241" spc="199">
                <a:solidFill>
                  <a:srgbClr val="FFFFFF"/>
                </a:solidFill>
                <a:latin typeface="Paytone One"/>
                <a:ea typeface="Paytone One"/>
                <a:cs typeface="Paytone One"/>
                <a:sym typeface="Paytone One"/>
              </a:rPr>
              <a:t>CHIẾN LƯỢC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12433374" y="6659997"/>
            <a:ext cx="5685029" cy="3382984"/>
            <a:chOff x="0" y="0"/>
            <a:chExt cx="1497292" cy="890992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497292" cy="890992"/>
            </a:xfrm>
            <a:custGeom>
              <a:avLst/>
              <a:gdLst/>
              <a:ahLst/>
              <a:cxnLst/>
              <a:rect r="r" b="b" t="t" l="l"/>
              <a:pathLst>
                <a:path h="890992" w="1497292">
                  <a:moveTo>
                    <a:pt x="69452" y="0"/>
                  </a:moveTo>
                  <a:lnTo>
                    <a:pt x="1427839" y="0"/>
                  </a:lnTo>
                  <a:cubicBezTo>
                    <a:pt x="1466197" y="0"/>
                    <a:pt x="1497292" y="31095"/>
                    <a:pt x="1497292" y="69452"/>
                  </a:cubicBezTo>
                  <a:lnTo>
                    <a:pt x="1497292" y="821539"/>
                  </a:lnTo>
                  <a:cubicBezTo>
                    <a:pt x="1497292" y="859897"/>
                    <a:pt x="1466197" y="890992"/>
                    <a:pt x="1427839" y="890992"/>
                  </a:cubicBezTo>
                  <a:lnTo>
                    <a:pt x="69452" y="890992"/>
                  </a:lnTo>
                  <a:cubicBezTo>
                    <a:pt x="31095" y="890992"/>
                    <a:pt x="0" y="859897"/>
                    <a:pt x="0" y="821539"/>
                  </a:cubicBezTo>
                  <a:lnTo>
                    <a:pt x="0" y="69452"/>
                  </a:lnTo>
                  <a:cubicBezTo>
                    <a:pt x="0" y="31095"/>
                    <a:pt x="31095" y="0"/>
                    <a:pt x="69452" y="0"/>
                  </a:cubicBezTo>
                  <a:close/>
                </a:path>
              </a:pathLst>
            </a:custGeom>
            <a:solidFill>
              <a:srgbClr val="C4E2FF"/>
            </a:solidFill>
            <a:ln w="38100" cap="rnd">
              <a:solidFill>
                <a:srgbClr val="41B8D5"/>
              </a:solidFill>
              <a:prstDash val="solid"/>
              <a:round/>
            </a:ln>
          </p:spPr>
        </p:sp>
        <p:sp>
          <p:nvSpPr>
            <p:cNvPr name="TextBox 30" id="30"/>
            <p:cNvSpPr txBox="true"/>
            <p:nvPr/>
          </p:nvSpPr>
          <p:spPr>
            <a:xfrm>
              <a:off x="0" y="-28575"/>
              <a:ext cx="1497292" cy="9195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7"/>
                </a:lnSpc>
              </a:pPr>
            </a:p>
          </p:txBody>
        </p:sp>
      </p:grpSp>
      <p:sp>
        <p:nvSpPr>
          <p:cNvPr name="TextBox 31" id="31"/>
          <p:cNvSpPr txBox="true"/>
          <p:nvPr/>
        </p:nvSpPr>
        <p:spPr>
          <a:xfrm rot="0">
            <a:off x="12563220" y="6959762"/>
            <a:ext cx="5444387" cy="27881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16"/>
              </a:lnSpc>
            </a:pPr>
            <a:r>
              <a:rPr lang="en-US" sz="3600" b="true">
                <a:solidFill>
                  <a:srgbClr val="000000"/>
                </a:solidFill>
                <a:latin typeface="Source Sans Pro Bold"/>
                <a:ea typeface="Source Sans Pro Bold"/>
                <a:cs typeface="Source Sans Pro Bold"/>
                <a:sym typeface="Source Sans Pro Bold"/>
              </a:rPr>
              <a:t>HỆ THỐNG CẢNH BÁO SỚM: </a:t>
            </a:r>
            <a:r>
              <a:rPr lang="en-US" sz="3600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Tích hợp mô hình Decision Tree để dự báo sớm 2-3 tuần cho việc chuẩn bị.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3149031">
            <a:off x="-5495873" y="6405568"/>
            <a:ext cx="7869849" cy="9508804"/>
          </a:xfrm>
          <a:custGeom>
            <a:avLst/>
            <a:gdLst/>
            <a:ahLst/>
            <a:cxnLst/>
            <a:rect r="r" b="b" t="t" l="l"/>
            <a:pathLst>
              <a:path h="9508804" w="7869849">
                <a:moveTo>
                  <a:pt x="0" y="0"/>
                </a:moveTo>
                <a:lnTo>
                  <a:pt x="7869849" y="0"/>
                </a:lnTo>
                <a:lnTo>
                  <a:pt x="7869849" y="9508804"/>
                </a:lnTo>
                <a:lnTo>
                  <a:pt x="0" y="950880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465963">
            <a:off x="-6302046" y="-4126461"/>
            <a:ext cx="7869849" cy="9508804"/>
          </a:xfrm>
          <a:custGeom>
            <a:avLst/>
            <a:gdLst/>
            <a:ahLst/>
            <a:cxnLst/>
            <a:rect r="r" b="b" t="t" l="l"/>
            <a:pathLst>
              <a:path h="9508804" w="7869849">
                <a:moveTo>
                  <a:pt x="0" y="0"/>
                </a:moveTo>
                <a:lnTo>
                  <a:pt x="7869849" y="0"/>
                </a:lnTo>
                <a:lnTo>
                  <a:pt x="7869849" y="9508804"/>
                </a:lnTo>
                <a:lnTo>
                  <a:pt x="0" y="950880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3149031">
            <a:off x="14903464" y="7132525"/>
            <a:ext cx="7869849" cy="9508804"/>
          </a:xfrm>
          <a:custGeom>
            <a:avLst/>
            <a:gdLst/>
            <a:ahLst/>
            <a:cxnLst/>
            <a:rect r="r" b="b" t="t" l="l"/>
            <a:pathLst>
              <a:path h="9508804" w="7869849">
                <a:moveTo>
                  <a:pt x="0" y="0"/>
                </a:moveTo>
                <a:lnTo>
                  <a:pt x="7869849" y="0"/>
                </a:lnTo>
                <a:lnTo>
                  <a:pt x="7869849" y="9508804"/>
                </a:lnTo>
                <a:lnTo>
                  <a:pt x="0" y="950880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465963">
            <a:off x="14588268" y="-6592603"/>
            <a:ext cx="7869849" cy="9508804"/>
          </a:xfrm>
          <a:custGeom>
            <a:avLst/>
            <a:gdLst/>
            <a:ahLst/>
            <a:cxnLst/>
            <a:rect r="r" b="b" t="t" l="l"/>
            <a:pathLst>
              <a:path h="9508804" w="7869849">
                <a:moveTo>
                  <a:pt x="0" y="0"/>
                </a:moveTo>
                <a:lnTo>
                  <a:pt x="7869849" y="0"/>
                </a:lnTo>
                <a:lnTo>
                  <a:pt x="7869849" y="9508804"/>
                </a:lnTo>
                <a:lnTo>
                  <a:pt x="0" y="950880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6015174" y="7713087"/>
            <a:ext cx="3371931" cy="3090427"/>
          </a:xfrm>
          <a:custGeom>
            <a:avLst/>
            <a:gdLst/>
            <a:ahLst/>
            <a:cxnLst/>
            <a:rect r="r" b="b" t="t" l="l"/>
            <a:pathLst>
              <a:path h="3090427" w="3371931">
                <a:moveTo>
                  <a:pt x="0" y="0"/>
                </a:moveTo>
                <a:lnTo>
                  <a:pt x="3371932" y="0"/>
                </a:lnTo>
                <a:lnTo>
                  <a:pt x="3371932" y="3090426"/>
                </a:lnTo>
                <a:lnTo>
                  <a:pt x="0" y="309042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486295" y="6780821"/>
            <a:ext cx="3029989" cy="4114800"/>
          </a:xfrm>
          <a:custGeom>
            <a:avLst/>
            <a:gdLst/>
            <a:ahLst/>
            <a:cxnLst/>
            <a:rect r="r" b="b" t="t" l="l"/>
            <a:pathLst>
              <a:path h="4114800" w="3029989">
                <a:moveTo>
                  <a:pt x="0" y="0"/>
                </a:moveTo>
                <a:lnTo>
                  <a:pt x="3029990" y="0"/>
                </a:lnTo>
                <a:lnTo>
                  <a:pt x="302999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4874793" y="-395644"/>
            <a:ext cx="4769015" cy="2349824"/>
          </a:xfrm>
          <a:custGeom>
            <a:avLst/>
            <a:gdLst/>
            <a:ahLst/>
            <a:cxnLst/>
            <a:rect r="r" b="b" t="t" l="l"/>
            <a:pathLst>
              <a:path h="2349824" w="4769015">
                <a:moveTo>
                  <a:pt x="0" y="0"/>
                </a:moveTo>
                <a:lnTo>
                  <a:pt x="4769014" y="0"/>
                </a:lnTo>
                <a:lnTo>
                  <a:pt x="4769014" y="2349824"/>
                </a:lnTo>
                <a:lnTo>
                  <a:pt x="0" y="234982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3717093" y="3812701"/>
            <a:ext cx="10853815" cy="23948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593"/>
              </a:lnSpc>
            </a:pPr>
            <a:r>
              <a:rPr lang="en-US" sz="13995">
                <a:solidFill>
                  <a:srgbClr val="2E6FB7"/>
                </a:solidFill>
                <a:latin typeface="Paytone One"/>
                <a:ea typeface="Paytone One"/>
                <a:cs typeface="Paytone One"/>
                <a:sym typeface="Paytone One"/>
              </a:rPr>
              <a:t>KẾT LUẬN 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-3892220" y="-254785"/>
            <a:ext cx="7315200" cy="2566970"/>
          </a:xfrm>
          <a:custGeom>
            <a:avLst/>
            <a:gdLst/>
            <a:ahLst/>
            <a:cxnLst/>
            <a:rect r="r" b="b" t="t" l="l"/>
            <a:pathLst>
              <a:path h="2566970" w="7315200">
                <a:moveTo>
                  <a:pt x="0" y="0"/>
                </a:moveTo>
                <a:lnTo>
                  <a:pt x="7315200" y="0"/>
                </a:lnTo>
                <a:lnTo>
                  <a:pt x="7315200" y="2566970"/>
                </a:lnTo>
                <a:lnTo>
                  <a:pt x="0" y="256697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3149031">
            <a:off x="-5495873" y="6405568"/>
            <a:ext cx="7869849" cy="9508804"/>
          </a:xfrm>
          <a:custGeom>
            <a:avLst/>
            <a:gdLst/>
            <a:ahLst/>
            <a:cxnLst/>
            <a:rect r="r" b="b" t="t" l="l"/>
            <a:pathLst>
              <a:path h="9508804" w="7869849">
                <a:moveTo>
                  <a:pt x="0" y="0"/>
                </a:moveTo>
                <a:lnTo>
                  <a:pt x="7869849" y="0"/>
                </a:lnTo>
                <a:lnTo>
                  <a:pt x="7869849" y="9508804"/>
                </a:lnTo>
                <a:lnTo>
                  <a:pt x="0" y="950880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465963">
            <a:off x="-6302046" y="-4126461"/>
            <a:ext cx="7869849" cy="9508804"/>
          </a:xfrm>
          <a:custGeom>
            <a:avLst/>
            <a:gdLst/>
            <a:ahLst/>
            <a:cxnLst/>
            <a:rect r="r" b="b" t="t" l="l"/>
            <a:pathLst>
              <a:path h="9508804" w="7869849">
                <a:moveTo>
                  <a:pt x="0" y="0"/>
                </a:moveTo>
                <a:lnTo>
                  <a:pt x="7869849" y="0"/>
                </a:lnTo>
                <a:lnTo>
                  <a:pt x="7869849" y="9508804"/>
                </a:lnTo>
                <a:lnTo>
                  <a:pt x="0" y="950880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3149031">
            <a:off x="14903464" y="7132525"/>
            <a:ext cx="7869849" cy="9508804"/>
          </a:xfrm>
          <a:custGeom>
            <a:avLst/>
            <a:gdLst/>
            <a:ahLst/>
            <a:cxnLst/>
            <a:rect r="r" b="b" t="t" l="l"/>
            <a:pathLst>
              <a:path h="9508804" w="7869849">
                <a:moveTo>
                  <a:pt x="0" y="0"/>
                </a:moveTo>
                <a:lnTo>
                  <a:pt x="7869849" y="0"/>
                </a:lnTo>
                <a:lnTo>
                  <a:pt x="7869849" y="9508804"/>
                </a:lnTo>
                <a:lnTo>
                  <a:pt x="0" y="950880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465963">
            <a:off x="14588268" y="-6592603"/>
            <a:ext cx="7869849" cy="9508804"/>
          </a:xfrm>
          <a:custGeom>
            <a:avLst/>
            <a:gdLst/>
            <a:ahLst/>
            <a:cxnLst/>
            <a:rect r="r" b="b" t="t" l="l"/>
            <a:pathLst>
              <a:path h="9508804" w="7869849">
                <a:moveTo>
                  <a:pt x="0" y="0"/>
                </a:moveTo>
                <a:lnTo>
                  <a:pt x="7869849" y="0"/>
                </a:lnTo>
                <a:lnTo>
                  <a:pt x="7869849" y="9508804"/>
                </a:lnTo>
                <a:lnTo>
                  <a:pt x="0" y="950880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6015174" y="7713087"/>
            <a:ext cx="3371931" cy="3090427"/>
          </a:xfrm>
          <a:custGeom>
            <a:avLst/>
            <a:gdLst/>
            <a:ahLst/>
            <a:cxnLst/>
            <a:rect r="r" b="b" t="t" l="l"/>
            <a:pathLst>
              <a:path h="3090427" w="3371931">
                <a:moveTo>
                  <a:pt x="0" y="0"/>
                </a:moveTo>
                <a:lnTo>
                  <a:pt x="3371932" y="0"/>
                </a:lnTo>
                <a:lnTo>
                  <a:pt x="3371932" y="3090426"/>
                </a:lnTo>
                <a:lnTo>
                  <a:pt x="0" y="309042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486295" y="6780821"/>
            <a:ext cx="3029989" cy="4114800"/>
          </a:xfrm>
          <a:custGeom>
            <a:avLst/>
            <a:gdLst/>
            <a:ahLst/>
            <a:cxnLst/>
            <a:rect r="r" b="b" t="t" l="l"/>
            <a:pathLst>
              <a:path h="4114800" w="3029989">
                <a:moveTo>
                  <a:pt x="0" y="0"/>
                </a:moveTo>
                <a:lnTo>
                  <a:pt x="3029990" y="0"/>
                </a:lnTo>
                <a:lnTo>
                  <a:pt x="302999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4874793" y="-395644"/>
            <a:ext cx="4769015" cy="2349824"/>
          </a:xfrm>
          <a:custGeom>
            <a:avLst/>
            <a:gdLst/>
            <a:ahLst/>
            <a:cxnLst/>
            <a:rect r="r" b="b" t="t" l="l"/>
            <a:pathLst>
              <a:path h="2349824" w="4769015">
                <a:moveTo>
                  <a:pt x="0" y="0"/>
                </a:moveTo>
                <a:lnTo>
                  <a:pt x="4769014" y="0"/>
                </a:lnTo>
                <a:lnTo>
                  <a:pt x="4769014" y="2349824"/>
                </a:lnTo>
                <a:lnTo>
                  <a:pt x="0" y="234982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-3892220" y="-254785"/>
            <a:ext cx="7315200" cy="2566970"/>
          </a:xfrm>
          <a:custGeom>
            <a:avLst/>
            <a:gdLst/>
            <a:ahLst/>
            <a:cxnLst/>
            <a:rect r="r" b="b" t="t" l="l"/>
            <a:pathLst>
              <a:path h="2566970" w="7315200">
                <a:moveTo>
                  <a:pt x="0" y="0"/>
                </a:moveTo>
                <a:lnTo>
                  <a:pt x="7315200" y="0"/>
                </a:lnTo>
                <a:lnTo>
                  <a:pt x="7315200" y="2566970"/>
                </a:lnTo>
                <a:lnTo>
                  <a:pt x="0" y="256697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2694444" y="385326"/>
            <a:ext cx="12899113" cy="7783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48"/>
              </a:lnSpc>
              <a:spcBef>
                <a:spcPct val="0"/>
              </a:spcBef>
            </a:pPr>
            <a:r>
              <a:rPr lang="en-US" sz="4605">
                <a:solidFill>
                  <a:srgbClr val="2E6FB7"/>
                </a:solidFill>
                <a:latin typeface="Paytone One"/>
                <a:ea typeface="Paytone One"/>
                <a:cs typeface="Paytone One"/>
                <a:sym typeface="Paytone One"/>
              </a:rPr>
              <a:t>ĐỊNH VỊ LỢI THẾ CẠNH TRANH BẰNG DỮ LIỆU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2174168" y="3510224"/>
            <a:ext cx="4818070" cy="3291913"/>
            <a:chOff x="0" y="0"/>
            <a:chExt cx="1642316" cy="112210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642316" cy="1122101"/>
            </a:xfrm>
            <a:custGeom>
              <a:avLst/>
              <a:gdLst/>
              <a:ahLst/>
              <a:cxnLst/>
              <a:rect r="r" b="b" t="t" l="l"/>
              <a:pathLst>
                <a:path h="1122101" w="1642316">
                  <a:moveTo>
                    <a:pt x="28923" y="0"/>
                  </a:moveTo>
                  <a:lnTo>
                    <a:pt x="1613392" y="0"/>
                  </a:lnTo>
                  <a:cubicBezTo>
                    <a:pt x="1621063" y="0"/>
                    <a:pt x="1628420" y="3047"/>
                    <a:pt x="1633844" y="8471"/>
                  </a:cubicBezTo>
                  <a:cubicBezTo>
                    <a:pt x="1639268" y="13896"/>
                    <a:pt x="1642316" y="21252"/>
                    <a:pt x="1642316" y="28923"/>
                  </a:cubicBezTo>
                  <a:lnTo>
                    <a:pt x="1642316" y="1093177"/>
                  </a:lnTo>
                  <a:cubicBezTo>
                    <a:pt x="1642316" y="1100848"/>
                    <a:pt x="1639268" y="1108205"/>
                    <a:pt x="1633844" y="1113629"/>
                  </a:cubicBezTo>
                  <a:cubicBezTo>
                    <a:pt x="1628420" y="1119053"/>
                    <a:pt x="1621063" y="1122101"/>
                    <a:pt x="1613392" y="1122101"/>
                  </a:cubicBezTo>
                  <a:lnTo>
                    <a:pt x="28923" y="1122101"/>
                  </a:lnTo>
                  <a:cubicBezTo>
                    <a:pt x="21252" y="1122101"/>
                    <a:pt x="13896" y="1119053"/>
                    <a:pt x="8471" y="1113629"/>
                  </a:cubicBezTo>
                  <a:cubicBezTo>
                    <a:pt x="3047" y="1108205"/>
                    <a:pt x="0" y="1100848"/>
                    <a:pt x="0" y="1093177"/>
                  </a:cubicBezTo>
                  <a:lnTo>
                    <a:pt x="0" y="28923"/>
                  </a:lnTo>
                  <a:cubicBezTo>
                    <a:pt x="0" y="21252"/>
                    <a:pt x="3047" y="13896"/>
                    <a:pt x="8471" y="8471"/>
                  </a:cubicBezTo>
                  <a:cubicBezTo>
                    <a:pt x="13896" y="3047"/>
                    <a:pt x="21252" y="0"/>
                    <a:pt x="28923" y="0"/>
                  </a:cubicBezTo>
                  <a:close/>
                </a:path>
              </a:pathLst>
            </a:custGeom>
            <a:solidFill>
              <a:srgbClr val="2D8BBA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85725"/>
              <a:ext cx="1642316" cy="1207826"/>
            </a:xfrm>
            <a:prstGeom prst="rect">
              <a:avLst/>
            </a:prstGeom>
          </p:spPr>
          <p:txBody>
            <a:bodyPr anchor="ctr" rtlCol="false" tIns="31171" lIns="31171" bIns="31171" rIns="31171"/>
            <a:lstStyle/>
            <a:p>
              <a:pPr algn="ctr">
                <a:lnSpc>
                  <a:spcPts val="5780"/>
                </a:lnSpc>
              </a:pPr>
              <a:r>
                <a:rPr lang="en-US" sz="4099" spc="86">
                  <a:solidFill>
                    <a:srgbClr val="FFFFFF"/>
                  </a:solidFill>
                  <a:latin typeface="Paytone One"/>
                  <a:ea typeface="Paytone One"/>
                  <a:cs typeface="Paytone One"/>
                  <a:sym typeface="Paytone One"/>
                </a:rPr>
                <a:t>HOÀN THÀNH </a:t>
              </a:r>
            </a:p>
            <a:p>
              <a:pPr algn="ctr">
                <a:lnSpc>
                  <a:spcPts val="5780"/>
                </a:lnSpc>
              </a:pPr>
              <a:r>
                <a:rPr lang="en-US" sz="4099" spc="86">
                  <a:solidFill>
                    <a:srgbClr val="FFFFFF"/>
                  </a:solidFill>
                  <a:latin typeface="Paytone One"/>
                  <a:ea typeface="Paytone One"/>
                  <a:cs typeface="Paytone One"/>
                  <a:sym typeface="Paytone One"/>
                </a:rPr>
                <a:t>CÁC MỤC TIÊU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9149125" y="5788237"/>
            <a:ext cx="7253456" cy="2498166"/>
            <a:chOff x="0" y="0"/>
            <a:chExt cx="2472455" cy="85154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472455" cy="851540"/>
            </a:xfrm>
            <a:custGeom>
              <a:avLst/>
              <a:gdLst/>
              <a:ahLst/>
              <a:cxnLst/>
              <a:rect r="r" b="b" t="t" l="l"/>
              <a:pathLst>
                <a:path h="851540" w="2472455">
                  <a:moveTo>
                    <a:pt x="19212" y="0"/>
                  </a:moveTo>
                  <a:lnTo>
                    <a:pt x="2453243" y="0"/>
                  </a:lnTo>
                  <a:cubicBezTo>
                    <a:pt x="2463854" y="0"/>
                    <a:pt x="2472455" y="8602"/>
                    <a:pt x="2472455" y="19212"/>
                  </a:cubicBezTo>
                  <a:lnTo>
                    <a:pt x="2472455" y="832327"/>
                  </a:lnTo>
                  <a:cubicBezTo>
                    <a:pt x="2472455" y="837423"/>
                    <a:pt x="2470431" y="842310"/>
                    <a:pt x="2466828" y="845913"/>
                  </a:cubicBezTo>
                  <a:cubicBezTo>
                    <a:pt x="2463225" y="849515"/>
                    <a:pt x="2458339" y="851540"/>
                    <a:pt x="2453243" y="851540"/>
                  </a:cubicBezTo>
                  <a:lnTo>
                    <a:pt x="19212" y="851540"/>
                  </a:lnTo>
                  <a:cubicBezTo>
                    <a:pt x="14117" y="851540"/>
                    <a:pt x="9230" y="849515"/>
                    <a:pt x="5627" y="845913"/>
                  </a:cubicBezTo>
                  <a:cubicBezTo>
                    <a:pt x="2024" y="842310"/>
                    <a:pt x="0" y="837423"/>
                    <a:pt x="0" y="832327"/>
                  </a:cubicBezTo>
                  <a:lnTo>
                    <a:pt x="0" y="19212"/>
                  </a:lnTo>
                  <a:cubicBezTo>
                    <a:pt x="0" y="14117"/>
                    <a:pt x="2024" y="9230"/>
                    <a:pt x="5627" y="5627"/>
                  </a:cubicBezTo>
                  <a:cubicBezTo>
                    <a:pt x="9230" y="2024"/>
                    <a:pt x="14117" y="0"/>
                    <a:pt x="19212" y="0"/>
                  </a:cubicBezTo>
                  <a:close/>
                </a:path>
              </a:pathLst>
            </a:custGeom>
            <a:solidFill>
              <a:srgbClr val="BFE4FF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9525"/>
              <a:ext cx="2472455" cy="842015"/>
            </a:xfrm>
            <a:prstGeom prst="rect">
              <a:avLst/>
            </a:prstGeom>
          </p:spPr>
          <p:txBody>
            <a:bodyPr anchor="ctr" rtlCol="false" tIns="31171" lIns="31171" bIns="31171" rIns="31171"/>
            <a:lstStyle/>
            <a:p>
              <a:pPr algn="ctr">
                <a:lnSpc>
                  <a:spcPts val="4199"/>
                </a:lnSpc>
              </a:pPr>
              <a:r>
                <a:rPr lang="en-US" b="true" sz="3499">
                  <a:solidFill>
                    <a:srgbClr val="000000"/>
                  </a:solidFill>
                  <a:latin typeface="Source Sans Pro Bold"/>
                  <a:ea typeface="Source Sans Pro Bold"/>
                  <a:cs typeface="Source Sans Pro Bold"/>
                  <a:sym typeface="Source Sans Pro Bold"/>
                </a:rPr>
                <a:t>Kết quả: xây dựng thành công Khung Phân Tích Đa Chiều (Mô tả, Phân Cụm, Dự báo) làm cơ sở  cho các kiến nghị chiến lược.</a:t>
              </a:r>
            </a:p>
          </p:txBody>
        </p:sp>
      </p:grpSp>
      <p:sp>
        <p:nvSpPr>
          <p:cNvPr name="AutoShape 17" id="17"/>
          <p:cNvSpPr/>
          <p:nvPr/>
        </p:nvSpPr>
        <p:spPr>
          <a:xfrm flipV="true">
            <a:off x="6992238" y="3392774"/>
            <a:ext cx="2156887" cy="1763406"/>
          </a:xfrm>
          <a:prstGeom prst="line">
            <a:avLst/>
          </a:prstGeom>
          <a:ln cap="flat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8" id="18"/>
          <p:cNvSpPr/>
          <p:nvPr/>
        </p:nvSpPr>
        <p:spPr>
          <a:xfrm>
            <a:off x="6992238" y="5156180"/>
            <a:ext cx="2156887" cy="1881140"/>
          </a:xfrm>
          <a:prstGeom prst="line">
            <a:avLst/>
          </a:prstGeom>
          <a:ln cap="flat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9" id="19"/>
          <p:cNvGrpSpPr/>
          <p:nvPr/>
        </p:nvGrpSpPr>
        <p:grpSpPr>
          <a:xfrm rot="0">
            <a:off x="9149125" y="2000597"/>
            <a:ext cx="7253456" cy="2784355"/>
            <a:chOff x="0" y="0"/>
            <a:chExt cx="2472455" cy="949091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472455" cy="949091"/>
            </a:xfrm>
            <a:custGeom>
              <a:avLst/>
              <a:gdLst/>
              <a:ahLst/>
              <a:cxnLst/>
              <a:rect r="r" b="b" t="t" l="l"/>
              <a:pathLst>
                <a:path h="949091" w="2472455">
                  <a:moveTo>
                    <a:pt x="19212" y="0"/>
                  </a:moveTo>
                  <a:lnTo>
                    <a:pt x="2453243" y="0"/>
                  </a:lnTo>
                  <a:cubicBezTo>
                    <a:pt x="2463854" y="0"/>
                    <a:pt x="2472455" y="8602"/>
                    <a:pt x="2472455" y="19212"/>
                  </a:cubicBezTo>
                  <a:lnTo>
                    <a:pt x="2472455" y="929879"/>
                  </a:lnTo>
                  <a:cubicBezTo>
                    <a:pt x="2472455" y="934975"/>
                    <a:pt x="2470431" y="939861"/>
                    <a:pt x="2466828" y="943464"/>
                  </a:cubicBezTo>
                  <a:cubicBezTo>
                    <a:pt x="2463225" y="947067"/>
                    <a:pt x="2458339" y="949091"/>
                    <a:pt x="2453243" y="949091"/>
                  </a:cubicBezTo>
                  <a:lnTo>
                    <a:pt x="19212" y="949091"/>
                  </a:lnTo>
                  <a:cubicBezTo>
                    <a:pt x="14117" y="949091"/>
                    <a:pt x="9230" y="947067"/>
                    <a:pt x="5627" y="943464"/>
                  </a:cubicBezTo>
                  <a:cubicBezTo>
                    <a:pt x="2024" y="939861"/>
                    <a:pt x="0" y="934975"/>
                    <a:pt x="0" y="929879"/>
                  </a:cubicBezTo>
                  <a:lnTo>
                    <a:pt x="0" y="19212"/>
                  </a:lnTo>
                  <a:cubicBezTo>
                    <a:pt x="0" y="14117"/>
                    <a:pt x="2024" y="9230"/>
                    <a:pt x="5627" y="5627"/>
                  </a:cubicBezTo>
                  <a:cubicBezTo>
                    <a:pt x="9230" y="2024"/>
                    <a:pt x="14117" y="0"/>
                    <a:pt x="19212" y="0"/>
                  </a:cubicBezTo>
                  <a:close/>
                </a:path>
              </a:pathLst>
            </a:custGeom>
            <a:solidFill>
              <a:srgbClr val="BFE4FF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9525"/>
              <a:ext cx="2472455" cy="939566"/>
            </a:xfrm>
            <a:prstGeom prst="rect">
              <a:avLst/>
            </a:prstGeom>
          </p:spPr>
          <p:txBody>
            <a:bodyPr anchor="ctr" rtlCol="false" tIns="31171" lIns="31171" bIns="31171" rIns="31171"/>
            <a:lstStyle/>
            <a:p>
              <a:pPr algn="ctr">
                <a:lnSpc>
                  <a:spcPts val="4199"/>
                </a:lnSpc>
              </a:pPr>
              <a:r>
                <a:rPr lang="en-US" b="true" sz="3499">
                  <a:solidFill>
                    <a:srgbClr val="000000"/>
                  </a:solidFill>
                  <a:latin typeface="Source Sans Pro Bold"/>
                  <a:ea typeface="Source Sans Pro Bold"/>
                  <a:cs typeface="Source Sans Pro Bold"/>
                  <a:sym typeface="Source Sans Pro Bold"/>
                </a:rPr>
                <a:t>Giải mã thành công: Giải đáp "Câu hỏi lớn" bằng 8 Insights Chiến lược có bằng chứng.</a:t>
              </a:r>
            </a:p>
          </p:txBody>
        </p:sp>
      </p:grp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3149031">
            <a:off x="-5495873" y="6405568"/>
            <a:ext cx="7869849" cy="9508804"/>
          </a:xfrm>
          <a:custGeom>
            <a:avLst/>
            <a:gdLst/>
            <a:ahLst/>
            <a:cxnLst/>
            <a:rect r="r" b="b" t="t" l="l"/>
            <a:pathLst>
              <a:path h="9508804" w="7869849">
                <a:moveTo>
                  <a:pt x="0" y="0"/>
                </a:moveTo>
                <a:lnTo>
                  <a:pt x="7869849" y="0"/>
                </a:lnTo>
                <a:lnTo>
                  <a:pt x="7869849" y="9508804"/>
                </a:lnTo>
                <a:lnTo>
                  <a:pt x="0" y="950880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465963">
            <a:off x="-6302046" y="-4126461"/>
            <a:ext cx="7869849" cy="9508804"/>
          </a:xfrm>
          <a:custGeom>
            <a:avLst/>
            <a:gdLst/>
            <a:ahLst/>
            <a:cxnLst/>
            <a:rect r="r" b="b" t="t" l="l"/>
            <a:pathLst>
              <a:path h="9508804" w="7869849">
                <a:moveTo>
                  <a:pt x="0" y="0"/>
                </a:moveTo>
                <a:lnTo>
                  <a:pt x="7869849" y="0"/>
                </a:lnTo>
                <a:lnTo>
                  <a:pt x="7869849" y="9508804"/>
                </a:lnTo>
                <a:lnTo>
                  <a:pt x="0" y="950880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3149031">
            <a:off x="14903464" y="7132525"/>
            <a:ext cx="7869849" cy="9508804"/>
          </a:xfrm>
          <a:custGeom>
            <a:avLst/>
            <a:gdLst/>
            <a:ahLst/>
            <a:cxnLst/>
            <a:rect r="r" b="b" t="t" l="l"/>
            <a:pathLst>
              <a:path h="9508804" w="7869849">
                <a:moveTo>
                  <a:pt x="0" y="0"/>
                </a:moveTo>
                <a:lnTo>
                  <a:pt x="7869849" y="0"/>
                </a:lnTo>
                <a:lnTo>
                  <a:pt x="7869849" y="9508804"/>
                </a:lnTo>
                <a:lnTo>
                  <a:pt x="0" y="950880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465963">
            <a:off x="14588268" y="-6592603"/>
            <a:ext cx="7869849" cy="9508804"/>
          </a:xfrm>
          <a:custGeom>
            <a:avLst/>
            <a:gdLst/>
            <a:ahLst/>
            <a:cxnLst/>
            <a:rect r="r" b="b" t="t" l="l"/>
            <a:pathLst>
              <a:path h="9508804" w="7869849">
                <a:moveTo>
                  <a:pt x="0" y="0"/>
                </a:moveTo>
                <a:lnTo>
                  <a:pt x="7869849" y="0"/>
                </a:lnTo>
                <a:lnTo>
                  <a:pt x="7869849" y="9508804"/>
                </a:lnTo>
                <a:lnTo>
                  <a:pt x="0" y="950880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6015174" y="7713087"/>
            <a:ext cx="3371931" cy="3090427"/>
          </a:xfrm>
          <a:custGeom>
            <a:avLst/>
            <a:gdLst/>
            <a:ahLst/>
            <a:cxnLst/>
            <a:rect r="r" b="b" t="t" l="l"/>
            <a:pathLst>
              <a:path h="3090427" w="3371931">
                <a:moveTo>
                  <a:pt x="0" y="0"/>
                </a:moveTo>
                <a:lnTo>
                  <a:pt x="3371932" y="0"/>
                </a:lnTo>
                <a:lnTo>
                  <a:pt x="3371932" y="3090426"/>
                </a:lnTo>
                <a:lnTo>
                  <a:pt x="0" y="309042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486295" y="6780821"/>
            <a:ext cx="3029989" cy="4114800"/>
          </a:xfrm>
          <a:custGeom>
            <a:avLst/>
            <a:gdLst/>
            <a:ahLst/>
            <a:cxnLst/>
            <a:rect r="r" b="b" t="t" l="l"/>
            <a:pathLst>
              <a:path h="4114800" w="3029989">
                <a:moveTo>
                  <a:pt x="0" y="0"/>
                </a:moveTo>
                <a:lnTo>
                  <a:pt x="3029990" y="0"/>
                </a:lnTo>
                <a:lnTo>
                  <a:pt x="302999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4874793" y="-395644"/>
            <a:ext cx="4769015" cy="2349824"/>
          </a:xfrm>
          <a:custGeom>
            <a:avLst/>
            <a:gdLst/>
            <a:ahLst/>
            <a:cxnLst/>
            <a:rect r="r" b="b" t="t" l="l"/>
            <a:pathLst>
              <a:path h="2349824" w="4769015">
                <a:moveTo>
                  <a:pt x="0" y="0"/>
                </a:moveTo>
                <a:lnTo>
                  <a:pt x="4769014" y="0"/>
                </a:lnTo>
                <a:lnTo>
                  <a:pt x="4769014" y="2349824"/>
                </a:lnTo>
                <a:lnTo>
                  <a:pt x="0" y="234982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-3892220" y="-254785"/>
            <a:ext cx="7315200" cy="2566970"/>
          </a:xfrm>
          <a:custGeom>
            <a:avLst/>
            <a:gdLst/>
            <a:ahLst/>
            <a:cxnLst/>
            <a:rect r="r" b="b" t="t" l="l"/>
            <a:pathLst>
              <a:path h="2566970" w="7315200">
                <a:moveTo>
                  <a:pt x="0" y="0"/>
                </a:moveTo>
                <a:lnTo>
                  <a:pt x="7315200" y="0"/>
                </a:lnTo>
                <a:lnTo>
                  <a:pt x="7315200" y="2566970"/>
                </a:lnTo>
                <a:lnTo>
                  <a:pt x="0" y="256697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2694444" y="167324"/>
            <a:ext cx="12899113" cy="7783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48"/>
              </a:lnSpc>
              <a:spcBef>
                <a:spcPct val="0"/>
              </a:spcBef>
            </a:pPr>
            <a:r>
              <a:rPr lang="en-US" sz="4605">
                <a:solidFill>
                  <a:srgbClr val="2E6FB7"/>
                </a:solidFill>
                <a:latin typeface="Paytone One"/>
                <a:ea typeface="Paytone One"/>
                <a:cs typeface="Paytone One"/>
                <a:sym typeface="Paytone One"/>
              </a:rPr>
              <a:t>ĐỊNH VỊ LỢI THẾ CẠNH TRANH BẰNG DỮ LIỆU</a:t>
            </a:r>
          </a:p>
        </p:txBody>
      </p:sp>
      <p:sp>
        <p:nvSpPr>
          <p:cNvPr name="AutoShape 11" id="11"/>
          <p:cNvSpPr/>
          <p:nvPr/>
        </p:nvSpPr>
        <p:spPr>
          <a:xfrm flipH="true">
            <a:off x="6346249" y="2814686"/>
            <a:ext cx="1173354" cy="833207"/>
          </a:xfrm>
          <a:prstGeom prst="line">
            <a:avLst/>
          </a:prstGeom>
          <a:ln cap="flat" w="66675">
            <a:solidFill>
              <a:srgbClr val="42424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2" id="12"/>
          <p:cNvSpPr/>
          <p:nvPr/>
        </p:nvSpPr>
        <p:spPr>
          <a:xfrm flipH="true" flipV="true">
            <a:off x="6009187" y="6407571"/>
            <a:ext cx="1446654" cy="904849"/>
          </a:xfrm>
          <a:prstGeom prst="line">
            <a:avLst/>
          </a:prstGeom>
          <a:ln cap="flat" w="66675">
            <a:solidFill>
              <a:srgbClr val="424242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3" id="13"/>
          <p:cNvGrpSpPr/>
          <p:nvPr/>
        </p:nvGrpSpPr>
        <p:grpSpPr>
          <a:xfrm rot="0">
            <a:off x="7741604" y="1422053"/>
            <a:ext cx="9222138" cy="2469977"/>
            <a:chOff x="0" y="0"/>
            <a:chExt cx="2911015" cy="779661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911015" cy="779661"/>
            </a:xfrm>
            <a:custGeom>
              <a:avLst/>
              <a:gdLst/>
              <a:ahLst/>
              <a:cxnLst/>
              <a:rect r="r" b="b" t="t" l="l"/>
              <a:pathLst>
                <a:path h="779661" w="2911015">
                  <a:moveTo>
                    <a:pt x="83949" y="0"/>
                  </a:moveTo>
                  <a:lnTo>
                    <a:pt x="2827066" y="0"/>
                  </a:lnTo>
                  <a:cubicBezTo>
                    <a:pt x="2873430" y="0"/>
                    <a:pt x="2911015" y="37585"/>
                    <a:pt x="2911015" y="83949"/>
                  </a:cubicBezTo>
                  <a:lnTo>
                    <a:pt x="2911015" y="695712"/>
                  </a:lnTo>
                  <a:cubicBezTo>
                    <a:pt x="2911015" y="742076"/>
                    <a:pt x="2873430" y="779661"/>
                    <a:pt x="2827066" y="779661"/>
                  </a:cubicBezTo>
                  <a:lnTo>
                    <a:pt x="83949" y="779661"/>
                  </a:lnTo>
                  <a:cubicBezTo>
                    <a:pt x="37585" y="779661"/>
                    <a:pt x="0" y="742076"/>
                    <a:pt x="0" y="695712"/>
                  </a:cubicBezTo>
                  <a:lnTo>
                    <a:pt x="0" y="83949"/>
                  </a:lnTo>
                  <a:cubicBezTo>
                    <a:pt x="0" y="37585"/>
                    <a:pt x="37585" y="0"/>
                    <a:pt x="83949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0" cap="rnd">
              <a:solidFill>
                <a:srgbClr val="41B8D5"/>
              </a:solidFill>
              <a:prstDash val="solid"/>
              <a:round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9525"/>
              <a:ext cx="2911015" cy="7701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130"/>
                </a:lnSpc>
              </a:pPr>
            </a:p>
          </p:txBody>
        </p:sp>
      </p:grpSp>
      <p:grpSp>
        <p:nvGrpSpPr>
          <p:cNvPr name="Group 16" id="16"/>
          <p:cNvGrpSpPr>
            <a:grpSpLocks noChangeAspect="true"/>
          </p:cNvGrpSpPr>
          <p:nvPr/>
        </p:nvGrpSpPr>
        <p:grpSpPr>
          <a:xfrm rot="8883072">
            <a:off x="7469332" y="2384770"/>
            <a:ext cx="544543" cy="544543"/>
            <a:chOff x="0" y="0"/>
            <a:chExt cx="495300" cy="4953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495300" cy="495300"/>
            </a:xfrm>
            <a:custGeom>
              <a:avLst/>
              <a:gdLst/>
              <a:ahLst/>
              <a:cxnLst/>
              <a:rect r="r" b="b" t="t" l="l"/>
              <a:pathLst>
                <a:path h="495300" w="495300">
                  <a:moveTo>
                    <a:pt x="247650" y="0"/>
                  </a:moveTo>
                  <a:cubicBezTo>
                    <a:pt x="110490" y="0"/>
                    <a:pt x="0" y="110490"/>
                    <a:pt x="0" y="247650"/>
                  </a:cubicBezTo>
                  <a:cubicBezTo>
                    <a:pt x="0" y="384810"/>
                    <a:pt x="110490" y="495300"/>
                    <a:pt x="247650" y="495300"/>
                  </a:cubicBezTo>
                  <a:cubicBezTo>
                    <a:pt x="383540" y="495300"/>
                    <a:pt x="495300" y="384810"/>
                    <a:pt x="495300" y="247650"/>
                  </a:cubicBezTo>
                  <a:cubicBezTo>
                    <a:pt x="495300" y="110490"/>
                    <a:pt x="383540" y="0"/>
                    <a:pt x="247650" y="0"/>
                  </a:cubicBezTo>
                  <a:close/>
                  <a:moveTo>
                    <a:pt x="247650" y="457200"/>
                  </a:moveTo>
                  <a:cubicBezTo>
                    <a:pt x="132080" y="457200"/>
                    <a:pt x="38100" y="363220"/>
                    <a:pt x="38100" y="247650"/>
                  </a:cubicBezTo>
                  <a:cubicBezTo>
                    <a:pt x="38100" y="132080"/>
                    <a:pt x="132080" y="38100"/>
                    <a:pt x="247650" y="38100"/>
                  </a:cubicBezTo>
                  <a:cubicBezTo>
                    <a:pt x="363220" y="38100"/>
                    <a:pt x="457200" y="132080"/>
                    <a:pt x="457200" y="247650"/>
                  </a:cubicBezTo>
                  <a:cubicBezTo>
                    <a:pt x="457200" y="363220"/>
                    <a:pt x="363220" y="457200"/>
                    <a:pt x="247650" y="457200"/>
                  </a:cubicBezTo>
                  <a:close/>
                </a:path>
              </a:pathLst>
            </a:custGeom>
            <a:solidFill>
              <a:srgbClr val="424242"/>
            </a:solid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38100" y="38100"/>
              <a:ext cx="419100" cy="419100"/>
            </a:xfrm>
            <a:custGeom>
              <a:avLst/>
              <a:gdLst/>
              <a:ahLst/>
              <a:cxnLst/>
              <a:rect r="r" b="b" t="t" l="l"/>
              <a:pathLst>
                <a:path h="419100" w="419100">
                  <a:moveTo>
                    <a:pt x="209550" y="0"/>
                  </a:moveTo>
                  <a:cubicBezTo>
                    <a:pt x="93980" y="0"/>
                    <a:pt x="0" y="93980"/>
                    <a:pt x="0" y="209550"/>
                  </a:cubicBezTo>
                  <a:cubicBezTo>
                    <a:pt x="0" y="325120"/>
                    <a:pt x="93980" y="419100"/>
                    <a:pt x="209550" y="419100"/>
                  </a:cubicBezTo>
                  <a:cubicBezTo>
                    <a:pt x="325120" y="419100"/>
                    <a:pt x="419100" y="325120"/>
                    <a:pt x="419100" y="209550"/>
                  </a:cubicBezTo>
                  <a:cubicBezTo>
                    <a:pt x="419100" y="93980"/>
                    <a:pt x="325120" y="0"/>
                    <a:pt x="209550" y="0"/>
                  </a:cubicBezTo>
                  <a:close/>
                </a:path>
              </a:pathLst>
            </a:custGeom>
            <a:solidFill>
              <a:srgbClr val="41B8D5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1028700" y="2281938"/>
            <a:ext cx="5746022" cy="5759289"/>
            <a:chOff x="0" y="0"/>
            <a:chExt cx="760421" cy="762177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760421" cy="762177"/>
            </a:xfrm>
            <a:custGeom>
              <a:avLst/>
              <a:gdLst/>
              <a:ahLst/>
              <a:cxnLst/>
              <a:rect r="r" b="b" t="t" l="l"/>
              <a:pathLst>
                <a:path h="762177" w="760421">
                  <a:moveTo>
                    <a:pt x="380211" y="0"/>
                  </a:moveTo>
                  <a:cubicBezTo>
                    <a:pt x="170226" y="0"/>
                    <a:pt x="0" y="170619"/>
                    <a:pt x="0" y="381089"/>
                  </a:cubicBezTo>
                  <a:cubicBezTo>
                    <a:pt x="0" y="591558"/>
                    <a:pt x="170226" y="762177"/>
                    <a:pt x="380211" y="762177"/>
                  </a:cubicBezTo>
                  <a:cubicBezTo>
                    <a:pt x="590195" y="762177"/>
                    <a:pt x="760421" y="591558"/>
                    <a:pt x="760421" y="381089"/>
                  </a:cubicBezTo>
                  <a:cubicBezTo>
                    <a:pt x="760421" y="170619"/>
                    <a:pt x="590195" y="0"/>
                    <a:pt x="380211" y="0"/>
                  </a:cubicBezTo>
                  <a:close/>
                </a:path>
              </a:pathLst>
            </a:custGeom>
            <a:solidFill>
              <a:srgbClr val="2E6FB7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71290" y="80979"/>
              <a:ext cx="617842" cy="60974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84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376997" y="2716504"/>
            <a:ext cx="5049428" cy="5049428"/>
            <a:chOff x="0" y="0"/>
            <a:chExt cx="812800" cy="8128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E6FB7"/>
            </a:solidFill>
            <a:ln w="14287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76200" y="85725"/>
              <a:ext cx="660400" cy="6508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84"/>
                </a:lnSpc>
              </a:pPr>
            </a:p>
          </p:txBody>
        </p:sp>
      </p:grpSp>
      <p:sp>
        <p:nvSpPr>
          <p:cNvPr name="TextBox 25" id="25"/>
          <p:cNvSpPr txBox="true"/>
          <p:nvPr/>
        </p:nvSpPr>
        <p:spPr>
          <a:xfrm rot="0">
            <a:off x="8571411" y="2376834"/>
            <a:ext cx="7770744" cy="10600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221"/>
              </a:lnSpc>
            </a:pPr>
            <a:r>
              <a:rPr lang="en-US" sz="3197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Nâng cấp sang Mô hình Hồi quy (Regression) để dự đoán GIÁ TRỊ DOANH SỐ cụ thể.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8580936" y="1905523"/>
            <a:ext cx="3529209" cy="4622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06"/>
              </a:lnSpc>
              <a:spcBef>
                <a:spcPct val="0"/>
              </a:spcBef>
            </a:pPr>
            <a:r>
              <a:rPr lang="en-US" b="true" sz="3585">
                <a:solidFill>
                  <a:srgbClr val="000000"/>
                </a:solidFill>
                <a:latin typeface="Source Sans Pro Bold"/>
                <a:ea typeface="Source Sans Pro Bold"/>
                <a:cs typeface="Source Sans Pro Bold"/>
                <a:sym typeface="Source Sans Pro Bold"/>
              </a:rPr>
              <a:t>Thay đổi Mục tiêu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794236" y="4004865"/>
            <a:ext cx="4214951" cy="24801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578"/>
              </a:lnSpc>
            </a:pPr>
            <a:r>
              <a:rPr lang="en-US" sz="4872" spc="102">
                <a:solidFill>
                  <a:srgbClr val="FFFFFF"/>
                </a:solidFill>
                <a:latin typeface="Paytone One"/>
                <a:ea typeface="Paytone One"/>
                <a:cs typeface="Paytone One"/>
                <a:sym typeface="Paytone One"/>
              </a:rPr>
              <a:t>LỘ TRÌNH NÂNG CẤP MÔ HÌNH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7686627" y="6118453"/>
            <a:ext cx="9222138" cy="2469977"/>
            <a:chOff x="0" y="0"/>
            <a:chExt cx="2911015" cy="779661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2911015" cy="779661"/>
            </a:xfrm>
            <a:custGeom>
              <a:avLst/>
              <a:gdLst/>
              <a:ahLst/>
              <a:cxnLst/>
              <a:rect r="r" b="b" t="t" l="l"/>
              <a:pathLst>
                <a:path h="779661" w="2911015">
                  <a:moveTo>
                    <a:pt x="83949" y="0"/>
                  </a:moveTo>
                  <a:lnTo>
                    <a:pt x="2827066" y="0"/>
                  </a:lnTo>
                  <a:cubicBezTo>
                    <a:pt x="2873430" y="0"/>
                    <a:pt x="2911015" y="37585"/>
                    <a:pt x="2911015" y="83949"/>
                  </a:cubicBezTo>
                  <a:lnTo>
                    <a:pt x="2911015" y="695712"/>
                  </a:lnTo>
                  <a:cubicBezTo>
                    <a:pt x="2911015" y="742076"/>
                    <a:pt x="2873430" y="779661"/>
                    <a:pt x="2827066" y="779661"/>
                  </a:cubicBezTo>
                  <a:lnTo>
                    <a:pt x="83949" y="779661"/>
                  </a:lnTo>
                  <a:cubicBezTo>
                    <a:pt x="37585" y="779661"/>
                    <a:pt x="0" y="742076"/>
                    <a:pt x="0" y="695712"/>
                  </a:cubicBezTo>
                  <a:lnTo>
                    <a:pt x="0" y="83949"/>
                  </a:lnTo>
                  <a:cubicBezTo>
                    <a:pt x="0" y="37585"/>
                    <a:pt x="37585" y="0"/>
                    <a:pt x="83949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0" cap="rnd">
              <a:solidFill>
                <a:srgbClr val="41B8D5"/>
              </a:solidFill>
              <a:prstDash val="solid"/>
              <a:round/>
            </a:ln>
          </p:spPr>
        </p:sp>
        <p:sp>
          <p:nvSpPr>
            <p:cNvPr name="TextBox 30" id="30"/>
            <p:cNvSpPr txBox="true"/>
            <p:nvPr/>
          </p:nvSpPr>
          <p:spPr>
            <a:xfrm>
              <a:off x="0" y="9525"/>
              <a:ext cx="2911015" cy="7701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130"/>
                </a:lnSpc>
              </a:pPr>
            </a:p>
          </p:txBody>
        </p:sp>
      </p:grpSp>
      <p:grpSp>
        <p:nvGrpSpPr>
          <p:cNvPr name="Group 31" id="31"/>
          <p:cNvGrpSpPr>
            <a:grpSpLocks noChangeAspect="true"/>
          </p:cNvGrpSpPr>
          <p:nvPr/>
        </p:nvGrpSpPr>
        <p:grpSpPr>
          <a:xfrm rot="8883072">
            <a:off x="7414356" y="7184499"/>
            <a:ext cx="544543" cy="544543"/>
            <a:chOff x="0" y="0"/>
            <a:chExt cx="495300" cy="4953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495300" cy="495300"/>
            </a:xfrm>
            <a:custGeom>
              <a:avLst/>
              <a:gdLst/>
              <a:ahLst/>
              <a:cxnLst/>
              <a:rect r="r" b="b" t="t" l="l"/>
              <a:pathLst>
                <a:path h="495300" w="495300">
                  <a:moveTo>
                    <a:pt x="247650" y="0"/>
                  </a:moveTo>
                  <a:cubicBezTo>
                    <a:pt x="110490" y="0"/>
                    <a:pt x="0" y="110490"/>
                    <a:pt x="0" y="247650"/>
                  </a:cubicBezTo>
                  <a:cubicBezTo>
                    <a:pt x="0" y="384810"/>
                    <a:pt x="110490" y="495300"/>
                    <a:pt x="247650" y="495300"/>
                  </a:cubicBezTo>
                  <a:cubicBezTo>
                    <a:pt x="383540" y="495300"/>
                    <a:pt x="495300" y="384810"/>
                    <a:pt x="495300" y="247650"/>
                  </a:cubicBezTo>
                  <a:cubicBezTo>
                    <a:pt x="495300" y="110490"/>
                    <a:pt x="383540" y="0"/>
                    <a:pt x="247650" y="0"/>
                  </a:cubicBezTo>
                  <a:close/>
                  <a:moveTo>
                    <a:pt x="247650" y="457200"/>
                  </a:moveTo>
                  <a:cubicBezTo>
                    <a:pt x="132080" y="457200"/>
                    <a:pt x="38100" y="363220"/>
                    <a:pt x="38100" y="247650"/>
                  </a:cubicBezTo>
                  <a:cubicBezTo>
                    <a:pt x="38100" y="132080"/>
                    <a:pt x="132080" y="38100"/>
                    <a:pt x="247650" y="38100"/>
                  </a:cubicBezTo>
                  <a:cubicBezTo>
                    <a:pt x="363220" y="38100"/>
                    <a:pt x="457200" y="132080"/>
                    <a:pt x="457200" y="247650"/>
                  </a:cubicBezTo>
                  <a:cubicBezTo>
                    <a:pt x="457200" y="363220"/>
                    <a:pt x="363220" y="457200"/>
                    <a:pt x="247650" y="457200"/>
                  </a:cubicBezTo>
                  <a:close/>
                </a:path>
              </a:pathLst>
            </a:custGeom>
            <a:solidFill>
              <a:srgbClr val="424242"/>
            </a:solidFill>
          </p:spPr>
        </p:sp>
        <p:sp>
          <p:nvSpPr>
            <p:cNvPr name="Freeform 33" id="33"/>
            <p:cNvSpPr/>
            <p:nvPr/>
          </p:nvSpPr>
          <p:spPr>
            <a:xfrm flipH="false" flipV="false" rot="0">
              <a:off x="38100" y="38100"/>
              <a:ext cx="419100" cy="419100"/>
            </a:xfrm>
            <a:custGeom>
              <a:avLst/>
              <a:gdLst/>
              <a:ahLst/>
              <a:cxnLst/>
              <a:rect r="r" b="b" t="t" l="l"/>
              <a:pathLst>
                <a:path h="419100" w="419100">
                  <a:moveTo>
                    <a:pt x="209550" y="0"/>
                  </a:moveTo>
                  <a:cubicBezTo>
                    <a:pt x="93980" y="0"/>
                    <a:pt x="0" y="93980"/>
                    <a:pt x="0" y="209550"/>
                  </a:cubicBezTo>
                  <a:cubicBezTo>
                    <a:pt x="0" y="325120"/>
                    <a:pt x="93980" y="419100"/>
                    <a:pt x="209550" y="419100"/>
                  </a:cubicBezTo>
                  <a:cubicBezTo>
                    <a:pt x="325120" y="419100"/>
                    <a:pt x="419100" y="325120"/>
                    <a:pt x="419100" y="209550"/>
                  </a:cubicBezTo>
                  <a:cubicBezTo>
                    <a:pt x="419100" y="93980"/>
                    <a:pt x="325120" y="0"/>
                    <a:pt x="209550" y="0"/>
                  </a:cubicBezTo>
                  <a:close/>
                </a:path>
              </a:pathLst>
            </a:custGeom>
            <a:solidFill>
              <a:srgbClr val="41B8D5"/>
            </a:solidFill>
          </p:spPr>
        </p:sp>
      </p:grpSp>
      <p:sp>
        <p:nvSpPr>
          <p:cNvPr name="TextBox 34" id="34"/>
          <p:cNvSpPr txBox="true"/>
          <p:nvPr/>
        </p:nvSpPr>
        <p:spPr>
          <a:xfrm rot="0">
            <a:off x="8478334" y="7406409"/>
            <a:ext cx="8184228" cy="5307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353"/>
              </a:lnSpc>
            </a:pPr>
            <a:r>
              <a:rPr lang="en-US" sz="3297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Bổ sung dữ liệu Thời tiết và Sự kiện Địa phương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8487859" y="6891224"/>
            <a:ext cx="4350781" cy="4622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06"/>
              </a:lnSpc>
              <a:spcBef>
                <a:spcPct val="0"/>
              </a:spcBef>
            </a:pPr>
            <a:r>
              <a:rPr lang="en-US" b="true" sz="3585">
                <a:solidFill>
                  <a:srgbClr val="000000"/>
                </a:solidFill>
                <a:latin typeface="Source Sans Pro Bold"/>
                <a:ea typeface="Source Sans Pro Bold"/>
                <a:cs typeface="Source Sans Pro Bold"/>
                <a:sym typeface="Source Sans Pro Bold"/>
              </a:rPr>
              <a:t>Tích hợp Dữ liệu Mới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3149031">
            <a:off x="-5495873" y="6405568"/>
            <a:ext cx="7869849" cy="9508804"/>
          </a:xfrm>
          <a:custGeom>
            <a:avLst/>
            <a:gdLst/>
            <a:ahLst/>
            <a:cxnLst/>
            <a:rect r="r" b="b" t="t" l="l"/>
            <a:pathLst>
              <a:path h="9508804" w="7869849">
                <a:moveTo>
                  <a:pt x="0" y="0"/>
                </a:moveTo>
                <a:lnTo>
                  <a:pt x="7869849" y="0"/>
                </a:lnTo>
                <a:lnTo>
                  <a:pt x="7869849" y="9508804"/>
                </a:lnTo>
                <a:lnTo>
                  <a:pt x="0" y="950880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465963">
            <a:off x="-6302046" y="-4126461"/>
            <a:ext cx="7869849" cy="9508804"/>
          </a:xfrm>
          <a:custGeom>
            <a:avLst/>
            <a:gdLst/>
            <a:ahLst/>
            <a:cxnLst/>
            <a:rect r="r" b="b" t="t" l="l"/>
            <a:pathLst>
              <a:path h="9508804" w="7869849">
                <a:moveTo>
                  <a:pt x="0" y="0"/>
                </a:moveTo>
                <a:lnTo>
                  <a:pt x="7869849" y="0"/>
                </a:lnTo>
                <a:lnTo>
                  <a:pt x="7869849" y="9508804"/>
                </a:lnTo>
                <a:lnTo>
                  <a:pt x="0" y="950880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3149031">
            <a:off x="14903464" y="7132525"/>
            <a:ext cx="7869849" cy="9508804"/>
          </a:xfrm>
          <a:custGeom>
            <a:avLst/>
            <a:gdLst/>
            <a:ahLst/>
            <a:cxnLst/>
            <a:rect r="r" b="b" t="t" l="l"/>
            <a:pathLst>
              <a:path h="9508804" w="7869849">
                <a:moveTo>
                  <a:pt x="0" y="0"/>
                </a:moveTo>
                <a:lnTo>
                  <a:pt x="7869849" y="0"/>
                </a:lnTo>
                <a:lnTo>
                  <a:pt x="7869849" y="9508804"/>
                </a:lnTo>
                <a:lnTo>
                  <a:pt x="0" y="950880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465963">
            <a:off x="14588268" y="-6592603"/>
            <a:ext cx="7869849" cy="9508804"/>
          </a:xfrm>
          <a:custGeom>
            <a:avLst/>
            <a:gdLst/>
            <a:ahLst/>
            <a:cxnLst/>
            <a:rect r="r" b="b" t="t" l="l"/>
            <a:pathLst>
              <a:path h="9508804" w="7869849">
                <a:moveTo>
                  <a:pt x="0" y="0"/>
                </a:moveTo>
                <a:lnTo>
                  <a:pt x="7869849" y="0"/>
                </a:lnTo>
                <a:lnTo>
                  <a:pt x="7869849" y="9508804"/>
                </a:lnTo>
                <a:lnTo>
                  <a:pt x="0" y="950880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6015174" y="7713087"/>
            <a:ext cx="3371931" cy="3090427"/>
          </a:xfrm>
          <a:custGeom>
            <a:avLst/>
            <a:gdLst/>
            <a:ahLst/>
            <a:cxnLst/>
            <a:rect r="r" b="b" t="t" l="l"/>
            <a:pathLst>
              <a:path h="3090427" w="3371931">
                <a:moveTo>
                  <a:pt x="0" y="0"/>
                </a:moveTo>
                <a:lnTo>
                  <a:pt x="3371932" y="0"/>
                </a:lnTo>
                <a:lnTo>
                  <a:pt x="3371932" y="3090426"/>
                </a:lnTo>
                <a:lnTo>
                  <a:pt x="0" y="309042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false" rot="0">
            <a:off x="4918527" y="1447077"/>
            <a:ext cx="4225473" cy="3267118"/>
          </a:xfrm>
          <a:custGeom>
            <a:avLst/>
            <a:gdLst/>
            <a:ahLst/>
            <a:cxnLst/>
            <a:rect r="r" b="b" t="t" l="l"/>
            <a:pathLst>
              <a:path h="3267118" w="4225473">
                <a:moveTo>
                  <a:pt x="4225473" y="0"/>
                </a:moveTo>
                <a:lnTo>
                  <a:pt x="0" y="0"/>
                </a:lnTo>
                <a:lnTo>
                  <a:pt x="0" y="3267118"/>
                </a:lnTo>
                <a:lnTo>
                  <a:pt x="4225473" y="3267118"/>
                </a:lnTo>
                <a:lnTo>
                  <a:pt x="4225473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5856000" y="1945172"/>
            <a:ext cx="6576001" cy="6396655"/>
          </a:xfrm>
          <a:custGeom>
            <a:avLst/>
            <a:gdLst/>
            <a:ahLst/>
            <a:cxnLst/>
            <a:rect r="r" b="b" t="t" l="l"/>
            <a:pathLst>
              <a:path h="6396655" w="6576001">
                <a:moveTo>
                  <a:pt x="0" y="0"/>
                </a:moveTo>
                <a:lnTo>
                  <a:pt x="6576000" y="0"/>
                </a:lnTo>
                <a:lnTo>
                  <a:pt x="6576000" y="6396656"/>
                </a:lnTo>
                <a:lnTo>
                  <a:pt x="0" y="639665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9756430" y="5730908"/>
            <a:ext cx="4225473" cy="3267118"/>
          </a:xfrm>
          <a:custGeom>
            <a:avLst/>
            <a:gdLst/>
            <a:ahLst/>
            <a:cxnLst/>
            <a:rect r="r" b="b" t="t" l="l"/>
            <a:pathLst>
              <a:path h="3267118" w="4225473">
                <a:moveTo>
                  <a:pt x="0" y="0"/>
                </a:moveTo>
                <a:lnTo>
                  <a:pt x="4225472" y="0"/>
                </a:lnTo>
                <a:lnTo>
                  <a:pt x="4225472" y="3267118"/>
                </a:lnTo>
                <a:lnTo>
                  <a:pt x="0" y="326711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-1560948" y="-193518"/>
            <a:ext cx="5679713" cy="4114800"/>
          </a:xfrm>
          <a:custGeom>
            <a:avLst/>
            <a:gdLst/>
            <a:ahLst/>
            <a:cxnLst/>
            <a:rect r="r" b="b" t="t" l="l"/>
            <a:pathLst>
              <a:path h="4114800" w="5679713">
                <a:moveTo>
                  <a:pt x="0" y="0"/>
                </a:moveTo>
                <a:lnTo>
                  <a:pt x="5679712" y="0"/>
                </a:lnTo>
                <a:lnTo>
                  <a:pt x="567971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-2708734" y="7567412"/>
            <a:ext cx="7315200" cy="2566970"/>
          </a:xfrm>
          <a:custGeom>
            <a:avLst/>
            <a:gdLst/>
            <a:ahLst/>
            <a:cxnLst/>
            <a:rect r="r" b="b" t="t" l="l"/>
            <a:pathLst>
              <a:path h="2566970" w="7315200">
                <a:moveTo>
                  <a:pt x="0" y="0"/>
                </a:moveTo>
                <a:lnTo>
                  <a:pt x="7315200" y="0"/>
                </a:lnTo>
                <a:lnTo>
                  <a:pt x="7315200" y="2566970"/>
                </a:lnTo>
                <a:lnTo>
                  <a:pt x="0" y="256697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3754178" y="-546971"/>
            <a:ext cx="4769015" cy="2349824"/>
          </a:xfrm>
          <a:custGeom>
            <a:avLst/>
            <a:gdLst/>
            <a:ahLst/>
            <a:cxnLst/>
            <a:rect r="r" b="b" t="t" l="l"/>
            <a:pathLst>
              <a:path h="2349824" w="4769015">
                <a:moveTo>
                  <a:pt x="0" y="0"/>
                </a:moveTo>
                <a:lnTo>
                  <a:pt x="4769014" y="0"/>
                </a:lnTo>
                <a:lnTo>
                  <a:pt x="4769014" y="2349824"/>
                </a:lnTo>
                <a:lnTo>
                  <a:pt x="0" y="2349824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16"/>
          <a:srcRect l="0" t="0" r="0" b="0"/>
          <a:stretch>
            <a:fillRect/>
          </a:stretch>
        </p:blipFill>
        <p:spPr>
          <a:xfrm flipH="false" flipV="false" rot="0">
            <a:off x="6358760" y="2055424"/>
            <a:ext cx="5510406" cy="5317542"/>
          </a:xfrm>
          <a:prstGeom prst="rect">
            <a:avLst/>
          </a:prstGeom>
        </p:spPr>
      </p:pic>
      <p:sp>
        <p:nvSpPr>
          <p:cNvPr name="TextBox 14" id="14"/>
          <p:cNvSpPr txBox="true"/>
          <p:nvPr/>
        </p:nvSpPr>
        <p:spPr>
          <a:xfrm rot="0">
            <a:off x="3262441" y="4346542"/>
            <a:ext cx="11763117" cy="1327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846"/>
              </a:lnSpc>
            </a:pPr>
            <a:r>
              <a:rPr lang="en-US" sz="7747">
                <a:solidFill>
                  <a:srgbClr val="EFEFEF"/>
                </a:solidFill>
                <a:latin typeface="Paytone One"/>
                <a:ea typeface="Paytone One"/>
                <a:cs typeface="Paytone One"/>
                <a:sym typeface="Paytone One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DAG7MSU3jRk</dc:identifier>
  <dcterms:modified xsi:type="dcterms:W3CDTF">2011-08-01T06:04:30Z</dcterms:modified>
  <cp:revision>1</cp:revision>
  <dc:title>PHÂN TÍCH DỮ LIỆU </dc:title>
</cp:coreProperties>
</file>