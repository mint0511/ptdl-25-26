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77.xml"/>
  <Override ContentType="application/vnd.openxmlformats-officedocument.presentationml.slide+xml" PartName="/ppt/slides/slide78.xml"/>
  <Override ContentType="application/vnd.openxmlformats-officedocument.presentationml.slide+xml" PartName="/ppt/slides/slide79.xml"/>
  <Override ContentType="application/vnd.openxmlformats-officedocument.presentationml.slide+xml" PartName="/ppt/slides/slide80.xml"/>
  <Override ContentType="application/vnd.openxmlformats-officedocument.presentationml.slide+xml" PartName="/ppt/slides/slide81.xml"/>
  <Override ContentType="application/vnd.openxmlformats-officedocument.presentationml.slide+xml" PartName="/ppt/slides/slide82.xml"/>
  <Override ContentType="application/vnd.openxmlformats-officedocument.presentationml.slide+xml" PartName="/ppt/slides/slide83.xml"/>
  <Override ContentType="application/vnd.openxmlformats-officedocument.presentationml.slide+xml" PartName="/ppt/slides/slide84.xml"/>
  <Override ContentType="application/vnd.openxmlformats-officedocument.presentationml.slide+xml" PartName="/ppt/slides/slide85.xml"/>
  <Override ContentType="application/vnd.openxmlformats-officedocument.presentationml.slide+xml" PartName="/ppt/slides/slide86.xml"/>
  <Override ContentType="application/vnd.openxmlformats-officedocument.presentationml.slide+xml" PartName="/ppt/slides/slide87.xml"/>
  <Override ContentType="application/vnd.openxmlformats-officedocument.presentationml.slide+xml" PartName="/ppt/slides/slide88.xml"/>
  <Override ContentType="application/vnd.openxmlformats-officedocument.presentationml.slide+xml" PartName="/ppt/slides/slide89.xml"/>
  <Override ContentType="application/vnd.openxmlformats-officedocument.presentationml.slide+xml" PartName="/ppt/slides/slide90.xml"/>
  <Override ContentType="application/vnd.openxmlformats-officedocument.presentationml.slide+xml" PartName="/ppt/slides/slide91.xml"/>
  <Override ContentType="application/vnd.openxmlformats-officedocument.presentationml.slide+xml" PartName="/ppt/slides/slide92.xml"/>
  <Override ContentType="application/vnd.openxmlformats-officedocument.presentationml.slide+xml" PartName="/ppt/slides/slide93.xml"/>
  <Override ContentType="application/vnd.openxmlformats-officedocument.presentationml.slide+xml" PartName="/ppt/slides/slide94.xml"/>
  <Override ContentType="application/vnd.openxmlformats-officedocument.presentationml.slide+xml" PartName="/ppt/slides/slide95.xml"/>
  <Override ContentType="application/vnd.openxmlformats-officedocument.presentationml.slide+xml" PartName="/ppt/slides/slide96.xml"/>
  <Override ContentType="application/vnd.openxmlformats-officedocument.presentationml.slide+xml" PartName="/ppt/slides/slide97.xml"/>
  <Override ContentType="application/vnd.openxmlformats-officedocument.presentationml.slide+xml" PartName="/ppt/slides/slide98.xml"/>
  <Override ContentType="application/vnd.openxmlformats-officedocument.presentationml.slide+xml" PartName="/ppt/slides/slide99.xml"/>
  <Override ContentType="application/vnd.openxmlformats-officedocument.presentationml.slide+xml" PartName="/ppt/slides/slide100.xml"/>
  <Override ContentType="application/vnd.openxmlformats-officedocument.presentationml.slide+xml" PartName="/ppt/slides/slide101.xml"/>
  <Override ContentType="application/vnd.openxmlformats-officedocument.presentationml.slide+xml" PartName="/ppt/slides/slide102.xml"/>
  <Override ContentType="application/vnd.openxmlformats-officedocument.presentationml.slide+xml" PartName="/ppt/slides/slide103.xml"/>
  <Override ContentType="application/vnd.openxmlformats-officedocument.presentationml.slide+xml" PartName="/ppt/slides/slide104.xml"/>
  <Override ContentType="application/vnd.openxmlformats-officedocument.presentationml.slide+xml" PartName="/ppt/slides/slide105.xml"/>
  <Override ContentType="application/vnd.openxmlformats-officedocument.presentationml.slide+xml" PartName="/ppt/slides/slide106.xml"/>
  <Override ContentType="application/vnd.openxmlformats-officedocument.presentationml.slide+xml" PartName="/ppt/slides/slide107.xml"/>
  <Override ContentType="application/vnd.openxmlformats-officedocument.presentationml.slide+xml" PartName="/ppt/slides/slide108.xml"/>
  <Override ContentType="application/vnd.openxmlformats-officedocument.presentationml.slide+xml" PartName="/ppt/slides/slide109.xml"/>
  <Override ContentType="application/vnd.openxmlformats-officedocument.presentationml.slide+xml" PartName="/ppt/slides/slide110.xml"/>
  <Override ContentType="application/vnd.openxmlformats-officedocument.presentationml.slide+xml" PartName="/ppt/slides/slide111.xml"/>
  <Override ContentType="application/vnd.openxmlformats-officedocument.presentationml.slide+xml" PartName="/ppt/slides/slide112.xml"/>
  <Override ContentType="application/vnd.openxmlformats-officedocument.presentationml.slide+xml" PartName="/ppt/slides/slide113.xml"/>
  <Override ContentType="application/vnd.openxmlformats-officedocument.presentationml.slide+xml" PartName="/ppt/slides/slide114.xml"/>
  <Override ContentType="application/vnd.openxmlformats-officedocument.presentationml.slide+xml" PartName="/ppt/slides/slide115.xml"/>
  <Override ContentType="application/vnd.openxmlformats-officedocument.presentationml.slide+xml" PartName="/ppt/slides/slide116.xml"/>
  <Override ContentType="application/vnd.openxmlformats-officedocument.presentationml.slide+xml" PartName="/ppt/slides/slide117.xml"/>
  <Override ContentType="application/vnd.openxmlformats-officedocument.presentationml.slide+xml" PartName="/ppt/slides/slide118.xml"/>
  <Override ContentType="application/vnd.openxmlformats-officedocument.presentationml.slide+xml" PartName="/ppt/slides/slide119.xml"/>
  <Override ContentType="application/vnd.openxmlformats-officedocument.presentationml.slide+xml" PartName="/ppt/slides/slide120.xml"/>
  <Override ContentType="application/vnd.openxmlformats-officedocument.presentationml.slide+xml" PartName="/ppt/slides/slide1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Lst>
  <p:sldSz cx="18288000" cy="10287000"/>
  <p:notesSz cx="6858000" cy="9144000"/>
  <p:embeddedFontLst>
    <p:embeddedFont>
      <p:font typeface="Public Sans Bold" charset="1" panose="00000000000000000000"/>
      <p:regular r:id="rId127"/>
    </p:embeddedFont>
    <p:embeddedFont>
      <p:font typeface="Public Sans" charset="1" panose="00000000000000000000"/>
      <p:regular r:id="rId128"/>
    </p:embeddedFont>
    <p:embeddedFont>
      <p:font typeface="Public Sans Italics" charset="1" panose="00000000000000000000"/>
      <p:regular r:id="rId1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slides/slide95.xml" Type="http://schemas.openxmlformats.org/officeDocument/2006/relationships/slide"/><Relationship Id="rId101" Target="slides/slide96.xml" Type="http://schemas.openxmlformats.org/officeDocument/2006/relationships/slide"/><Relationship Id="rId102" Target="slides/slide97.xml" Type="http://schemas.openxmlformats.org/officeDocument/2006/relationships/slide"/><Relationship Id="rId103" Target="slides/slide98.xml" Type="http://schemas.openxmlformats.org/officeDocument/2006/relationships/slide"/><Relationship Id="rId104" Target="slides/slide99.xml" Type="http://schemas.openxmlformats.org/officeDocument/2006/relationships/slide"/><Relationship Id="rId105" Target="slides/slide100.xml" Type="http://schemas.openxmlformats.org/officeDocument/2006/relationships/slide"/><Relationship Id="rId106" Target="slides/slide101.xml" Type="http://schemas.openxmlformats.org/officeDocument/2006/relationships/slide"/><Relationship Id="rId107" Target="slides/slide102.xml" Type="http://schemas.openxmlformats.org/officeDocument/2006/relationships/slide"/><Relationship Id="rId108" Target="slides/slide103.xml" Type="http://schemas.openxmlformats.org/officeDocument/2006/relationships/slide"/><Relationship Id="rId109" Target="slides/slide104.xml" Type="http://schemas.openxmlformats.org/officeDocument/2006/relationships/slide"/><Relationship Id="rId11" Target="slides/slide6.xml" Type="http://schemas.openxmlformats.org/officeDocument/2006/relationships/slide"/><Relationship Id="rId110" Target="slides/slide105.xml" Type="http://schemas.openxmlformats.org/officeDocument/2006/relationships/slide"/><Relationship Id="rId111" Target="slides/slide106.xml" Type="http://schemas.openxmlformats.org/officeDocument/2006/relationships/slide"/><Relationship Id="rId112" Target="slides/slide107.xml" Type="http://schemas.openxmlformats.org/officeDocument/2006/relationships/slide"/><Relationship Id="rId113" Target="slides/slide108.xml" Type="http://schemas.openxmlformats.org/officeDocument/2006/relationships/slide"/><Relationship Id="rId114" Target="slides/slide109.xml" Type="http://schemas.openxmlformats.org/officeDocument/2006/relationships/slide"/><Relationship Id="rId115" Target="slides/slide110.xml" Type="http://schemas.openxmlformats.org/officeDocument/2006/relationships/slide"/><Relationship Id="rId116" Target="slides/slide111.xml" Type="http://schemas.openxmlformats.org/officeDocument/2006/relationships/slide"/><Relationship Id="rId117" Target="slides/slide112.xml" Type="http://schemas.openxmlformats.org/officeDocument/2006/relationships/slide"/><Relationship Id="rId118" Target="slides/slide113.xml" Type="http://schemas.openxmlformats.org/officeDocument/2006/relationships/slide"/><Relationship Id="rId119" Target="slides/slide114.xml" Type="http://schemas.openxmlformats.org/officeDocument/2006/relationships/slide"/><Relationship Id="rId12" Target="slides/slide7.xml" Type="http://schemas.openxmlformats.org/officeDocument/2006/relationships/slide"/><Relationship Id="rId120" Target="slides/slide115.xml" Type="http://schemas.openxmlformats.org/officeDocument/2006/relationships/slide"/><Relationship Id="rId121" Target="slides/slide116.xml" Type="http://schemas.openxmlformats.org/officeDocument/2006/relationships/slide"/><Relationship Id="rId122" Target="slides/slide117.xml" Type="http://schemas.openxmlformats.org/officeDocument/2006/relationships/slide"/><Relationship Id="rId123" Target="slides/slide118.xml" Type="http://schemas.openxmlformats.org/officeDocument/2006/relationships/slide"/><Relationship Id="rId124" Target="slides/slide119.xml" Type="http://schemas.openxmlformats.org/officeDocument/2006/relationships/slide"/><Relationship Id="rId125" Target="slides/slide120.xml" Type="http://schemas.openxmlformats.org/officeDocument/2006/relationships/slide"/><Relationship Id="rId126" Target="slides/slide121.xml" Type="http://schemas.openxmlformats.org/officeDocument/2006/relationships/slide"/><Relationship Id="rId127" Target="fonts/font127.fntdata" Type="http://schemas.openxmlformats.org/officeDocument/2006/relationships/font"/><Relationship Id="rId128" Target="fonts/font128.fntdata" Type="http://schemas.openxmlformats.org/officeDocument/2006/relationships/font"/><Relationship Id="rId129" Target="fonts/font129.fntdata" Type="http://schemas.openxmlformats.org/officeDocument/2006/relationships/font"/><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slides/slide74.xml" Type="http://schemas.openxmlformats.org/officeDocument/2006/relationships/slide"/><Relationship Id="rId8" Target="slides/slide3.xml" Type="http://schemas.openxmlformats.org/officeDocument/2006/relationships/slide"/><Relationship Id="rId80" Target="slides/slide75.xml" Type="http://schemas.openxmlformats.org/officeDocument/2006/relationships/slide"/><Relationship Id="rId81" Target="slides/slide76.xml" Type="http://schemas.openxmlformats.org/officeDocument/2006/relationships/slide"/><Relationship Id="rId82" Target="slides/slide77.xml" Type="http://schemas.openxmlformats.org/officeDocument/2006/relationships/slide"/><Relationship Id="rId83" Target="slides/slide78.xml" Type="http://schemas.openxmlformats.org/officeDocument/2006/relationships/slide"/><Relationship Id="rId84" Target="slides/slide79.xml" Type="http://schemas.openxmlformats.org/officeDocument/2006/relationships/slide"/><Relationship Id="rId85" Target="slides/slide80.xml" Type="http://schemas.openxmlformats.org/officeDocument/2006/relationships/slide"/><Relationship Id="rId86" Target="slides/slide81.xml" Type="http://schemas.openxmlformats.org/officeDocument/2006/relationships/slide"/><Relationship Id="rId87" Target="slides/slide82.xml" Type="http://schemas.openxmlformats.org/officeDocument/2006/relationships/slide"/><Relationship Id="rId88" Target="slides/slide83.xml" Type="http://schemas.openxmlformats.org/officeDocument/2006/relationships/slide"/><Relationship Id="rId89" Target="slides/slide84.xml" Type="http://schemas.openxmlformats.org/officeDocument/2006/relationships/slide"/><Relationship Id="rId9" Target="slides/slide4.xml" Type="http://schemas.openxmlformats.org/officeDocument/2006/relationships/slide"/><Relationship Id="rId90" Target="slides/slide85.xml" Type="http://schemas.openxmlformats.org/officeDocument/2006/relationships/slide"/><Relationship Id="rId91" Target="slides/slide86.xml" Type="http://schemas.openxmlformats.org/officeDocument/2006/relationships/slide"/><Relationship Id="rId92" Target="slides/slide87.xml" Type="http://schemas.openxmlformats.org/officeDocument/2006/relationships/slide"/><Relationship Id="rId93" Target="slides/slide88.xml" Type="http://schemas.openxmlformats.org/officeDocument/2006/relationships/slide"/><Relationship Id="rId94" Target="slides/slide89.xml" Type="http://schemas.openxmlformats.org/officeDocument/2006/relationships/slide"/><Relationship Id="rId95" Target="slides/slide90.xml" Type="http://schemas.openxmlformats.org/officeDocument/2006/relationships/slide"/><Relationship Id="rId96" Target="slides/slide91.xml" Type="http://schemas.openxmlformats.org/officeDocument/2006/relationships/slide"/><Relationship Id="rId97" Target="slides/slide92.xml" Type="http://schemas.openxmlformats.org/officeDocument/2006/relationships/slide"/><Relationship Id="rId98" Target="slides/slide93.xml" Type="http://schemas.openxmlformats.org/officeDocument/2006/relationships/slide"/><Relationship Id="rId99" Target="slides/slide9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31.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31.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32.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33.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33.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34.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35.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36.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37.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37.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38.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39.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40.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41.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42.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43.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44.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44.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45.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46.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47.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48.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49.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50.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51.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52.png" Type="http://schemas.openxmlformats.org/officeDocument/2006/relationships/image"/><Relationship Id="rId13" Target="../embeddings/oleObject1.bin" Type="http://schemas.openxmlformats.org/officeDocument/2006/relationships/oleObject"/><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53.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54.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55.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56.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57.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58.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59.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60.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61.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62.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63.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64.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65.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66.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67.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68.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69.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70.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70.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71.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72.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73.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74.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75.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76.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77.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78.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79.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80.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79.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81.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82.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83.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84.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85.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86.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87.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88.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89.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90.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91.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92.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93.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94.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19.png" Type="http://schemas.openxmlformats.org/officeDocument/2006/relationships/image"/><Relationship Id="rId19" Target="../media/image20.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22" Target="../media/image23.png" Type="http://schemas.openxmlformats.org/officeDocument/2006/relationships/image"/><Relationship Id="rId23" Target="../media/image24.svg" Type="http://schemas.openxmlformats.org/officeDocument/2006/relationships/image"/><Relationship Id="rId24" Target="../media/image25.png" Type="http://schemas.openxmlformats.org/officeDocument/2006/relationships/image"/><Relationship Id="rId25" Target="../media/image26.svg" Type="http://schemas.openxmlformats.org/officeDocument/2006/relationships/image"/><Relationship Id="rId26" Target="../media/image27.png" Type="http://schemas.openxmlformats.org/officeDocument/2006/relationships/image"/><Relationship Id="rId27"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073080" y="7087784"/>
            <a:ext cx="724985" cy="920616"/>
          </a:xfrm>
          <a:custGeom>
            <a:avLst/>
            <a:gdLst/>
            <a:ahLst/>
            <a:cxnLst/>
            <a:rect r="r" b="b" t="t" l="l"/>
            <a:pathLst>
              <a:path h="920616" w="724985">
                <a:moveTo>
                  <a:pt x="0" y="0"/>
                </a:moveTo>
                <a:lnTo>
                  <a:pt x="724985" y="0"/>
                </a:lnTo>
                <a:lnTo>
                  <a:pt x="724985" y="920616"/>
                </a:lnTo>
                <a:lnTo>
                  <a:pt x="0" y="9206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a:ln cap="sq">
            <a:noFill/>
            <a:prstDash val="solid"/>
            <a:miter/>
          </a:ln>
        </p:spPr>
      </p:sp>
      <p:sp>
        <p:nvSpPr>
          <p:cNvPr name="Freeform 16" id="16"/>
          <p:cNvSpPr/>
          <p:nvPr/>
        </p:nvSpPr>
        <p:spPr>
          <a:xfrm flipH="false" flipV="false" rot="0">
            <a:off x="3139074" y="2844441"/>
            <a:ext cx="724985" cy="920616"/>
          </a:xfrm>
          <a:custGeom>
            <a:avLst/>
            <a:gdLst/>
            <a:ahLst/>
            <a:cxnLst/>
            <a:rect r="r" b="b" t="t" l="l"/>
            <a:pathLst>
              <a:path h="920616" w="724985">
                <a:moveTo>
                  <a:pt x="0" y="0"/>
                </a:moveTo>
                <a:lnTo>
                  <a:pt x="724985" y="0"/>
                </a:lnTo>
                <a:lnTo>
                  <a:pt x="724985" y="920616"/>
                </a:lnTo>
                <a:lnTo>
                  <a:pt x="0" y="9206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965978" y="3710884"/>
            <a:ext cx="16356044" cy="1137865"/>
          </a:xfrm>
          <a:prstGeom prst="rect">
            <a:avLst/>
          </a:prstGeom>
        </p:spPr>
        <p:txBody>
          <a:bodyPr anchor="t" rtlCol="false" tIns="0" lIns="0" bIns="0" rIns="0">
            <a:spAutoFit/>
          </a:bodyPr>
          <a:lstStyle/>
          <a:p>
            <a:pPr algn="ctr">
              <a:lnSpc>
                <a:spcPts val="8630"/>
              </a:lnSpc>
            </a:pPr>
            <a:r>
              <a:rPr lang="en-US" b="true" sz="7845" spc="219">
                <a:solidFill>
                  <a:srgbClr val="000000">
                    <a:alpha val="83922"/>
                  </a:srgbClr>
                </a:solidFill>
                <a:latin typeface="Public Sans Bold"/>
                <a:ea typeface="Public Sans Bold"/>
                <a:cs typeface="Public Sans Bold"/>
                <a:sym typeface="Public Sans Bold"/>
              </a:rPr>
              <a:t>PHÂN TÍCH DỮ LIỆU</a:t>
            </a:r>
          </a:p>
        </p:txBody>
      </p:sp>
      <p:sp>
        <p:nvSpPr>
          <p:cNvPr name="TextBox 18" id="18"/>
          <p:cNvSpPr txBox="true"/>
          <p:nvPr/>
        </p:nvSpPr>
        <p:spPr>
          <a:xfrm rot="0">
            <a:off x="5040158" y="5109364"/>
            <a:ext cx="8459795" cy="587551"/>
          </a:xfrm>
          <a:prstGeom prst="rect">
            <a:avLst/>
          </a:prstGeom>
        </p:spPr>
        <p:txBody>
          <a:bodyPr anchor="t" rtlCol="false" tIns="0" lIns="0" bIns="0" rIns="0">
            <a:spAutoFit/>
          </a:bodyPr>
          <a:lstStyle/>
          <a:p>
            <a:pPr algn="ctr">
              <a:lnSpc>
                <a:spcPts val="4381"/>
              </a:lnSpc>
            </a:pPr>
            <a:r>
              <a:rPr lang="en-US" b="true" sz="4381" spc="-87">
                <a:solidFill>
                  <a:srgbClr val="000000"/>
                </a:solidFill>
                <a:latin typeface="Public Sans Bold"/>
                <a:ea typeface="Public Sans Bold"/>
                <a:cs typeface="Public Sans Bold"/>
                <a:sym typeface="Public Sans Bold"/>
              </a:rPr>
              <a:t>PHÂN TÍCH DỮ LIỆU</a:t>
            </a:r>
          </a:p>
        </p:txBody>
      </p:sp>
      <p:sp>
        <p:nvSpPr>
          <p:cNvPr name="TextBox 19" id="19"/>
          <p:cNvSpPr txBox="true"/>
          <p:nvPr/>
        </p:nvSpPr>
        <p:spPr>
          <a:xfrm rot="0">
            <a:off x="3722357" y="7784313"/>
            <a:ext cx="10843287" cy="830580"/>
          </a:xfrm>
          <a:prstGeom prst="rect">
            <a:avLst/>
          </a:prstGeom>
        </p:spPr>
        <p:txBody>
          <a:bodyPr anchor="t" rtlCol="false" tIns="0" lIns="0" bIns="0" rIns="0">
            <a:spAutoFit/>
          </a:bodyPr>
          <a:lstStyle/>
          <a:p>
            <a:pPr algn="ctr">
              <a:lnSpc>
                <a:spcPts val="6719"/>
              </a:lnSpc>
              <a:spcBef>
                <a:spcPct val="0"/>
              </a:spcBef>
            </a:pPr>
            <a:r>
              <a:rPr lang="en-US" b="true" sz="4800">
                <a:solidFill>
                  <a:srgbClr val="000000"/>
                </a:solidFill>
                <a:latin typeface="Public Sans Bold"/>
                <a:ea typeface="Public Sans Bold"/>
                <a:cs typeface="Public Sans Bold"/>
                <a:sym typeface="Public Sans Bold"/>
              </a:rPr>
              <a:t>Giảng viên hướng dẫn: TS. Đỗ Như Tài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10994934" y="2091045"/>
            <a:ext cx="6264366" cy="6104909"/>
          </a:xfrm>
          <a:custGeom>
            <a:avLst/>
            <a:gdLst/>
            <a:ahLst/>
            <a:cxnLst/>
            <a:rect r="r" b="b" t="t" l="l"/>
            <a:pathLst>
              <a:path h="6104909" w="6264366">
                <a:moveTo>
                  <a:pt x="0" y="0"/>
                </a:moveTo>
                <a:lnTo>
                  <a:pt x="6264366" y="0"/>
                </a:lnTo>
                <a:lnTo>
                  <a:pt x="6264366" y="6104910"/>
                </a:lnTo>
                <a:lnTo>
                  <a:pt x="0" y="6104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04950" y="3443913"/>
            <a:ext cx="9489984" cy="1052837"/>
          </a:xfrm>
          <a:prstGeom prst="rect">
            <a:avLst/>
          </a:prstGeom>
        </p:spPr>
        <p:txBody>
          <a:bodyPr anchor="t" rtlCol="false" tIns="0" lIns="0" bIns="0" rIns="0">
            <a:spAutoFit/>
          </a:bodyPr>
          <a:lstStyle/>
          <a:p>
            <a:pPr algn="l">
              <a:lnSpc>
                <a:spcPts val="7760"/>
              </a:lnSpc>
            </a:pPr>
            <a:r>
              <a:rPr lang="en-US" sz="8000" b="true">
                <a:solidFill>
                  <a:srgbClr val="000000"/>
                </a:solidFill>
                <a:latin typeface="Public Sans Bold"/>
                <a:ea typeface="Public Sans Bold"/>
                <a:cs typeface="Public Sans Bold"/>
                <a:sym typeface="Public Sans Bold"/>
              </a:rPr>
              <a:t>Thành viên nhóm:</a:t>
            </a:r>
          </a:p>
        </p:txBody>
      </p:sp>
      <p:sp>
        <p:nvSpPr>
          <p:cNvPr name="TextBox 4" id="4"/>
          <p:cNvSpPr txBox="true"/>
          <p:nvPr/>
        </p:nvSpPr>
        <p:spPr>
          <a:xfrm rot="0">
            <a:off x="1938678" y="4588906"/>
            <a:ext cx="7707571" cy="2019301"/>
          </a:xfrm>
          <a:prstGeom prst="rect">
            <a:avLst/>
          </a:prstGeom>
        </p:spPr>
        <p:txBody>
          <a:bodyPr anchor="t" rtlCol="false" tIns="0" lIns="0" bIns="0" rIns="0">
            <a:spAutoFit/>
          </a:bodyPr>
          <a:lstStyle/>
          <a:p>
            <a:pPr algn="ctr">
              <a:lnSpc>
                <a:spcPts val="4049"/>
              </a:lnSpc>
            </a:pPr>
            <a:r>
              <a:rPr lang="en-US" sz="2999" spc="179">
                <a:solidFill>
                  <a:srgbClr val="000000"/>
                </a:solidFill>
                <a:latin typeface="Public Sans"/>
                <a:ea typeface="Public Sans"/>
                <a:cs typeface="Public Sans"/>
                <a:sym typeface="Public Sans"/>
              </a:rPr>
              <a:t>Nguyễn Văn Minh - 3122410242</a:t>
            </a:r>
          </a:p>
          <a:p>
            <a:pPr algn="ctr">
              <a:lnSpc>
                <a:spcPts val="4049"/>
              </a:lnSpc>
            </a:pPr>
            <a:r>
              <a:rPr lang="en-US" sz="2999" spc="179">
                <a:solidFill>
                  <a:srgbClr val="000000"/>
                </a:solidFill>
                <a:latin typeface="Public Sans"/>
                <a:ea typeface="Public Sans"/>
                <a:cs typeface="Public Sans"/>
                <a:sym typeface="Public Sans"/>
              </a:rPr>
              <a:t>Vũ Thị Thanh Ngân - 3122410255</a:t>
            </a:r>
          </a:p>
          <a:p>
            <a:pPr algn="ctr">
              <a:lnSpc>
                <a:spcPts val="4049"/>
              </a:lnSpc>
            </a:pPr>
            <a:r>
              <a:rPr lang="en-US" sz="2999" spc="179">
                <a:solidFill>
                  <a:srgbClr val="000000"/>
                </a:solidFill>
                <a:latin typeface="Public Sans"/>
                <a:ea typeface="Public Sans"/>
                <a:cs typeface="Public Sans"/>
                <a:sym typeface="Public Sans"/>
              </a:rPr>
              <a:t>Nguyễn Trương Hiệp - 3122410110</a:t>
            </a:r>
          </a:p>
          <a:p>
            <a:pPr algn="ctr" marL="0" indent="0" lvl="0">
              <a:lnSpc>
                <a:spcPts val="4049"/>
              </a:lnSpc>
              <a:spcBef>
                <a:spcPct val="0"/>
              </a:spcBef>
            </a:pPr>
            <a:r>
              <a:rPr lang="en-US" sz="2999" spc="179">
                <a:solidFill>
                  <a:srgbClr val="000000"/>
                </a:solidFill>
                <a:latin typeface="Public Sans"/>
                <a:ea typeface="Public Sans"/>
                <a:cs typeface="Public Sans"/>
                <a:sym typeface="Public Sans"/>
              </a:rPr>
              <a:t>Trương Xuân Hưng - 3122410161</a:t>
            </a:r>
          </a:p>
        </p:txBody>
      </p:sp>
      <p:sp>
        <p:nvSpPr>
          <p:cNvPr name="Freeform 5" id="5"/>
          <p:cNvSpPr/>
          <p:nvPr/>
        </p:nvSpPr>
        <p:spPr>
          <a:xfrm flipH="false" flipV="false" rot="0">
            <a:off x="15353489"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0">
            <a:off x="5003948" y="-1890601"/>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9" id="9"/>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5" id="5"/>
          <p:cNvSpPr txBox="true"/>
          <p:nvPr/>
        </p:nvSpPr>
        <p:spPr>
          <a:xfrm rot="0">
            <a:off x="1028700" y="1916429"/>
            <a:ext cx="16237071" cy="6647039"/>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Giới thiệu</a:t>
            </a:r>
          </a:p>
          <a:p>
            <a:pPr algn="l">
              <a:lnSpc>
                <a:spcPts val="4319"/>
              </a:lnSpc>
            </a:pPr>
            <a:r>
              <a:rPr lang="en-US" sz="3199" spc="191" b="true">
                <a:solidFill>
                  <a:srgbClr val="000000"/>
                </a:solidFill>
                <a:latin typeface="Public Sans Bold"/>
                <a:ea typeface="Public Sans Bold"/>
                <a:cs typeface="Public Sans Bold"/>
                <a:sym typeface="Public Sans Bold"/>
              </a:rPr>
              <a:t>Tập dữ liệu: </a:t>
            </a:r>
            <a:r>
              <a:rPr lang="en-US" sz="3199" i="true" spc="191">
                <a:solidFill>
                  <a:srgbClr val="000000"/>
                </a:solidFill>
                <a:latin typeface="Public Sans Italics"/>
                <a:ea typeface="Public Sans Italics"/>
                <a:cs typeface="Public Sans Italics"/>
                <a:sym typeface="Public Sans Italics"/>
              </a:rPr>
              <a:t>Bitly Data from 1.USA.gov (2011)</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Ghi lại hoạt động truy cập vào các liên kết chính phủ Mỹ (.gov, .mil) được rút gọn qua Bitly.</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Dữ</a:t>
            </a:r>
            <a:r>
              <a:rPr lang="en-US" sz="3199" spc="191">
                <a:solidFill>
                  <a:srgbClr val="000000"/>
                </a:solidFill>
                <a:latin typeface="Public Sans"/>
                <a:ea typeface="Public Sans"/>
                <a:cs typeface="Public Sans"/>
                <a:sym typeface="Public Sans"/>
              </a:rPr>
              <a:t> liệu ở dạng JSON (phi cấu trúc) → cần đọc theo từng dòng và xử lý bằng Pandas để phân tích.</a:t>
            </a:r>
          </a:p>
          <a:p>
            <a:pPr algn="l">
              <a:lnSpc>
                <a:spcPts val="4319"/>
              </a:lnSpc>
            </a:pPr>
            <a:r>
              <a:rPr lang="en-US" sz="3199" spc="191" b="true">
                <a:solidFill>
                  <a:srgbClr val="000000"/>
                </a:solidFill>
                <a:latin typeface="Public Sans Bold"/>
                <a:ea typeface="Public Sans Bold"/>
                <a:cs typeface="Public Sans Bold"/>
                <a:sym typeface="Public Sans Bold"/>
              </a:rPr>
              <a:t>Mục tiêu</a:t>
            </a:r>
            <a:r>
              <a:rPr lang="en-US" sz="3199" spc="191">
                <a:solidFill>
                  <a:srgbClr val="000000"/>
                </a:solidFill>
                <a:latin typeface="Public Sans"/>
                <a:ea typeface="Public Sans"/>
                <a:cs typeface="Public Sans"/>
                <a:sym typeface="Public Sans"/>
              </a:rPr>
              <a:t>:</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Thực hiện toàn bộ quy trình phân tích dữ liệu: Làm sạch → Tổng hợp phân tích → Trực quan hóa</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Khai thác hành vi người dùng theo các khía cạnh: </a:t>
            </a:r>
            <a:r>
              <a:rPr lang="en-US" b="true" sz="3199" spc="191">
                <a:solidFill>
                  <a:srgbClr val="000000"/>
                </a:solidFill>
                <a:latin typeface="Public Sans Bold"/>
                <a:ea typeface="Public Sans Bold"/>
                <a:cs typeface="Public Sans Bold"/>
                <a:sym typeface="Public Sans Bold"/>
              </a:rPr>
              <a:t>Thiết bị – Địa lý – Thời gian</a:t>
            </a:r>
            <a:r>
              <a:rPr lang="en-US" sz="3199" spc="191">
                <a:solidFill>
                  <a:srgbClr val="000000"/>
                </a:solidFill>
                <a:latin typeface="Public Sans"/>
                <a:ea typeface="Public Sans"/>
                <a:cs typeface="Public Sans"/>
                <a:sym typeface="Public Sans"/>
              </a:rPr>
              <a:t> khi truy cập thông tin chính phủ.</a:t>
            </a:r>
          </a:p>
          <a:p>
            <a:pPr algn="l" marL="0" indent="0" lvl="0">
              <a:lnSpc>
                <a:spcPts val="4319"/>
              </a:lnSpc>
              <a:spcBef>
                <a:spcPct val="0"/>
              </a:spcBef>
            </a:pPr>
          </a:p>
        </p:txBody>
      </p:sp>
      <p:sp>
        <p:nvSpPr>
          <p:cNvPr name="Freeform 6" id="6"/>
          <p:cNvSpPr/>
          <p:nvPr/>
        </p:nvSpPr>
        <p:spPr>
          <a:xfrm flipH="false" flipV="false" rot="0">
            <a:off x="15353489"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5" id="5"/>
          <p:cNvSpPr txBox="true"/>
          <p:nvPr/>
        </p:nvSpPr>
        <p:spPr>
          <a:xfrm rot="0">
            <a:off x="1028700" y="1929287"/>
            <a:ext cx="16237071" cy="2303296"/>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Quy trình làm sạch và Tiền xử lý dữ liệu</a:t>
            </a:r>
          </a:p>
          <a:p>
            <a:pPr algn="l">
              <a:lnSpc>
                <a:spcPts val="4319"/>
              </a:lnSpc>
            </a:pPr>
            <a:r>
              <a:rPr lang="en-US" sz="3199" spc="191" b="true">
                <a:solidFill>
                  <a:srgbClr val="000000"/>
                </a:solidFill>
                <a:latin typeface="Public Sans Bold"/>
                <a:ea typeface="Public Sans Bold"/>
                <a:cs typeface="Public Sans Bold"/>
                <a:sym typeface="Public Sans Bold"/>
              </a:rPr>
              <a:t>Mục tiêu: </a:t>
            </a:r>
            <a:r>
              <a:rPr lang="en-US" sz="3199" spc="191">
                <a:solidFill>
                  <a:srgbClr val="000000"/>
                </a:solidFill>
                <a:latin typeface="Public Sans"/>
                <a:ea typeface="Public Sans"/>
                <a:cs typeface="Public Sans"/>
                <a:sym typeface="Public Sans"/>
              </a:rPr>
              <a:t>Chuyển dữ l</a:t>
            </a:r>
            <a:r>
              <a:rPr lang="en-US" sz="3199" spc="191">
                <a:solidFill>
                  <a:srgbClr val="000000"/>
                </a:solidFill>
                <a:latin typeface="Public Sans"/>
                <a:ea typeface="Public Sans"/>
                <a:cs typeface="Public Sans"/>
                <a:sym typeface="Public Sans"/>
              </a:rPr>
              <a:t>i</a:t>
            </a:r>
            <a:r>
              <a:rPr lang="en-US" sz="3199" spc="191">
                <a:solidFill>
                  <a:srgbClr val="000000"/>
                </a:solidFill>
                <a:latin typeface="Public Sans"/>
                <a:ea typeface="Public Sans"/>
                <a:cs typeface="Public Sans"/>
                <a:sym typeface="Public Sans"/>
              </a:rPr>
              <a:t>ệu JSON </a:t>
            </a:r>
            <a:r>
              <a:rPr lang="en-US" sz="3199" spc="191">
                <a:solidFill>
                  <a:srgbClr val="000000"/>
                </a:solidFill>
                <a:latin typeface="Public Sans"/>
                <a:ea typeface="Public Sans"/>
                <a:cs typeface="Public Sans"/>
                <a:sym typeface="Public Sans"/>
              </a:rPr>
              <a:t>t</a:t>
            </a:r>
            <a:r>
              <a:rPr lang="en-US" sz="3199" spc="191">
                <a:solidFill>
                  <a:srgbClr val="000000"/>
                </a:solidFill>
                <a:latin typeface="Public Sans"/>
                <a:ea typeface="Public Sans"/>
                <a:cs typeface="Public Sans"/>
                <a:sym typeface="Public Sans"/>
              </a:rPr>
              <a:t>hô (dạng dòng) →</a:t>
            </a:r>
            <a:r>
              <a:rPr lang="en-US" sz="3199" spc="191">
                <a:solidFill>
                  <a:srgbClr val="000000"/>
                </a:solidFill>
                <a:latin typeface="Public Sans"/>
                <a:ea typeface="Public Sans"/>
                <a:cs typeface="Public Sans"/>
                <a:sym typeface="Public Sans"/>
              </a:rPr>
              <a:t> Data</a:t>
            </a:r>
            <a:r>
              <a:rPr lang="en-US" sz="3199" spc="191">
                <a:solidFill>
                  <a:srgbClr val="000000"/>
                </a:solidFill>
                <a:latin typeface="Public Sans"/>
                <a:ea typeface="Public Sans"/>
                <a:cs typeface="Public Sans"/>
                <a:sym typeface="Public Sans"/>
              </a:rPr>
              <a:t>F</a:t>
            </a:r>
            <a:r>
              <a:rPr lang="en-US" sz="3199" spc="191">
                <a:solidFill>
                  <a:srgbClr val="000000"/>
                </a:solidFill>
                <a:latin typeface="Public Sans"/>
                <a:ea typeface="Public Sans"/>
                <a:cs typeface="Public Sans"/>
                <a:sym typeface="Public Sans"/>
              </a:rPr>
              <a:t>r</a:t>
            </a:r>
            <a:r>
              <a:rPr lang="en-US" sz="3199" spc="191">
                <a:solidFill>
                  <a:srgbClr val="000000"/>
                </a:solidFill>
                <a:latin typeface="Public Sans"/>
                <a:ea typeface="Public Sans"/>
                <a:cs typeface="Public Sans"/>
                <a:sym typeface="Public Sans"/>
              </a:rPr>
              <a:t>a</a:t>
            </a:r>
            <a:r>
              <a:rPr lang="en-US" sz="3199" spc="191">
                <a:solidFill>
                  <a:srgbClr val="000000"/>
                </a:solidFill>
                <a:latin typeface="Public Sans"/>
                <a:ea typeface="Public Sans"/>
                <a:cs typeface="Public Sans"/>
                <a:sym typeface="Public Sans"/>
              </a:rPr>
              <a:t>m</a:t>
            </a:r>
            <a:r>
              <a:rPr lang="en-US" sz="3199" spc="191">
                <a:solidFill>
                  <a:srgbClr val="000000"/>
                </a:solidFill>
                <a:latin typeface="Public Sans"/>
                <a:ea typeface="Public Sans"/>
                <a:cs typeface="Public Sans"/>
                <a:sym typeface="Public Sans"/>
              </a:rPr>
              <a:t>e</a:t>
            </a:r>
            <a:r>
              <a:rPr lang="en-US" sz="3199" spc="191">
                <a:solidFill>
                  <a:srgbClr val="000000"/>
                </a:solidFill>
                <a:latin typeface="Public Sans"/>
                <a:ea typeface="Public Sans"/>
                <a:cs typeface="Public Sans"/>
                <a:sym typeface="Public Sans"/>
              </a:rPr>
              <a:t> </a:t>
            </a:r>
            <a:r>
              <a:rPr lang="en-US" sz="3199" spc="191">
                <a:solidFill>
                  <a:srgbClr val="000000"/>
                </a:solidFill>
                <a:latin typeface="Public Sans"/>
                <a:ea typeface="Public Sans"/>
                <a:cs typeface="Public Sans"/>
                <a:sym typeface="Public Sans"/>
              </a:rPr>
              <a:t>sẵn sàn</a:t>
            </a:r>
            <a:r>
              <a:rPr lang="en-US" sz="3199" spc="191">
                <a:solidFill>
                  <a:srgbClr val="000000"/>
                </a:solidFill>
                <a:latin typeface="Public Sans"/>
                <a:ea typeface="Public Sans"/>
                <a:cs typeface="Public Sans"/>
                <a:sym typeface="Public Sans"/>
              </a:rPr>
              <a:t>g</a:t>
            </a:r>
            <a:r>
              <a:rPr lang="en-US" sz="3199" spc="191">
                <a:solidFill>
                  <a:srgbClr val="000000"/>
                </a:solidFill>
                <a:latin typeface="Public Sans"/>
                <a:ea typeface="Public Sans"/>
                <a:cs typeface="Public Sans"/>
                <a:sym typeface="Public Sans"/>
              </a:rPr>
              <a:t> ch</a:t>
            </a:r>
            <a:r>
              <a:rPr lang="en-US" sz="3199" spc="191">
                <a:solidFill>
                  <a:srgbClr val="000000"/>
                </a:solidFill>
                <a:latin typeface="Public Sans"/>
                <a:ea typeface="Public Sans"/>
                <a:cs typeface="Public Sans"/>
                <a:sym typeface="Public Sans"/>
              </a:rPr>
              <a:t>o</a:t>
            </a:r>
            <a:r>
              <a:rPr lang="en-US" sz="3199" spc="191">
                <a:solidFill>
                  <a:srgbClr val="000000"/>
                </a:solidFill>
                <a:latin typeface="Public Sans"/>
                <a:ea typeface="Public Sans"/>
                <a:cs typeface="Public Sans"/>
                <a:sym typeface="Public Sans"/>
              </a:rPr>
              <a:t> phân tích thống</a:t>
            </a:r>
            <a:r>
              <a:rPr lang="en-US" sz="3199" spc="191">
                <a:solidFill>
                  <a:srgbClr val="000000"/>
                </a:solidFill>
                <a:latin typeface="Public Sans"/>
                <a:ea typeface="Public Sans"/>
                <a:cs typeface="Public Sans"/>
                <a:sym typeface="Public Sans"/>
              </a:rPr>
              <a:t> </a:t>
            </a:r>
            <a:r>
              <a:rPr lang="en-US" sz="3199" spc="191">
                <a:solidFill>
                  <a:srgbClr val="000000"/>
                </a:solidFill>
                <a:latin typeface="Public Sans"/>
                <a:ea typeface="Public Sans"/>
                <a:cs typeface="Public Sans"/>
                <a:sym typeface="Public Sans"/>
              </a:rPr>
              <a:t>kê.</a:t>
            </a:r>
          </a:p>
          <a:p>
            <a:pPr algn="l" marL="0" indent="0" lvl="0">
              <a:lnSpc>
                <a:spcPts val="4319"/>
              </a:lnSpc>
              <a:spcBef>
                <a:spcPct val="0"/>
              </a:spcBef>
            </a:pPr>
          </a:p>
        </p:txBody>
      </p:sp>
      <p:sp>
        <p:nvSpPr>
          <p:cNvPr name="Freeform 6" id="6"/>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1028700" y="3855758"/>
            <a:ext cx="16237071" cy="2867573"/>
          </a:xfrm>
          <a:prstGeom prst="rect">
            <a:avLst/>
          </a:prstGeom>
        </p:spPr>
        <p:txBody>
          <a:bodyPr anchor="t" rtlCol="false" tIns="0" lIns="0" bIns="0" rIns="0">
            <a:spAutoFit/>
          </a:bodyPr>
          <a:lstStyle/>
          <a:p>
            <a:pPr algn="ctr">
              <a:lnSpc>
                <a:spcPts val="4900"/>
              </a:lnSpc>
            </a:pPr>
            <a:r>
              <a:rPr lang="en-US" sz="3500" b="true">
                <a:solidFill>
                  <a:srgbClr val="000000"/>
                </a:solidFill>
                <a:latin typeface="Public Sans Bold"/>
                <a:ea typeface="Public Sans Bold"/>
                <a:cs typeface="Public Sans Bold"/>
                <a:sym typeface="Public Sans Bold"/>
              </a:rPr>
              <a:t>1.Đọc dữ liệu &amp; Xử lý độ đầy đủ</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Đọc bằng json + pandas → 3,440 bản ghi</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Các trường chính: tz (múi giờ), a (user agent), r (referrer)</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Điền giá trị thiếu: “Missing”, “Unknown”</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521 bản ghi (15.15%) thiếu múi giờ</a:t>
            </a:r>
          </a:p>
        </p:txBody>
      </p:sp>
      <p:sp>
        <p:nvSpPr>
          <p:cNvPr name="TextBox 10" id="10"/>
          <p:cNvSpPr txBox="true"/>
          <p:nvPr/>
        </p:nvSpPr>
        <p:spPr>
          <a:xfrm rot="0">
            <a:off x="1025465" y="7228156"/>
            <a:ext cx="16237071" cy="2311102"/>
          </a:xfrm>
          <a:prstGeom prst="rect">
            <a:avLst/>
          </a:prstGeom>
        </p:spPr>
        <p:txBody>
          <a:bodyPr anchor="t" rtlCol="false" tIns="0" lIns="0" bIns="0" rIns="0">
            <a:spAutoFit/>
          </a:bodyPr>
          <a:lstStyle/>
          <a:p>
            <a:pPr algn="ctr">
              <a:lnSpc>
                <a:spcPts val="4900"/>
              </a:lnSpc>
            </a:pPr>
            <a:r>
              <a:rPr lang="en-US" sz="3500" b="true">
                <a:solidFill>
                  <a:srgbClr val="000000"/>
                </a:solidFill>
                <a:latin typeface="Public Sans Bold"/>
                <a:ea typeface="Public Sans Bold"/>
                <a:cs typeface="Public Sans Bold"/>
                <a:sym typeface="Public Sans Bold"/>
              </a:rPr>
              <a:t>2.Trí</a:t>
            </a:r>
            <a:r>
              <a:rPr lang="en-US" sz="3500" b="true">
                <a:solidFill>
                  <a:srgbClr val="000000"/>
                </a:solidFill>
                <a:latin typeface="Public Sans Bold"/>
                <a:ea typeface="Public Sans Bold"/>
                <a:cs typeface="Public Sans Bold"/>
                <a:sym typeface="Public Sans Bold"/>
              </a:rPr>
              <a:t>ch xuất đặc trưng</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Hệ</a:t>
            </a:r>
            <a:r>
              <a:rPr lang="en-US" sz="3200">
                <a:solidFill>
                  <a:srgbClr val="000000"/>
                </a:solidFill>
                <a:latin typeface="Public Sans"/>
                <a:ea typeface="Public Sans"/>
                <a:cs typeface="Public Sans"/>
                <a:sym typeface="Public Sans"/>
              </a:rPr>
              <a:t> điều hành (OS): phân loại “Windows” / “Non-Windows”</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Nguồn truy cập (Referrer): chuẩn hóa tên miền gốc (facebook.com, twitter.com, …)</a:t>
            </a:r>
          </a:p>
          <a:p>
            <a:pPr algn="l">
              <a:lnSpc>
                <a:spcPts val="4544"/>
              </a:lnSpc>
            </a:pPr>
            <a:r>
              <a:rPr lang="en-US" sz="3200">
                <a:solidFill>
                  <a:srgbClr val="000000"/>
                </a:solidFill>
                <a:latin typeface="Public Sans"/>
                <a:ea typeface="Public Sans"/>
                <a:cs typeface="Public Sans"/>
                <a:sym typeface="Public Sans"/>
              </a:rPr>
              <a:t>→ Cung cấp cơ sở cho phân tích thiết bị &amp; nguồn truy cập</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5" id="5"/>
          <p:cNvSpPr txBox="true"/>
          <p:nvPr/>
        </p:nvSpPr>
        <p:spPr>
          <a:xfrm rot="0">
            <a:off x="1028700" y="1929287"/>
            <a:ext cx="16237071" cy="2303296"/>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Quy trình làm sạch và Tiền xử lý dữ liệu</a:t>
            </a:r>
          </a:p>
          <a:p>
            <a:pPr algn="l">
              <a:lnSpc>
                <a:spcPts val="4319"/>
              </a:lnSpc>
            </a:pPr>
            <a:r>
              <a:rPr lang="en-US" sz="3199" spc="191" b="true">
                <a:solidFill>
                  <a:srgbClr val="000000"/>
                </a:solidFill>
                <a:latin typeface="Public Sans Bold"/>
                <a:ea typeface="Public Sans Bold"/>
                <a:cs typeface="Public Sans Bold"/>
                <a:sym typeface="Public Sans Bold"/>
              </a:rPr>
              <a:t>Mục tiêu: </a:t>
            </a:r>
            <a:r>
              <a:rPr lang="en-US" sz="3199" spc="191">
                <a:solidFill>
                  <a:srgbClr val="000000"/>
                </a:solidFill>
                <a:latin typeface="Public Sans"/>
                <a:ea typeface="Public Sans"/>
                <a:cs typeface="Public Sans"/>
                <a:sym typeface="Public Sans"/>
              </a:rPr>
              <a:t>Chuyển dữ l</a:t>
            </a:r>
            <a:r>
              <a:rPr lang="en-US" sz="3199" spc="191">
                <a:solidFill>
                  <a:srgbClr val="000000"/>
                </a:solidFill>
                <a:latin typeface="Public Sans"/>
                <a:ea typeface="Public Sans"/>
                <a:cs typeface="Public Sans"/>
                <a:sym typeface="Public Sans"/>
              </a:rPr>
              <a:t>i</a:t>
            </a:r>
            <a:r>
              <a:rPr lang="en-US" sz="3199" spc="191">
                <a:solidFill>
                  <a:srgbClr val="000000"/>
                </a:solidFill>
                <a:latin typeface="Public Sans"/>
                <a:ea typeface="Public Sans"/>
                <a:cs typeface="Public Sans"/>
                <a:sym typeface="Public Sans"/>
              </a:rPr>
              <a:t>ệu JSON </a:t>
            </a:r>
            <a:r>
              <a:rPr lang="en-US" sz="3199" spc="191">
                <a:solidFill>
                  <a:srgbClr val="000000"/>
                </a:solidFill>
                <a:latin typeface="Public Sans"/>
                <a:ea typeface="Public Sans"/>
                <a:cs typeface="Public Sans"/>
                <a:sym typeface="Public Sans"/>
              </a:rPr>
              <a:t>t</a:t>
            </a:r>
            <a:r>
              <a:rPr lang="en-US" sz="3199" spc="191">
                <a:solidFill>
                  <a:srgbClr val="000000"/>
                </a:solidFill>
                <a:latin typeface="Public Sans"/>
                <a:ea typeface="Public Sans"/>
                <a:cs typeface="Public Sans"/>
                <a:sym typeface="Public Sans"/>
              </a:rPr>
              <a:t>hô (dạng dòng) →</a:t>
            </a:r>
            <a:r>
              <a:rPr lang="en-US" sz="3199" spc="191">
                <a:solidFill>
                  <a:srgbClr val="000000"/>
                </a:solidFill>
                <a:latin typeface="Public Sans"/>
                <a:ea typeface="Public Sans"/>
                <a:cs typeface="Public Sans"/>
                <a:sym typeface="Public Sans"/>
              </a:rPr>
              <a:t> Data</a:t>
            </a:r>
            <a:r>
              <a:rPr lang="en-US" sz="3199" spc="191">
                <a:solidFill>
                  <a:srgbClr val="000000"/>
                </a:solidFill>
                <a:latin typeface="Public Sans"/>
                <a:ea typeface="Public Sans"/>
                <a:cs typeface="Public Sans"/>
                <a:sym typeface="Public Sans"/>
              </a:rPr>
              <a:t>F</a:t>
            </a:r>
            <a:r>
              <a:rPr lang="en-US" sz="3199" spc="191">
                <a:solidFill>
                  <a:srgbClr val="000000"/>
                </a:solidFill>
                <a:latin typeface="Public Sans"/>
                <a:ea typeface="Public Sans"/>
                <a:cs typeface="Public Sans"/>
                <a:sym typeface="Public Sans"/>
              </a:rPr>
              <a:t>r</a:t>
            </a:r>
            <a:r>
              <a:rPr lang="en-US" sz="3199" spc="191">
                <a:solidFill>
                  <a:srgbClr val="000000"/>
                </a:solidFill>
                <a:latin typeface="Public Sans"/>
                <a:ea typeface="Public Sans"/>
                <a:cs typeface="Public Sans"/>
                <a:sym typeface="Public Sans"/>
              </a:rPr>
              <a:t>a</a:t>
            </a:r>
            <a:r>
              <a:rPr lang="en-US" sz="3199" spc="191">
                <a:solidFill>
                  <a:srgbClr val="000000"/>
                </a:solidFill>
                <a:latin typeface="Public Sans"/>
                <a:ea typeface="Public Sans"/>
                <a:cs typeface="Public Sans"/>
                <a:sym typeface="Public Sans"/>
              </a:rPr>
              <a:t>m</a:t>
            </a:r>
            <a:r>
              <a:rPr lang="en-US" sz="3199" spc="191">
                <a:solidFill>
                  <a:srgbClr val="000000"/>
                </a:solidFill>
                <a:latin typeface="Public Sans"/>
                <a:ea typeface="Public Sans"/>
                <a:cs typeface="Public Sans"/>
                <a:sym typeface="Public Sans"/>
              </a:rPr>
              <a:t>e</a:t>
            </a:r>
            <a:r>
              <a:rPr lang="en-US" sz="3199" spc="191">
                <a:solidFill>
                  <a:srgbClr val="000000"/>
                </a:solidFill>
                <a:latin typeface="Public Sans"/>
                <a:ea typeface="Public Sans"/>
                <a:cs typeface="Public Sans"/>
                <a:sym typeface="Public Sans"/>
              </a:rPr>
              <a:t> </a:t>
            </a:r>
            <a:r>
              <a:rPr lang="en-US" sz="3199" spc="191">
                <a:solidFill>
                  <a:srgbClr val="000000"/>
                </a:solidFill>
                <a:latin typeface="Public Sans"/>
                <a:ea typeface="Public Sans"/>
                <a:cs typeface="Public Sans"/>
                <a:sym typeface="Public Sans"/>
              </a:rPr>
              <a:t>sẵn sàn</a:t>
            </a:r>
            <a:r>
              <a:rPr lang="en-US" sz="3199" spc="191">
                <a:solidFill>
                  <a:srgbClr val="000000"/>
                </a:solidFill>
                <a:latin typeface="Public Sans"/>
                <a:ea typeface="Public Sans"/>
                <a:cs typeface="Public Sans"/>
                <a:sym typeface="Public Sans"/>
              </a:rPr>
              <a:t>g</a:t>
            </a:r>
            <a:r>
              <a:rPr lang="en-US" sz="3199" spc="191">
                <a:solidFill>
                  <a:srgbClr val="000000"/>
                </a:solidFill>
                <a:latin typeface="Public Sans"/>
                <a:ea typeface="Public Sans"/>
                <a:cs typeface="Public Sans"/>
                <a:sym typeface="Public Sans"/>
              </a:rPr>
              <a:t> ch</a:t>
            </a:r>
            <a:r>
              <a:rPr lang="en-US" sz="3199" spc="191">
                <a:solidFill>
                  <a:srgbClr val="000000"/>
                </a:solidFill>
                <a:latin typeface="Public Sans"/>
                <a:ea typeface="Public Sans"/>
                <a:cs typeface="Public Sans"/>
                <a:sym typeface="Public Sans"/>
              </a:rPr>
              <a:t>o</a:t>
            </a:r>
            <a:r>
              <a:rPr lang="en-US" sz="3199" spc="191">
                <a:solidFill>
                  <a:srgbClr val="000000"/>
                </a:solidFill>
                <a:latin typeface="Public Sans"/>
                <a:ea typeface="Public Sans"/>
                <a:cs typeface="Public Sans"/>
                <a:sym typeface="Public Sans"/>
              </a:rPr>
              <a:t> phân tích thống</a:t>
            </a:r>
            <a:r>
              <a:rPr lang="en-US" sz="3199" spc="191">
                <a:solidFill>
                  <a:srgbClr val="000000"/>
                </a:solidFill>
                <a:latin typeface="Public Sans"/>
                <a:ea typeface="Public Sans"/>
                <a:cs typeface="Public Sans"/>
                <a:sym typeface="Public Sans"/>
              </a:rPr>
              <a:t> </a:t>
            </a:r>
            <a:r>
              <a:rPr lang="en-US" sz="3199" spc="191">
                <a:solidFill>
                  <a:srgbClr val="000000"/>
                </a:solidFill>
                <a:latin typeface="Public Sans"/>
                <a:ea typeface="Public Sans"/>
                <a:cs typeface="Public Sans"/>
                <a:sym typeface="Public Sans"/>
              </a:rPr>
              <a:t>kê.</a:t>
            </a:r>
          </a:p>
          <a:p>
            <a:pPr algn="l" marL="0" indent="0" lvl="0">
              <a:lnSpc>
                <a:spcPts val="4319"/>
              </a:lnSpc>
              <a:spcBef>
                <a:spcPct val="0"/>
              </a:spcBef>
            </a:pPr>
          </a:p>
        </p:txBody>
      </p:sp>
      <p:sp>
        <p:nvSpPr>
          <p:cNvPr name="Freeform 6" id="6"/>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1028700" y="4737408"/>
            <a:ext cx="16237071" cy="2305620"/>
          </a:xfrm>
          <a:prstGeom prst="rect">
            <a:avLst/>
          </a:prstGeom>
        </p:spPr>
        <p:txBody>
          <a:bodyPr anchor="t" rtlCol="false" tIns="0" lIns="0" bIns="0" rIns="0">
            <a:spAutoFit/>
          </a:bodyPr>
          <a:lstStyle/>
          <a:p>
            <a:pPr algn="ctr">
              <a:lnSpc>
                <a:spcPts val="4900"/>
              </a:lnSpc>
            </a:pPr>
            <a:r>
              <a:rPr lang="en-US" sz="3500" b="true">
                <a:solidFill>
                  <a:srgbClr val="000000"/>
                </a:solidFill>
                <a:latin typeface="Public Sans Bold"/>
                <a:ea typeface="Public Sans Bold"/>
                <a:cs typeface="Public Sans Bold"/>
                <a:sym typeface="Public Sans Bold"/>
              </a:rPr>
              <a:t>3.Chuẩn hóa dữ liệu thời gian</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Chuyể</a:t>
            </a:r>
            <a:r>
              <a:rPr lang="en-US" sz="3200">
                <a:solidFill>
                  <a:srgbClr val="000000"/>
                </a:solidFill>
                <a:latin typeface="Public Sans"/>
                <a:ea typeface="Public Sans"/>
                <a:cs typeface="Public Sans"/>
                <a:sym typeface="Public Sans"/>
              </a:rPr>
              <a:t>n đổi timestamp (t, hc) → datetime</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Trích xuất giờ trong ngày (0–23) để xác định khung giờ cao điểm</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Tính độ trễ truy cập (click – tạo link) để phân tích vòng đời liên kết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5" id="5"/>
          <p:cNvSpPr txBox="true"/>
          <p:nvPr/>
        </p:nvSpPr>
        <p:spPr>
          <a:xfrm rot="0">
            <a:off x="1028700" y="2486125"/>
            <a:ext cx="16237071" cy="4475168"/>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 dữ liệu </a:t>
            </a:r>
          </a:p>
          <a:p>
            <a:pPr algn="just">
              <a:lnSpc>
                <a:spcPts val="4319"/>
              </a:lnSpc>
            </a:pPr>
            <a:r>
              <a:rPr lang="en-US" b="true" sz="3199" spc="191">
                <a:solidFill>
                  <a:srgbClr val="000000"/>
                </a:solidFill>
                <a:latin typeface="Public Sans Bold"/>
                <a:ea typeface="Public Sans Bold"/>
                <a:cs typeface="Public Sans Bold"/>
                <a:sym typeface="Public Sans Bold"/>
              </a:rPr>
              <a:t>Mục tiêu: </a:t>
            </a:r>
          </a:p>
          <a:p>
            <a:pPr algn="just" marL="690872" indent="-345436" lvl="1">
              <a:lnSpc>
                <a:spcPts val="4319"/>
              </a:lnSpc>
              <a:buFont typeface="Arial"/>
              <a:buChar char="•"/>
            </a:pPr>
            <a:r>
              <a:rPr lang="en-US" sz="3199" spc="191">
                <a:solidFill>
                  <a:srgbClr val="000000"/>
                </a:solidFill>
                <a:latin typeface="Public Sans"/>
                <a:ea typeface="Public Sans"/>
                <a:cs typeface="Public Sans"/>
                <a:sym typeface="Public Sans"/>
              </a:rPr>
              <a:t>Đánh giá tính đầy đủ, phân bố và đặc trưng chính của dữ liệu.</a:t>
            </a:r>
          </a:p>
          <a:p>
            <a:pPr algn="just" marL="690872" indent="-345436" lvl="1">
              <a:lnSpc>
                <a:spcPts val="4319"/>
              </a:lnSpc>
              <a:buFont typeface="Arial"/>
              <a:buChar char="•"/>
            </a:pPr>
            <a:r>
              <a:rPr lang="en-US" sz="3199" spc="191">
                <a:solidFill>
                  <a:srgbClr val="000000"/>
                </a:solidFill>
                <a:latin typeface="Public Sans"/>
                <a:ea typeface="Public Sans"/>
                <a:cs typeface="Public Sans"/>
                <a:sym typeface="Public Sans"/>
              </a:rPr>
              <a:t>Làm nền tảng cho phân tích chuyên sâu (thiết bị, thời gian, hành vi).</a:t>
            </a:r>
          </a:p>
          <a:p>
            <a:pPr algn="just">
              <a:lnSpc>
                <a:spcPts val="4319"/>
              </a:lnSpc>
            </a:pPr>
            <a:r>
              <a:rPr lang="en-US" b="true" sz="3199" spc="191">
                <a:solidFill>
                  <a:srgbClr val="000000"/>
                </a:solidFill>
                <a:latin typeface="Public Sans Bold"/>
                <a:ea typeface="Public Sans Bold"/>
                <a:cs typeface="Public Sans Bold"/>
                <a:sym typeface="Public Sans Bold"/>
              </a:rPr>
              <a:t>Các khía cạnh được phân tích:</a:t>
            </a:r>
          </a:p>
          <a:p>
            <a:pPr algn="just" marL="690872" indent="-345436" lvl="1">
              <a:lnSpc>
                <a:spcPts val="4319"/>
              </a:lnSpc>
              <a:buAutoNum type="arabicPeriod" startAt="1"/>
            </a:pPr>
            <a:r>
              <a:rPr lang="en-US" sz="3199" spc="191">
                <a:solidFill>
                  <a:srgbClr val="000000"/>
                </a:solidFill>
                <a:latin typeface="Public Sans"/>
                <a:ea typeface="Public Sans"/>
                <a:cs typeface="Public Sans"/>
                <a:sym typeface="Public Sans"/>
              </a:rPr>
              <a:t>Múi giờ truy cập (tz)</a:t>
            </a:r>
          </a:p>
          <a:p>
            <a:pPr algn="just" marL="690872" indent="-345436" lvl="1">
              <a:lnSpc>
                <a:spcPts val="4319"/>
              </a:lnSpc>
              <a:buAutoNum type="arabicPeriod" startAt="1"/>
            </a:pPr>
            <a:r>
              <a:rPr lang="en-US" sz="3199" spc="191">
                <a:solidFill>
                  <a:srgbClr val="000000"/>
                </a:solidFill>
                <a:latin typeface="Public Sans"/>
                <a:ea typeface="Public Sans"/>
                <a:cs typeface="Public Sans"/>
                <a:sym typeface="Public Sans"/>
              </a:rPr>
              <a:t>Tỷ lệ dữ liệu thiếu (missing timezone/country)</a:t>
            </a:r>
          </a:p>
          <a:p>
            <a:pPr algn="just" marL="690872" indent="-345436" lvl="1">
              <a:lnSpc>
                <a:spcPts val="4319"/>
              </a:lnSpc>
              <a:buAutoNum type="arabicPeriod" startAt="1"/>
            </a:pPr>
            <a:r>
              <a:rPr lang="en-US" sz="3199" spc="191">
                <a:solidFill>
                  <a:srgbClr val="000000"/>
                </a:solidFill>
                <a:latin typeface="Public Sans"/>
                <a:ea typeface="Public Sans"/>
                <a:cs typeface="Public Sans"/>
                <a:sym typeface="Public Sans"/>
              </a:rPr>
              <a:t>Nguồn truy cập (referrer)</a:t>
            </a:r>
          </a:p>
        </p:txBody>
      </p:sp>
      <p:sp>
        <p:nvSpPr>
          <p:cNvPr name="Freeform 6" id="6"/>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 dữ liệu </a:t>
            </a:r>
          </a:p>
          <a:p>
            <a:pPr algn="ctr">
              <a:lnSpc>
                <a:spcPts val="4319"/>
              </a:lnSpc>
            </a:pPr>
            <a:r>
              <a:rPr lang="en-US" b="true" sz="3199" spc="191">
                <a:solidFill>
                  <a:srgbClr val="000000"/>
                </a:solidFill>
                <a:latin typeface="Public Sans Bold"/>
                <a:ea typeface="Public Sans Bold"/>
                <a:cs typeface="Public Sans Bold"/>
                <a:sym typeface="Public Sans Bold"/>
              </a:rPr>
              <a:t>1.Phân tích múi giờ truy cập (tz)</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324635" y="2883289"/>
            <a:ext cx="11700433" cy="6625370"/>
          </a:xfrm>
          <a:custGeom>
            <a:avLst/>
            <a:gdLst/>
            <a:ahLst/>
            <a:cxnLst/>
            <a:rect r="r" b="b" t="t" l="l"/>
            <a:pathLst>
              <a:path h="6625370" w="11700433">
                <a:moveTo>
                  <a:pt x="0" y="0"/>
                </a:moveTo>
                <a:lnTo>
                  <a:pt x="11700433" y="0"/>
                </a:lnTo>
                <a:lnTo>
                  <a:pt x="11700433" y="6625370"/>
                </a:lnTo>
                <a:lnTo>
                  <a:pt x="0" y="6625370"/>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10" id="10"/>
          <p:cNvSpPr txBox="true"/>
          <p:nvPr/>
        </p:nvSpPr>
        <p:spPr>
          <a:xfrm rot="0">
            <a:off x="11702146" y="3352401"/>
            <a:ext cx="6310743" cy="5905899"/>
          </a:xfrm>
          <a:prstGeom prst="rect">
            <a:avLst/>
          </a:prstGeom>
        </p:spPr>
        <p:txBody>
          <a:bodyPr anchor="t" rtlCol="false" tIns="0" lIns="0" bIns="0" rIns="0">
            <a:spAutoFit/>
          </a:bodyPr>
          <a:lstStyle/>
          <a:p>
            <a:pPr algn="l"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America/</a:t>
            </a:r>
            <a:r>
              <a:rPr lang="en-US" sz="3200">
                <a:solidFill>
                  <a:srgbClr val="000000"/>
                </a:solidFill>
                <a:latin typeface="Public Sans"/>
                <a:ea typeface="Public Sans"/>
                <a:cs typeface="Public Sans"/>
                <a:sym typeface="Public Sans"/>
              </a:rPr>
              <a:t>New_York chiếm tỷ lệ cao nhất → trung tâm truy cập chính.</a:t>
            </a:r>
          </a:p>
          <a:p>
            <a:pPr algn="l"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Phản ánh hoạt động tập trung tại Bờ Đông Hoa Kỳ (trung tâm hành chính &amp; kinh tế).</a:t>
            </a:r>
          </a:p>
          <a:p>
            <a:pPr algn="l"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Gợi ý: hành vi truy cập gắn liền với giờ làm việc của cơ quan chính phủ.</a:t>
            </a:r>
          </a:p>
          <a:p>
            <a:pPr algn="ctr">
              <a:lnSpc>
                <a:spcPts val="700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 dữ liệu </a:t>
            </a:r>
          </a:p>
          <a:p>
            <a:pPr algn="ctr">
              <a:lnSpc>
                <a:spcPts val="4319"/>
              </a:lnSpc>
            </a:pPr>
            <a:r>
              <a:rPr lang="en-US" b="true" sz="3199" spc="191">
                <a:solidFill>
                  <a:srgbClr val="000000"/>
                </a:solidFill>
                <a:latin typeface="Public Sans Bold"/>
                <a:ea typeface="Public Sans Bold"/>
                <a:cs typeface="Public Sans Bold"/>
                <a:sym typeface="Public Sans Bold"/>
              </a:rPr>
              <a:t>1.Phân tích múi giờ truy cập (tz)</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324635" y="2883289"/>
            <a:ext cx="11700433" cy="6625370"/>
          </a:xfrm>
          <a:custGeom>
            <a:avLst/>
            <a:gdLst/>
            <a:ahLst/>
            <a:cxnLst/>
            <a:rect r="r" b="b" t="t" l="l"/>
            <a:pathLst>
              <a:path h="6625370" w="11700433">
                <a:moveTo>
                  <a:pt x="0" y="0"/>
                </a:moveTo>
                <a:lnTo>
                  <a:pt x="11700433" y="0"/>
                </a:lnTo>
                <a:lnTo>
                  <a:pt x="11700433" y="6625370"/>
                </a:lnTo>
                <a:lnTo>
                  <a:pt x="0" y="6625370"/>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10" id="10"/>
          <p:cNvSpPr txBox="true"/>
          <p:nvPr/>
        </p:nvSpPr>
        <p:spPr>
          <a:xfrm rot="0">
            <a:off x="12421940" y="3929550"/>
            <a:ext cx="5231052" cy="3919070"/>
          </a:xfrm>
          <a:prstGeom prst="rect">
            <a:avLst/>
          </a:prstGeom>
        </p:spPr>
        <p:txBody>
          <a:bodyPr anchor="t" rtlCol="false" tIns="0" lIns="0" bIns="0" rIns="0">
            <a:spAutoFit/>
          </a:bodyPr>
          <a:lstStyle/>
          <a:p>
            <a:pPr algn="just">
              <a:lnSpc>
                <a:spcPts val="4480"/>
              </a:lnSpc>
              <a:spcBef>
                <a:spcPct val="0"/>
              </a:spcBef>
            </a:pPr>
            <a:r>
              <a:rPr lang="en-US" b="true" sz="3200">
                <a:solidFill>
                  <a:srgbClr val="000000"/>
                </a:solidFill>
                <a:latin typeface="Public Sans Bold"/>
                <a:ea typeface="Public Sans Bold"/>
                <a:cs typeface="Public Sans Bold"/>
                <a:sym typeface="Public Sans Bold"/>
              </a:rPr>
              <a:t>Kết luận: </a:t>
            </a:r>
            <a:r>
              <a:rPr lang="en-US" sz="3200">
                <a:solidFill>
                  <a:srgbClr val="000000"/>
                </a:solidFill>
                <a:latin typeface="Public Sans"/>
                <a:ea typeface="Public Sans"/>
                <a:cs typeface="Public Sans"/>
                <a:sym typeface="Public Sans"/>
              </a:rPr>
              <a:t>Múi giờ </a:t>
            </a:r>
            <a:r>
              <a:rPr lang="en-US" sz="3200">
                <a:solidFill>
                  <a:srgbClr val="000000"/>
                </a:solidFill>
                <a:latin typeface="Public Sans"/>
                <a:ea typeface="Public Sans"/>
                <a:cs typeface="Public Sans"/>
                <a:sym typeface="Public Sans"/>
              </a:rPr>
              <a:t>New York là “điểm nóng” về lưu lượng, củng cố giả thuyết truy cập chủ yếu đến từ các tổ chức chính phủ và đối tượng công dân trong khu vực hành chính trọng điểm.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 dữ liệu </a:t>
            </a:r>
          </a:p>
          <a:p>
            <a:pPr algn="ctr">
              <a:lnSpc>
                <a:spcPts val="4319"/>
              </a:lnSpc>
            </a:pPr>
            <a:r>
              <a:rPr lang="en-US" b="true" sz="3199" spc="191">
                <a:solidFill>
                  <a:srgbClr val="000000"/>
                </a:solidFill>
                <a:latin typeface="Public Sans Bold"/>
                <a:ea typeface="Public Sans Bold"/>
                <a:cs typeface="Public Sans Bold"/>
                <a:sym typeface="Public Sans Bold"/>
              </a:rPr>
              <a:t>2.Dữ liệu thiếu</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288683" y="2992827"/>
            <a:ext cx="9414041" cy="6685334"/>
          </a:xfrm>
          <a:custGeom>
            <a:avLst/>
            <a:gdLst/>
            <a:ahLst/>
            <a:cxnLst/>
            <a:rect r="r" b="b" t="t" l="l"/>
            <a:pathLst>
              <a:path h="6685334" w="9414041">
                <a:moveTo>
                  <a:pt x="0" y="0"/>
                </a:moveTo>
                <a:lnTo>
                  <a:pt x="9414041" y="0"/>
                </a:lnTo>
                <a:lnTo>
                  <a:pt x="9414041" y="6685333"/>
                </a:lnTo>
                <a:lnTo>
                  <a:pt x="0" y="6685333"/>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10" id="10"/>
          <p:cNvSpPr txBox="true"/>
          <p:nvPr/>
        </p:nvSpPr>
        <p:spPr>
          <a:xfrm rot="0">
            <a:off x="11182135" y="3780668"/>
            <a:ext cx="5830880" cy="5042977"/>
          </a:xfrm>
          <a:prstGeom prst="rect">
            <a:avLst/>
          </a:prstGeom>
        </p:spPr>
        <p:txBody>
          <a:bodyPr anchor="t" rtlCol="false" tIns="0" lIns="0" bIns="0" rIns="0">
            <a:spAutoFit/>
          </a:bodyPr>
          <a:lstStyle/>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15,15% bản ghi </a:t>
            </a:r>
            <a:r>
              <a:rPr lang="en-US" sz="3200">
                <a:solidFill>
                  <a:srgbClr val="000000"/>
                </a:solidFill>
                <a:latin typeface="Public Sans"/>
                <a:ea typeface="Public Sans"/>
                <a:cs typeface="Public Sans"/>
                <a:sym typeface="Public Sans"/>
              </a:rPr>
              <a:t>không xác định được múi giờ hoặc quốc gia.</a:t>
            </a:r>
          </a:p>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Biểu hiện của VPN, proxy hoặc bot tự động.</a:t>
            </a:r>
          </a:p>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Cần xem xét loại bỏ hoặc xử lý riêng khi phân tích địa lý.</a:t>
            </a:r>
          </a:p>
          <a:p>
            <a:pPr algn="just">
              <a:lnSpc>
                <a:spcPts val="448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 dữ liệu </a:t>
            </a:r>
          </a:p>
          <a:p>
            <a:pPr algn="ctr">
              <a:lnSpc>
                <a:spcPts val="4319"/>
              </a:lnSpc>
            </a:pPr>
            <a:r>
              <a:rPr lang="en-US" b="true" sz="3199" spc="191">
                <a:solidFill>
                  <a:srgbClr val="000000"/>
                </a:solidFill>
                <a:latin typeface="Public Sans Bold"/>
                <a:ea typeface="Public Sans Bold"/>
                <a:cs typeface="Public Sans Bold"/>
                <a:sym typeface="Public Sans Bold"/>
              </a:rPr>
              <a:t>3. Nguồn Referrer phổ biến</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284291" y="3014354"/>
            <a:ext cx="11301259" cy="6243946"/>
          </a:xfrm>
          <a:custGeom>
            <a:avLst/>
            <a:gdLst/>
            <a:ahLst/>
            <a:cxnLst/>
            <a:rect r="r" b="b" t="t" l="l"/>
            <a:pathLst>
              <a:path h="6243946" w="11301259">
                <a:moveTo>
                  <a:pt x="0" y="0"/>
                </a:moveTo>
                <a:lnTo>
                  <a:pt x="11301259" y="0"/>
                </a:lnTo>
                <a:lnTo>
                  <a:pt x="11301259" y="6243946"/>
                </a:lnTo>
                <a:lnTo>
                  <a:pt x="0" y="6243946"/>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10" id="10"/>
          <p:cNvSpPr txBox="true"/>
          <p:nvPr/>
        </p:nvSpPr>
        <p:spPr>
          <a:xfrm rot="0">
            <a:off x="11781963" y="4143455"/>
            <a:ext cx="5830880" cy="3919070"/>
          </a:xfrm>
          <a:prstGeom prst="rect">
            <a:avLst/>
          </a:prstGeom>
        </p:spPr>
        <p:txBody>
          <a:bodyPr anchor="t" rtlCol="false" tIns="0" lIns="0" bIns="0" rIns="0">
            <a:spAutoFit/>
          </a:bodyPr>
          <a:lstStyle/>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Twitter + Facebook chiếm</a:t>
            </a:r>
            <a:r>
              <a:rPr lang="en-US" sz="3200">
                <a:solidFill>
                  <a:srgbClr val="000000"/>
                </a:solidFill>
                <a:latin typeface="Public Sans"/>
                <a:ea typeface="Public Sans"/>
                <a:cs typeface="Public Sans"/>
                <a:sym typeface="Public Sans"/>
              </a:rPr>
              <a:t> 67,6% tổng lượt truy cập có nguồn xác định.</a:t>
            </a:r>
          </a:p>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Mạ</a:t>
            </a:r>
            <a:r>
              <a:rPr lang="en-US" sz="3200">
                <a:solidFill>
                  <a:srgbClr val="000000"/>
                </a:solidFill>
                <a:latin typeface="Public Sans"/>
                <a:ea typeface="Public Sans"/>
                <a:cs typeface="Public Sans"/>
                <a:sym typeface="Public Sans"/>
              </a:rPr>
              <a:t>ng xã hội là kênh phân phối thông tin chủ đạo, không còn là phụ trợ.</a:t>
            </a:r>
          </a:p>
          <a:p>
            <a:pPr algn="just">
              <a:lnSpc>
                <a:spcPts val="448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 dữ liệu </a:t>
            </a:r>
          </a:p>
          <a:p>
            <a:pPr algn="ctr">
              <a:lnSpc>
                <a:spcPts val="4319"/>
              </a:lnSpc>
            </a:pPr>
            <a:r>
              <a:rPr lang="en-US" b="true" sz="3199" spc="191">
                <a:solidFill>
                  <a:srgbClr val="000000"/>
                </a:solidFill>
                <a:latin typeface="Public Sans Bold"/>
                <a:ea typeface="Public Sans Bold"/>
                <a:cs typeface="Public Sans Bold"/>
                <a:sym typeface="Public Sans Bold"/>
              </a:rPr>
              <a:t>3. Nguồn Referrer phổ biến</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284291" y="3014354"/>
            <a:ext cx="11301259" cy="6243946"/>
          </a:xfrm>
          <a:custGeom>
            <a:avLst/>
            <a:gdLst/>
            <a:ahLst/>
            <a:cxnLst/>
            <a:rect r="r" b="b" t="t" l="l"/>
            <a:pathLst>
              <a:path h="6243946" w="11301259">
                <a:moveTo>
                  <a:pt x="0" y="0"/>
                </a:moveTo>
                <a:lnTo>
                  <a:pt x="11301259" y="0"/>
                </a:lnTo>
                <a:lnTo>
                  <a:pt x="11301259" y="6243946"/>
                </a:lnTo>
                <a:lnTo>
                  <a:pt x="0" y="6243946"/>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10" id="10"/>
          <p:cNvSpPr txBox="true"/>
          <p:nvPr/>
        </p:nvSpPr>
        <p:spPr>
          <a:xfrm rot="0">
            <a:off x="11961911" y="4424432"/>
            <a:ext cx="5830880" cy="3357116"/>
          </a:xfrm>
          <a:prstGeom prst="rect">
            <a:avLst/>
          </a:prstGeom>
        </p:spPr>
        <p:txBody>
          <a:bodyPr anchor="t" rtlCol="false" tIns="0" lIns="0" bIns="0" rIns="0">
            <a:spAutoFit/>
          </a:bodyPr>
          <a:lstStyle/>
          <a:p>
            <a:pPr algn="just">
              <a:lnSpc>
                <a:spcPts val="4480"/>
              </a:lnSpc>
              <a:spcBef>
                <a:spcPct val="0"/>
              </a:spcBef>
            </a:pPr>
            <a:r>
              <a:rPr lang="en-US" b="true" sz="3200">
                <a:solidFill>
                  <a:srgbClr val="000000"/>
                </a:solidFill>
                <a:latin typeface="Public Sans Bold"/>
                <a:ea typeface="Public Sans Bold"/>
                <a:cs typeface="Public Sans Bold"/>
                <a:sym typeface="Public Sans Bold"/>
              </a:rPr>
              <a:t>Kết luận: </a:t>
            </a:r>
            <a:r>
              <a:rPr lang="en-US" sz="3200">
                <a:solidFill>
                  <a:srgbClr val="000000"/>
                </a:solidFill>
                <a:latin typeface="Public Sans"/>
                <a:ea typeface="Public Sans"/>
                <a:cs typeface="Public Sans"/>
                <a:sym typeface="Public Sans"/>
              </a:rPr>
              <a:t>Dữ liệu cho thấy</a:t>
            </a:r>
            <a:r>
              <a:rPr lang="en-US" sz="3200">
                <a:solidFill>
                  <a:srgbClr val="000000"/>
                </a:solidFill>
                <a:latin typeface="Public Sans"/>
                <a:ea typeface="Public Sans"/>
                <a:cs typeface="Public Sans"/>
                <a:sym typeface="Public Sans"/>
              </a:rPr>
              <a:t> vai trò truyền thông m</a:t>
            </a:r>
            <a:r>
              <a:rPr lang="en-US" sz="3200">
                <a:solidFill>
                  <a:srgbClr val="000000"/>
                </a:solidFill>
                <a:latin typeface="Public Sans"/>
                <a:ea typeface="Public Sans"/>
                <a:cs typeface="Public Sans"/>
                <a:sym typeface="Public Sans"/>
              </a:rPr>
              <a:t>ạ</a:t>
            </a:r>
            <a:r>
              <a:rPr lang="en-US" sz="3200">
                <a:solidFill>
                  <a:srgbClr val="000000"/>
                </a:solidFill>
                <a:latin typeface="Public Sans"/>
                <a:ea typeface="Public Sans"/>
                <a:cs typeface="Public Sans"/>
                <a:sym typeface="Public Sans"/>
              </a:rPr>
              <a:t>ng xã hội trong lan tỏa thông tin chính phủ là cực kỳ lớn, song cũng cần chú ý đến dữ liệu ẩn danh làm giảm độ tin cậy địa lý.</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5" id="5"/>
          <p:cNvSpPr txBox="true"/>
          <p:nvPr/>
        </p:nvSpPr>
        <p:spPr>
          <a:xfrm rot="0">
            <a:off x="1022229" y="1929287"/>
            <a:ext cx="16237071" cy="5561103"/>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 Chuyên sâu</a:t>
            </a:r>
          </a:p>
          <a:p>
            <a:pPr algn="just">
              <a:lnSpc>
                <a:spcPts val="4319"/>
              </a:lnSpc>
            </a:pPr>
            <a:r>
              <a:rPr lang="en-US" b="true" sz="3199" spc="191">
                <a:solidFill>
                  <a:srgbClr val="000000"/>
                </a:solidFill>
                <a:latin typeface="Public Sans Bold"/>
                <a:ea typeface="Public Sans Bold"/>
                <a:cs typeface="Public Sans Bold"/>
                <a:sym typeface="Public Sans Bold"/>
              </a:rPr>
              <a:t>Mục tiêu: </a:t>
            </a:r>
          </a:p>
          <a:p>
            <a:pPr algn="just" marL="690872" indent="-345436" lvl="1">
              <a:lnSpc>
                <a:spcPts val="4319"/>
              </a:lnSpc>
              <a:buFont typeface="Arial"/>
              <a:buChar char="•"/>
            </a:pPr>
            <a:r>
              <a:rPr lang="en-US" sz="3199" spc="191">
                <a:solidFill>
                  <a:srgbClr val="000000"/>
                </a:solidFill>
                <a:latin typeface="Public Sans"/>
                <a:ea typeface="Public Sans"/>
                <a:cs typeface="Public Sans"/>
                <a:sym typeface="Public Sans"/>
              </a:rPr>
              <a:t>Khám ph</a:t>
            </a:r>
            <a:r>
              <a:rPr lang="en-US" sz="3199" spc="191">
                <a:solidFill>
                  <a:srgbClr val="000000"/>
                </a:solidFill>
                <a:latin typeface="Public Sans"/>
                <a:ea typeface="Public Sans"/>
                <a:cs typeface="Public Sans"/>
                <a:sym typeface="Public Sans"/>
              </a:rPr>
              <a:t>á mối quan hệ giữa các biến: thiết bị, thời gian, địa lý, nguồn truy cập.</a:t>
            </a:r>
          </a:p>
          <a:p>
            <a:pPr algn="just" marL="690872" indent="-345436" lvl="1">
              <a:lnSpc>
                <a:spcPts val="4319"/>
              </a:lnSpc>
              <a:buFont typeface="Arial"/>
              <a:buChar char="•"/>
            </a:pPr>
            <a:r>
              <a:rPr lang="en-US" sz="3199" spc="191">
                <a:solidFill>
                  <a:srgbClr val="000000"/>
                </a:solidFill>
                <a:latin typeface="Public Sans"/>
                <a:ea typeface="Public Sans"/>
                <a:cs typeface="Public Sans"/>
                <a:sym typeface="Public Sans"/>
              </a:rPr>
              <a:t>Hiểu sâu hành vi người dùng khi truy cập thông tin chính phủ.</a:t>
            </a:r>
          </a:p>
          <a:p>
            <a:pPr algn="just">
              <a:lnSpc>
                <a:spcPts val="4319"/>
              </a:lnSpc>
            </a:pPr>
            <a:r>
              <a:rPr lang="en-US" b="true" sz="3199" spc="191">
                <a:solidFill>
                  <a:srgbClr val="000000"/>
                </a:solidFill>
                <a:latin typeface="Public Sans Bold"/>
                <a:ea typeface="Public Sans Bold"/>
                <a:cs typeface="Public Sans Bold"/>
                <a:sym typeface="Public Sans Bold"/>
              </a:rPr>
              <a:t>Các nhóm phân tích:</a:t>
            </a:r>
          </a:p>
          <a:p>
            <a:pPr algn="just" marL="690872" indent="-345436" lvl="1">
              <a:lnSpc>
                <a:spcPts val="4319"/>
              </a:lnSpc>
              <a:buAutoNum type="arabicPeriod" startAt="1"/>
            </a:pPr>
            <a:r>
              <a:rPr lang="en-US" sz="3199" spc="191">
                <a:solidFill>
                  <a:srgbClr val="000000"/>
                </a:solidFill>
                <a:latin typeface="Public Sans"/>
                <a:ea typeface="Public Sans"/>
                <a:cs typeface="Public Sans"/>
                <a:sym typeface="Public Sans"/>
              </a:rPr>
              <a:t>Thiết bị (OS)</a:t>
            </a:r>
          </a:p>
          <a:p>
            <a:pPr algn="just" marL="690872" indent="-345436" lvl="1">
              <a:lnSpc>
                <a:spcPts val="4319"/>
              </a:lnSpc>
              <a:buAutoNum type="arabicPeriod" startAt="1"/>
            </a:pPr>
            <a:r>
              <a:rPr lang="en-US" sz="3199" spc="191">
                <a:solidFill>
                  <a:srgbClr val="000000"/>
                </a:solidFill>
                <a:latin typeface="Public Sans"/>
                <a:ea typeface="Public Sans"/>
                <a:cs typeface="Public Sans"/>
                <a:sym typeface="Public Sans"/>
              </a:rPr>
              <a:t>Thời gian truy cập</a:t>
            </a:r>
          </a:p>
          <a:p>
            <a:pPr algn="just" marL="690872" indent="-345436" lvl="1">
              <a:lnSpc>
                <a:spcPts val="4319"/>
              </a:lnSpc>
              <a:buAutoNum type="arabicPeriod" startAt="1"/>
            </a:pPr>
            <a:r>
              <a:rPr lang="en-US" sz="3199" spc="191">
                <a:solidFill>
                  <a:srgbClr val="000000"/>
                </a:solidFill>
                <a:latin typeface="Public Sans"/>
                <a:ea typeface="Public Sans"/>
                <a:cs typeface="Public Sans"/>
                <a:sym typeface="Public Sans"/>
              </a:rPr>
              <a:t>Địa lý (vùng/bang/thành phố/quốc gia)</a:t>
            </a:r>
          </a:p>
          <a:p>
            <a:pPr algn="just" marL="690872" indent="-345436" lvl="1">
              <a:lnSpc>
                <a:spcPts val="4319"/>
              </a:lnSpc>
              <a:buAutoNum type="arabicPeriod" startAt="1"/>
            </a:pPr>
            <a:r>
              <a:rPr lang="en-US" sz="3199" spc="191">
                <a:solidFill>
                  <a:srgbClr val="000000"/>
                </a:solidFill>
                <a:latin typeface="Public Sans"/>
                <a:ea typeface="Public Sans"/>
                <a:cs typeface="Public Sans"/>
                <a:sym typeface="Public Sans"/>
              </a:rPr>
              <a:t>Nguồn truy cập (Referrer)</a:t>
            </a:r>
          </a:p>
        </p:txBody>
      </p:sp>
      <p:sp>
        <p:nvSpPr>
          <p:cNvPr name="Freeform 6" id="6"/>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 Chuyên sâu</a:t>
            </a:r>
          </a:p>
          <a:p>
            <a:pPr algn="ctr">
              <a:lnSpc>
                <a:spcPts val="4319"/>
              </a:lnSpc>
            </a:pPr>
            <a:r>
              <a:rPr lang="en-US" b="true" sz="3199" spc="191">
                <a:solidFill>
                  <a:srgbClr val="000000"/>
                </a:solidFill>
                <a:latin typeface="Public Sans Bold"/>
                <a:ea typeface="Public Sans Bold"/>
                <a:cs typeface="Public Sans Bold"/>
                <a:sym typeface="Public Sans Bold"/>
              </a:rPr>
              <a:t>1.Thiết bị &amp; Hệ điều hành</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374205" y="2779117"/>
            <a:ext cx="7496507" cy="7507883"/>
          </a:xfrm>
          <a:custGeom>
            <a:avLst/>
            <a:gdLst/>
            <a:ahLst/>
            <a:cxnLst/>
            <a:rect r="r" b="b" t="t" l="l"/>
            <a:pathLst>
              <a:path h="7507883" w="7496507">
                <a:moveTo>
                  <a:pt x="0" y="0"/>
                </a:moveTo>
                <a:lnTo>
                  <a:pt x="7496507" y="0"/>
                </a:lnTo>
                <a:lnTo>
                  <a:pt x="7496507" y="7507883"/>
                </a:lnTo>
                <a:lnTo>
                  <a:pt x="0" y="7507883"/>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10" id="10"/>
          <p:cNvSpPr txBox="true"/>
          <p:nvPr/>
        </p:nvSpPr>
        <p:spPr>
          <a:xfrm rot="0">
            <a:off x="9520955" y="3929550"/>
            <a:ext cx="8132037" cy="3919070"/>
          </a:xfrm>
          <a:prstGeom prst="rect">
            <a:avLst/>
          </a:prstGeom>
        </p:spPr>
        <p:txBody>
          <a:bodyPr anchor="t" rtlCol="false" tIns="0" lIns="0" bIns="0" rIns="0">
            <a:spAutoFit/>
          </a:bodyPr>
          <a:lstStyle/>
          <a:p>
            <a:pPr algn="just" marL="690881" indent="-345440" lvl="1">
              <a:lnSpc>
                <a:spcPts val="4480"/>
              </a:lnSpc>
              <a:spcBef>
                <a:spcPct val="0"/>
              </a:spcBef>
              <a:buFont typeface="Arial"/>
              <a:buChar char="•"/>
            </a:pPr>
            <a:r>
              <a:rPr lang="en-US" b="true" sz="3200">
                <a:solidFill>
                  <a:srgbClr val="000000"/>
                </a:solidFill>
                <a:latin typeface="Public Sans Bold"/>
                <a:ea typeface="Public Sans Bold"/>
                <a:cs typeface="Public Sans Bold"/>
                <a:sym typeface="Public Sans Bold"/>
              </a:rPr>
              <a:t>Windows chiếm 65.3%</a:t>
            </a:r>
            <a:r>
              <a:rPr lang="en-US" sz="3200">
                <a:solidFill>
                  <a:srgbClr val="000000"/>
                </a:solidFill>
                <a:latin typeface="Public Sans"/>
                <a:ea typeface="Public Sans"/>
                <a:cs typeface="Public Sans"/>
                <a:sym typeface="Public Sans"/>
              </a:rPr>
              <a:t>,</a:t>
            </a:r>
            <a:r>
              <a:rPr lang="en-US" sz="3200">
                <a:solidFill>
                  <a:srgbClr val="000000"/>
                </a:solidFill>
                <a:latin typeface="Public Sans"/>
                <a:ea typeface="Public Sans"/>
                <a:cs typeface="Public Sans"/>
                <a:sym typeface="Public Sans"/>
              </a:rPr>
              <a:t> áp đảo Non-Windows.</a:t>
            </a:r>
          </a:p>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Phản ánh người dùng chủ yếu từ </a:t>
            </a:r>
            <a:r>
              <a:rPr lang="en-US" b="true" sz="3200">
                <a:solidFill>
                  <a:srgbClr val="000000"/>
                </a:solidFill>
                <a:latin typeface="Public Sans Bold"/>
                <a:ea typeface="Public Sans Bold"/>
                <a:cs typeface="Public Sans Bold"/>
                <a:sym typeface="Public Sans Bold"/>
              </a:rPr>
              <a:t>desktop / môi trường văn phòng.</a:t>
            </a:r>
          </a:p>
          <a:p>
            <a:pPr algn="just">
              <a:lnSpc>
                <a:spcPts val="4480"/>
              </a:lnSpc>
              <a:spcBef>
                <a:spcPct val="0"/>
              </a:spcBef>
            </a:pPr>
            <a:r>
              <a:rPr lang="en-US" sz="3200">
                <a:solidFill>
                  <a:srgbClr val="000000"/>
                </a:solidFill>
                <a:latin typeface="Public Sans"/>
                <a:ea typeface="Public Sans"/>
                <a:cs typeface="Public Sans"/>
                <a:sym typeface="Public Sans"/>
              </a:rPr>
              <a:t>→ Gợi ý: ưu tiên tối ưu trải nghiệm cho hệ điều hành Windows.</a:t>
            </a:r>
          </a:p>
          <a:p>
            <a:pPr algn="just">
              <a:lnSpc>
                <a:spcPts val="4480"/>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 Chuyên sâu</a:t>
            </a:r>
          </a:p>
          <a:p>
            <a:pPr algn="ctr">
              <a:lnSpc>
                <a:spcPts val="4319"/>
              </a:lnSpc>
            </a:pPr>
            <a:r>
              <a:rPr lang="en-US" b="true" sz="3199" spc="191">
                <a:solidFill>
                  <a:srgbClr val="000000"/>
                </a:solidFill>
                <a:latin typeface="Public Sans Bold"/>
                <a:ea typeface="Public Sans Bold"/>
                <a:cs typeface="Public Sans Bold"/>
                <a:sym typeface="Public Sans Bold"/>
              </a:rPr>
              <a:t>2.Thiết bị theo Múi giờ</a:t>
            </a:r>
          </a:p>
        </p:txBody>
      </p:sp>
      <p:sp>
        <p:nvSpPr>
          <p:cNvPr name="Freeform 5" id="5"/>
          <p:cNvSpPr/>
          <p:nvPr/>
        </p:nvSpPr>
        <p:spPr>
          <a:xfrm flipH="false" flipV="false" rot="0">
            <a:off x="15649487"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829955" y="2981637"/>
            <a:ext cx="10998956" cy="7135572"/>
          </a:xfrm>
          <a:custGeom>
            <a:avLst/>
            <a:gdLst/>
            <a:ahLst/>
            <a:cxnLst/>
            <a:rect r="r" b="b" t="t" l="l"/>
            <a:pathLst>
              <a:path h="7135572" w="10998956">
                <a:moveTo>
                  <a:pt x="0" y="0"/>
                </a:moveTo>
                <a:lnTo>
                  <a:pt x="10998955" y="0"/>
                </a:lnTo>
                <a:lnTo>
                  <a:pt x="10998955" y="7135573"/>
                </a:lnTo>
                <a:lnTo>
                  <a:pt x="0" y="7135573"/>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10" id="10"/>
          <p:cNvSpPr txBox="true"/>
          <p:nvPr/>
        </p:nvSpPr>
        <p:spPr>
          <a:xfrm rot="0">
            <a:off x="12157936" y="3190347"/>
            <a:ext cx="5792708" cy="5042977"/>
          </a:xfrm>
          <a:prstGeom prst="rect">
            <a:avLst/>
          </a:prstGeom>
        </p:spPr>
        <p:txBody>
          <a:bodyPr anchor="t" rtlCol="false" tIns="0" lIns="0" bIns="0" rIns="0">
            <a:spAutoFit/>
          </a:bodyPr>
          <a:lstStyle/>
          <a:p>
            <a:pPr algn="just">
              <a:lnSpc>
                <a:spcPts val="4480"/>
              </a:lnSpc>
            </a:pPr>
            <a:r>
              <a:rPr lang="en-US" sz="3200" b="true">
                <a:solidFill>
                  <a:srgbClr val="000000"/>
                </a:solidFill>
                <a:latin typeface="Public Sans Bold"/>
                <a:ea typeface="Public Sans Bold"/>
                <a:cs typeface="Public Sans Bold"/>
                <a:sym typeface="Public Sans Bold"/>
              </a:rPr>
              <a:t>Bờ Đông (New York):</a:t>
            </a:r>
            <a:r>
              <a:rPr lang="en-US" sz="3200">
                <a:solidFill>
                  <a:srgbClr val="000000"/>
                </a:solidFill>
                <a:latin typeface="Public Sans"/>
                <a:ea typeface="Public Sans"/>
                <a:cs typeface="Public Sans"/>
                <a:sym typeface="Public Sans"/>
              </a:rPr>
              <a:t> 73% Windows</a:t>
            </a:r>
          </a:p>
          <a:p>
            <a:pPr algn="just">
              <a:lnSpc>
                <a:spcPts val="4480"/>
              </a:lnSpc>
              <a:spcBef>
                <a:spcPct val="0"/>
              </a:spcBef>
            </a:pPr>
            <a:r>
              <a:rPr lang="en-US" b="true" sz="3200">
                <a:solidFill>
                  <a:srgbClr val="000000"/>
                </a:solidFill>
                <a:latin typeface="Public Sans Bold"/>
                <a:ea typeface="Public Sans Bold"/>
                <a:cs typeface="Public Sans Bold"/>
                <a:sym typeface="Public Sans Bold"/>
              </a:rPr>
              <a:t>Miền núi (Denver):</a:t>
            </a:r>
            <a:r>
              <a:rPr lang="en-US" sz="3200">
                <a:solidFill>
                  <a:srgbClr val="000000"/>
                </a:solidFill>
                <a:latin typeface="Public Sans"/>
                <a:ea typeface="Public Sans"/>
                <a:cs typeface="Public Sans"/>
                <a:sym typeface="Public Sans"/>
              </a:rPr>
              <a:t> 69%</a:t>
            </a:r>
            <a:r>
              <a:rPr lang="en-US" sz="3200">
                <a:solidFill>
                  <a:srgbClr val="000000"/>
                </a:solidFill>
                <a:latin typeface="Public Sans"/>
                <a:ea typeface="Public Sans"/>
                <a:cs typeface="Public Sans"/>
                <a:sym typeface="Public Sans"/>
              </a:rPr>
              <a:t> Non-Windows</a:t>
            </a:r>
          </a:p>
          <a:p>
            <a:pPr algn="just">
              <a:lnSpc>
                <a:spcPts val="4480"/>
              </a:lnSpc>
              <a:spcBef>
                <a:spcPct val="0"/>
              </a:spcBef>
            </a:pPr>
            <a:r>
              <a:rPr lang="en-US" sz="3200">
                <a:solidFill>
                  <a:srgbClr val="000000"/>
                </a:solidFill>
                <a:latin typeface="Public Sans"/>
                <a:ea typeface="Public Sans"/>
                <a:cs typeface="Public Sans"/>
                <a:sym typeface="Public Sans"/>
              </a:rPr>
              <a:t>→ Bờ Đông t</a:t>
            </a:r>
            <a:r>
              <a:rPr lang="en-US" sz="3200">
                <a:solidFill>
                  <a:srgbClr val="000000"/>
                </a:solidFill>
                <a:latin typeface="Public Sans"/>
                <a:ea typeface="Public Sans"/>
                <a:cs typeface="Public Sans"/>
                <a:sym typeface="Public Sans"/>
              </a:rPr>
              <a:t>hiên về người dùng văn phòng,</a:t>
            </a:r>
          </a:p>
          <a:p>
            <a:pPr algn="just">
              <a:lnSpc>
                <a:spcPts val="4480"/>
              </a:lnSpc>
              <a:spcBef>
                <a:spcPct val="0"/>
              </a:spcBef>
            </a:pPr>
            <a:r>
              <a:rPr lang="en-US" sz="3200">
                <a:solidFill>
                  <a:srgbClr val="000000"/>
                </a:solidFill>
                <a:latin typeface="Public Sans"/>
                <a:ea typeface="Public Sans"/>
                <a:cs typeface="Public Sans"/>
                <a:sym typeface="Public Sans"/>
              </a:rPr>
              <a:t>→ Denver thiên về người dùng di động / kỹ thuật cao.</a:t>
            </a:r>
          </a:p>
          <a:p>
            <a:pPr algn="just">
              <a:lnSpc>
                <a:spcPts val="4480"/>
              </a:lnSpc>
              <a:spcBef>
                <a:spcPct val="0"/>
              </a:spcBef>
            </a:pPr>
          </a:p>
        </p:txBody>
      </p:sp>
      <p:sp>
        <p:nvSpPr>
          <p:cNvPr name="TextBox 11" id="11"/>
          <p:cNvSpPr txBox="true"/>
          <p:nvPr/>
        </p:nvSpPr>
        <p:spPr>
          <a:xfrm rot="0">
            <a:off x="11958136" y="8356123"/>
            <a:ext cx="6192308" cy="1082126"/>
          </a:xfrm>
          <a:prstGeom prst="rect">
            <a:avLst/>
          </a:prstGeom>
        </p:spPr>
        <p:txBody>
          <a:bodyPr anchor="t" rtlCol="false" tIns="0" lIns="0" bIns="0" rIns="0">
            <a:spAutoFit/>
          </a:bodyPr>
          <a:lstStyle/>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Kết</a:t>
            </a:r>
            <a:r>
              <a:rPr lang="en-US" b="true" sz="3200" spc="192">
                <a:solidFill>
                  <a:srgbClr val="000000"/>
                </a:solidFill>
                <a:latin typeface="Public Sans Bold"/>
                <a:ea typeface="Public Sans Bold"/>
                <a:cs typeface="Public Sans Bold"/>
                <a:sym typeface="Public Sans Bold"/>
              </a:rPr>
              <a:t> luận:</a:t>
            </a:r>
            <a:r>
              <a:rPr lang="en-US" sz="3200" spc="192">
                <a:solidFill>
                  <a:srgbClr val="000000"/>
                </a:solidFill>
                <a:latin typeface="Public Sans"/>
                <a:ea typeface="Public Sans"/>
                <a:cs typeface="Public Sans"/>
                <a:sym typeface="Public Sans"/>
              </a:rPr>
              <a:t> Văn hóa công nghệ khác biệt rõ theo vùng địa lý.</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 Chuyên sâu </a:t>
            </a:r>
          </a:p>
          <a:p>
            <a:pPr algn="ctr">
              <a:lnSpc>
                <a:spcPts val="4319"/>
              </a:lnSpc>
            </a:pPr>
            <a:r>
              <a:rPr lang="en-US" b="true" sz="3199" spc="191">
                <a:solidFill>
                  <a:srgbClr val="000000"/>
                </a:solidFill>
                <a:latin typeface="Public Sans Bold"/>
                <a:ea typeface="Public Sans Bold"/>
                <a:cs typeface="Public Sans Bold"/>
                <a:sym typeface="Public Sans Bold"/>
              </a:rPr>
              <a:t>3. Lượng truy cập theo khung giờ (UTC)</a:t>
            </a:r>
          </a:p>
        </p:txBody>
      </p:sp>
      <p:sp>
        <p:nvSpPr>
          <p:cNvPr name="Freeform 5" id="5"/>
          <p:cNvSpPr/>
          <p:nvPr/>
        </p:nvSpPr>
        <p:spPr>
          <a:xfrm flipH="false" flipV="false" rot="0">
            <a:off x="15649487"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377660" y="2992827"/>
            <a:ext cx="11111732" cy="6625370"/>
          </a:xfrm>
          <a:custGeom>
            <a:avLst/>
            <a:gdLst/>
            <a:ahLst/>
            <a:cxnLst/>
            <a:rect r="r" b="b" t="t" l="l"/>
            <a:pathLst>
              <a:path h="6625370" w="11111732">
                <a:moveTo>
                  <a:pt x="0" y="0"/>
                </a:moveTo>
                <a:lnTo>
                  <a:pt x="11111731" y="0"/>
                </a:lnTo>
                <a:lnTo>
                  <a:pt x="11111731" y="6625370"/>
                </a:lnTo>
                <a:lnTo>
                  <a:pt x="0" y="6625370"/>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10" id="10"/>
          <p:cNvSpPr txBox="true"/>
          <p:nvPr/>
        </p:nvSpPr>
        <p:spPr>
          <a:xfrm rot="0">
            <a:off x="11678074" y="4585107"/>
            <a:ext cx="6272570" cy="2795163"/>
          </a:xfrm>
          <a:prstGeom prst="rect">
            <a:avLst/>
          </a:prstGeom>
        </p:spPr>
        <p:txBody>
          <a:bodyPr anchor="t" rtlCol="false" tIns="0" lIns="0" bIns="0" rIns="0">
            <a:spAutoFit/>
          </a:bodyPr>
          <a:lstStyle/>
          <a:p>
            <a:pPr algn="just" marL="690881" indent="-345440" lvl="1">
              <a:lnSpc>
                <a:spcPts val="4480"/>
              </a:lnSpc>
              <a:spcBef>
                <a:spcPct val="0"/>
              </a:spcBef>
              <a:buFont typeface="Arial"/>
              <a:buChar char="•"/>
            </a:pPr>
            <a:r>
              <a:rPr lang="en-US" b="true" sz="3200">
                <a:solidFill>
                  <a:srgbClr val="000000"/>
                </a:solidFill>
                <a:latin typeface="Public Sans Bold"/>
                <a:ea typeface="Public Sans Bold"/>
                <a:cs typeface="Public Sans Bold"/>
                <a:sym typeface="Public Sans Bold"/>
              </a:rPr>
              <a:t>Đỉnh truy cập:</a:t>
            </a:r>
            <a:r>
              <a:rPr lang="en-US" sz="3200">
                <a:solidFill>
                  <a:srgbClr val="000000"/>
                </a:solidFill>
                <a:latin typeface="Public Sans"/>
                <a:ea typeface="Public Sans"/>
                <a:cs typeface="Public Sans"/>
                <a:sym typeface="Public Sans"/>
              </a:rPr>
              <a:t> 18h–20h UTC - buổi chiều giờ</a:t>
            </a:r>
            <a:r>
              <a:rPr lang="en-US" sz="3200">
                <a:solidFill>
                  <a:srgbClr val="000000"/>
                </a:solidFill>
                <a:latin typeface="Public Sans"/>
                <a:ea typeface="Public Sans"/>
                <a:cs typeface="Public Sans"/>
                <a:sym typeface="Public Sans"/>
              </a:rPr>
              <a:t> Bờ Đông Mỹ.</a:t>
            </a:r>
          </a:p>
          <a:p>
            <a:pPr algn="just">
              <a:lnSpc>
                <a:spcPts val="4480"/>
              </a:lnSpc>
              <a:spcBef>
                <a:spcPct val="0"/>
              </a:spcBef>
            </a:pPr>
            <a:r>
              <a:rPr lang="en-US" sz="3200">
                <a:solidFill>
                  <a:srgbClr val="000000"/>
                </a:solidFill>
                <a:latin typeface="Public Sans"/>
                <a:ea typeface="Public Sans"/>
                <a:cs typeface="Public Sans"/>
                <a:sym typeface="Public Sans"/>
              </a:rPr>
              <a:t>→ N</a:t>
            </a:r>
            <a:r>
              <a:rPr lang="en-US" sz="3200">
                <a:solidFill>
                  <a:srgbClr val="000000"/>
                </a:solidFill>
                <a:latin typeface="Public Sans"/>
                <a:ea typeface="Public Sans"/>
                <a:cs typeface="Public Sans"/>
                <a:sym typeface="Public Sans"/>
              </a:rPr>
              <a:t>gười dùng tra cứu thông tin trong giờ làm việc hành chính.</a:t>
            </a:r>
          </a:p>
          <a:p>
            <a:pPr algn="just">
              <a:lnSpc>
                <a:spcPts val="4480"/>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 Chuyên sâu </a:t>
            </a:r>
          </a:p>
          <a:p>
            <a:pPr algn="ctr">
              <a:lnSpc>
                <a:spcPts val="4319"/>
              </a:lnSpc>
            </a:pPr>
            <a:r>
              <a:rPr lang="en-US" b="true" sz="3199" spc="191">
                <a:solidFill>
                  <a:srgbClr val="000000"/>
                </a:solidFill>
                <a:latin typeface="Public Sans Bold"/>
                <a:ea typeface="Public Sans Bold"/>
                <a:cs typeface="Public Sans Bold"/>
                <a:sym typeface="Public Sans Bold"/>
              </a:rPr>
              <a:t>4. Độ trễ Click Link (log10 phút)</a:t>
            </a:r>
          </a:p>
        </p:txBody>
      </p:sp>
      <p:sp>
        <p:nvSpPr>
          <p:cNvPr name="Freeform 5" id="5"/>
          <p:cNvSpPr/>
          <p:nvPr/>
        </p:nvSpPr>
        <p:spPr>
          <a:xfrm flipH="false" flipV="false" rot="0">
            <a:off x="15649487"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955766" y="2952617"/>
            <a:ext cx="14779613" cy="7334383"/>
          </a:xfrm>
          <a:custGeom>
            <a:avLst/>
            <a:gdLst/>
            <a:ahLst/>
            <a:cxnLst/>
            <a:rect r="r" b="b" t="t" l="l"/>
            <a:pathLst>
              <a:path h="7334383" w="14779613">
                <a:moveTo>
                  <a:pt x="0" y="0"/>
                </a:moveTo>
                <a:lnTo>
                  <a:pt x="14779613" y="0"/>
                </a:lnTo>
                <a:lnTo>
                  <a:pt x="14779613" y="7334383"/>
                </a:lnTo>
                <a:lnTo>
                  <a:pt x="0" y="7334383"/>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 Chuyên sâu </a:t>
            </a:r>
          </a:p>
          <a:p>
            <a:pPr algn="ctr">
              <a:lnSpc>
                <a:spcPts val="4319"/>
              </a:lnSpc>
            </a:pPr>
            <a:r>
              <a:rPr lang="en-US" b="true" sz="3199" spc="191">
                <a:solidFill>
                  <a:srgbClr val="000000"/>
                </a:solidFill>
                <a:latin typeface="Public Sans Bold"/>
                <a:ea typeface="Public Sans Bold"/>
                <a:cs typeface="Public Sans Bold"/>
                <a:sym typeface="Public Sans Bold"/>
              </a:rPr>
              <a:t>4. Độ trễ Click Link (log10 phút)</a:t>
            </a:r>
          </a:p>
        </p:txBody>
      </p:sp>
      <p:sp>
        <p:nvSpPr>
          <p:cNvPr name="Freeform 5" id="5"/>
          <p:cNvSpPr/>
          <p:nvPr/>
        </p:nvSpPr>
        <p:spPr>
          <a:xfrm flipH="false" flipV="false" rot="0">
            <a:off x="15649487"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537128" y="3355414"/>
            <a:ext cx="10645007" cy="5282585"/>
          </a:xfrm>
          <a:custGeom>
            <a:avLst/>
            <a:gdLst/>
            <a:ahLst/>
            <a:cxnLst/>
            <a:rect r="r" b="b" t="t" l="l"/>
            <a:pathLst>
              <a:path h="5282585" w="10645007">
                <a:moveTo>
                  <a:pt x="0" y="0"/>
                </a:moveTo>
                <a:lnTo>
                  <a:pt x="10645007" y="0"/>
                </a:lnTo>
                <a:lnTo>
                  <a:pt x="10645007" y="5282584"/>
                </a:lnTo>
                <a:lnTo>
                  <a:pt x="0" y="5282584"/>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10" id="10"/>
          <p:cNvSpPr txBox="true"/>
          <p:nvPr/>
        </p:nvSpPr>
        <p:spPr>
          <a:xfrm rot="0">
            <a:off x="11571352" y="4307045"/>
            <a:ext cx="6171614" cy="3919070"/>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Public Sans Bold"/>
                <a:ea typeface="Public Sans Bold"/>
                <a:cs typeface="Public Sans Bold"/>
                <a:sym typeface="Public Sans Bold"/>
              </a:rPr>
              <a:t>Trung vị:</a:t>
            </a:r>
            <a:r>
              <a:rPr lang="en-US" sz="3200">
                <a:solidFill>
                  <a:srgbClr val="000000"/>
                </a:solidFill>
                <a:latin typeface="Public Sans"/>
                <a:ea typeface="Public Sans"/>
                <a:cs typeface="Public Sans"/>
                <a:sym typeface="Public Sans"/>
              </a:rPr>
              <a:t> 13.8 ngày → phản ứng nhanh, mang tính thờ</a:t>
            </a:r>
            <a:r>
              <a:rPr lang="en-US" sz="3200">
                <a:solidFill>
                  <a:srgbClr val="000000"/>
                </a:solidFill>
                <a:latin typeface="Public Sans"/>
                <a:ea typeface="Public Sans"/>
                <a:cs typeface="Public Sans"/>
                <a:sym typeface="Public Sans"/>
              </a:rPr>
              <a:t>i sự.</a:t>
            </a:r>
          </a:p>
          <a:p>
            <a:pPr algn="l">
              <a:lnSpc>
                <a:spcPts val="4480"/>
              </a:lnSpc>
              <a:spcBef>
                <a:spcPct val="0"/>
              </a:spcBef>
            </a:pPr>
            <a:r>
              <a:rPr lang="en-US" b="true" sz="3200">
                <a:solidFill>
                  <a:srgbClr val="000000"/>
                </a:solidFill>
                <a:latin typeface="Public Sans Bold"/>
                <a:ea typeface="Public Sans Bold"/>
                <a:cs typeface="Public Sans Bold"/>
                <a:sym typeface="Public Sans Bold"/>
              </a:rPr>
              <a:t>Trung bình: </a:t>
            </a:r>
            <a:r>
              <a:rPr lang="en-US" sz="3200">
                <a:solidFill>
                  <a:srgbClr val="000000"/>
                </a:solidFill>
                <a:latin typeface="Public Sans"/>
                <a:ea typeface="Public Sans"/>
                <a:cs typeface="Public Sans"/>
                <a:sym typeface="Public Sans"/>
              </a:rPr>
              <a:t>136.5 ngày → chứng minh giá trị lưu trữ lâu dài.</a:t>
            </a:r>
          </a:p>
          <a:p>
            <a:pPr algn="l">
              <a:lnSpc>
                <a:spcPts val="4480"/>
              </a:lnSpc>
              <a:spcBef>
                <a:spcPct val="0"/>
              </a:spcBef>
            </a:pPr>
            <a:r>
              <a:rPr lang="en-US" sz="3200">
                <a:solidFill>
                  <a:srgbClr val="000000"/>
                </a:solidFill>
                <a:latin typeface="Public Sans"/>
                <a:ea typeface="Public Sans"/>
                <a:cs typeface="Public Sans"/>
                <a:sym typeface="Public Sans"/>
              </a:rPr>
              <a:t> → Thông tin chính phủ có “vòng đời kép”: ngắn hạn &amp; dài hạn.</a:t>
            </a:r>
          </a:p>
          <a:p>
            <a:pPr algn="l">
              <a:lnSpc>
                <a:spcPts val="448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 Chuyên sâu </a:t>
            </a:r>
          </a:p>
          <a:p>
            <a:pPr algn="ctr">
              <a:lnSpc>
                <a:spcPts val="4319"/>
              </a:lnSpc>
            </a:pPr>
            <a:r>
              <a:rPr lang="en-US" b="true" sz="3199" spc="191">
                <a:solidFill>
                  <a:srgbClr val="000000"/>
                </a:solidFill>
                <a:latin typeface="Public Sans Bold"/>
                <a:ea typeface="Public Sans Bold"/>
                <a:cs typeface="Public Sans Bold"/>
                <a:sym typeface="Public Sans Bold"/>
              </a:rPr>
              <a:t>5. Top 5 Bang có lượng truy cập cao nhất</a:t>
            </a:r>
          </a:p>
        </p:txBody>
      </p:sp>
      <p:sp>
        <p:nvSpPr>
          <p:cNvPr name="Freeform 5" id="5"/>
          <p:cNvSpPr/>
          <p:nvPr/>
        </p:nvSpPr>
        <p:spPr>
          <a:xfrm flipH="false" flipV="false" rot="0">
            <a:off x="15649487"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287686" y="3122381"/>
            <a:ext cx="10894449" cy="6495815"/>
          </a:xfrm>
          <a:custGeom>
            <a:avLst/>
            <a:gdLst/>
            <a:ahLst/>
            <a:cxnLst/>
            <a:rect r="r" b="b" t="t" l="l"/>
            <a:pathLst>
              <a:path h="6495815" w="10894449">
                <a:moveTo>
                  <a:pt x="0" y="0"/>
                </a:moveTo>
                <a:lnTo>
                  <a:pt x="10894449" y="0"/>
                </a:lnTo>
                <a:lnTo>
                  <a:pt x="10894449" y="6495816"/>
                </a:lnTo>
                <a:lnTo>
                  <a:pt x="0" y="6495816"/>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10" id="10"/>
          <p:cNvSpPr txBox="true"/>
          <p:nvPr/>
        </p:nvSpPr>
        <p:spPr>
          <a:xfrm rot="0">
            <a:off x="11599082" y="5782301"/>
            <a:ext cx="6171614" cy="1109302"/>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Public Sans Bold"/>
                <a:ea typeface="Public Sans Bold"/>
                <a:cs typeface="Public Sans Bold"/>
                <a:sym typeface="Public Sans Bold"/>
              </a:rPr>
              <a:t>CA, NY,</a:t>
            </a:r>
            <a:r>
              <a:rPr lang="en-US" b="true" sz="3200">
                <a:solidFill>
                  <a:srgbClr val="000000"/>
                </a:solidFill>
                <a:latin typeface="Public Sans Bold"/>
                <a:ea typeface="Public Sans Bold"/>
                <a:cs typeface="Public Sans Bold"/>
                <a:sym typeface="Public Sans Bold"/>
              </a:rPr>
              <a:t> TX dẫn đầu</a:t>
            </a:r>
            <a:r>
              <a:rPr lang="en-US" sz="3200">
                <a:solidFill>
                  <a:srgbClr val="000000"/>
                </a:solidFill>
                <a:latin typeface="Public Sans"/>
                <a:ea typeface="Public Sans"/>
                <a:cs typeface="Public Sans"/>
                <a:sym typeface="Public Sans"/>
              </a:rPr>
              <a:t> → trung tâm dân cư và kinh tế lớn.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 Chuyên sâu </a:t>
            </a:r>
          </a:p>
          <a:p>
            <a:pPr algn="ctr">
              <a:lnSpc>
                <a:spcPts val="4319"/>
              </a:lnSpc>
            </a:pPr>
            <a:r>
              <a:rPr lang="en-US" b="true" sz="3199" spc="191">
                <a:solidFill>
                  <a:srgbClr val="000000"/>
                </a:solidFill>
                <a:latin typeface="Public Sans Bold"/>
                <a:ea typeface="Public Sans Bold"/>
                <a:cs typeface="Public Sans Bold"/>
                <a:sym typeface="Public Sans Bold"/>
              </a:rPr>
              <a:t>6. Top 5 Thành phố</a:t>
            </a:r>
          </a:p>
        </p:txBody>
      </p:sp>
      <p:sp>
        <p:nvSpPr>
          <p:cNvPr name="Freeform 5" id="5"/>
          <p:cNvSpPr/>
          <p:nvPr/>
        </p:nvSpPr>
        <p:spPr>
          <a:xfrm flipH="false" flipV="false" rot="0">
            <a:off x="15649487"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665074" y="3234890"/>
            <a:ext cx="10923423" cy="6513091"/>
          </a:xfrm>
          <a:custGeom>
            <a:avLst/>
            <a:gdLst/>
            <a:ahLst/>
            <a:cxnLst/>
            <a:rect r="r" b="b" t="t" l="l"/>
            <a:pathLst>
              <a:path h="6513091" w="10923423">
                <a:moveTo>
                  <a:pt x="0" y="0"/>
                </a:moveTo>
                <a:lnTo>
                  <a:pt x="10923423" y="0"/>
                </a:lnTo>
                <a:lnTo>
                  <a:pt x="10923423" y="6513091"/>
                </a:lnTo>
                <a:lnTo>
                  <a:pt x="0" y="6513091"/>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10" id="10"/>
          <p:cNvSpPr txBox="true"/>
          <p:nvPr/>
        </p:nvSpPr>
        <p:spPr>
          <a:xfrm rot="0">
            <a:off x="11814210" y="4868998"/>
            <a:ext cx="6136434" cy="2795163"/>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Public Sans Bold"/>
                <a:ea typeface="Public Sans Bold"/>
                <a:cs typeface="Public Sans Bold"/>
                <a:sym typeface="Public Sans Bold"/>
              </a:rPr>
              <a:t>Ghi nhận</a:t>
            </a:r>
            <a:r>
              <a:rPr lang="en-US" b="true" sz="3200">
                <a:solidFill>
                  <a:srgbClr val="000000"/>
                </a:solidFill>
                <a:latin typeface="Public Sans Bold"/>
                <a:ea typeface="Public Sans Bold"/>
                <a:cs typeface="Public Sans Bold"/>
                <a:sym typeface="Public Sans Bold"/>
              </a:rPr>
              <a:t> thêm Provo (UT) </a:t>
            </a:r>
            <a:r>
              <a:rPr lang="en-US" sz="3200">
                <a:solidFill>
                  <a:srgbClr val="000000"/>
                </a:solidFill>
                <a:latin typeface="Public Sans"/>
                <a:ea typeface="Public Sans"/>
                <a:cs typeface="Public Sans"/>
                <a:sym typeface="Public Sans"/>
              </a:rPr>
              <a:t>– ngoài trung tâm hành chính.</a:t>
            </a:r>
          </a:p>
          <a:p>
            <a:pPr algn="l">
              <a:lnSpc>
                <a:spcPts val="4480"/>
              </a:lnSpc>
              <a:spcBef>
                <a:spcPct val="0"/>
              </a:spcBef>
            </a:pPr>
            <a:r>
              <a:rPr lang="en-US" sz="3200">
                <a:solidFill>
                  <a:srgbClr val="000000"/>
                </a:solidFill>
                <a:latin typeface="Public Sans"/>
                <a:ea typeface="Public Sans"/>
                <a:cs typeface="Public Sans"/>
                <a:sym typeface="Public Sans"/>
              </a:rPr>
              <a:t>→ Chứng tỏ hiệu quả lan tỏa thông tin địa phương, không chỉ tập trung ở thủ đô.</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 Chuyên sâu </a:t>
            </a:r>
          </a:p>
          <a:p>
            <a:pPr algn="ctr">
              <a:lnSpc>
                <a:spcPts val="4319"/>
              </a:lnSpc>
            </a:pPr>
            <a:r>
              <a:rPr lang="en-US" b="true" sz="3199" spc="191">
                <a:solidFill>
                  <a:srgbClr val="000000"/>
                </a:solidFill>
                <a:latin typeface="Public Sans Bold"/>
                <a:ea typeface="Public Sans Bold"/>
                <a:cs typeface="Public Sans Bold"/>
                <a:sym typeface="Public Sans Bold"/>
              </a:rPr>
              <a:t>7. Tỷ lệ truy cập quốc tế</a:t>
            </a:r>
          </a:p>
        </p:txBody>
      </p:sp>
      <p:sp>
        <p:nvSpPr>
          <p:cNvPr name="Freeform 5" id="5"/>
          <p:cNvSpPr/>
          <p:nvPr/>
        </p:nvSpPr>
        <p:spPr>
          <a:xfrm flipH="false" flipV="false" rot="0">
            <a:off x="15649487"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816056" y="2981637"/>
            <a:ext cx="7712234" cy="7818123"/>
          </a:xfrm>
          <a:custGeom>
            <a:avLst/>
            <a:gdLst/>
            <a:ahLst/>
            <a:cxnLst/>
            <a:rect r="r" b="b" t="t" l="l"/>
            <a:pathLst>
              <a:path h="7818123" w="7712234">
                <a:moveTo>
                  <a:pt x="0" y="0"/>
                </a:moveTo>
                <a:lnTo>
                  <a:pt x="7712233" y="0"/>
                </a:lnTo>
                <a:lnTo>
                  <a:pt x="7712233" y="7818123"/>
                </a:lnTo>
                <a:lnTo>
                  <a:pt x="0" y="7818123"/>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10" id="10"/>
          <p:cNvSpPr txBox="true"/>
          <p:nvPr/>
        </p:nvSpPr>
        <p:spPr>
          <a:xfrm rot="0">
            <a:off x="10899794" y="5076825"/>
            <a:ext cx="6136434" cy="2233209"/>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Public Sans"/>
                <a:ea typeface="Public Sans"/>
                <a:cs typeface="Public Sans"/>
                <a:sym typeface="Public Sans"/>
              </a:rPr>
              <a:t>32.99% lượt đến</a:t>
            </a:r>
            <a:r>
              <a:rPr lang="en-US" sz="3200">
                <a:solidFill>
                  <a:srgbClr val="000000"/>
                </a:solidFill>
                <a:latin typeface="Public Sans"/>
                <a:ea typeface="Public Sans"/>
                <a:cs typeface="Public Sans"/>
                <a:sym typeface="Public Sans"/>
              </a:rPr>
              <a:t> từ ngoài nước Mỹ hoặc không xác định.</a:t>
            </a:r>
          </a:p>
          <a:p>
            <a:pPr algn="l">
              <a:lnSpc>
                <a:spcPts val="4480"/>
              </a:lnSpc>
              <a:spcBef>
                <a:spcPct val="0"/>
              </a:spcBef>
            </a:pPr>
            <a:r>
              <a:rPr lang="en-US" sz="3200">
                <a:solidFill>
                  <a:srgbClr val="000000"/>
                </a:solidFill>
                <a:latin typeface="Public Sans"/>
                <a:ea typeface="Public Sans"/>
                <a:cs typeface="Public Sans"/>
                <a:sym typeface="Public Sans"/>
              </a:rPr>
              <a:t> → Thông tin chính phủ có tầm ảnh hưởng toàn cầu.</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 Chuyên sâu </a:t>
            </a:r>
          </a:p>
          <a:p>
            <a:pPr algn="ctr">
              <a:lnSpc>
                <a:spcPts val="4319"/>
              </a:lnSpc>
            </a:pPr>
            <a:r>
              <a:rPr lang="en-US" b="true" sz="3199" spc="191">
                <a:solidFill>
                  <a:srgbClr val="000000"/>
                </a:solidFill>
                <a:latin typeface="Public Sans Bold"/>
                <a:ea typeface="Public Sans Bold"/>
                <a:cs typeface="Public Sans Bold"/>
                <a:sym typeface="Public Sans Bold"/>
              </a:rPr>
              <a:t>8. Hệ điều hành theo Top 5 nguồn truy cập</a:t>
            </a:r>
          </a:p>
        </p:txBody>
      </p:sp>
      <p:sp>
        <p:nvSpPr>
          <p:cNvPr name="Freeform 5" id="5"/>
          <p:cNvSpPr/>
          <p:nvPr/>
        </p:nvSpPr>
        <p:spPr>
          <a:xfrm flipH="false" flipV="false" rot="0">
            <a:off x="15649487"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369271" y="3060244"/>
            <a:ext cx="10812864" cy="6271461"/>
          </a:xfrm>
          <a:custGeom>
            <a:avLst/>
            <a:gdLst/>
            <a:ahLst/>
            <a:cxnLst/>
            <a:rect r="r" b="b" t="t" l="l"/>
            <a:pathLst>
              <a:path h="6271461" w="10812864">
                <a:moveTo>
                  <a:pt x="0" y="0"/>
                </a:moveTo>
                <a:lnTo>
                  <a:pt x="10812864" y="0"/>
                </a:lnTo>
                <a:lnTo>
                  <a:pt x="10812864" y="6271461"/>
                </a:lnTo>
                <a:lnTo>
                  <a:pt x="0" y="6271461"/>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10" id="10"/>
          <p:cNvSpPr txBox="true"/>
          <p:nvPr/>
        </p:nvSpPr>
        <p:spPr>
          <a:xfrm rot="0">
            <a:off x="11402197" y="3641148"/>
            <a:ext cx="6548447" cy="5042977"/>
          </a:xfrm>
          <a:prstGeom prst="rect">
            <a:avLst/>
          </a:prstGeom>
        </p:spPr>
        <p:txBody>
          <a:bodyPr anchor="t" rtlCol="false" tIns="0" lIns="0" bIns="0" rIns="0">
            <a:spAutoFit/>
          </a:bodyPr>
          <a:lstStyle/>
          <a:p>
            <a:pPr algn="l" marL="690881" indent="-345440" lvl="1">
              <a:lnSpc>
                <a:spcPts val="4480"/>
              </a:lnSpc>
              <a:spcBef>
                <a:spcPct val="0"/>
              </a:spcBef>
              <a:buFont typeface="Arial"/>
              <a:buChar char="•"/>
            </a:pPr>
            <a:r>
              <a:rPr lang="en-US" b="true" sz="3200">
                <a:solidFill>
                  <a:srgbClr val="000000"/>
                </a:solidFill>
                <a:latin typeface="Public Sans Bold"/>
                <a:ea typeface="Public Sans Bold"/>
                <a:cs typeface="Public Sans Bold"/>
                <a:sym typeface="Public Sans Bold"/>
              </a:rPr>
              <a:t>Twitter:</a:t>
            </a:r>
            <a:r>
              <a:rPr lang="en-US" sz="3200">
                <a:solidFill>
                  <a:srgbClr val="000000"/>
                </a:solidFill>
                <a:latin typeface="Public Sans"/>
                <a:ea typeface="Public Sans"/>
                <a:cs typeface="Public Sans"/>
                <a:sym typeface="Public Sans"/>
              </a:rPr>
              <a:t> cân</a:t>
            </a:r>
            <a:r>
              <a:rPr lang="en-US" sz="3200">
                <a:solidFill>
                  <a:srgbClr val="000000"/>
                </a:solidFill>
                <a:latin typeface="Public Sans"/>
                <a:ea typeface="Public Sans"/>
                <a:cs typeface="Public Sans"/>
                <a:sym typeface="Public Sans"/>
              </a:rPr>
              <a:t> bằng (50% Windows – 50% Non-Windows)</a:t>
            </a:r>
          </a:p>
          <a:p>
            <a:pPr algn="l" marL="690881" indent="-345440" lvl="1">
              <a:lnSpc>
                <a:spcPts val="4480"/>
              </a:lnSpc>
              <a:spcBef>
                <a:spcPct val="0"/>
              </a:spcBef>
              <a:buFont typeface="Arial"/>
              <a:buChar char="•"/>
            </a:pPr>
            <a:r>
              <a:rPr lang="en-US" b="true" sz="3200">
                <a:solidFill>
                  <a:srgbClr val="000000"/>
                </a:solidFill>
                <a:latin typeface="Public Sans Bold"/>
                <a:ea typeface="Public Sans Bold"/>
                <a:cs typeface="Public Sans Bold"/>
                <a:sym typeface="Public Sans Bold"/>
              </a:rPr>
              <a:t>Facebook: </a:t>
            </a:r>
            <a:r>
              <a:rPr lang="en-US" sz="3200">
                <a:solidFill>
                  <a:srgbClr val="000000"/>
                </a:solidFill>
                <a:latin typeface="Public Sans"/>
                <a:ea typeface="Public Sans"/>
                <a:cs typeface="Public Sans"/>
                <a:sym typeface="Public Sans"/>
              </a:rPr>
              <a:t>thiên về Windows (72.26%)</a:t>
            </a:r>
          </a:p>
          <a:p>
            <a:pPr algn="l">
              <a:lnSpc>
                <a:spcPts val="4480"/>
              </a:lnSpc>
              <a:spcBef>
                <a:spcPct val="0"/>
              </a:spcBef>
            </a:pPr>
            <a:r>
              <a:rPr lang="en-US" sz="3200">
                <a:solidFill>
                  <a:srgbClr val="000000"/>
                </a:solidFill>
                <a:latin typeface="Public Sans"/>
                <a:ea typeface="Public Sans"/>
                <a:cs typeface="Public Sans"/>
                <a:sym typeface="Public Sans"/>
              </a:rPr>
              <a:t>→ Twitter phục vụ người dùng di động / tức thời,</a:t>
            </a:r>
          </a:p>
          <a:p>
            <a:pPr algn="l">
              <a:lnSpc>
                <a:spcPts val="4480"/>
              </a:lnSpc>
              <a:spcBef>
                <a:spcPct val="0"/>
              </a:spcBef>
            </a:pPr>
            <a:r>
              <a:rPr lang="en-US" sz="3200">
                <a:solidFill>
                  <a:srgbClr val="000000"/>
                </a:solidFill>
                <a:latin typeface="Public Sans"/>
                <a:ea typeface="Public Sans"/>
                <a:cs typeface="Public Sans"/>
                <a:sym typeface="Public Sans"/>
              </a:rPr>
              <a:t>→ Facebook phù hợp desktop / tài liệu dài.</a:t>
            </a:r>
          </a:p>
          <a:p>
            <a:pPr algn="l">
              <a:lnSpc>
                <a:spcPts val="4480"/>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5" id="5"/>
          <p:cNvSpPr txBox="true"/>
          <p:nvPr/>
        </p:nvSpPr>
        <p:spPr>
          <a:xfrm rot="0">
            <a:off x="755542" y="2516651"/>
            <a:ext cx="16237071" cy="2846264"/>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Tổng quan kết quả phân tích dữ liệu Bitly (1.usa.gov)</a:t>
            </a:r>
          </a:p>
          <a:p>
            <a:pPr algn="just" marL="690872" indent="-345436" lvl="1">
              <a:lnSpc>
                <a:spcPts val="4319"/>
              </a:lnSpc>
              <a:buFont typeface="Arial"/>
              <a:buChar char="•"/>
            </a:pPr>
            <a:r>
              <a:rPr lang="en-US" sz="3199" spc="191">
                <a:solidFill>
                  <a:srgbClr val="000000"/>
                </a:solidFill>
                <a:latin typeface="Public Sans"/>
                <a:ea typeface="Public Sans"/>
                <a:cs typeface="Public Sans"/>
                <a:sym typeface="Public Sans"/>
              </a:rPr>
              <a:t>Phân tích 3.440 lượt truy cập vào liên kết chính phủ Mỹ qua Bitly.</a:t>
            </a:r>
          </a:p>
          <a:p>
            <a:pPr algn="just" marL="690872" indent="-345436" lvl="1">
              <a:lnSpc>
                <a:spcPts val="4319"/>
              </a:lnSpc>
              <a:buFont typeface="Arial"/>
              <a:buChar char="•"/>
            </a:pPr>
            <a:r>
              <a:rPr lang="en-US" sz="3199" spc="191">
                <a:solidFill>
                  <a:srgbClr val="000000"/>
                </a:solidFill>
                <a:latin typeface="Public Sans"/>
                <a:ea typeface="Public Sans"/>
                <a:cs typeface="Public Sans"/>
                <a:sym typeface="Public Sans"/>
              </a:rPr>
              <a:t>Mục tiêu: Giải mã hành vi người dùng &amp; đánh giá hiệu quả truyền thông.</a:t>
            </a:r>
          </a:p>
          <a:p>
            <a:pPr algn="just" marL="690872" indent="-345436" lvl="1">
              <a:lnSpc>
                <a:spcPts val="4319"/>
              </a:lnSpc>
              <a:buFont typeface="Arial"/>
              <a:buChar char="•"/>
            </a:pPr>
            <a:r>
              <a:rPr lang="en-US" sz="3199" spc="191">
                <a:solidFill>
                  <a:srgbClr val="000000"/>
                </a:solidFill>
                <a:latin typeface="Public Sans"/>
                <a:ea typeface="Public Sans"/>
                <a:cs typeface="Public Sans"/>
                <a:sym typeface="Public Sans"/>
              </a:rPr>
              <a:t>Kết quả giúp tối ưu chiến lược tiếp cận công chúng đa kênh.</a:t>
            </a:r>
          </a:p>
          <a:p>
            <a:pPr algn="just">
              <a:lnSpc>
                <a:spcPts val="4319"/>
              </a:lnSpc>
            </a:pPr>
          </a:p>
        </p:txBody>
      </p:sp>
      <p:sp>
        <p:nvSpPr>
          <p:cNvPr name="Freeform 6" id="6"/>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7562459" y="1599098"/>
            <a:ext cx="2623236" cy="698478"/>
          </a:xfrm>
          <a:prstGeom prst="rect">
            <a:avLst/>
          </a:prstGeom>
        </p:spPr>
        <p:txBody>
          <a:bodyPr anchor="t" rtlCol="false" tIns="0" lIns="0" bIns="0" rIns="0">
            <a:spAutoFit/>
          </a:bodyPr>
          <a:lstStyle/>
          <a:p>
            <a:pPr algn="ctr">
              <a:lnSpc>
                <a:spcPts val="5600"/>
              </a:lnSpc>
              <a:spcBef>
                <a:spcPct val="0"/>
              </a:spcBef>
            </a:pPr>
            <a:r>
              <a:rPr lang="en-US" b="true" sz="4000">
                <a:solidFill>
                  <a:srgbClr val="000000"/>
                </a:solidFill>
                <a:latin typeface="Public Sans Bold"/>
                <a:ea typeface="Public Sans Bold"/>
                <a:cs typeface="Public Sans Bold"/>
                <a:sym typeface="Public Sans Bold"/>
              </a:rPr>
              <a:t>KẾT LUẬN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5" id="5"/>
          <p:cNvSpPr txBox="true"/>
          <p:nvPr/>
        </p:nvSpPr>
        <p:spPr>
          <a:xfrm rot="0">
            <a:off x="755542" y="2516651"/>
            <a:ext cx="16237071" cy="5018135"/>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Ba xu hướng chính rút ra từ dữ liệu</a:t>
            </a:r>
          </a:p>
          <a:p>
            <a:pPr algn="just">
              <a:lnSpc>
                <a:spcPts val="4319"/>
              </a:lnSpc>
            </a:pPr>
            <a:r>
              <a:rPr lang="en-US" b="true" sz="3199" spc="191">
                <a:solidFill>
                  <a:srgbClr val="000000"/>
                </a:solidFill>
                <a:latin typeface="Public Sans Bold"/>
                <a:ea typeface="Public Sans Bold"/>
                <a:cs typeface="Public Sans Bold"/>
                <a:sym typeface="Public Sans Bold"/>
              </a:rPr>
              <a:t>1.Mạng xã hội thống trị</a:t>
            </a:r>
          </a:p>
          <a:p>
            <a:pPr algn="just">
              <a:lnSpc>
                <a:spcPts val="4319"/>
              </a:lnSpc>
            </a:pPr>
            <a:r>
              <a:rPr lang="en-US" sz="3199" spc="191">
                <a:solidFill>
                  <a:srgbClr val="000000"/>
                </a:solidFill>
                <a:latin typeface="Public Sans"/>
                <a:ea typeface="Public Sans"/>
                <a:cs typeface="Public Sans"/>
                <a:sym typeface="Public Sans"/>
              </a:rPr>
              <a:t>→ Twitter &amp; Facebook chiếm 67.6% nguồn truy cập — kênh phân phối chính.</a:t>
            </a:r>
          </a:p>
          <a:p>
            <a:pPr algn="just">
              <a:lnSpc>
                <a:spcPts val="4319"/>
              </a:lnSpc>
            </a:pPr>
            <a:r>
              <a:rPr lang="en-US" b="true" sz="3199" spc="191">
                <a:solidFill>
                  <a:srgbClr val="000000"/>
                </a:solidFill>
                <a:latin typeface="Public Sans Bold"/>
                <a:ea typeface="Public Sans Bold"/>
                <a:cs typeface="Public Sans Bold"/>
                <a:sym typeface="Public Sans Bold"/>
              </a:rPr>
              <a:t>2.Hành vi truy cập có chủ đích</a:t>
            </a:r>
          </a:p>
          <a:p>
            <a:pPr algn="just">
              <a:lnSpc>
                <a:spcPts val="4319"/>
              </a:lnSpc>
            </a:pPr>
            <a:r>
              <a:rPr lang="en-US" sz="3199" spc="191">
                <a:solidFill>
                  <a:srgbClr val="000000"/>
                </a:solidFill>
                <a:latin typeface="Public Sans"/>
                <a:ea typeface="Public Sans"/>
                <a:cs typeface="Public Sans"/>
                <a:sym typeface="Public Sans"/>
              </a:rPr>
              <a:t>→ Lưu lượng đạt đỉnh 18h–20h UTC (giờ làm việc Bờ Đông Mỹ).</a:t>
            </a:r>
          </a:p>
          <a:p>
            <a:pPr algn="just">
              <a:lnSpc>
                <a:spcPts val="4319"/>
              </a:lnSpc>
            </a:pPr>
            <a:r>
              <a:rPr lang="en-US" b="true" sz="3199" spc="191">
                <a:solidFill>
                  <a:srgbClr val="000000"/>
                </a:solidFill>
                <a:latin typeface="Public Sans Bold"/>
                <a:ea typeface="Public Sans Bold"/>
                <a:cs typeface="Public Sans Bold"/>
                <a:sym typeface="Public Sans Bold"/>
              </a:rPr>
              <a:t>3.Vòng đời kép của thông tin</a:t>
            </a:r>
          </a:p>
          <a:p>
            <a:pPr algn="just">
              <a:lnSpc>
                <a:spcPts val="4319"/>
              </a:lnSpc>
            </a:pPr>
            <a:r>
              <a:rPr lang="en-US" sz="3199" spc="191">
                <a:solidFill>
                  <a:srgbClr val="000000"/>
                </a:solidFill>
                <a:latin typeface="Public Sans"/>
                <a:ea typeface="Public Sans"/>
                <a:cs typeface="Public Sans"/>
                <a:sym typeface="Public Sans"/>
              </a:rPr>
              <a:t>→ Thông tin vừa có tính thời sự (phản ứng nhanh)</a:t>
            </a:r>
          </a:p>
          <a:p>
            <a:pPr algn="just">
              <a:lnSpc>
                <a:spcPts val="4319"/>
              </a:lnSpc>
            </a:pPr>
            <a:r>
              <a:rPr lang="en-US" sz="3199" spc="191">
                <a:solidFill>
                  <a:srgbClr val="000000"/>
                </a:solidFill>
                <a:latin typeface="Public Sans"/>
                <a:ea typeface="Public Sans"/>
                <a:cs typeface="Public Sans"/>
                <a:sym typeface="Public Sans"/>
              </a:rPr>
              <a:t>→ Vừa có giá trị lưu trữ lâu dài, được tra cứu sau nhiều tháng.</a:t>
            </a:r>
          </a:p>
          <a:p>
            <a:pPr algn="just">
              <a:lnSpc>
                <a:spcPts val="4319"/>
              </a:lnSpc>
            </a:pPr>
          </a:p>
        </p:txBody>
      </p:sp>
      <p:sp>
        <p:nvSpPr>
          <p:cNvPr name="Freeform 6" id="6"/>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7606705" y="1599098"/>
            <a:ext cx="2534744" cy="698478"/>
          </a:xfrm>
          <a:prstGeom prst="rect">
            <a:avLst/>
          </a:prstGeom>
        </p:spPr>
        <p:txBody>
          <a:bodyPr anchor="t" rtlCol="false" tIns="0" lIns="0" bIns="0" rIns="0">
            <a:spAutoFit/>
          </a:bodyPr>
          <a:lstStyle/>
          <a:p>
            <a:pPr algn="ctr">
              <a:lnSpc>
                <a:spcPts val="5600"/>
              </a:lnSpc>
              <a:spcBef>
                <a:spcPct val="0"/>
              </a:spcBef>
            </a:pPr>
            <a:r>
              <a:rPr lang="en-US" b="true" sz="4000">
                <a:solidFill>
                  <a:srgbClr val="000000"/>
                </a:solidFill>
                <a:latin typeface="Public Sans Bold"/>
                <a:ea typeface="Public Sans Bold"/>
                <a:cs typeface="Public Sans Bold"/>
                <a:sym typeface="Public Sans Bold"/>
              </a:rPr>
              <a:t>KẾT LUẬN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BITLY TỪ 1.USA.GOV</a:t>
            </a:r>
          </a:p>
        </p:txBody>
      </p:sp>
      <p:sp>
        <p:nvSpPr>
          <p:cNvPr name="TextBox 5" id="5"/>
          <p:cNvSpPr txBox="true"/>
          <p:nvPr/>
        </p:nvSpPr>
        <p:spPr>
          <a:xfrm rot="0">
            <a:off x="755542" y="2554025"/>
            <a:ext cx="16237071" cy="7732975"/>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Chiến lược hành động &amp; gợi ý cho truyền thông số</a:t>
            </a:r>
          </a:p>
          <a:p>
            <a:pPr algn="just">
              <a:lnSpc>
                <a:spcPts val="4319"/>
              </a:lnSpc>
            </a:pPr>
            <a:r>
              <a:rPr lang="en-US" b="true" sz="3199" spc="191">
                <a:solidFill>
                  <a:srgbClr val="000000"/>
                </a:solidFill>
                <a:latin typeface="Public Sans Bold"/>
                <a:ea typeface="Public Sans Bold"/>
                <a:cs typeface="Public Sans Bold"/>
                <a:sym typeface="Public Sans Bold"/>
              </a:rPr>
              <a:t>Đa thiết bị – đa kênh</a:t>
            </a:r>
          </a:p>
          <a:p>
            <a:pPr algn="just" marL="690872" indent="-345436" lvl="1">
              <a:lnSpc>
                <a:spcPts val="4319"/>
              </a:lnSpc>
              <a:buFont typeface="Arial"/>
              <a:buChar char="•"/>
            </a:pPr>
            <a:r>
              <a:rPr lang="en-US" sz="3199" spc="191">
                <a:solidFill>
                  <a:srgbClr val="000000"/>
                </a:solidFill>
                <a:latin typeface="Public Sans"/>
                <a:ea typeface="Public Sans"/>
                <a:cs typeface="Public Sans"/>
                <a:sym typeface="Public Sans"/>
              </a:rPr>
              <a:t>Windows chiếm 65.3% tổng thể.</a:t>
            </a:r>
          </a:p>
          <a:p>
            <a:pPr algn="just" marL="690872" indent="-345436" lvl="1">
              <a:lnSpc>
                <a:spcPts val="4319"/>
              </a:lnSpc>
              <a:buFont typeface="Arial"/>
              <a:buChar char="•"/>
            </a:pPr>
            <a:r>
              <a:rPr lang="en-US" sz="3199" spc="191">
                <a:solidFill>
                  <a:srgbClr val="000000"/>
                </a:solidFill>
                <a:latin typeface="Public Sans"/>
                <a:ea typeface="Public Sans"/>
                <a:cs typeface="Public Sans"/>
                <a:sym typeface="Public Sans"/>
              </a:rPr>
              <a:t>Twitter: cân bằng Windows/Non-Windows (50–50) → Ưu tiên video ngắn, infographic.</a:t>
            </a:r>
          </a:p>
          <a:p>
            <a:pPr algn="just" marL="690872" indent="-345436" lvl="1">
              <a:lnSpc>
                <a:spcPts val="4319"/>
              </a:lnSpc>
              <a:buFont typeface="Arial"/>
              <a:buChar char="•"/>
            </a:pPr>
            <a:r>
              <a:rPr lang="en-US" sz="3199" spc="191">
                <a:solidFill>
                  <a:srgbClr val="000000"/>
                </a:solidFill>
                <a:latin typeface="Public Sans"/>
                <a:ea typeface="Public Sans"/>
                <a:cs typeface="Public Sans"/>
                <a:sym typeface="Public Sans"/>
              </a:rPr>
              <a:t>Facebook: 72.26% Windows → Phù hợp cho báo cáo, nội dung chuyên sâu.</a:t>
            </a:r>
          </a:p>
          <a:p>
            <a:pPr algn="just">
              <a:lnSpc>
                <a:spcPts val="4319"/>
              </a:lnSpc>
            </a:pPr>
            <a:r>
              <a:rPr lang="en-US" b="true" sz="3199" spc="191">
                <a:solidFill>
                  <a:srgbClr val="000000"/>
                </a:solidFill>
                <a:latin typeface="Public Sans Bold"/>
                <a:ea typeface="Public Sans Bold"/>
                <a:cs typeface="Public Sans Bold"/>
                <a:sym typeface="Public Sans Bold"/>
              </a:rPr>
              <a:t>Mở rộng tầm nhìn quốc tế</a:t>
            </a:r>
          </a:p>
          <a:p>
            <a:pPr algn="just" marL="690872" indent="-345436" lvl="1">
              <a:lnSpc>
                <a:spcPts val="4319"/>
              </a:lnSpc>
              <a:buFont typeface="Arial"/>
              <a:buChar char="•"/>
            </a:pPr>
            <a:r>
              <a:rPr lang="en-US" sz="3199" spc="191">
                <a:solidFill>
                  <a:srgbClr val="000000"/>
                </a:solidFill>
                <a:latin typeface="Public Sans"/>
                <a:ea typeface="Public Sans"/>
                <a:cs typeface="Public Sans"/>
                <a:sym typeface="Public Sans"/>
              </a:rPr>
              <a:t>32.99% truy cập ngoài Mỹ → cần chiến lược toàn cầu &amp; địa phương hóa.</a:t>
            </a:r>
          </a:p>
          <a:p>
            <a:pPr algn="just">
              <a:lnSpc>
                <a:spcPts val="4319"/>
              </a:lnSpc>
            </a:pPr>
            <a:r>
              <a:rPr lang="en-US" b="true" sz="3199" spc="191">
                <a:solidFill>
                  <a:srgbClr val="000000"/>
                </a:solidFill>
                <a:latin typeface="Public Sans Bold"/>
                <a:ea typeface="Public Sans Bold"/>
                <a:cs typeface="Public Sans Bold"/>
                <a:sym typeface="Public Sans Bold"/>
              </a:rPr>
              <a:t>Cải thiện chất lượng dữ liệu</a:t>
            </a:r>
          </a:p>
          <a:p>
            <a:pPr algn="just" marL="690872" indent="-345436" lvl="1">
              <a:lnSpc>
                <a:spcPts val="4319"/>
              </a:lnSpc>
              <a:buFont typeface="Arial"/>
              <a:buChar char="•"/>
            </a:pPr>
            <a:r>
              <a:rPr lang="en-US" sz="3199" spc="191">
                <a:solidFill>
                  <a:srgbClr val="000000"/>
                </a:solidFill>
                <a:latin typeface="Public Sans"/>
                <a:ea typeface="Public Sans"/>
                <a:cs typeface="Public Sans"/>
                <a:sym typeface="Public Sans"/>
              </a:rPr>
              <a:t>15.15% bản ghi thiếu thông tin địa lý → cần kỹ thuật nhận diện &amp; lọc bot/ẩn danh.</a:t>
            </a:r>
          </a:p>
          <a:p>
            <a:pPr algn="just">
              <a:lnSpc>
                <a:spcPts val="4319"/>
              </a:lnSpc>
            </a:pPr>
          </a:p>
          <a:p>
            <a:pPr algn="just">
              <a:lnSpc>
                <a:spcPts val="4319"/>
              </a:lnSpc>
            </a:pPr>
          </a:p>
        </p:txBody>
      </p:sp>
      <p:sp>
        <p:nvSpPr>
          <p:cNvPr name="Freeform 6" id="6"/>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7616359" y="1599098"/>
            <a:ext cx="2515437" cy="698478"/>
          </a:xfrm>
          <a:prstGeom prst="rect">
            <a:avLst/>
          </a:prstGeom>
        </p:spPr>
        <p:txBody>
          <a:bodyPr anchor="t" rtlCol="false" tIns="0" lIns="0" bIns="0" rIns="0">
            <a:spAutoFit/>
          </a:bodyPr>
          <a:lstStyle/>
          <a:p>
            <a:pPr algn="ctr">
              <a:lnSpc>
                <a:spcPts val="5600"/>
              </a:lnSpc>
              <a:spcBef>
                <a:spcPct val="0"/>
              </a:spcBef>
            </a:pPr>
            <a:r>
              <a:rPr lang="en-US" b="true" sz="4000">
                <a:solidFill>
                  <a:srgbClr val="000000"/>
                </a:solidFill>
                <a:latin typeface="Public Sans Bold"/>
                <a:ea typeface="Public Sans Bold"/>
                <a:cs typeface="Public Sans Bold"/>
                <a:sym typeface="Public Sans Bold"/>
              </a:rPr>
              <a:t>KẾT LUẬN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5" id="5"/>
          <p:cNvSpPr txBox="true"/>
          <p:nvPr/>
        </p:nvSpPr>
        <p:spPr>
          <a:xfrm rot="0">
            <a:off x="1022229" y="1556533"/>
            <a:ext cx="16237071" cy="8818911"/>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Giới thiệu</a:t>
            </a:r>
          </a:p>
          <a:p>
            <a:pPr algn="l">
              <a:lnSpc>
                <a:spcPts val="4319"/>
              </a:lnSpc>
            </a:pPr>
            <a:r>
              <a:rPr lang="en-US" sz="3199" spc="191" b="true">
                <a:solidFill>
                  <a:srgbClr val="000000"/>
                </a:solidFill>
                <a:latin typeface="Public Sans Bold"/>
                <a:ea typeface="Public Sans Bold"/>
                <a:cs typeface="Public Sans Bold"/>
                <a:sym typeface="Public Sans Bold"/>
              </a:rPr>
              <a:t>Tập dữ liệu: </a:t>
            </a:r>
            <a:r>
              <a:rPr lang="en-US" sz="3199" spc="191">
                <a:solidFill>
                  <a:srgbClr val="000000"/>
                </a:solidFill>
                <a:latin typeface="Public Sans"/>
                <a:ea typeface="Public Sans"/>
                <a:cs typeface="Public Sans"/>
                <a:sym typeface="Public Sans"/>
              </a:rPr>
              <a:t>MovieLens 1M</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Gồm 1 triệu lượt đánh giá phim từ người dùng thực trên hệ thống MovieLens.</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Mỗi bản ghi chứa thông tin người dùng, phim, và điểm đánh giá.</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Dữ</a:t>
            </a:r>
            <a:r>
              <a:rPr lang="en-US" sz="3199" spc="191">
                <a:solidFill>
                  <a:srgbClr val="000000"/>
                </a:solidFill>
                <a:latin typeface="Public Sans"/>
                <a:ea typeface="Public Sans"/>
                <a:cs typeface="Public Sans"/>
                <a:sym typeface="Public Sans"/>
              </a:rPr>
              <a:t> liệu ở dạng bán cấu trúc, lưu bằng file văn bản phân tách ký tự đặc biệt.</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Cần xử lý: làm sạch – tổng hợp – chuyển đổi bằng Pandas để phân tích.</a:t>
            </a:r>
          </a:p>
          <a:p>
            <a:pPr algn="l">
              <a:lnSpc>
                <a:spcPts val="4319"/>
              </a:lnSpc>
            </a:pPr>
            <a:r>
              <a:rPr lang="en-US" sz="3199" spc="191" b="true">
                <a:solidFill>
                  <a:srgbClr val="000000"/>
                </a:solidFill>
                <a:latin typeface="Public Sans Bold"/>
                <a:ea typeface="Public Sans Bold"/>
                <a:cs typeface="Public Sans Bold"/>
                <a:sym typeface="Public Sans Bold"/>
              </a:rPr>
              <a:t>Mục tiêu</a:t>
            </a:r>
            <a:r>
              <a:rPr lang="en-US" sz="3199" spc="191">
                <a:solidFill>
                  <a:srgbClr val="000000"/>
                </a:solidFill>
                <a:latin typeface="Public Sans"/>
                <a:ea typeface="Public Sans"/>
                <a:cs typeface="Public Sans"/>
                <a:sym typeface="Public Sans"/>
              </a:rPr>
              <a:t>:</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Áp</a:t>
            </a:r>
            <a:r>
              <a:rPr lang="en-US" sz="3199" spc="191">
                <a:solidFill>
                  <a:srgbClr val="000000"/>
                </a:solidFill>
                <a:latin typeface="Public Sans"/>
                <a:ea typeface="Public Sans"/>
                <a:cs typeface="Public Sans"/>
                <a:sym typeface="Public Sans"/>
              </a:rPr>
              <a:t> dụng toàn bộ quy trình phân tích dữ liệu (từ thô → trực quan).</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Khai thác:</a:t>
            </a:r>
          </a:p>
          <a:p>
            <a:pPr algn="l" marL="1381745" indent="-460582" lvl="2">
              <a:lnSpc>
                <a:spcPts val="4319"/>
              </a:lnSpc>
              <a:buFont typeface="Arial"/>
              <a:buChar char="⚬"/>
            </a:pPr>
            <a:r>
              <a:rPr lang="en-US" sz="3199" spc="191">
                <a:solidFill>
                  <a:srgbClr val="000000"/>
                </a:solidFill>
                <a:latin typeface="Public Sans"/>
                <a:ea typeface="Public Sans"/>
                <a:cs typeface="Public Sans"/>
                <a:sym typeface="Public Sans"/>
              </a:rPr>
              <a:t>Hành vi &amp; xu hướng đánh giá phim.</a:t>
            </a:r>
          </a:p>
          <a:p>
            <a:pPr algn="l" marL="1381745" indent="-460582" lvl="2">
              <a:lnSpc>
                <a:spcPts val="4319"/>
              </a:lnSpc>
              <a:buFont typeface="Arial"/>
              <a:buChar char="⚬"/>
            </a:pPr>
            <a:r>
              <a:rPr lang="en-US" sz="3199" spc="191">
                <a:solidFill>
                  <a:srgbClr val="000000"/>
                </a:solidFill>
                <a:latin typeface="Public Sans"/>
                <a:ea typeface="Public Sans"/>
                <a:cs typeface="Public Sans"/>
                <a:sym typeface="Public Sans"/>
              </a:rPr>
              <a:t>Sở thích thể loại theo nhóm ngườ</a:t>
            </a:r>
            <a:r>
              <a:rPr lang="en-US" sz="3199" spc="191">
                <a:solidFill>
                  <a:srgbClr val="000000"/>
                </a:solidFill>
                <a:latin typeface="Public Sans"/>
                <a:ea typeface="Public Sans"/>
                <a:cs typeface="Public Sans"/>
                <a:sym typeface="Public Sans"/>
              </a:rPr>
              <a:t>i</a:t>
            </a:r>
            <a:r>
              <a:rPr lang="en-US" sz="3199" spc="191">
                <a:solidFill>
                  <a:srgbClr val="000000"/>
                </a:solidFill>
                <a:latin typeface="Public Sans"/>
                <a:ea typeface="Public Sans"/>
                <a:cs typeface="Public Sans"/>
                <a:sym typeface="Public Sans"/>
              </a:rPr>
              <a:t> dùng.</a:t>
            </a:r>
          </a:p>
          <a:p>
            <a:pPr algn="l" marL="1381745" indent="-460582" lvl="2">
              <a:lnSpc>
                <a:spcPts val="4319"/>
              </a:lnSpc>
              <a:buFont typeface="Arial"/>
              <a:buChar char="⚬"/>
            </a:pPr>
            <a:r>
              <a:rPr lang="en-US" sz="3199" spc="191">
                <a:solidFill>
                  <a:srgbClr val="000000"/>
                </a:solidFill>
                <a:latin typeface="Public Sans"/>
                <a:ea typeface="Public Sans"/>
                <a:cs typeface="Public Sans"/>
                <a:sym typeface="Public Sans"/>
              </a:rPr>
              <a:t>Các y</a:t>
            </a:r>
            <a:r>
              <a:rPr lang="en-US" sz="3199" spc="191">
                <a:solidFill>
                  <a:srgbClr val="000000"/>
                </a:solidFill>
                <a:latin typeface="Public Sans"/>
                <a:ea typeface="Public Sans"/>
                <a:cs typeface="Public Sans"/>
                <a:sym typeface="Public Sans"/>
              </a:rPr>
              <a:t>ế</a:t>
            </a:r>
            <a:r>
              <a:rPr lang="en-US" sz="3199" spc="191">
                <a:solidFill>
                  <a:srgbClr val="000000"/>
                </a:solidFill>
                <a:latin typeface="Public Sans"/>
                <a:ea typeface="Public Sans"/>
                <a:cs typeface="Public Sans"/>
                <a:sym typeface="Public Sans"/>
              </a:rPr>
              <a:t>u </a:t>
            </a:r>
            <a:r>
              <a:rPr lang="en-US" sz="3199" spc="191">
                <a:solidFill>
                  <a:srgbClr val="000000"/>
                </a:solidFill>
                <a:latin typeface="Public Sans"/>
                <a:ea typeface="Public Sans"/>
                <a:cs typeface="Public Sans"/>
                <a:sym typeface="Public Sans"/>
              </a:rPr>
              <a:t>t</a:t>
            </a:r>
            <a:r>
              <a:rPr lang="en-US" sz="3199" spc="191">
                <a:solidFill>
                  <a:srgbClr val="000000"/>
                </a:solidFill>
                <a:latin typeface="Public Sans"/>
                <a:ea typeface="Public Sans"/>
                <a:cs typeface="Public Sans"/>
                <a:sym typeface="Public Sans"/>
              </a:rPr>
              <a:t>ố</a:t>
            </a:r>
            <a:r>
              <a:rPr lang="en-US" sz="3199" spc="191">
                <a:solidFill>
                  <a:srgbClr val="000000"/>
                </a:solidFill>
                <a:latin typeface="Public Sans"/>
                <a:ea typeface="Public Sans"/>
                <a:cs typeface="Public Sans"/>
                <a:sym typeface="Public Sans"/>
              </a:rPr>
              <a:t> </a:t>
            </a:r>
            <a:r>
              <a:rPr lang="en-US" sz="3199" spc="191">
                <a:solidFill>
                  <a:srgbClr val="000000"/>
                </a:solidFill>
                <a:latin typeface="Public Sans"/>
                <a:ea typeface="Public Sans"/>
                <a:cs typeface="Public Sans"/>
                <a:sym typeface="Public Sans"/>
              </a:rPr>
              <a:t>ảnh</a:t>
            </a:r>
            <a:r>
              <a:rPr lang="en-US" sz="3199" spc="191">
                <a:solidFill>
                  <a:srgbClr val="000000"/>
                </a:solidFill>
                <a:latin typeface="Public Sans"/>
                <a:ea typeface="Public Sans"/>
                <a:cs typeface="Public Sans"/>
                <a:sym typeface="Public Sans"/>
              </a:rPr>
              <a:t> </a:t>
            </a:r>
            <a:r>
              <a:rPr lang="en-US" sz="3199" spc="191">
                <a:solidFill>
                  <a:srgbClr val="000000"/>
                </a:solidFill>
                <a:latin typeface="Public Sans"/>
                <a:ea typeface="Public Sans"/>
                <a:cs typeface="Public Sans"/>
                <a:sym typeface="Public Sans"/>
              </a:rPr>
              <a:t>hưởng</a:t>
            </a:r>
            <a:r>
              <a:rPr lang="en-US" sz="3199" spc="191">
                <a:solidFill>
                  <a:srgbClr val="000000"/>
                </a:solidFill>
                <a:latin typeface="Public Sans"/>
                <a:ea typeface="Public Sans"/>
                <a:cs typeface="Public Sans"/>
                <a:sym typeface="Public Sans"/>
              </a:rPr>
              <a:t> </a:t>
            </a:r>
            <a:r>
              <a:rPr lang="en-US" sz="3199" spc="191">
                <a:solidFill>
                  <a:srgbClr val="000000"/>
                </a:solidFill>
                <a:latin typeface="Public Sans"/>
                <a:ea typeface="Public Sans"/>
                <a:cs typeface="Public Sans"/>
                <a:sym typeface="Public Sans"/>
              </a:rPr>
              <a:t>đến</a:t>
            </a:r>
            <a:r>
              <a:rPr lang="en-US" sz="3199" spc="191">
                <a:solidFill>
                  <a:srgbClr val="000000"/>
                </a:solidFill>
                <a:latin typeface="Public Sans"/>
                <a:ea typeface="Public Sans"/>
                <a:cs typeface="Public Sans"/>
                <a:sym typeface="Public Sans"/>
              </a:rPr>
              <a:t> </a:t>
            </a:r>
            <a:r>
              <a:rPr lang="en-US" sz="3199" spc="191">
                <a:solidFill>
                  <a:srgbClr val="000000"/>
                </a:solidFill>
                <a:latin typeface="Public Sans"/>
                <a:ea typeface="Public Sans"/>
                <a:cs typeface="Public Sans"/>
                <a:sym typeface="Public Sans"/>
              </a:rPr>
              <a:t>điểm</a:t>
            </a:r>
            <a:r>
              <a:rPr lang="en-US" sz="3199" spc="191">
                <a:solidFill>
                  <a:srgbClr val="000000"/>
                </a:solidFill>
                <a:latin typeface="Public Sans"/>
                <a:ea typeface="Public Sans"/>
                <a:cs typeface="Public Sans"/>
                <a:sym typeface="Public Sans"/>
              </a:rPr>
              <a:t> </a:t>
            </a:r>
            <a:r>
              <a:rPr lang="en-US" sz="3199" spc="191">
                <a:solidFill>
                  <a:srgbClr val="000000"/>
                </a:solidFill>
                <a:latin typeface="Public Sans"/>
                <a:ea typeface="Public Sans"/>
                <a:cs typeface="Public Sans"/>
                <a:sym typeface="Public Sans"/>
              </a:rPr>
              <a:t>đán</a:t>
            </a:r>
            <a:r>
              <a:rPr lang="en-US" sz="3199" spc="191">
                <a:solidFill>
                  <a:srgbClr val="000000"/>
                </a:solidFill>
                <a:latin typeface="Public Sans"/>
                <a:ea typeface="Public Sans"/>
                <a:cs typeface="Public Sans"/>
                <a:sym typeface="Public Sans"/>
              </a:rPr>
              <a:t>h gi</a:t>
            </a:r>
            <a:r>
              <a:rPr lang="en-US" sz="3199" spc="191">
                <a:solidFill>
                  <a:srgbClr val="000000"/>
                </a:solidFill>
                <a:latin typeface="Public Sans"/>
                <a:ea typeface="Public Sans"/>
                <a:cs typeface="Public Sans"/>
                <a:sym typeface="Public Sans"/>
              </a:rPr>
              <a:t>á.</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Hướ</a:t>
            </a:r>
            <a:r>
              <a:rPr lang="en-US" sz="3199" spc="191">
                <a:solidFill>
                  <a:srgbClr val="000000"/>
                </a:solidFill>
                <a:latin typeface="Public Sans"/>
                <a:ea typeface="Public Sans"/>
                <a:cs typeface="Public Sans"/>
                <a:sym typeface="Public Sans"/>
              </a:rPr>
              <a:t>n</a:t>
            </a:r>
            <a:r>
              <a:rPr lang="en-US" sz="3199" spc="191">
                <a:solidFill>
                  <a:srgbClr val="000000"/>
                </a:solidFill>
                <a:latin typeface="Public Sans"/>
                <a:ea typeface="Public Sans"/>
                <a:cs typeface="Public Sans"/>
                <a:sym typeface="Public Sans"/>
              </a:rPr>
              <a:t>g tới: hiểu thị hiếu khán giả và đề xuất gợi ý phim phù hợp.</a:t>
            </a:r>
          </a:p>
          <a:p>
            <a:pPr algn="l" marL="0" indent="0" lvl="0">
              <a:lnSpc>
                <a:spcPts val="4319"/>
              </a:lnSpc>
              <a:spcBef>
                <a:spcPct val="0"/>
              </a:spcBef>
            </a:pPr>
          </a:p>
        </p:txBody>
      </p:sp>
      <p:sp>
        <p:nvSpPr>
          <p:cNvPr name="Freeform 6" id="6"/>
          <p:cNvSpPr/>
          <p:nvPr/>
        </p:nvSpPr>
        <p:spPr>
          <a:xfrm flipH="false" flipV="false" rot="0">
            <a:off x="15353489"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5" id="5"/>
          <p:cNvSpPr txBox="true"/>
          <p:nvPr/>
        </p:nvSpPr>
        <p:spPr>
          <a:xfrm rot="0">
            <a:off x="1028700" y="1575494"/>
            <a:ext cx="16237071" cy="1760328"/>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Quy trình làm sạch và Tiền xử lý dữ liệu</a:t>
            </a:r>
          </a:p>
          <a:p>
            <a:pPr algn="l">
              <a:lnSpc>
                <a:spcPts val="4319"/>
              </a:lnSpc>
            </a:pPr>
            <a:r>
              <a:rPr lang="en-US" sz="3199" spc="191" b="true">
                <a:solidFill>
                  <a:srgbClr val="000000"/>
                </a:solidFill>
                <a:latin typeface="Public Sans Bold"/>
                <a:ea typeface="Public Sans Bold"/>
                <a:cs typeface="Public Sans Bold"/>
                <a:sym typeface="Public Sans Bold"/>
              </a:rPr>
              <a:t>Mục tiêu: </a:t>
            </a:r>
            <a:r>
              <a:rPr lang="en-US" sz="3199" spc="191">
                <a:solidFill>
                  <a:srgbClr val="000000"/>
                </a:solidFill>
                <a:latin typeface="Public Sans"/>
                <a:ea typeface="Public Sans"/>
                <a:cs typeface="Public Sans"/>
                <a:sym typeface="Public Sans"/>
              </a:rPr>
              <a:t>Chuyển đổi dữ l</a:t>
            </a:r>
            <a:r>
              <a:rPr lang="en-US" sz="3199" spc="191">
                <a:solidFill>
                  <a:srgbClr val="000000"/>
                </a:solidFill>
                <a:latin typeface="Public Sans"/>
                <a:ea typeface="Public Sans"/>
                <a:cs typeface="Public Sans"/>
                <a:sym typeface="Public Sans"/>
              </a:rPr>
              <a:t>i</a:t>
            </a:r>
            <a:r>
              <a:rPr lang="en-US" sz="3199" spc="191">
                <a:solidFill>
                  <a:srgbClr val="000000"/>
                </a:solidFill>
                <a:latin typeface="Public Sans"/>
                <a:ea typeface="Public Sans"/>
                <a:cs typeface="Public Sans"/>
                <a:sym typeface="Public Sans"/>
              </a:rPr>
              <a:t>ệu </a:t>
            </a:r>
            <a:r>
              <a:rPr lang="en-US" sz="3199" spc="191">
                <a:solidFill>
                  <a:srgbClr val="000000"/>
                </a:solidFill>
                <a:latin typeface="Public Sans"/>
                <a:ea typeface="Public Sans"/>
                <a:cs typeface="Public Sans"/>
                <a:sym typeface="Public Sans"/>
              </a:rPr>
              <a:t>t</a:t>
            </a:r>
            <a:r>
              <a:rPr lang="en-US" sz="3199" spc="191">
                <a:solidFill>
                  <a:srgbClr val="000000"/>
                </a:solidFill>
                <a:latin typeface="Public Sans"/>
                <a:ea typeface="Public Sans"/>
                <a:cs typeface="Public Sans"/>
                <a:sym typeface="Public Sans"/>
              </a:rPr>
              <a:t>hô (file văn bản phân tách ký tự đặc biệt)</a:t>
            </a:r>
          </a:p>
          <a:p>
            <a:pPr algn="l">
              <a:lnSpc>
                <a:spcPts val="4319"/>
              </a:lnSpc>
            </a:pPr>
            <a:r>
              <a:rPr lang="en-US" sz="3199" spc="191">
                <a:solidFill>
                  <a:srgbClr val="000000"/>
                </a:solidFill>
                <a:latin typeface="Public Sans"/>
                <a:ea typeface="Public Sans"/>
                <a:cs typeface="Public Sans"/>
                <a:sym typeface="Public Sans"/>
              </a:rPr>
              <a:t> → thành</a:t>
            </a:r>
            <a:r>
              <a:rPr lang="en-US" sz="3199" spc="191">
                <a:solidFill>
                  <a:srgbClr val="000000"/>
                </a:solidFill>
                <a:latin typeface="Public Sans"/>
                <a:ea typeface="Public Sans"/>
                <a:cs typeface="Public Sans"/>
                <a:sym typeface="Public Sans"/>
              </a:rPr>
              <a:t> Data</a:t>
            </a:r>
            <a:r>
              <a:rPr lang="en-US" sz="3199" spc="191">
                <a:solidFill>
                  <a:srgbClr val="000000"/>
                </a:solidFill>
                <a:latin typeface="Public Sans"/>
                <a:ea typeface="Public Sans"/>
                <a:cs typeface="Public Sans"/>
                <a:sym typeface="Public Sans"/>
              </a:rPr>
              <a:t>F</a:t>
            </a:r>
            <a:r>
              <a:rPr lang="en-US" sz="3199" spc="191">
                <a:solidFill>
                  <a:srgbClr val="000000"/>
                </a:solidFill>
                <a:latin typeface="Public Sans"/>
                <a:ea typeface="Public Sans"/>
                <a:cs typeface="Public Sans"/>
                <a:sym typeface="Public Sans"/>
              </a:rPr>
              <a:t>r</a:t>
            </a:r>
            <a:r>
              <a:rPr lang="en-US" sz="3199" spc="191">
                <a:solidFill>
                  <a:srgbClr val="000000"/>
                </a:solidFill>
                <a:latin typeface="Public Sans"/>
                <a:ea typeface="Public Sans"/>
                <a:cs typeface="Public Sans"/>
                <a:sym typeface="Public Sans"/>
              </a:rPr>
              <a:t>a</a:t>
            </a:r>
            <a:r>
              <a:rPr lang="en-US" sz="3199" spc="191">
                <a:solidFill>
                  <a:srgbClr val="000000"/>
                </a:solidFill>
                <a:latin typeface="Public Sans"/>
                <a:ea typeface="Public Sans"/>
                <a:cs typeface="Public Sans"/>
                <a:sym typeface="Public Sans"/>
              </a:rPr>
              <a:t>m</a:t>
            </a:r>
            <a:r>
              <a:rPr lang="en-US" sz="3199" spc="191">
                <a:solidFill>
                  <a:srgbClr val="000000"/>
                </a:solidFill>
                <a:latin typeface="Public Sans"/>
                <a:ea typeface="Public Sans"/>
                <a:cs typeface="Public Sans"/>
                <a:sym typeface="Public Sans"/>
              </a:rPr>
              <a:t>e</a:t>
            </a:r>
            <a:r>
              <a:rPr lang="en-US" sz="3199" spc="191">
                <a:solidFill>
                  <a:srgbClr val="000000"/>
                </a:solidFill>
                <a:latin typeface="Public Sans"/>
                <a:ea typeface="Public Sans"/>
                <a:cs typeface="Public Sans"/>
                <a:sym typeface="Public Sans"/>
              </a:rPr>
              <a:t> </a:t>
            </a:r>
            <a:r>
              <a:rPr lang="en-US" sz="3199" spc="191">
                <a:solidFill>
                  <a:srgbClr val="000000"/>
                </a:solidFill>
                <a:latin typeface="Public Sans"/>
                <a:ea typeface="Public Sans"/>
                <a:cs typeface="Public Sans"/>
                <a:sym typeface="Public Sans"/>
              </a:rPr>
              <a:t>sẵn sàn</a:t>
            </a:r>
            <a:r>
              <a:rPr lang="en-US" sz="3199" spc="191">
                <a:solidFill>
                  <a:srgbClr val="000000"/>
                </a:solidFill>
                <a:latin typeface="Public Sans"/>
                <a:ea typeface="Public Sans"/>
                <a:cs typeface="Public Sans"/>
                <a:sym typeface="Public Sans"/>
              </a:rPr>
              <a:t>g</a:t>
            </a:r>
            <a:r>
              <a:rPr lang="en-US" sz="3199" spc="191">
                <a:solidFill>
                  <a:srgbClr val="000000"/>
                </a:solidFill>
                <a:latin typeface="Public Sans"/>
                <a:ea typeface="Public Sans"/>
                <a:cs typeface="Public Sans"/>
                <a:sym typeface="Public Sans"/>
              </a:rPr>
              <a:t> ch</a:t>
            </a:r>
            <a:r>
              <a:rPr lang="en-US" sz="3199" spc="191">
                <a:solidFill>
                  <a:srgbClr val="000000"/>
                </a:solidFill>
                <a:latin typeface="Public Sans"/>
                <a:ea typeface="Public Sans"/>
                <a:cs typeface="Public Sans"/>
                <a:sym typeface="Public Sans"/>
              </a:rPr>
              <a:t>o</a:t>
            </a:r>
            <a:r>
              <a:rPr lang="en-US" sz="3199" spc="191">
                <a:solidFill>
                  <a:srgbClr val="000000"/>
                </a:solidFill>
                <a:latin typeface="Public Sans"/>
                <a:ea typeface="Public Sans"/>
                <a:cs typeface="Public Sans"/>
                <a:sym typeface="Public Sans"/>
              </a:rPr>
              <a:t> phân tích thống</a:t>
            </a:r>
            <a:r>
              <a:rPr lang="en-US" sz="3199" spc="191">
                <a:solidFill>
                  <a:srgbClr val="000000"/>
                </a:solidFill>
                <a:latin typeface="Public Sans"/>
                <a:ea typeface="Public Sans"/>
                <a:cs typeface="Public Sans"/>
                <a:sym typeface="Public Sans"/>
              </a:rPr>
              <a:t> </a:t>
            </a:r>
            <a:r>
              <a:rPr lang="en-US" sz="3199" spc="191">
                <a:solidFill>
                  <a:srgbClr val="000000"/>
                </a:solidFill>
                <a:latin typeface="Public Sans"/>
                <a:ea typeface="Public Sans"/>
                <a:cs typeface="Public Sans"/>
                <a:sym typeface="Public Sans"/>
              </a:rPr>
              <a:t>kê.</a:t>
            </a:r>
          </a:p>
        </p:txBody>
      </p:sp>
      <p:sp>
        <p:nvSpPr>
          <p:cNvPr name="Freeform 6" id="6"/>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10203066"/>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1022229" y="3250097"/>
            <a:ext cx="16237071" cy="6801248"/>
          </a:xfrm>
          <a:prstGeom prst="rect">
            <a:avLst/>
          </a:prstGeom>
        </p:spPr>
        <p:txBody>
          <a:bodyPr anchor="t" rtlCol="false" tIns="0" lIns="0" bIns="0" rIns="0">
            <a:spAutoFit/>
          </a:bodyPr>
          <a:lstStyle/>
          <a:p>
            <a:pPr algn="ctr">
              <a:lnSpc>
                <a:spcPts val="4900"/>
              </a:lnSpc>
            </a:pPr>
            <a:r>
              <a:rPr lang="en-US" sz="3500" b="true">
                <a:solidFill>
                  <a:srgbClr val="000000"/>
                </a:solidFill>
                <a:latin typeface="Public Sans Bold"/>
                <a:ea typeface="Public Sans Bold"/>
                <a:cs typeface="Public Sans Bold"/>
                <a:sym typeface="Public Sans Bold"/>
              </a:rPr>
              <a:t>1.Đọc dữ liệu &amp; Xử lý độ đầy đủ</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Nguồn</a:t>
            </a:r>
            <a:r>
              <a:rPr lang="en-US" sz="3200">
                <a:solidFill>
                  <a:srgbClr val="000000"/>
                </a:solidFill>
                <a:latin typeface="Public Sans"/>
                <a:ea typeface="Public Sans"/>
                <a:cs typeface="Public Sans"/>
                <a:sym typeface="Public Sans"/>
              </a:rPr>
              <a:t> dữ liệu: ratings, users, movies</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Tổng cộng:</a:t>
            </a:r>
          </a:p>
          <a:p>
            <a:pPr algn="l" marL="1381781" indent="-460594" lvl="2">
              <a:lnSpc>
                <a:spcPts val="4480"/>
              </a:lnSpc>
              <a:buFont typeface="Arial"/>
              <a:buChar char="⚬"/>
            </a:pPr>
            <a:r>
              <a:rPr lang="en-US" sz="3200">
                <a:solidFill>
                  <a:srgbClr val="000000"/>
                </a:solidFill>
                <a:latin typeface="Public Sans"/>
                <a:ea typeface="Public Sans"/>
                <a:cs typeface="Public Sans"/>
                <a:sym typeface="Public Sans"/>
              </a:rPr>
              <a:t>1.000.209 lượt đánh giá</a:t>
            </a:r>
          </a:p>
          <a:p>
            <a:pPr algn="l" marL="1381781" indent="-460594" lvl="2">
              <a:lnSpc>
                <a:spcPts val="4480"/>
              </a:lnSpc>
              <a:buFont typeface="Arial"/>
              <a:buChar char="⚬"/>
            </a:pPr>
            <a:r>
              <a:rPr lang="en-US" sz="3200">
                <a:solidFill>
                  <a:srgbClr val="000000"/>
                </a:solidFill>
                <a:latin typeface="Public Sans"/>
                <a:ea typeface="Public Sans"/>
                <a:cs typeface="Public Sans"/>
                <a:sym typeface="Public Sans"/>
              </a:rPr>
              <a:t>6.040 người dùng</a:t>
            </a:r>
          </a:p>
          <a:p>
            <a:pPr algn="l" marL="1381781" indent="-460594" lvl="2">
              <a:lnSpc>
                <a:spcPts val="4480"/>
              </a:lnSpc>
              <a:buFont typeface="Arial"/>
              <a:buChar char="⚬"/>
            </a:pPr>
            <a:r>
              <a:rPr lang="en-US" sz="3200">
                <a:solidFill>
                  <a:srgbClr val="000000"/>
                </a:solidFill>
                <a:latin typeface="Public Sans"/>
                <a:ea typeface="Public Sans"/>
                <a:cs typeface="Public Sans"/>
                <a:sym typeface="Public Sans"/>
              </a:rPr>
              <a:t>3.952 bộ phim</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Các trường chính:</a:t>
            </a:r>
          </a:p>
          <a:p>
            <a:pPr algn="l" marL="1381781" indent="-460594" lvl="2">
              <a:lnSpc>
                <a:spcPts val="4480"/>
              </a:lnSpc>
              <a:buFont typeface="Arial"/>
              <a:buChar char="⚬"/>
            </a:pPr>
            <a:r>
              <a:rPr lang="en-US" sz="3200">
                <a:solidFill>
                  <a:srgbClr val="000000"/>
                </a:solidFill>
                <a:latin typeface="Public Sans"/>
                <a:ea typeface="Public Sans"/>
                <a:cs typeface="Public Sans"/>
                <a:sym typeface="Public Sans"/>
              </a:rPr>
              <a:t>ratings: userId, movieId, rating, timestamp</a:t>
            </a:r>
          </a:p>
          <a:p>
            <a:pPr algn="l" marL="1381781" indent="-460594" lvl="2">
              <a:lnSpc>
                <a:spcPts val="4480"/>
              </a:lnSpc>
              <a:buFont typeface="Arial"/>
              <a:buChar char="⚬"/>
            </a:pPr>
            <a:r>
              <a:rPr lang="en-US" sz="3200">
                <a:solidFill>
                  <a:srgbClr val="000000"/>
                </a:solidFill>
                <a:latin typeface="Public Sans"/>
                <a:ea typeface="Public Sans"/>
                <a:cs typeface="Public Sans"/>
                <a:sym typeface="Public Sans"/>
              </a:rPr>
              <a:t>movies: title, genres</a:t>
            </a:r>
          </a:p>
          <a:p>
            <a:pPr algn="l" marL="1381781" indent="-460594" lvl="2">
              <a:lnSpc>
                <a:spcPts val="4480"/>
              </a:lnSpc>
              <a:buFont typeface="Arial"/>
              <a:buChar char="⚬"/>
            </a:pPr>
            <a:r>
              <a:rPr lang="en-US" sz="3200">
                <a:solidFill>
                  <a:srgbClr val="000000"/>
                </a:solidFill>
                <a:latin typeface="Public Sans"/>
                <a:ea typeface="Public Sans"/>
                <a:cs typeface="Public Sans"/>
                <a:sym typeface="Public Sans"/>
              </a:rPr>
              <a:t>users: age, gender, occupation, zip-code</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Xử lý thiếu: thay giá trị rỗng bằng “Unknown” hoặc 0.</a:t>
            </a:r>
          </a:p>
          <a:p>
            <a:pPr algn="l">
              <a:lnSpc>
                <a:spcPts val="4480"/>
              </a:lnSpc>
            </a:pPr>
            <a:r>
              <a:rPr lang="en-US" sz="3200">
                <a:solidFill>
                  <a:srgbClr val="000000"/>
                </a:solidFill>
                <a:latin typeface="Public Sans"/>
                <a:ea typeface="Public Sans"/>
                <a:cs typeface="Public Sans"/>
                <a:sym typeface="Public Sans"/>
              </a:rPr>
              <a:t>→ Kết quả: Dữ liệu gần như đầy đủ, đảm bảo chất lượng.</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5" id="5"/>
          <p:cNvSpPr txBox="true"/>
          <p:nvPr/>
        </p:nvSpPr>
        <p:spPr>
          <a:xfrm rot="0">
            <a:off x="1028700" y="1575494"/>
            <a:ext cx="16237071" cy="666772"/>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Quy trình làm sạch và Tiền xử lý dữ liệu</a:t>
            </a:r>
          </a:p>
        </p:txBody>
      </p:sp>
      <p:sp>
        <p:nvSpPr>
          <p:cNvPr name="Freeform 6" id="6"/>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10203066"/>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1028700" y="2394667"/>
            <a:ext cx="16237071" cy="4553434"/>
          </a:xfrm>
          <a:prstGeom prst="rect">
            <a:avLst/>
          </a:prstGeom>
        </p:spPr>
        <p:txBody>
          <a:bodyPr anchor="t" rtlCol="false" tIns="0" lIns="0" bIns="0" rIns="0">
            <a:spAutoFit/>
          </a:bodyPr>
          <a:lstStyle/>
          <a:p>
            <a:pPr algn="ctr">
              <a:lnSpc>
                <a:spcPts val="4900"/>
              </a:lnSpc>
            </a:pPr>
            <a:r>
              <a:rPr lang="en-US" sz="3500" b="true">
                <a:solidFill>
                  <a:srgbClr val="000000"/>
                </a:solidFill>
                <a:latin typeface="Public Sans Bold"/>
                <a:ea typeface="Public Sans Bold"/>
                <a:cs typeface="Public Sans Bold"/>
                <a:sym typeface="Public Sans Bold"/>
              </a:rPr>
              <a:t>2.Trích xuất &amp; Chuẩn hóa Đặc trưng</a:t>
            </a:r>
          </a:p>
          <a:p>
            <a:pPr algn="l" marL="690890" indent="-345445" lvl="1">
              <a:lnSpc>
                <a:spcPts val="4480"/>
              </a:lnSpc>
              <a:buFont typeface="Arial"/>
              <a:buChar char="•"/>
            </a:pPr>
            <a:r>
              <a:rPr lang="en-US" b="true" sz="3200">
                <a:solidFill>
                  <a:srgbClr val="000000"/>
                </a:solidFill>
                <a:latin typeface="Public Sans Bold"/>
                <a:ea typeface="Public Sans Bold"/>
                <a:cs typeface="Public Sans Bold"/>
                <a:sym typeface="Public Sans Bold"/>
              </a:rPr>
              <a:t>Tách</a:t>
            </a:r>
            <a:r>
              <a:rPr lang="en-US" b="true" sz="3200">
                <a:solidFill>
                  <a:srgbClr val="000000"/>
                </a:solidFill>
                <a:latin typeface="Public Sans Bold"/>
                <a:ea typeface="Public Sans Bold"/>
                <a:cs typeface="Public Sans Bold"/>
                <a:sym typeface="Public Sans Bold"/>
              </a:rPr>
              <a:t> thể loại (genres) →</a:t>
            </a:r>
            <a:r>
              <a:rPr lang="en-US" sz="3200">
                <a:solidFill>
                  <a:srgbClr val="000000"/>
                </a:solidFill>
                <a:latin typeface="Public Sans"/>
                <a:ea typeface="Public Sans"/>
                <a:cs typeface="Public Sans"/>
                <a:sym typeface="Public Sans"/>
              </a:rPr>
              <a:t> danh sách riêng từng phim.</a:t>
            </a:r>
          </a:p>
          <a:p>
            <a:pPr algn="l" marL="690890" indent="-345445" lvl="1">
              <a:lnSpc>
                <a:spcPts val="4480"/>
              </a:lnSpc>
              <a:buFont typeface="Arial"/>
              <a:buChar char="•"/>
            </a:pPr>
            <a:r>
              <a:rPr lang="en-US" b="true" sz="3200">
                <a:solidFill>
                  <a:srgbClr val="000000"/>
                </a:solidFill>
                <a:latin typeface="Public Sans Bold"/>
                <a:ea typeface="Public Sans Bold"/>
                <a:cs typeface="Public Sans Bold"/>
                <a:sym typeface="Public Sans Bold"/>
              </a:rPr>
              <a:t>Phâ</a:t>
            </a:r>
            <a:r>
              <a:rPr lang="en-US" b="true" sz="3200">
                <a:solidFill>
                  <a:srgbClr val="000000"/>
                </a:solidFill>
                <a:latin typeface="Public Sans Bold"/>
                <a:ea typeface="Public Sans Bold"/>
                <a:cs typeface="Public Sans Bold"/>
                <a:sym typeface="Public Sans Bold"/>
              </a:rPr>
              <a:t>n nhóm tuổi</a:t>
            </a:r>
            <a:r>
              <a:rPr lang="en-US" sz="3200">
                <a:solidFill>
                  <a:srgbClr val="000000"/>
                </a:solidFill>
                <a:latin typeface="Public Sans"/>
                <a:ea typeface="Public Sans"/>
                <a:cs typeface="Public Sans"/>
                <a:sym typeface="Public Sans"/>
              </a:rPr>
              <a:t> (&lt;18, 18–24, 25–34, …).</a:t>
            </a:r>
          </a:p>
          <a:p>
            <a:pPr algn="l" marL="690890" indent="-345445" lvl="1">
              <a:lnSpc>
                <a:spcPts val="4480"/>
              </a:lnSpc>
              <a:buFont typeface="Arial"/>
              <a:buChar char="•"/>
            </a:pPr>
            <a:r>
              <a:rPr lang="en-US" b="true" sz="3200">
                <a:solidFill>
                  <a:srgbClr val="000000"/>
                </a:solidFill>
                <a:latin typeface="Public Sans Bold"/>
                <a:ea typeface="Public Sans Bold"/>
                <a:cs typeface="Public Sans Bold"/>
                <a:sym typeface="Public Sans Bold"/>
              </a:rPr>
              <a:t>Mã hóa g</a:t>
            </a:r>
            <a:r>
              <a:rPr lang="en-US" b="true" sz="3200">
                <a:solidFill>
                  <a:srgbClr val="000000"/>
                </a:solidFill>
                <a:latin typeface="Public Sans Bold"/>
                <a:ea typeface="Public Sans Bold"/>
                <a:cs typeface="Public Sans Bold"/>
                <a:sym typeface="Public Sans Bold"/>
              </a:rPr>
              <a:t>iới tính</a:t>
            </a:r>
            <a:r>
              <a:rPr lang="en-US" sz="3200">
                <a:solidFill>
                  <a:srgbClr val="000000"/>
                </a:solidFill>
                <a:latin typeface="Public Sans"/>
                <a:ea typeface="Public Sans"/>
                <a:cs typeface="Public Sans"/>
                <a:sym typeface="Public Sans"/>
              </a:rPr>
              <a:t> (gender) khi cần.</a:t>
            </a:r>
          </a:p>
          <a:p>
            <a:pPr algn="l" marL="690890" indent="-345445" lvl="1">
              <a:lnSpc>
                <a:spcPts val="4480"/>
              </a:lnSpc>
              <a:buFont typeface="Arial"/>
              <a:buChar char="•"/>
            </a:pPr>
            <a:r>
              <a:rPr lang="en-US" b="true" sz="3200">
                <a:solidFill>
                  <a:srgbClr val="000000"/>
                </a:solidFill>
                <a:latin typeface="Public Sans Bold"/>
                <a:ea typeface="Public Sans Bold"/>
                <a:cs typeface="Public Sans Bold"/>
                <a:sym typeface="Public Sans Bold"/>
              </a:rPr>
              <a:t>Nhận xét:</a:t>
            </a:r>
          </a:p>
          <a:p>
            <a:pPr algn="l" marL="1381781" indent="-460594" lvl="2">
              <a:lnSpc>
                <a:spcPts val="4480"/>
              </a:lnSpc>
              <a:buFont typeface="Arial"/>
              <a:buChar char="⚬"/>
            </a:pPr>
            <a:r>
              <a:rPr lang="en-US" sz="3200">
                <a:solidFill>
                  <a:srgbClr val="000000"/>
                </a:solidFill>
                <a:latin typeface="Public Sans"/>
                <a:ea typeface="Public Sans"/>
                <a:cs typeface="Public Sans"/>
                <a:sym typeface="Public Sans"/>
              </a:rPr>
              <a:t>Thể</a:t>
            </a:r>
            <a:r>
              <a:rPr lang="en-US" sz="3200">
                <a:solidFill>
                  <a:srgbClr val="000000"/>
                </a:solidFill>
                <a:latin typeface="Public Sans"/>
                <a:ea typeface="Public Sans"/>
                <a:cs typeface="Public Sans"/>
                <a:sym typeface="Public Sans"/>
              </a:rPr>
              <a:t> loại phổ biến: Drama, Comedy, Action.</a:t>
            </a:r>
          </a:p>
          <a:p>
            <a:pPr algn="l" marL="1381781" indent="-460594" lvl="2">
              <a:lnSpc>
                <a:spcPts val="4480"/>
              </a:lnSpc>
              <a:buFont typeface="Arial"/>
              <a:buChar char="⚬"/>
            </a:pPr>
            <a:r>
              <a:rPr lang="en-US" sz="3200">
                <a:solidFill>
                  <a:srgbClr val="000000"/>
                </a:solidFill>
                <a:latin typeface="Public Sans"/>
                <a:ea typeface="Public Sans"/>
                <a:cs typeface="Public Sans"/>
                <a:sym typeface="Public Sans"/>
              </a:rPr>
              <a:t>Phân nhóm tuổi giúp nhận diện nhóm người dùng chủ đạo.</a:t>
            </a:r>
          </a:p>
          <a:p>
            <a:pPr algn="l">
              <a:lnSpc>
                <a:spcPts val="4480"/>
              </a:lnSpc>
            </a:pPr>
          </a:p>
        </p:txBody>
      </p:sp>
      <p:sp>
        <p:nvSpPr>
          <p:cNvPr name="TextBox 10" id="10"/>
          <p:cNvSpPr txBox="true"/>
          <p:nvPr/>
        </p:nvSpPr>
        <p:spPr>
          <a:xfrm rot="0">
            <a:off x="1028700" y="7100500"/>
            <a:ext cx="16237071" cy="2867573"/>
          </a:xfrm>
          <a:prstGeom prst="rect">
            <a:avLst/>
          </a:prstGeom>
        </p:spPr>
        <p:txBody>
          <a:bodyPr anchor="t" rtlCol="false" tIns="0" lIns="0" bIns="0" rIns="0">
            <a:spAutoFit/>
          </a:bodyPr>
          <a:lstStyle/>
          <a:p>
            <a:pPr algn="ctr">
              <a:lnSpc>
                <a:spcPts val="4900"/>
              </a:lnSpc>
            </a:pPr>
            <a:r>
              <a:rPr lang="en-US" sz="3500" b="true">
                <a:solidFill>
                  <a:srgbClr val="000000"/>
                </a:solidFill>
                <a:latin typeface="Public Sans Bold"/>
                <a:ea typeface="Public Sans Bold"/>
                <a:cs typeface="Public Sans Bold"/>
                <a:sym typeface="Public Sans Bold"/>
              </a:rPr>
              <a:t>3.Kết hợp Bảng Dữ liệu</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Gộp</a:t>
            </a:r>
            <a:r>
              <a:rPr lang="en-US" sz="3200">
                <a:solidFill>
                  <a:srgbClr val="000000"/>
                </a:solidFill>
                <a:latin typeface="Public Sans"/>
                <a:ea typeface="Public Sans"/>
                <a:cs typeface="Public Sans"/>
                <a:sym typeface="Public Sans"/>
              </a:rPr>
              <a:t> ratings + users + movies theo khóa chung (user_id, movie_id).</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Tạo bảng tổng hợp phục vụ</a:t>
            </a:r>
            <a:r>
              <a:rPr lang="en-US" sz="3200">
                <a:solidFill>
                  <a:srgbClr val="000000"/>
                </a:solidFill>
                <a:latin typeface="Public Sans"/>
                <a:ea typeface="Public Sans"/>
                <a:cs typeface="Public Sans"/>
                <a:sym typeface="Public Sans"/>
              </a:rPr>
              <a:t> cho phân</a:t>
            </a:r>
            <a:r>
              <a:rPr lang="en-US" sz="3200">
                <a:solidFill>
                  <a:srgbClr val="000000"/>
                </a:solidFill>
                <a:latin typeface="Public Sans"/>
                <a:ea typeface="Public Sans"/>
                <a:cs typeface="Public Sans"/>
                <a:sym typeface="Public Sans"/>
              </a:rPr>
              <a:t> tích hành vi &amp; xu hướng.</a:t>
            </a:r>
          </a:p>
          <a:p>
            <a:pPr algn="l" marL="690890" indent="-345445" lvl="1">
              <a:lnSpc>
                <a:spcPts val="4480"/>
              </a:lnSpc>
              <a:buFont typeface="Arial"/>
              <a:buChar char="•"/>
            </a:pPr>
            <a:r>
              <a:rPr lang="en-US" b="true" sz="3200">
                <a:solidFill>
                  <a:srgbClr val="000000"/>
                </a:solidFill>
                <a:latin typeface="Public Sans Bold"/>
                <a:ea typeface="Public Sans Bold"/>
                <a:cs typeface="Public Sans Bold"/>
                <a:sym typeface="Public Sans Bold"/>
              </a:rPr>
              <a:t>Kết quả: </a:t>
            </a:r>
            <a:r>
              <a:rPr lang="en-US" sz="3200">
                <a:solidFill>
                  <a:srgbClr val="000000"/>
                </a:solidFill>
                <a:latin typeface="Public Sans"/>
                <a:ea typeface="Public Sans"/>
                <a:cs typeface="Public Sans"/>
                <a:sym typeface="Public Sans"/>
              </a:rPr>
              <a:t>Dữ liệu sẵn sàng cho các phân tích thống kê sâu hơn.</a:t>
            </a:r>
          </a:p>
          <a:p>
            <a:pPr algn="l">
              <a:lnSpc>
                <a:spcPts val="4480"/>
              </a:lnSpc>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666772"/>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 </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1028700" y="2556899"/>
            <a:ext cx="16319690" cy="5905899"/>
          </a:xfrm>
          <a:prstGeom prst="rect">
            <a:avLst/>
          </a:prstGeom>
        </p:spPr>
        <p:txBody>
          <a:bodyPr anchor="t" rtlCol="false" tIns="0" lIns="0" bIns="0" rIns="0">
            <a:spAutoFit/>
          </a:bodyPr>
          <a:lstStyle/>
          <a:p>
            <a:pPr algn="l">
              <a:lnSpc>
                <a:spcPts val="4480"/>
              </a:lnSpc>
            </a:pPr>
            <a:r>
              <a:rPr lang="en-US" b="true" sz="3200">
                <a:solidFill>
                  <a:srgbClr val="000000"/>
                </a:solidFill>
                <a:latin typeface="Public Sans Bold"/>
                <a:ea typeface="Public Sans Bold"/>
                <a:cs typeface="Public Sans Bold"/>
                <a:sym typeface="Public Sans Bold"/>
              </a:rPr>
              <a:t>Mục</a:t>
            </a:r>
            <a:r>
              <a:rPr lang="en-US" b="true" sz="3200">
                <a:solidFill>
                  <a:srgbClr val="000000"/>
                </a:solidFill>
                <a:latin typeface="Public Sans Bold"/>
                <a:ea typeface="Public Sans Bold"/>
                <a:cs typeface="Public Sans Bold"/>
                <a:sym typeface="Public Sans Bold"/>
              </a:rPr>
              <a:t> tiêu:</a:t>
            </a:r>
          </a:p>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Khám phá mức độ phân hóa đánh giá phim (rating variability).</a:t>
            </a:r>
          </a:p>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Xác định phim gây tranh cãi nhất dựa trên độ lệch chuẩn rating (std).</a:t>
            </a:r>
          </a:p>
          <a:p>
            <a:pPr algn="l">
              <a:lnSpc>
                <a:spcPts val="4480"/>
              </a:lnSpc>
            </a:pPr>
            <a:r>
              <a:rPr lang="en-US" b="true" sz="3200">
                <a:solidFill>
                  <a:srgbClr val="000000"/>
                </a:solidFill>
                <a:latin typeface="Public Sans Bold"/>
                <a:ea typeface="Public Sans Bold"/>
                <a:cs typeface="Public Sans Bold"/>
                <a:sym typeface="Public Sans Bold"/>
              </a:rPr>
              <a:t>Phương pháp:</a:t>
            </a:r>
          </a:p>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Tính thống kê cơ bản: mean, std, count, min, max.</a:t>
            </a:r>
          </a:p>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Lọc phim có ≥ 100 lượt đánh giá.</a:t>
            </a:r>
          </a:p>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Sắp xếp giảm dần theo độ lệch chuẩn.</a:t>
            </a:r>
          </a:p>
          <a:p>
            <a:pPr algn="l">
              <a:lnSpc>
                <a:spcPts val="4480"/>
              </a:lnSpc>
            </a:pPr>
            <a:r>
              <a:rPr lang="en-US" b="true" sz="3200">
                <a:solidFill>
                  <a:srgbClr val="000000"/>
                </a:solidFill>
                <a:latin typeface="Public Sans Bold"/>
                <a:ea typeface="Public Sans Bold"/>
                <a:cs typeface="Public Sans Bold"/>
                <a:sym typeface="Public Sans Bold"/>
              </a:rPr>
              <a:t>Ý nghĩa:</a:t>
            </a:r>
          </a:p>
          <a:p>
            <a:pPr algn="l">
              <a:lnSpc>
                <a:spcPts val="4480"/>
              </a:lnSpc>
            </a:pPr>
            <a:r>
              <a:rPr lang="en-US" sz="3200">
                <a:solidFill>
                  <a:srgbClr val="000000"/>
                </a:solidFill>
                <a:latin typeface="Public Sans"/>
                <a:ea typeface="Public Sans"/>
                <a:cs typeface="Public Sans"/>
                <a:sym typeface="Public Sans"/>
              </a:rPr>
              <a:t> → Độ lệch chuẩn cao ⇒ ý kiến khán giả phân cực mạnh (phim “controversial”).</a:t>
            </a:r>
          </a:p>
          <a:p>
            <a:pPr algn="ctr">
              <a:lnSpc>
                <a:spcPts val="7000"/>
              </a:lnSpc>
            </a:pP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 </a:t>
            </a:r>
          </a:p>
          <a:p>
            <a:pPr algn="ctr">
              <a:lnSpc>
                <a:spcPts val="4320"/>
              </a:lnSpc>
            </a:pPr>
            <a:r>
              <a:rPr lang="en-US" b="true" sz="3200" spc="192">
                <a:solidFill>
                  <a:srgbClr val="000000"/>
                </a:solidFill>
                <a:latin typeface="Public Sans Bold"/>
                <a:ea typeface="Public Sans Bold"/>
                <a:cs typeface="Public Sans Bold"/>
                <a:sym typeface="Public Sans Bold"/>
              </a:rPr>
              <a:t>1.Các phim có độ lệch chuẩn rating cao nhất</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2748883" y="3505688"/>
            <a:ext cx="13434597" cy="4625583"/>
          </a:xfrm>
          <a:custGeom>
            <a:avLst/>
            <a:gdLst/>
            <a:ahLst/>
            <a:cxnLst/>
            <a:rect r="r" b="b" t="t" l="l"/>
            <a:pathLst>
              <a:path h="4625583" w="13434597">
                <a:moveTo>
                  <a:pt x="0" y="0"/>
                </a:moveTo>
                <a:lnTo>
                  <a:pt x="13434597" y="0"/>
                </a:lnTo>
                <a:lnTo>
                  <a:pt x="13434597" y="4625583"/>
                </a:lnTo>
                <a:lnTo>
                  <a:pt x="0" y="4625583"/>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 </a:t>
            </a:r>
          </a:p>
          <a:p>
            <a:pPr algn="ctr">
              <a:lnSpc>
                <a:spcPts val="4320"/>
              </a:lnSpc>
            </a:pPr>
            <a:r>
              <a:rPr lang="en-US" b="true" sz="3200" spc="192">
                <a:solidFill>
                  <a:srgbClr val="000000"/>
                </a:solidFill>
                <a:latin typeface="Public Sans Bold"/>
                <a:ea typeface="Public Sans Bold"/>
                <a:cs typeface="Public Sans Bold"/>
                <a:sym typeface="Public Sans Bold"/>
              </a:rPr>
              <a:t>1.Các phim có độ lệch chuẩn rating cao nhất</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827999" y="3648573"/>
            <a:ext cx="16638473" cy="4481023"/>
          </a:xfrm>
          <a:prstGeom prst="rect">
            <a:avLst/>
          </a:prstGeom>
        </p:spPr>
        <p:txBody>
          <a:bodyPr anchor="t" rtlCol="false" tIns="0" lIns="0" bIns="0" rIns="0">
            <a:spAutoFit/>
          </a:bodyPr>
          <a:lstStyle/>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Các phim có độ lệch chuẩn cao (&gt;1.3) → mức đ</a:t>
            </a:r>
            <a:r>
              <a:rPr lang="en-US" sz="3200">
                <a:solidFill>
                  <a:srgbClr val="000000"/>
                </a:solidFill>
                <a:latin typeface="Public Sans"/>
                <a:ea typeface="Public Sans"/>
                <a:cs typeface="Public Sans"/>
                <a:sym typeface="Public Sans"/>
              </a:rPr>
              <a:t>ộ tranh cãi lớn giữa người xem.</a:t>
            </a:r>
          </a:p>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Phần lớn là thể loại kinh dị, tâm lý hoặc gây sốc (ví dụ: Texas Chainsaw Massacre, Natural Born Killers).</a:t>
            </a:r>
          </a:p>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Một số phim hài (Dumb &amp; Dumber) hoặc “cult classic” (Plan 9 from Outer Space) cũng gây chia rẽ.</a:t>
            </a:r>
          </a:p>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Điểm trung bình ~3.0 → vừa đủ trung tính, chứng tỏ có người rất thích và người rất ghét.</a:t>
            </a:r>
          </a:p>
          <a:p>
            <a:pPr algn="just">
              <a:lnSpc>
                <a:spcPts val="4480"/>
              </a:lnSpc>
              <a:spcBef>
                <a:spcPct val="0"/>
              </a:spcBef>
            </a:pP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 </a:t>
            </a:r>
          </a:p>
          <a:p>
            <a:pPr algn="ctr">
              <a:lnSpc>
                <a:spcPts val="4320"/>
              </a:lnSpc>
            </a:pPr>
            <a:r>
              <a:rPr lang="en-US" b="true" sz="3200" spc="192">
                <a:solidFill>
                  <a:srgbClr val="000000"/>
                </a:solidFill>
                <a:latin typeface="Public Sans Bold"/>
                <a:ea typeface="Public Sans Bold"/>
                <a:cs typeface="Public Sans Bold"/>
                <a:sym typeface="Public Sans Bold"/>
              </a:rPr>
              <a:t>2.Phân bố độ lệch chuẩn rating và nhóm phim “gây tranh cãi”</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502199" y="2883289"/>
            <a:ext cx="9373569" cy="6794660"/>
          </a:xfrm>
          <a:custGeom>
            <a:avLst/>
            <a:gdLst/>
            <a:ahLst/>
            <a:cxnLst/>
            <a:rect r="r" b="b" t="t" l="l"/>
            <a:pathLst>
              <a:path h="6794660" w="9373569">
                <a:moveTo>
                  <a:pt x="0" y="0"/>
                </a:moveTo>
                <a:lnTo>
                  <a:pt x="9373569" y="0"/>
                </a:lnTo>
                <a:lnTo>
                  <a:pt x="9373569" y="6794660"/>
                </a:lnTo>
                <a:lnTo>
                  <a:pt x="0" y="6794660"/>
                </a:lnTo>
                <a:lnTo>
                  <a:pt x="0" y="0"/>
                </a:lnTo>
                <a:close/>
              </a:path>
            </a:pathLst>
          </a:custGeom>
          <a:blipFill>
            <a:blip r:embed="rId12"/>
            <a:stretch>
              <a:fillRect l="0" t="0" r="0" b="0"/>
            </a:stretch>
          </a:blipFill>
        </p:spPr>
      </p:sp>
      <p:sp>
        <p:nvSpPr>
          <p:cNvPr name="TextBox 9" id="9"/>
          <p:cNvSpPr txBox="true"/>
          <p:nvPr/>
        </p:nvSpPr>
        <p:spPr>
          <a:xfrm rot="0">
            <a:off x="10590705" y="4532143"/>
            <a:ext cx="6754612" cy="1109302"/>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Public Sans"/>
                <a:ea typeface="Public Sans"/>
                <a:cs typeface="Public Sans"/>
                <a:sym typeface="Public Sans"/>
              </a:rPr>
              <a:t>Đa số phim có độ lệch chuẩn ~0.99 → đánh giá tương đối đồng nhất.</a:t>
            </a:r>
          </a:p>
        </p:txBody>
      </p:sp>
      <p:sp>
        <p:nvSpPr>
          <p:cNvPr name="TextBox 10" id="10"/>
          <p:cNvSpPr txBox="true"/>
          <p:nvPr/>
        </p:nvSpPr>
        <p:spPr>
          <a:xfrm rot="0">
            <a:off x="502199" y="9611274"/>
            <a:ext cx="10909628" cy="1109302"/>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Public Sans"/>
                <a:ea typeface="Public Sans"/>
                <a:cs typeface="Public Sans"/>
                <a:sym typeface="Public Sans"/>
              </a:rPr>
              <a:t>Biểu đồ Histogram thể hiện phần bố độ lệch chuẩn rating</a:t>
            </a:r>
          </a:p>
          <a:p>
            <a:pPr algn="l">
              <a:lnSpc>
                <a:spcPts val="4480"/>
              </a:lnSpc>
              <a:spcBef>
                <a:spcPct val="0"/>
              </a:spcBef>
            </a:pPr>
          </a:p>
        </p:txBody>
      </p:sp>
      <p:sp>
        <p:nvSpPr>
          <p:cNvPr name="TextBox 11" id="11"/>
          <p:cNvSpPr txBox="true"/>
          <p:nvPr/>
        </p:nvSpPr>
        <p:spPr>
          <a:xfrm rot="0">
            <a:off x="10590705" y="6213944"/>
            <a:ext cx="6754612" cy="1671256"/>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Public Sans"/>
                <a:ea typeface="Public Sans"/>
                <a:cs typeface="Public Sans"/>
                <a:sym typeface="Public Sans"/>
              </a:rPr>
              <a:t>Đuôi phải kéo dài: Một số phim có độ phân tán cao → nhóm phim “gây tranh cãi”.</a:t>
            </a:r>
          </a:p>
        </p:txBody>
      </p:sp>
      <p:sp>
        <p:nvSpPr>
          <p:cNvPr name="TextBox 12" id="12"/>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 </a:t>
            </a:r>
          </a:p>
          <a:p>
            <a:pPr algn="ctr">
              <a:lnSpc>
                <a:spcPts val="4320"/>
              </a:lnSpc>
            </a:pPr>
            <a:r>
              <a:rPr lang="en-US" b="true" sz="3200" spc="192">
                <a:solidFill>
                  <a:srgbClr val="000000"/>
                </a:solidFill>
                <a:latin typeface="Public Sans Bold"/>
                <a:ea typeface="Public Sans Bold"/>
                <a:cs typeface="Public Sans Bold"/>
                <a:sym typeface="Public Sans Bold"/>
              </a:rPr>
              <a:t>2.Phân bố độ lệch chuẩn rating và nhóm phim “gây tranh cãi”</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502199" y="2773751"/>
            <a:ext cx="9835109" cy="6904197"/>
          </a:xfrm>
          <a:custGeom>
            <a:avLst/>
            <a:gdLst/>
            <a:ahLst/>
            <a:cxnLst/>
            <a:rect r="r" b="b" t="t" l="l"/>
            <a:pathLst>
              <a:path h="6904197" w="9835109">
                <a:moveTo>
                  <a:pt x="0" y="0"/>
                </a:moveTo>
                <a:lnTo>
                  <a:pt x="9835109" y="0"/>
                </a:lnTo>
                <a:lnTo>
                  <a:pt x="9835109" y="6904198"/>
                </a:lnTo>
                <a:lnTo>
                  <a:pt x="0" y="6904198"/>
                </a:lnTo>
                <a:lnTo>
                  <a:pt x="0" y="0"/>
                </a:lnTo>
                <a:close/>
              </a:path>
            </a:pathLst>
          </a:custGeom>
          <a:blipFill>
            <a:blip r:embed="rId12"/>
            <a:stretch>
              <a:fillRect l="0" t="0" r="0" b="0"/>
            </a:stretch>
          </a:blipFill>
        </p:spPr>
      </p:sp>
      <p:sp>
        <p:nvSpPr>
          <p:cNvPr name="TextBox 9" id="9"/>
          <p:cNvSpPr txBox="true"/>
          <p:nvPr/>
        </p:nvSpPr>
        <p:spPr>
          <a:xfrm rot="0">
            <a:off x="1657104" y="9579251"/>
            <a:ext cx="7525300" cy="547348"/>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Public Sans"/>
                <a:ea typeface="Public Sans"/>
                <a:cs typeface="Public Sans"/>
                <a:sym typeface="Public Sans"/>
              </a:rPr>
              <a:t> </a:t>
            </a:r>
            <a:r>
              <a:rPr lang="en-US" sz="3200">
                <a:solidFill>
                  <a:srgbClr val="000000"/>
                </a:solidFill>
                <a:latin typeface="Public Sans"/>
                <a:ea typeface="Public Sans"/>
                <a:cs typeface="Public Sans"/>
                <a:sym typeface="Public Sans"/>
              </a:rPr>
              <a:t>Biểu đồ Boxplot thể hiện độ lệch chuẩn</a:t>
            </a:r>
          </a:p>
        </p:txBody>
      </p:sp>
      <p:sp>
        <p:nvSpPr>
          <p:cNvPr name="TextBox 10" id="10"/>
          <p:cNvSpPr txBox="true"/>
          <p:nvPr/>
        </p:nvSpPr>
        <p:spPr>
          <a:xfrm rot="0">
            <a:off x="10992803" y="5356885"/>
            <a:ext cx="6754612" cy="1671256"/>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Public Sans"/>
                <a:ea typeface="Public Sans"/>
                <a:cs typeface="Public Sans"/>
                <a:sym typeface="Public Sans"/>
              </a:rPr>
              <a:t>Ngoạ</a:t>
            </a:r>
            <a:r>
              <a:rPr lang="en-US" sz="3200">
                <a:solidFill>
                  <a:srgbClr val="000000"/>
                </a:solidFill>
                <a:latin typeface="Public Sans"/>
                <a:ea typeface="Public Sans"/>
                <a:cs typeface="Public Sans"/>
                <a:sym typeface="Public Sans"/>
              </a:rPr>
              <a:t>i lệ rõ rệt, phần lớn tập trung quanh trung vị → đồng thuận cao, outlier = phim tranh cãi.</a:t>
            </a:r>
          </a:p>
        </p:txBody>
      </p:sp>
      <p:sp>
        <p:nvSpPr>
          <p:cNvPr name="TextBox 11" id="11"/>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 </a:t>
            </a:r>
          </a:p>
          <a:p>
            <a:pPr algn="ctr">
              <a:lnSpc>
                <a:spcPts val="4320"/>
              </a:lnSpc>
            </a:pPr>
            <a:r>
              <a:rPr lang="en-US" b="true" sz="3200" spc="192">
                <a:solidFill>
                  <a:srgbClr val="000000"/>
                </a:solidFill>
                <a:latin typeface="Public Sans Bold"/>
                <a:ea typeface="Public Sans Bold"/>
                <a:cs typeface="Public Sans Bold"/>
                <a:sym typeface="Public Sans Bold"/>
              </a:rPr>
              <a:t>2.Phân bố độ lệch chuẩn rating và nhóm phim “gây tranh cãi”</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502199" y="2773751"/>
            <a:ext cx="9835109" cy="6904197"/>
          </a:xfrm>
          <a:custGeom>
            <a:avLst/>
            <a:gdLst/>
            <a:ahLst/>
            <a:cxnLst/>
            <a:rect r="r" b="b" t="t" l="l"/>
            <a:pathLst>
              <a:path h="6904197" w="9835109">
                <a:moveTo>
                  <a:pt x="0" y="0"/>
                </a:moveTo>
                <a:lnTo>
                  <a:pt x="9835109" y="0"/>
                </a:lnTo>
                <a:lnTo>
                  <a:pt x="9835109" y="6904198"/>
                </a:lnTo>
                <a:lnTo>
                  <a:pt x="0" y="6904198"/>
                </a:lnTo>
                <a:lnTo>
                  <a:pt x="0" y="0"/>
                </a:lnTo>
                <a:close/>
              </a:path>
            </a:pathLst>
          </a:custGeom>
          <a:blipFill>
            <a:blip r:embed="rId12"/>
            <a:stretch>
              <a:fillRect l="0" t="0" r="0" b="0"/>
            </a:stretch>
          </a:blipFill>
        </p:spPr>
      </p:sp>
      <p:sp>
        <p:nvSpPr>
          <p:cNvPr name="TextBox 9" id="9"/>
          <p:cNvSpPr txBox="true"/>
          <p:nvPr/>
        </p:nvSpPr>
        <p:spPr>
          <a:xfrm rot="0">
            <a:off x="1657104" y="9579251"/>
            <a:ext cx="7525300" cy="547348"/>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Public Sans"/>
                <a:ea typeface="Public Sans"/>
                <a:cs typeface="Public Sans"/>
                <a:sym typeface="Public Sans"/>
              </a:rPr>
              <a:t> </a:t>
            </a:r>
            <a:r>
              <a:rPr lang="en-US" sz="3200">
                <a:solidFill>
                  <a:srgbClr val="000000"/>
                </a:solidFill>
                <a:latin typeface="Public Sans"/>
                <a:ea typeface="Public Sans"/>
                <a:cs typeface="Public Sans"/>
                <a:sym typeface="Public Sans"/>
              </a:rPr>
              <a:t>Biểu đồ Boxplot thể hiện độ lệch chuẩn</a:t>
            </a:r>
          </a:p>
        </p:txBody>
      </p:sp>
      <p:sp>
        <p:nvSpPr>
          <p:cNvPr name="TextBox 10" id="10"/>
          <p:cNvSpPr txBox="true"/>
          <p:nvPr/>
        </p:nvSpPr>
        <p:spPr>
          <a:xfrm rot="0">
            <a:off x="10992803" y="5356885"/>
            <a:ext cx="6754612" cy="1671256"/>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Public Sans"/>
                <a:ea typeface="Public Sans"/>
                <a:cs typeface="Public Sans"/>
                <a:sym typeface="Public Sans"/>
              </a:rPr>
              <a:t>Ngoạ</a:t>
            </a:r>
            <a:r>
              <a:rPr lang="en-US" sz="3200">
                <a:solidFill>
                  <a:srgbClr val="000000"/>
                </a:solidFill>
                <a:latin typeface="Public Sans"/>
                <a:ea typeface="Public Sans"/>
                <a:cs typeface="Public Sans"/>
                <a:sym typeface="Public Sans"/>
              </a:rPr>
              <a:t>i lệ rõ rệt, phần lớn tập trung quanh trung vị → đồng thuận cao, outlier = phim tranh cãi.</a:t>
            </a:r>
          </a:p>
        </p:txBody>
      </p:sp>
      <p:sp>
        <p:nvSpPr>
          <p:cNvPr name="TextBox 11" id="11"/>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 </a:t>
            </a:r>
          </a:p>
          <a:p>
            <a:pPr algn="ctr">
              <a:lnSpc>
                <a:spcPts val="4320"/>
              </a:lnSpc>
            </a:pPr>
            <a:r>
              <a:rPr lang="en-US" b="true" sz="3200" spc="192">
                <a:solidFill>
                  <a:srgbClr val="000000"/>
                </a:solidFill>
                <a:latin typeface="Public Sans Bold"/>
                <a:ea typeface="Public Sans Bold"/>
                <a:cs typeface="Public Sans Bold"/>
                <a:sym typeface="Public Sans Bold"/>
              </a:rPr>
              <a:t>2.Phân bố độ lệch chuẩn rating và nhóm phim “gây tranh cãi”</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486579" y="3002325"/>
            <a:ext cx="9237182" cy="6443727"/>
          </a:xfrm>
          <a:custGeom>
            <a:avLst/>
            <a:gdLst/>
            <a:ahLst/>
            <a:cxnLst/>
            <a:rect r="r" b="b" t="t" l="l"/>
            <a:pathLst>
              <a:path h="6443727" w="9237182">
                <a:moveTo>
                  <a:pt x="0" y="0"/>
                </a:moveTo>
                <a:lnTo>
                  <a:pt x="9237182" y="0"/>
                </a:lnTo>
                <a:lnTo>
                  <a:pt x="9237182" y="6443727"/>
                </a:lnTo>
                <a:lnTo>
                  <a:pt x="0" y="6443727"/>
                </a:lnTo>
                <a:lnTo>
                  <a:pt x="0" y="0"/>
                </a:lnTo>
                <a:close/>
              </a:path>
            </a:pathLst>
          </a:custGeom>
          <a:blipFill>
            <a:blip r:embed="rId12"/>
            <a:stretch>
              <a:fillRect l="0" t="0" r="0" b="0"/>
            </a:stretch>
          </a:blipFill>
        </p:spPr>
      </p:sp>
      <p:sp>
        <p:nvSpPr>
          <p:cNvPr name="TextBox 9" id="9"/>
          <p:cNvSpPr txBox="true"/>
          <p:nvPr/>
        </p:nvSpPr>
        <p:spPr>
          <a:xfrm rot="0">
            <a:off x="1028700" y="9607977"/>
            <a:ext cx="8631071" cy="547348"/>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Public Sans"/>
                <a:ea typeface="Public Sans"/>
                <a:cs typeface="Public Sans"/>
                <a:sym typeface="Public Sans"/>
              </a:rPr>
              <a:t>Biểu đồ Q-Q Plot để kiểm tra phân phối chuẩn</a:t>
            </a:r>
          </a:p>
        </p:txBody>
      </p:sp>
      <p:sp>
        <p:nvSpPr>
          <p:cNvPr name="TextBox 10" id="10"/>
          <p:cNvSpPr txBox="true"/>
          <p:nvPr/>
        </p:nvSpPr>
        <p:spPr>
          <a:xfrm rot="0">
            <a:off x="10590705" y="5334434"/>
            <a:ext cx="6754612" cy="1109302"/>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Public Sans"/>
                <a:ea typeface="Public Sans"/>
                <a:cs typeface="Public Sans"/>
                <a:sym typeface="Public Sans"/>
              </a:rPr>
              <a:t>Phân</a:t>
            </a:r>
            <a:r>
              <a:rPr lang="en-US" sz="3200">
                <a:solidFill>
                  <a:srgbClr val="000000"/>
                </a:solidFill>
                <a:latin typeface="Public Sans"/>
                <a:ea typeface="Public Sans"/>
                <a:cs typeface="Public Sans"/>
                <a:sym typeface="Public Sans"/>
              </a:rPr>
              <a:t> bố lệch phải, xác nhận sự tồn tại của phim độ phân tán cao.</a:t>
            </a:r>
          </a:p>
        </p:txBody>
      </p:sp>
      <p:sp>
        <p:nvSpPr>
          <p:cNvPr name="TextBox 11" id="11"/>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 </a:t>
            </a:r>
          </a:p>
          <a:p>
            <a:pPr algn="ctr">
              <a:lnSpc>
                <a:spcPts val="4320"/>
              </a:lnSpc>
            </a:pPr>
            <a:r>
              <a:rPr lang="en-US" b="true" sz="3200" spc="192">
                <a:solidFill>
                  <a:srgbClr val="000000"/>
                </a:solidFill>
                <a:latin typeface="Public Sans Bold"/>
                <a:ea typeface="Public Sans Bold"/>
                <a:cs typeface="Public Sans Bold"/>
                <a:sym typeface="Public Sans Bold"/>
              </a:rPr>
              <a:t>2.Phân bố độ lệch chuẩn rating và nhóm phim “gây tranh cãi”</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499763" y="3418463"/>
            <a:ext cx="9193515" cy="6467800"/>
          </a:xfrm>
          <a:custGeom>
            <a:avLst/>
            <a:gdLst/>
            <a:ahLst/>
            <a:cxnLst/>
            <a:rect r="r" b="b" t="t" l="l"/>
            <a:pathLst>
              <a:path h="6467800" w="9193515">
                <a:moveTo>
                  <a:pt x="0" y="0"/>
                </a:moveTo>
                <a:lnTo>
                  <a:pt x="9193516" y="0"/>
                </a:lnTo>
                <a:lnTo>
                  <a:pt x="9193516" y="6467799"/>
                </a:lnTo>
                <a:lnTo>
                  <a:pt x="0" y="6467799"/>
                </a:lnTo>
                <a:lnTo>
                  <a:pt x="0" y="0"/>
                </a:lnTo>
                <a:close/>
              </a:path>
            </a:pathLst>
          </a:custGeom>
          <a:blipFill>
            <a:blip r:embed="rId12"/>
            <a:stretch>
              <a:fillRect l="0" t="0" r="0" b="0"/>
            </a:stretch>
          </a:blipFill>
        </p:spPr>
      </p:sp>
      <p:sp>
        <p:nvSpPr>
          <p:cNvPr name="TextBox 9" id="9"/>
          <p:cNvSpPr txBox="true"/>
          <p:nvPr/>
        </p:nvSpPr>
        <p:spPr>
          <a:xfrm rot="0">
            <a:off x="10477004" y="8670312"/>
            <a:ext cx="6579915" cy="1109302"/>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Public Sans"/>
                <a:ea typeface="Public Sans"/>
                <a:cs typeface="Public Sans"/>
                <a:sym typeface="Public Sans"/>
              </a:rPr>
              <a:t>B</a:t>
            </a:r>
            <a:r>
              <a:rPr lang="en-US" sz="3200">
                <a:solidFill>
                  <a:srgbClr val="000000"/>
                </a:solidFill>
                <a:latin typeface="Public Sans"/>
                <a:ea typeface="Public Sans"/>
                <a:cs typeface="Public Sans"/>
                <a:sym typeface="Public Sans"/>
              </a:rPr>
              <a:t>iểu đồ scatter thể hiện mối quan hệ điểm trung bình và độ phân tán</a:t>
            </a:r>
          </a:p>
        </p:txBody>
      </p:sp>
      <p:sp>
        <p:nvSpPr>
          <p:cNvPr name="TextBox 10" id="10"/>
          <p:cNvSpPr txBox="true"/>
          <p:nvPr/>
        </p:nvSpPr>
        <p:spPr>
          <a:xfrm rot="0">
            <a:off x="10590705" y="5334434"/>
            <a:ext cx="6754612" cy="1671256"/>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Public Sans"/>
                <a:ea typeface="Public Sans"/>
                <a:cs typeface="Public Sans"/>
                <a:sym typeface="Public Sans"/>
              </a:rPr>
              <a:t>Tương</a:t>
            </a:r>
            <a:r>
              <a:rPr lang="en-US" sz="3200">
                <a:solidFill>
                  <a:srgbClr val="000000"/>
                </a:solidFill>
                <a:latin typeface="Public Sans"/>
                <a:ea typeface="Public Sans"/>
                <a:cs typeface="Public Sans"/>
                <a:sym typeface="Public Sans"/>
              </a:rPr>
              <a:t> quan nghịch yếu (r ≈ -0.25) → phim điểm trung bình vừa thường tranh cãi nhất.</a:t>
            </a:r>
          </a:p>
        </p:txBody>
      </p:sp>
      <p:sp>
        <p:nvSpPr>
          <p:cNvPr name="TextBox 11" id="11"/>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 </a:t>
            </a:r>
          </a:p>
          <a:p>
            <a:pPr algn="ctr">
              <a:lnSpc>
                <a:spcPts val="4320"/>
              </a:lnSpc>
            </a:pPr>
            <a:r>
              <a:rPr lang="en-US" b="true" sz="3200" spc="192">
                <a:solidFill>
                  <a:srgbClr val="000000"/>
                </a:solidFill>
                <a:latin typeface="Public Sans Bold"/>
                <a:ea typeface="Public Sans Bold"/>
                <a:cs typeface="Public Sans Bold"/>
                <a:sym typeface="Public Sans Bold"/>
              </a:rPr>
              <a:t>2.Phân bố độ lệch chuẩn rating và nhóm phim “gây tranh cãi”</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2868236" y="3667263"/>
            <a:ext cx="12551529" cy="4481023"/>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Public Sans Bold"/>
                <a:ea typeface="Public Sans Bold"/>
                <a:cs typeface="Public Sans Bold"/>
                <a:sym typeface="Public Sans Bold"/>
              </a:rPr>
              <a:t>Ý nghĩa</a:t>
            </a:r>
            <a:r>
              <a:rPr lang="en-US" b="true" sz="3200">
                <a:solidFill>
                  <a:srgbClr val="000000"/>
                </a:solidFill>
                <a:latin typeface="Public Sans Bold"/>
                <a:ea typeface="Public Sans Bold"/>
                <a:cs typeface="Public Sans Bold"/>
                <a:sym typeface="Public Sans Bold"/>
              </a:rPr>
              <a:t> chung</a:t>
            </a:r>
          </a:p>
          <a:p>
            <a:pPr algn="l"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Phim tranh cãi = top 10% độ lệch chuẩn cao nhất (std ≥ 90th percentile).</a:t>
            </a:r>
          </a:p>
          <a:p>
            <a:pPr algn="l"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Nguyên nhân: thể loại gây cảm xúc mạnh (Horror, War, Thriller), nội dung đặc thù.</a:t>
            </a:r>
          </a:p>
          <a:p>
            <a:pPr algn="l"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Độ lệch chuẩn là thước đo đồng thuận khán giả, giúp nhận diện phim gây tranh cãi.</a:t>
            </a:r>
          </a:p>
          <a:p>
            <a:pPr algn="l">
              <a:lnSpc>
                <a:spcPts val="4480"/>
              </a:lnSpc>
              <a:spcBef>
                <a:spcPct val="0"/>
              </a:spcBef>
            </a:pP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 </a:t>
            </a:r>
          </a:p>
          <a:p>
            <a:pPr algn="ctr">
              <a:lnSpc>
                <a:spcPts val="4320"/>
              </a:lnSpc>
            </a:pPr>
            <a:r>
              <a:rPr lang="en-US" b="true" sz="3200" spc="192">
                <a:solidFill>
                  <a:srgbClr val="000000"/>
                </a:solidFill>
                <a:latin typeface="Public Sans Bold"/>
                <a:ea typeface="Public Sans Bold"/>
                <a:cs typeface="Public Sans Bold"/>
                <a:sym typeface="Public Sans Bold"/>
              </a:rPr>
              <a:t>3.Độ lệch chuẩn rating theo thể loại phim và nhóm tuổi</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470227" y="3108003"/>
            <a:ext cx="8870150" cy="6150297"/>
          </a:xfrm>
          <a:custGeom>
            <a:avLst/>
            <a:gdLst/>
            <a:ahLst/>
            <a:cxnLst/>
            <a:rect r="r" b="b" t="t" l="l"/>
            <a:pathLst>
              <a:path h="6150297" w="8870150">
                <a:moveTo>
                  <a:pt x="0" y="0"/>
                </a:moveTo>
                <a:lnTo>
                  <a:pt x="8870150" y="0"/>
                </a:lnTo>
                <a:lnTo>
                  <a:pt x="8870150" y="6150297"/>
                </a:lnTo>
                <a:lnTo>
                  <a:pt x="0" y="6150297"/>
                </a:lnTo>
                <a:lnTo>
                  <a:pt x="0" y="0"/>
                </a:lnTo>
                <a:close/>
              </a:path>
            </a:pathLst>
          </a:custGeom>
          <a:blipFill>
            <a:blip r:embed="rId12"/>
            <a:stretch>
              <a:fillRect l="0" t="0" r="0" b="0"/>
            </a:stretch>
          </a:blipFill>
        </p:spPr>
      </p:sp>
      <p:sp>
        <p:nvSpPr>
          <p:cNvPr name="TextBox 9" id="9"/>
          <p:cNvSpPr txBox="true"/>
          <p:nvPr/>
        </p:nvSpPr>
        <p:spPr>
          <a:xfrm rot="0">
            <a:off x="692321" y="9177698"/>
            <a:ext cx="8648057" cy="1109302"/>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Public Sans"/>
                <a:ea typeface="Public Sans"/>
                <a:cs typeface="Public Sans"/>
                <a:sym typeface="Public Sans"/>
              </a:rPr>
              <a:t>Biểu đồ cột ngang thể hiện độ lệch chuẩn rating theo thể loại phim</a:t>
            </a:r>
          </a:p>
        </p:txBody>
      </p:sp>
      <p:sp>
        <p:nvSpPr>
          <p:cNvPr name="TextBox 10" id="10"/>
          <p:cNvSpPr txBox="true"/>
          <p:nvPr/>
        </p:nvSpPr>
        <p:spPr>
          <a:xfrm rot="0">
            <a:off x="9656221" y="4471256"/>
            <a:ext cx="8356667" cy="3357116"/>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Public Sans Bold"/>
                <a:ea typeface="Public Sans Bold"/>
                <a:cs typeface="Public Sans Bold"/>
                <a:sym typeface="Public Sans Bold"/>
              </a:rPr>
              <a:t>Cao nhất: </a:t>
            </a:r>
            <a:r>
              <a:rPr lang="en-US" sz="3200">
                <a:solidFill>
                  <a:srgbClr val="000000"/>
                </a:solidFill>
                <a:latin typeface="Public Sans"/>
                <a:ea typeface="Public Sans"/>
                <a:cs typeface="Public Sans"/>
                <a:sym typeface="Public Sans"/>
              </a:rPr>
              <a:t>Horror, Thriller, War, Drama → khán giả chia thái cực.</a:t>
            </a:r>
          </a:p>
          <a:p>
            <a:pPr algn="l">
              <a:lnSpc>
                <a:spcPts val="4480"/>
              </a:lnSpc>
              <a:spcBef>
                <a:spcPct val="0"/>
              </a:spcBef>
            </a:pPr>
            <a:r>
              <a:rPr lang="en-US" b="true" sz="3200">
                <a:solidFill>
                  <a:srgbClr val="000000"/>
                </a:solidFill>
                <a:latin typeface="Public Sans Bold"/>
                <a:ea typeface="Public Sans Bold"/>
                <a:cs typeface="Public Sans Bold"/>
                <a:sym typeface="Public Sans Bold"/>
              </a:rPr>
              <a:t>Thấp nhất:</a:t>
            </a:r>
            <a:r>
              <a:rPr lang="en-US" sz="3200">
                <a:solidFill>
                  <a:srgbClr val="000000"/>
                </a:solidFill>
                <a:latin typeface="Public Sans"/>
                <a:ea typeface="Public Sans"/>
                <a:cs typeface="Public Sans"/>
                <a:sym typeface="Public Sans"/>
              </a:rPr>
              <a:t> Animation, Romance, Comedy → đánh giá đồng nhất.</a:t>
            </a:r>
          </a:p>
          <a:p>
            <a:pPr algn="l">
              <a:lnSpc>
                <a:spcPts val="4480"/>
              </a:lnSpc>
              <a:spcBef>
                <a:spcPct val="0"/>
              </a:spcBef>
            </a:pPr>
            <a:r>
              <a:rPr lang="en-US" b="true" sz="3200">
                <a:solidFill>
                  <a:srgbClr val="000000"/>
                </a:solidFill>
                <a:latin typeface="Public Sans Bold"/>
                <a:ea typeface="Public Sans Bold"/>
                <a:cs typeface="Public Sans Bold"/>
                <a:sym typeface="Public Sans Bold"/>
              </a:rPr>
              <a:t>Kết luận:</a:t>
            </a:r>
            <a:r>
              <a:rPr lang="en-US" sz="3200">
                <a:solidFill>
                  <a:srgbClr val="000000"/>
                </a:solidFill>
                <a:latin typeface="Public Sans"/>
                <a:ea typeface="Public Sans"/>
                <a:cs typeface="Public Sans"/>
                <a:sym typeface="Public Sans"/>
              </a:rPr>
              <a:t> Thể loại “cực đoan” dễ tạo tranh cãi, thể loại “dễ xem” ít tranh cãi.</a:t>
            </a:r>
          </a:p>
        </p:txBody>
      </p:sp>
      <p:sp>
        <p:nvSpPr>
          <p:cNvPr name="TextBox 11" id="11"/>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 </a:t>
            </a:r>
          </a:p>
          <a:p>
            <a:pPr algn="ctr">
              <a:lnSpc>
                <a:spcPts val="4320"/>
              </a:lnSpc>
            </a:pPr>
            <a:r>
              <a:rPr lang="en-US" b="true" sz="3200" spc="192">
                <a:solidFill>
                  <a:srgbClr val="000000"/>
                </a:solidFill>
                <a:latin typeface="Public Sans Bold"/>
                <a:ea typeface="Public Sans Bold"/>
                <a:cs typeface="Public Sans Bold"/>
                <a:sym typeface="Public Sans Bold"/>
              </a:rPr>
              <a:t>3.Độ lệch chuẩn rating theo thể loại phim và nhóm tuổi</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692321" y="2877694"/>
            <a:ext cx="8326240" cy="6262736"/>
          </a:xfrm>
          <a:custGeom>
            <a:avLst/>
            <a:gdLst/>
            <a:ahLst/>
            <a:cxnLst/>
            <a:rect r="r" b="b" t="t" l="l"/>
            <a:pathLst>
              <a:path h="6262736" w="8326240">
                <a:moveTo>
                  <a:pt x="0" y="0"/>
                </a:moveTo>
                <a:lnTo>
                  <a:pt x="8326240" y="0"/>
                </a:lnTo>
                <a:lnTo>
                  <a:pt x="8326240" y="6262736"/>
                </a:lnTo>
                <a:lnTo>
                  <a:pt x="0" y="6262736"/>
                </a:lnTo>
                <a:lnTo>
                  <a:pt x="0" y="0"/>
                </a:lnTo>
                <a:close/>
              </a:path>
            </a:pathLst>
          </a:custGeom>
          <a:blipFill>
            <a:blip r:embed="rId12"/>
            <a:stretch>
              <a:fillRect l="0" t="0" r="0" b="0"/>
            </a:stretch>
          </a:blipFill>
        </p:spPr>
      </p:sp>
      <p:sp>
        <p:nvSpPr>
          <p:cNvPr name="TextBox 9" id="9"/>
          <p:cNvSpPr txBox="true"/>
          <p:nvPr/>
        </p:nvSpPr>
        <p:spPr>
          <a:xfrm rot="0">
            <a:off x="692321" y="9177698"/>
            <a:ext cx="8648057" cy="1109302"/>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Public Sans"/>
                <a:ea typeface="Public Sans"/>
                <a:cs typeface="Public Sans"/>
                <a:sym typeface="Public Sans"/>
              </a:rPr>
              <a:t>Biểu đồ cột thể hiện độ lệch chuẩn rating theo nhóm tuổi người xem</a:t>
            </a:r>
          </a:p>
        </p:txBody>
      </p:sp>
      <p:sp>
        <p:nvSpPr>
          <p:cNvPr name="TextBox 10" id="10"/>
          <p:cNvSpPr txBox="true"/>
          <p:nvPr/>
        </p:nvSpPr>
        <p:spPr>
          <a:xfrm rot="0">
            <a:off x="9340377" y="3454236"/>
            <a:ext cx="8356667" cy="5042977"/>
          </a:xfrm>
          <a:prstGeom prst="rect">
            <a:avLst/>
          </a:prstGeom>
        </p:spPr>
        <p:txBody>
          <a:bodyPr anchor="t" rtlCol="false" tIns="0" lIns="0" bIns="0" rIns="0">
            <a:spAutoFit/>
          </a:bodyPr>
          <a:lstStyle/>
          <a:p>
            <a:pPr algn="l" marL="690881" indent="-345440" lvl="1">
              <a:lnSpc>
                <a:spcPts val="4480"/>
              </a:lnSpc>
              <a:spcBef>
                <a:spcPct val="0"/>
              </a:spcBef>
              <a:buFont typeface="Arial"/>
              <a:buChar char="•"/>
            </a:pPr>
            <a:r>
              <a:rPr lang="en-US" b="true" sz="3200">
                <a:solidFill>
                  <a:srgbClr val="000000"/>
                </a:solidFill>
                <a:latin typeface="Public Sans Bold"/>
                <a:ea typeface="Public Sans Bold"/>
                <a:cs typeface="Public Sans Bold"/>
                <a:sym typeface="Public Sans Bold"/>
              </a:rPr>
              <a:t>18–24</a:t>
            </a:r>
            <a:r>
              <a:rPr lang="en-US" b="true" sz="3200">
                <a:solidFill>
                  <a:srgbClr val="000000"/>
                </a:solidFill>
                <a:latin typeface="Public Sans Bold"/>
                <a:ea typeface="Public Sans Bold"/>
                <a:cs typeface="Public Sans Bold"/>
                <a:sym typeface="Public Sans Bold"/>
              </a:rPr>
              <a:t> tuổi:</a:t>
            </a:r>
            <a:r>
              <a:rPr lang="en-US" sz="3200">
                <a:solidFill>
                  <a:srgbClr val="000000"/>
                </a:solidFill>
                <a:latin typeface="Public Sans"/>
                <a:ea typeface="Public Sans"/>
                <a:cs typeface="Public Sans"/>
                <a:sym typeface="Public Sans"/>
              </a:rPr>
              <a:t> độ lệch chuẩn cao → đánh giá đa dạng, theo cảm xúc.</a:t>
            </a:r>
          </a:p>
          <a:p>
            <a:pPr algn="l" marL="690881" indent="-345440" lvl="1">
              <a:lnSpc>
                <a:spcPts val="4480"/>
              </a:lnSpc>
              <a:spcBef>
                <a:spcPct val="0"/>
              </a:spcBef>
              <a:buFont typeface="Arial"/>
              <a:buChar char="•"/>
            </a:pPr>
            <a:r>
              <a:rPr lang="en-US" b="true" sz="3200">
                <a:solidFill>
                  <a:srgbClr val="000000"/>
                </a:solidFill>
                <a:latin typeface="Public Sans Bold"/>
                <a:ea typeface="Public Sans Bold"/>
                <a:cs typeface="Public Sans Bold"/>
                <a:sym typeface="Public Sans Bold"/>
              </a:rPr>
              <a:t>25–44 tuổi: </a:t>
            </a:r>
            <a:r>
              <a:rPr lang="en-US" sz="3200">
                <a:solidFill>
                  <a:srgbClr val="000000"/>
                </a:solidFill>
                <a:latin typeface="Public Sans"/>
                <a:ea typeface="Public Sans"/>
                <a:cs typeface="Public Sans"/>
                <a:sym typeface="Public Sans"/>
              </a:rPr>
              <a:t>độ lệch chuẩn trung bình → ổn định hơn.</a:t>
            </a:r>
          </a:p>
          <a:p>
            <a:pPr algn="l" marL="690881" indent="-345440" lvl="1">
              <a:lnSpc>
                <a:spcPts val="4480"/>
              </a:lnSpc>
              <a:spcBef>
                <a:spcPct val="0"/>
              </a:spcBef>
              <a:buFont typeface="Arial"/>
              <a:buChar char="•"/>
            </a:pPr>
            <a:r>
              <a:rPr lang="en-US" b="true" sz="3200">
                <a:solidFill>
                  <a:srgbClr val="000000"/>
                </a:solidFill>
                <a:latin typeface="Public Sans Bold"/>
                <a:ea typeface="Public Sans Bold"/>
                <a:cs typeface="Public Sans Bold"/>
                <a:sym typeface="Public Sans Bold"/>
              </a:rPr>
              <a:t>50+ tuổi: </a:t>
            </a:r>
            <a:r>
              <a:rPr lang="en-US" sz="3200">
                <a:solidFill>
                  <a:srgbClr val="000000"/>
                </a:solidFill>
                <a:latin typeface="Public Sans"/>
                <a:ea typeface="Public Sans"/>
                <a:cs typeface="Public Sans"/>
                <a:sym typeface="Public Sans"/>
              </a:rPr>
              <a:t>độ lệch chuẩn thấp → đồng thuận cao.</a:t>
            </a:r>
          </a:p>
          <a:p>
            <a:pPr algn="l" marL="690881" indent="-345440" lvl="1">
              <a:lnSpc>
                <a:spcPts val="4480"/>
              </a:lnSpc>
              <a:spcBef>
                <a:spcPct val="0"/>
              </a:spcBef>
              <a:buFont typeface="Arial"/>
              <a:buChar char="•"/>
            </a:pPr>
            <a:r>
              <a:rPr lang="en-US" b="true" sz="3200">
                <a:solidFill>
                  <a:srgbClr val="000000"/>
                </a:solidFill>
                <a:latin typeface="Public Sans Bold"/>
                <a:ea typeface="Public Sans Bold"/>
                <a:cs typeface="Public Sans Bold"/>
                <a:sym typeface="Public Sans Bold"/>
              </a:rPr>
              <a:t>Kết luận: </a:t>
            </a:r>
            <a:r>
              <a:rPr lang="en-US" sz="3200">
                <a:solidFill>
                  <a:srgbClr val="000000"/>
                </a:solidFill>
                <a:latin typeface="Public Sans"/>
                <a:ea typeface="Public Sans"/>
                <a:cs typeface="Public Sans"/>
                <a:sym typeface="Public Sans"/>
              </a:rPr>
              <a:t>Nhóm trẻ tuổi đánh giá cực đoan hơn, nhóm lớn tuổi ổn định.</a:t>
            </a:r>
          </a:p>
          <a:p>
            <a:pPr algn="l">
              <a:lnSpc>
                <a:spcPts val="4480"/>
              </a:lnSpc>
              <a:spcBef>
                <a:spcPct val="0"/>
              </a:spcBef>
            </a:pPr>
          </a:p>
        </p:txBody>
      </p:sp>
      <p:sp>
        <p:nvSpPr>
          <p:cNvPr name="TextBox 11" id="11"/>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a:t>
            </a:r>
          </a:p>
          <a:p>
            <a:pPr algn="ctr">
              <a:lnSpc>
                <a:spcPts val="4320"/>
              </a:lnSpc>
            </a:pPr>
            <a:r>
              <a:rPr lang="en-US" b="true" sz="3200" spc="192">
                <a:solidFill>
                  <a:srgbClr val="000000"/>
                </a:solidFill>
                <a:latin typeface="Public Sans Bold"/>
                <a:ea typeface="Public Sans Bold"/>
                <a:cs typeface="Public Sans Bold"/>
                <a:sym typeface="Public Sans Bold"/>
              </a:rPr>
              <a:t>1.Yếu tố ảnh hưởng đến độ phân tán rating</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692321" y="2773751"/>
            <a:ext cx="8106908" cy="7294371"/>
          </a:xfrm>
          <a:custGeom>
            <a:avLst/>
            <a:gdLst/>
            <a:ahLst/>
            <a:cxnLst/>
            <a:rect r="r" b="b" t="t" l="l"/>
            <a:pathLst>
              <a:path h="7294371" w="8106908">
                <a:moveTo>
                  <a:pt x="0" y="0"/>
                </a:moveTo>
                <a:lnTo>
                  <a:pt x="8106908" y="0"/>
                </a:lnTo>
                <a:lnTo>
                  <a:pt x="8106908" y="7294371"/>
                </a:lnTo>
                <a:lnTo>
                  <a:pt x="0" y="7294371"/>
                </a:lnTo>
                <a:lnTo>
                  <a:pt x="0" y="0"/>
                </a:lnTo>
                <a:close/>
              </a:path>
            </a:pathLst>
          </a:custGeom>
          <a:blipFill>
            <a:blip r:embed="rId12"/>
            <a:stretch>
              <a:fillRect l="0" t="0" r="0" b="0"/>
            </a:stretch>
          </a:blipFill>
        </p:spPr>
      </p:sp>
      <p:sp>
        <p:nvSpPr>
          <p:cNvPr name="TextBox 9" id="9"/>
          <p:cNvSpPr txBox="true"/>
          <p:nvPr/>
        </p:nvSpPr>
        <p:spPr>
          <a:xfrm rot="0">
            <a:off x="9364832" y="5832948"/>
            <a:ext cx="8648057" cy="1109302"/>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Public Sans"/>
                <a:ea typeface="Public Sans"/>
                <a:cs typeface="Public Sans"/>
                <a:sym typeface="Public Sans"/>
              </a:rPr>
              <a:t>Ma</a:t>
            </a:r>
            <a:r>
              <a:rPr lang="en-US" sz="3200">
                <a:solidFill>
                  <a:srgbClr val="000000"/>
                </a:solidFill>
                <a:latin typeface="Public Sans"/>
                <a:ea typeface="Public Sans"/>
                <a:cs typeface="Public Sans"/>
                <a:sym typeface="Public Sans"/>
              </a:rPr>
              <a:t> trận tương quan giữa các yếu tố với độ phân tán rating</a:t>
            </a:r>
          </a:p>
        </p:txBody>
      </p:sp>
      <p:sp>
        <p:nvSpPr>
          <p:cNvPr name="TextBox 10" id="10"/>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a:t>
            </a:r>
          </a:p>
          <a:p>
            <a:pPr algn="ctr">
              <a:lnSpc>
                <a:spcPts val="4320"/>
              </a:lnSpc>
            </a:pPr>
            <a:r>
              <a:rPr lang="en-US" b="true" sz="3200" spc="192">
                <a:solidFill>
                  <a:srgbClr val="000000"/>
                </a:solidFill>
                <a:latin typeface="Public Sans Bold"/>
                <a:ea typeface="Public Sans Bold"/>
                <a:cs typeface="Public Sans Bold"/>
                <a:sym typeface="Public Sans Bold"/>
              </a:rPr>
              <a:t>1.Yếu tố ảnh hưởng đến độ phân tán rating</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753589" y="3114987"/>
            <a:ext cx="17259300" cy="6159251"/>
          </a:xfrm>
          <a:prstGeom prst="rect">
            <a:avLst/>
          </a:prstGeom>
        </p:spPr>
        <p:txBody>
          <a:bodyPr anchor="t" rtlCol="false" tIns="0" lIns="0" bIns="0" rIns="0">
            <a:spAutoFit/>
          </a:bodyPr>
          <a:lstStyle/>
          <a:p>
            <a:pPr algn="l">
              <a:lnSpc>
                <a:spcPts val="5459"/>
              </a:lnSpc>
              <a:spcBef>
                <a:spcPct val="0"/>
              </a:spcBef>
            </a:pPr>
            <a:r>
              <a:rPr lang="en-US" b="true" sz="3900">
                <a:solidFill>
                  <a:srgbClr val="000000"/>
                </a:solidFill>
                <a:latin typeface="Public Sans Bold"/>
                <a:ea typeface="Public Sans Bold"/>
                <a:cs typeface="Public Sans Bold"/>
                <a:sym typeface="Public Sans Bold"/>
              </a:rPr>
              <a:t>Thể loại phim: </a:t>
            </a:r>
            <a:r>
              <a:rPr lang="en-US" sz="3900">
                <a:solidFill>
                  <a:srgbClr val="000000"/>
                </a:solidFill>
                <a:latin typeface="Public Sans"/>
                <a:ea typeface="Public Sans"/>
                <a:cs typeface="Public Sans"/>
                <a:sym typeface="Public Sans"/>
              </a:rPr>
              <a:t>Ảnh hưởng mạnh nhất → phim hành động, kinh dị, hài có độ phân tán cao.</a:t>
            </a:r>
          </a:p>
          <a:p>
            <a:pPr algn="l">
              <a:lnSpc>
                <a:spcPts val="5459"/>
              </a:lnSpc>
              <a:spcBef>
                <a:spcPct val="0"/>
              </a:spcBef>
            </a:pPr>
            <a:r>
              <a:rPr lang="en-US" b="true" sz="3900">
                <a:solidFill>
                  <a:srgbClr val="000000"/>
                </a:solidFill>
                <a:latin typeface="Public Sans Bold"/>
                <a:ea typeface="Public Sans Bold"/>
                <a:cs typeface="Public Sans Bold"/>
                <a:sym typeface="Public Sans Bold"/>
              </a:rPr>
              <a:t>Năm phát hành: </a:t>
            </a:r>
            <a:r>
              <a:rPr lang="en-US" sz="3900">
                <a:solidFill>
                  <a:srgbClr val="000000"/>
                </a:solidFill>
                <a:latin typeface="Public Sans"/>
                <a:ea typeface="Public Sans"/>
                <a:cs typeface="Public Sans"/>
                <a:sym typeface="Public Sans"/>
              </a:rPr>
              <a:t>Tác động đáng kể – phim gần đây có độ phân tán lớn hơn.</a:t>
            </a:r>
          </a:p>
          <a:p>
            <a:pPr algn="l">
              <a:lnSpc>
                <a:spcPts val="5459"/>
              </a:lnSpc>
              <a:spcBef>
                <a:spcPct val="0"/>
              </a:spcBef>
            </a:pPr>
            <a:r>
              <a:rPr lang="en-US" b="true" sz="3900">
                <a:solidFill>
                  <a:srgbClr val="000000"/>
                </a:solidFill>
                <a:latin typeface="Public Sans Bold"/>
                <a:ea typeface="Public Sans Bold"/>
                <a:cs typeface="Public Sans Bold"/>
                <a:sym typeface="Public Sans Bold"/>
              </a:rPr>
              <a:t>Giới tính &amp; tuổi:</a:t>
            </a:r>
            <a:r>
              <a:rPr lang="en-US" sz="3900">
                <a:solidFill>
                  <a:srgbClr val="000000"/>
                </a:solidFill>
                <a:latin typeface="Public Sans"/>
                <a:ea typeface="Public Sans"/>
                <a:cs typeface="Public Sans"/>
                <a:sym typeface="Public Sans"/>
              </a:rPr>
              <a:t> Ảnh hưởng vừa phải → khác biệt cảm nhận giữa nhóm người xem.</a:t>
            </a:r>
          </a:p>
          <a:p>
            <a:pPr algn="l">
              <a:lnSpc>
                <a:spcPts val="5459"/>
              </a:lnSpc>
              <a:spcBef>
                <a:spcPct val="0"/>
              </a:spcBef>
            </a:pPr>
            <a:r>
              <a:rPr lang="en-US" b="true" sz="3900">
                <a:solidFill>
                  <a:srgbClr val="000000"/>
                </a:solidFill>
                <a:latin typeface="Public Sans Bold"/>
                <a:ea typeface="Public Sans Bold"/>
                <a:cs typeface="Public Sans Bold"/>
                <a:sym typeface="Public Sans Bold"/>
              </a:rPr>
              <a:t>Độ nổi tiếng (popularity):</a:t>
            </a:r>
            <a:r>
              <a:rPr lang="en-US" sz="3900">
                <a:solidFill>
                  <a:srgbClr val="000000"/>
                </a:solidFill>
                <a:latin typeface="Public Sans"/>
                <a:ea typeface="Public Sans"/>
                <a:cs typeface="Public Sans"/>
                <a:sym typeface="Public Sans"/>
              </a:rPr>
              <a:t> Ảnh hưởng yếu hơn, nhưng có xu hướng tăng phân tán nhẹ.</a:t>
            </a:r>
          </a:p>
          <a:p>
            <a:pPr algn="l">
              <a:lnSpc>
                <a:spcPts val="5459"/>
              </a:lnSpc>
              <a:spcBef>
                <a:spcPct val="0"/>
              </a:spcBef>
            </a:pPr>
            <a:r>
              <a:rPr lang="en-US" sz="3900">
                <a:solidFill>
                  <a:srgbClr val="000000"/>
                </a:solidFill>
                <a:latin typeface="Public Sans"/>
                <a:ea typeface="Public Sans"/>
                <a:cs typeface="Public Sans"/>
                <a:sym typeface="Public Sans"/>
              </a:rPr>
              <a:t>→ Kết luận: Thể loại và năm phát hành là hai yếu tố quan trọng nhất ảnh hưởng đến độ phân tán rating.</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a:t>
            </a:r>
          </a:p>
          <a:p>
            <a:pPr algn="ctr">
              <a:lnSpc>
                <a:spcPts val="4320"/>
              </a:lnSpc>
            </a:pPr>
            <a:r>
              <a:rPr lang="en-US" b="true" sz="3200" spc="192">
                <a:solidFill>
                  <a:srgbClr val="000000"/>
                </a:solidFill>
                <a:latin typeface="Public Sans Bold"/>
                <a:ea typeface="Public Sans Bold"/>
                <a:cs typeface="Public Sans Bold"/>
                <a:sym typeface="Public Sans Bold"/>
              </a:rPr>
              <a:t>2.Thể loại phim cực đoan vs thể loại chính thống</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524140" y="3006732"/>
            <a:ext cx="8049176" cy="6879530"/>
          </a:xfrm>
          <a:custGeom>
            <a:avLst/>
            <a:gdLst/>
            <a:ahLst/>
            <a:cxnLst/>
            <a:rect r="r" b="b" t="t" l="l"/>
            <a:pathLst>
              <a:path h="6879530" w="8049176">
                <a:moveTo>
                  <a:pt x="0" y="0"/>
                </a:moveTo>
                <a:lnTo>
                  <a:pt x="8049175" y="0"/>
                </a:lnTo>
                <a:lnTo>
                  <a:pt x="8049175" y="6879530"/>
                </a:lnTo>
                <a:lnTo>
                  <a:pt x="0" y="6879530"/>
                </a:lnTo>
                <a:lnTo>
                  <a:pt x="0" y="0"/>
                </a:lnTo>
                <a:close/>
              </a:path>
            </a:pathLst>
          </a:custGeom>
          <a:blipFill>
            <a:blip r:embed="rId12"/>
            <a:stretch>
              <a:fillRect l="0" t="0" r="0" b="0"/>
            </a:stretch>
          </a:blipFill>
        </p:spPr>
      </p:sp>
      <p:sp>
        <p:nvSpPr>
          <p:cNvPr name="TextBox 9" id="9"/>
          <p:cNvSpPr txBox="true"/>
          <p:nvPr/>
        </p:nvSpPr>
        <p:spPr>
          <a:xfrm rot="0">
            <a:off x="9147235" y="5845961"/>
            <a:ext cx="8648057" cy="1109302"/>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Public Sans"/>
                <a:ea typeface="Public Sans"/>
                <a:cs typeface="Public Sans"/>
                <a:sym typeface="Public Sans"/>
              </a:rPr>
              <a:t>Biểu</a:t>
            </a:r>
            <a:r>
              <a:rPr lang="en-US" sz="3200">
                <a:solidFill>
                  <a:srgbClr val="000000"/>
                </a:solidFill>
                <a:latin typeface="Public Sans"/>
                <a:ea typeface="Public Sans"/>
                <a:cs typeface="Public Sans"/>
                <a:sym typeface="Public Sans"/>
              </a:rPr>
              <a:t> đồ hộp thể hiện phân bố độ phân tán theo danh mục thể loại</a:t>
            </a:r>
          </a:p>
        </p:txBody>
      </p:sp>
      <p:sp>
        <p:nvSpPr>
          <p:cNvPr name="TextBox 10" id="10"/>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a:t>
            </a:r>
          </a:p>
          <a:p>
            <a:pPr algn="ctr">
              <a:lnSpc>
                <a:spcPts val="4320"/>
              </a:lnSpc>
            </a:pPr>
            <a:r>
              <a:rPr lang="en-US" b="true" sz="3200" spc="192">
                <a:solidFill>
                  <a:srgbClr val="000000"/>
                </a:solidFill>
                <a:latin typeface="Public Sans Bold"/>
                <a:ea typeface="Public Sans Bold"/>
                <a:cs typeface="Public Sans Bold"/>
                <a:sym typeface="Public Sans Bold"/>
              </a:rPr>
              <a:t>2.Thể loại phim cực đoan vs thể loại chính thống</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34153" y="2992826"/>
            <a:ext cx="8151186" cy="6893436"/>
          </a:xfrm>
          <a:custGeom>
            <a:avLst/>
            <a:gdLst/>
            <a:ahLst/>
            <a:cxnLst/>
            <a:rect r="r" b="b" t="t" l="l"/>
            <a:pathLst>
              <a:path h="6893436" w="8151186">
                <a:moveTo>
                  <a:pt x="0" y="0"/>
                </a:moveTo>
                <a:lnTo>
                  <a:pt x="8151185" y="0"/>
                </a:lnTo>
                <a:lnTo>
                  <a:pt x="8151185" y="6893436"/>
                </a:lnTo>
                <a:lnTo>
                  <a:pt x="0" y="6893436"/>
                </a:lnTo>
                <a:lnTo>
                  <a:pt x="0" y="0"/>
                </a:lnTo>
                <a:close/>
              </a:path>
            </a:pathLst>
          </a:custGeom>
          <a:blipFill>
            <a:blip r:embed="rId12"/>
            <a:stretch>
              <a:fillRect l="0" t="0" r="0" b="0"/>
            </a:stretch>
          </a:blipFill>
        </p:spPr>
      </p:sp>
      <p:sp>
        <p:nvSpPr>
          <p:cNvPr name="TextBox 9" id="9"/>
          <p:cNvSpPr txBox="true"/>
          <p:nvPr/>
        </p:nvSpPr>
        <p:spPr>
          <a:xfrm rot="0">
            <a:off x="9147235" y="5845961"/>
            <a:ext cx="8648057" cy="1109302"/>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Public Sans"/>
                <a:ea typeface="Public Sans"/>
                <a:cs typeface="Public Sans"/>
                <a:sym typeface="Public Sans"/>
              </a:rPr>
              <a:t>Biểu</a:t>
            </a:r>
            <a:r>
              <a:rPr lang="en-US" sz="3200">
                <a:solidFill>
                  <a:srgbClr val="000000"/>
                </a:solidFill>
                <a:latin typeface="Public Sans"/>
                <a:ea typeface="Public Sans"/>
                <a:cs typeface="Public Sans"/>
                <a:sym typeface="Public Sans"/>
              </a:rPr>
              <a:t> đồ cột thể hiện độ phân tán trung bình theo danh mục</a:t>
            </a:r>
          </a:p>
        </p:txBody>
      </p:sp>
      <p:sp>
        <p:nvSpPr>
          <p:cNvPr name="TextBox 10" id="10"/>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a:t>
            </a:r>
          </a:p>
          <a:p>
            <a:pPr algn="ctr">
              <a:lnSpc>
                <a:spcPts val="4320"/>
              </a:lnSpc>
            </a:pPr>
            <a:r>
              <a:rPr lang="en-US" b="true" sz="3200" spc="192">
                <a:solidFill>
                  <a:srgbClr val="000000"/>
                </a:solidFill>
                <a:latin typeface="Public Sans Bold"/>
                <a:ea typeface="Public Sans Bold"/>
                <a:cs typeface="Public Sans Bold"/>
                <a:sym typeface="Public Sans Bold"/>
              </a:rPr>
              <a:t>2.Thể loại phim cực đoan vs thể loại chính thống</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1965442" y="2926151"/>
            <a:ext cx="14363588" cy="5604930"/>
          </a:xfrm>
          <a:prstGeom prst="rect">
            <a:avLst/>
          </a:prstGeom>
        </p:spPr>
        <p:txBody>
          <a:bodyPr anchor="t" rtlCol="false" tIns="0" lIns="0" bIns="0" rIns="0">
            <a:spAutoFit/>
          </a:bodyPr>
          <a:lstStyle/>
          <a:p>
            <a:pPr algn="l">
              <a:lnSpc>
                <a:spcPts val="4480"/>
              </a:lnSpc>
            </a:pPr>
            <a:r>
              <a:rPr lang="en-US" sz="3200" b="true">
                <a:solidFill>
                  <a:srgbClr val="000000"/>
                </a:solidFill>
                <a:latin typeface="Public Sans Bold"/>
                <a:ea typeface="Public Sans Bold"/>
                <a:cs typeface="Public Sans Bold"/>
                <a:sym typeface="Public Sans Bold"/>
              </a:rPr>
              <a:t>Nhóm 1:</a:t>
            </a:r>
            <a:r>
              <a:rPr lang="en-US" sz="3200">
                <a:solidFill>
                  <a:srgbClr val="000000"/>
                </a:solidFill>
                <a:latin typeface="Public Sans"/>
                <a:ea typeface="Public Sans"/>
                <a:cs typeface="Public Sans"/>
                <a:sym typeface="Public Sans"/>
              </a:rPr>
              <a:t> Horror, Thriller, Political, Crime, War</a:t>
            </a:r>
          </a:p>
          <a:p>
            <a:pPr algn="l">
              <a:lnSpc>
                <a:spcPts val="4480"/>
              </a:lnSpc>
            </a:pPr>
            <a:r>
              <a:rPr lang="en-US" sz="3200" b="true">
                <a:solidFill>
                  <a:srgbClr val="000000"/>
                </a:solidFill>
                <a:latin typeface="Public Sans Bold"/>
                <a:ea typeface="Public Sans Bold"/>
                <a:cs typeface="Public Sans Bold"/>
                <a:sym typeface="Public Sans Bold"/>
              </a:rPr>
              <a:t>Nhóm 2: </a:t>
            </a:r>
            <a:r>
              <a:rPr lang="en-US" sz="3200">
                <a:solidFill>
                  <a:srgbClr val="000000"/>
                </a:solidFill>
                <a:latin typeface="Public Sans"/>
                <a:ea typeface="Public Sans"/>
                <a:cs typeface="Public Sans"/>
                <a:sym typeface="Public Sans"/>
              </a:rPr>
              <a:t>Romance, Comedy, Family, Animation, Adventure</a:t>
            </a:r>
          </a:p>
          <a:p>
            <a:pPr algn="l">
              <a:lnSpc>
                <a:spcPts val="4480"/>
              </a:lnSpc>
              <a:spcBef>
                <a:spcPct val="0"/>
              </a:spcBef>
            </a:pPr>
            <a:r>
              <a:rPr lang="en-US" sz="3200">
                <a:solidFill>
                  <a:srgbClr val="000000"/>
                </a:solidFill>
                <a:latin typeface="Public Sans"/>
                <a:ea typeface="Public Sans"/>
                <a:cs typeface="Public Sans"/>
                <a:sym typeface="Public Sans"/>
              </a:rPr>
              <a:t>Quan sát từ b</a:t>
            </a:r>
            <a:r>
              <a:rPr lang="en-US" sz="3200">
                <a:solidFill>
                  <a:srgbClr val="000000"/>
                </a:solidFill>
                <a:latin typeface="Public Sans"/>
                <a:ea typeface="Public Sans"/>
                <a:cs typeface="Public Sans"/>
                <a:sym typeface="Public Sans"/>
              </a:rPr>
              <a:t>iểu</a:t>
            </a:r>
            <a:r>
              <a:rPr lang="en-US" sz="3200">
                <a:solidFill>
                  <a:srgbClr val="000000"/>
                </a:solidFill>
                <a:latin typeface="Public Sans"/>
                <a:ea typeface="Public Sans"/>
                <a:cs typeface="Public Sans"/>
                <a:sym typeface="Public Sans"/>
              </a:rPr>
              <a:t> đồ hộp &amp; cột:</a:t>
            </a:r>
          </a:p>
          <a:p>
            <a:pPr algn="l"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Hai nhóm gần như chồng lấn về độ phân tán rating.</a:t>
            </a:r>
          </a:p>
          <a:p>
            <a:pPr algn="l"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Trung bình std ≈ 1.00 → không khác biệt đáng kể.</a:t>
            </a:r>
          </a:p>
          <a:p>
            <a:pPr algn="l"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Mức dao động nhỏ (0.95–1.05).</a:t>
            </a:r>
          </a:p>
          <a:p>
            <a:pPr algn="l">
              <a:lnSpc>
                <a:spcPts val="4480"/>
              </a:lnSpc>
              <a:spcBef>
                <a:spcPct val="0"/>
              </a:spcBef>
            </a:pPr>
            <a:r>
              <a:rPr lang="en-US" sz="3200">
                <a:solidFill>
                  <a:srgbClr val="000000"/>
                </a:solidFill>
                <a:latin typeface="Public Sans"/>
                <a:ea typeface="Public Sans"/>
                <a:cs typeface="Public Sans"/>
                <a:sym typeface="Public Sans"/>
              </a:rPr>
              <a:t>→ </a:t>
            </a:r>
            <a:r>
              <a:rPr lang="en-US" b="true" sz="3200">
                <a:solidFill>
                  <a:srgbClr val="000000"/>
                </a:solidFill>
                <a:latin typeface="Public Sans Bold"/>
                <a:ea typeface="Public Sans Bold"/>
                <a:cs typeface="Public Sans Bold"/>
                <a:sym typeface="Public Sans Bold"/>
              </a:rPr>
              <a:t>Kết luận:</a:t>
            </a:r>
          </a:p>
          <a:p>
            <a:pPr algn="l">
              <a:lnSpc>
                <a:spcPts val="4480"/>
              </a:lnSpc>
              <a:spcBef>
                <a:spcPct val="0"/>
              </a:spcBef>
            </a:pPr>
            <a:r>
              <a:rPr lang="en-US" sz="3200">
                <a:solidFill>
                  <a:srgbClr val="000000"/>
                </a:solidFill>
                <a:latin typeface="Public Sans"/>
                <a:ea typeface="Public Sans"/>
                <a:cs typeface="Public Sans"/>
                <a:sym typeface="Public Sans"/>
              </a:rPr>
              <a:t> Không có sự khác biệt rõ ràng giữa phim “cực đoan” và “chính thống” về mức độ đồng thuận đánh giá.</a:t>
            </a:r>
          </a:p>
          <a:p>
            <a:pPr algn="l">
              <a:lnSpc>
                <a:spcPts val="4480"/>
              </a:lnSpc>
              <a:spcBef>
                <a:spcPct val="0"/>
              </a:spcBef>
            </a:pP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a:t>
            </a:r>
          </a:p>
          <a:p>
            <a:pPr algn="ctr">
              <a:lnSpc>
                <a:spcPts val="4320"/>
              </a:lnSpc>
            </a:pPr>
            <a:r>
              <a:rPr lang="en-US" b="true" sz="3200" spc="192">
                <a:solidFill>
                  <a:srgbClr val="000000"/>
                </a:solidFill>
                <a:latin typeface="Public Sans Bold"/>
                <a:ea typeface="Public Sans Bold"/>
                <a:cs typeface="Public Sans Bold"/>
                <a:sym typeface="Public Sans Bold"/>
              </a:rPr>
              <a:t>2.Thể loại phim cực đoan vs thể loại chính thống</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graphicFrame>
        <p:nvGraphicFramePr>
          <p:cNvPr name="Object 8" id="8"/>
          <p:cNvGraphicFramePr/>
          <p:nvPr/>
        </p:nvGraphicFramePr>
        <p:xfrm>
          <a:off x="1171718" y="3262296"/>
          <a:ext cx="7543800" cy="1885950"/>
        </p:xfrm>
        <a:graphic>
          <a:graphicData uri="http://schemas.openxmlformats.org/presentationml/2006/ole">
            <p:oleObj imgW="9042400" imgH="3390900" r:id="rId13" progId="Excel.Sheet.12" name="Worksheet">
              <p:embed/>
              <p:pic>
                <p:nvPicPr>
                  <p:cNvPr name="" id="0"/>
                  <p:cNvPicPr/>
                  <p:nvPr/>
                </p:nvPicPr>
                <p:blipFill>
                  <a:blip r:embed="rId12"/>
                  <a:stretch>
                    <a:fillRect/>
                  </a:stretch>
                </p:blipFill>
                <p:spPr>
                  <a:xfrm>
                    <a:off x="1270000" y="1270000"/>
                    <a:ext cx="1270000" cy="1270000"/>
                  </a:xfrm>
                  <a:prstGeom prst="rect"/>
                </p:spPr>
              </p:pic>
            </p:oleObj>
          </a:graphicData>
        </a:graphic>
      </p:graphicFrame>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10" id="10"/>
          <p:cNvSpPr txBox="true"/>
          <p:nvPr/>
        </p:nvSpPr>
        <p:spPr>
          <a:xfrm rot="0">
            <a:off x="6540982" y="9347104"/>
            <a:ext cx="5094480" cy="539158"/>
          </a:xfrm>
          <a:prstGeom prst="rect">
            <a:avLst/>
          </a:prstGeom>
        </p:spPr>
        <p:txBody>
          <a:bodyPr anchor="t" rtlCol="false" tIns="0" lIns="0" bIns="0" rIns="0">
            <a:spAutoFit/>
          </a:bodyPr>
          <a:lstStyle/>
          <a:p>
            <a:pPr algn="ctr">
              <a:lnSpc>
                <a:spcPts val="4320"/>
              </a:lnSpc>
              <a:spcBef>
                <a:spcPct val="0"/>
              </a:spcBef>
            </a:pPr>
            <a:r>
              <a:rPr lang="en-US" sz="3200" spc="192">
                <a:solidFill>
                  <a:srgbClr val="000000"/>
                </a:solidFill>
                <a:latin typeface="Public Sans"/>
                <a:ea typeface="Public Sans"/>
                <a:cs typeface="Public Sans"/>
                <a:sym typeface="Public Sans"/>
              </a:rPr>
              <a:t>Kết</a:t>
            </a:r>
            <a:r>
              <a:rPr lang="en-US" sz="3200" spc="192">
                <a:solidFill>
                  <a:srgbClr val="000000"/>
                </a:solidFill>
                <a:latin typeface="Public Sans"/>
                <a:ea typeface="Public Sans"/>
                <a:cs typeface="Public Sans"/>
                <a:sym typeface="Public Sans"/>
              </a:rPr>
              <a:t> quả kiểm định t-test</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a:t>
            </a:r>
          </a:p>
          <a:p>
            <a:pPr algn="ctr">
              <a:lnSpc>
                <a:spcPts val="4320"/>
              </a:lnSpc>
            </a:pPr>
            <a:r>
              <a:rPr lang="en-US" b="true" sz="3200" spc="192">
                <a:solidFill>
                  <a:srgbClr val="000000"/>
                </a:solidFill>
                <a:latin typeface="Public Sans Bold"/>
                <a:ea typeface="Public Sans Bold"/>
                <a:cs typeface="Public Sans Bold"/>
                <a:sym typeface="Public Sans Bold"/>
              </a:rPr>
              <a:t>2.Thể loại phim cực đoan vs thể loại chính thống</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1965442" y="4387560"/>
            <a:ext cx="14363588" cy="2795163"/>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P-value &gt; 0.05 → Không có khác biệt c</a:t>
            </a:r>
            <a:r>
              <a:rPr lang="en-US" sz="3200">
                <a:solidFill>
                  <a:srgbClr val="000000"/>
                </a:solidFill>
                <a:latin typeface="Public Sans"/>
                <a:ea typeface="Public Sans"/>
                <a:cs typeface="Public Sans"/>
                <a:sym typeface="Public Sans"/>
              </a:rPr>
              <a:t>ó ý nghĩa thống kê.</a:t>
            </a:r>
          </a:p>
          <a:p>
            <a:pPr algn="l"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Kết quả củng cố nhận định trực quan từ b</a:t>
            </a:r>
            <a:r>
              <a:rPr lang="en-US" sz="3200">
                <a:solidFill>
                  <a:srgbClr val="000000"/>
                </a:solidFill>
                <a:latin typeface="Public Sans"/>
                <a:ea typeface="Public Sans"/>
                <a:cs typeface="Public Sans"/>
                <a:sym typeface="Public Sans"/>
              </a:rPr>
              <a:t>iểu</a:t>
            </a:r>
            <a:r>
              <a:rPr lang="en-US" sz="3200">
                <a:solidFill>
                  <a:srgbClr val="000000"/>
                </a:solidFill>
                <a:latin typeface="Public Sans"/>
                <a:ea typeface="Public Sans"/>
                <a:cs typeface="Public Sans"/>
                <a:sym typeface="Public Sans"/>
              </a:rPr>
              <a:t> đồ.</a:t>
            </a:r>
          </a:p>
          <a:p>
            <a:pPr algn="l">
              <a:lnSpc>
                <a:spcPts val="4480"/>
              </a:lnSpc>
              <a:spcBef>
                <a:spcPct val="0"/>
              </a:spcBef>
            </a:pPr>
            <a:r>
              <a:rPr lang="en-US" b="true" sz="3200">
                <a:solidFill>
                  <a:srgbClr val="000000"/>
                </a:solidFill>
                <a:latin typeface="Public Sans Bold"/>
                <a:ea typeface="Public Sans Bold"/>
                <a:cs typeface="Public Sans Bold"/>
                <a:sym typeface="Public Sans Bold"/>
              </a:rPr>
              <a:t>→ Kết luận: </a:t>
            </a:r>
            <a:r>
              <a:rPr lang="en-US" sz="3200">
                <a:solidFill>
                  <a:srgbClr val="000000"/>
                </a:solidFill>
                <a:latin typeface="Public Sans"/>
                <a:ea typeface="Public Sans"/>
                <a:cs typeface="Public Sans"/>
                <a:sym typeface="Public Sans"/>
              </a:rPr>
              <a:t>Hai nhóm thể loại có mức độ phân tán tương đồng, sự khác biệt không đủ mạnh để kết luận có ý nghĩa.</a:t>
            </a:r>
          </a:p>
          <a:p>
            <a:pPr algn="l">
              <a:lnSpc>
                <a:spcPts val="4480"/>
              </a:lnSpc>
              <a:spcBef>
                <a:spcPct val="0"/>
              </a:spcBef>
            </a:pP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10" id="10"/>
          <p:cNvSpPr txBox="true"/>
          <p:nvPr/>
        </p:nvSpPr>
        <p:spPr>
          <a:xfrm rot="0">
            <a:off x="6540982" y="8960146"/>
            <a:ext cx="5094480" cy="539158"/>
          </a:xfrm>
          <a:prstGeom prst="rect">
            <a:avLst/>
          </a:prstGeom>
        </p:spPr>
        <p:txBody>
          <a:bodyPr anchor="t" rtlCol="false" tIns="0" lIns="0" bIns="0" rIns="0">
            <a:spAutoFit/>
          </a:bodyPr>
          <a:lstStyle/>
          <a:p>
            <a:pPr algn="ctr">
              <a:lnSpc>
                <a:spcPts val="4320"/>
              </a:lnSpc>
              <a:spcBef>
                <a:spcPct val="0"/>
              </a:spcBef>
            </a:pPr>
            <a:r>
              <a:rPr lang="en-US" sz="3200" spc="192">
                <a:solidFill>
                  <a:srgbClr val="000000"/>
                </a:solidFill>
                <a:latin typeface="Public Sans"/>
                <a:ea typeface="Public Sans"/>
                <a:cs typeface="Public Sans"/>
                <a:sym typeface="Public Sans"/>
              </a:rPr>
              <a:t>Kết</a:t>
            </a:r>
            <a:r>
              <a:rPr lang="en-US" sz="3200" spc="192">
                <a:solidFill>
                  <a:srgbClr val="000000"/>
                </a:solidFill>
                <a:latin typeface="Public Sans"/>
                <a:ea typeface="Public Sans"/>
                <a:cs typeface="Public Sans"/>
                <a:sym typeface="Public Sans"/>
              </a:rPr>
              <a:t> quả kiểm định t-test</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a:t>
            </a:r>
          </a:p>
          <a:p>
            <a:pPr algn="ctr">
              <a:lnSpc>
                <a:spcPts val="4320"/>
              </a:lnSpc>
            </a:pPr>
            <a:r>
              <a:rPr lang="en-US" b="true" sz="3200" spc="192">
                <a:solidFill>
                  <a:srgbClr val="000000"/>
                </a:solidFill>
                <a:latin typeface="Public Sans Bold"/>
                <a:ea typeface="Public Sans Bold"/>
                <a:cs typeface="Public Sans Bold"/>
                <a:sym typeface="Public Sans Bold"/>
              </a:rPr>
              <a:t>2.Thể loại phim cực đoan vs thể loại chính thống</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2300524" y="3825607"/>
            <a:ext cx="14363588" cy="3919070"/>
          </a:xfrm>
          <a:prstGeom prst="rect">
            <a:avLst/>
          </a:prstGeom>
        </p:spPr>
        <p:txBody>
          <a:bodyPr anchor="t" rtlCol="false" tIns="0" lIns="0" bIns="0" rIns="0">
            <a:spAutoFit/>
          </a:bodyPr>
          <a:lstStyle/>
          <a:p>
            <a:pPr algn="l">
              <a:lnSpc>
                <a:spcPts val="4480"/>
              </a:lnSpc>
            </a:pPr>
            <a:r>
              <a:rPr lang="en-US" sz="3200">
                <a:solidFill>
                  <a:srgbClr val="000000"/>
                </a:solidFill>
                <a:latin typeface="Public Sans"/>
                <a:ea typeface="Public Sans"/>
                <a:cs typeface="Public Sans"/>
                <a:sym typeface="Public Sans"/>
              </a:rPr>
              <a:t>Cả phân tích trực</a:t>
            </a:r>
            <a:r>
              <a:rPr lang="en-US" sz="3200">
                <a:solidFill>
                  <a:srgbClr val="000000"/>
                </a:solidFill>
                <a:latin typeface="Public Sans"/>
                <a:ea typeface="Public Sans"/>
                <a:cs typeface="Public Sans"/>
                <a:sym typeface="Public Sans"/>
              </a:rPr>
              <a:t> quan và kiểm định đều chỉ ra:</a:t>
            </a:r>
          </a:p>
          <a:p>
            <a:pPr algn="l"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Mức độ đồng thuận không phụ</a:t>
            </a:r>
            <a:r>
              <a:rPr lang="en-US" sz="3200">
                <a:solidFill>
                  <a:srgbClr val="000000"/>
                </a:solidFill>
                <a:latin typeface="Public Sans"/>
                <a:ea typeface="Public Sans"/>
                <a:cs typeface="Public Sans"/>
                <a:sym typeface="Public Sans"/>
              </a:rPr>
              <a:t> t</a:t>
            </a:r>
            <a:r>
              <a:rPr lang="en-US" sz="3200">
                <a:solidFill>
                  <a:srgbClr val="000000"/>
                </a:solidFill>
                <a:latin typeface="Public Sans"/>
                <a:ea typeface="Public Sans"/>
                <a:cs typeface="Public Sans"/>
                <a:sym typeface="Public Sans"/>
              </a:rPr>
              <a:t>h</a:t>
            </a:r>
            <a:r>
              <a:rPr lang="en-US" sz="3200">
                <a:solidFill>
                  <a:srgbClr val="000000"/>
                </a:solidFill>
                <a:latin typeface="Public Sans"/>
                <a:ea typeface="Public Sans"/>
                <a:cs typeface="Public Sans"/>
                <a:sym typeface="Public Sans"/>
              </a:rPr>
              <a:t>u</a:t>
            </a:r>
            <a:r>
              <a:rPr lang="en-US" sz="3200">
                <a:solidFill>
                  <a:srgbClr val="000000"/>
                </a:solidFill>
                <a:latin typeface="Public Sans"/>
                <a:ea typeface="Public Sans"/>
                <a:cs typeface="Public Sans"/>
                <a:sym typeface="Public Sans"/>
              </a:rPr>
              <a:t>ộc</a:t>
            </a:r>
            <a:r>
              <a:rPr lang="en-US" sz="3200">
                <a:solidFill>
                  <a:srgbClr val="000000"/>
                </a:solidFill>
                <a:latin typeface="Public Sans"/>
                <a:ea typeface="Public Sans"/>
                <a:cs typeface="Public Sans"/>
                <a:sym typeface="Public Sans"/>
              </a:rPr>
              <a:t> </a:t>
            </a:r>
            <a:r>
              <a:rPr lang="en-US" sz="3200">
                <a:solidFill>
                  <a:srgbClr val="000000"/>
                </a:solidFill>
                <a:latin typeface="Public Sans"/>
                <a:ea typeface="Public Sans"/>
                <a:cs typeface="Public Sans"/>
                <a:sym typeface="Public Sans"/>
              </a:rPr>
              <a:t>rõ ràng vào thể loại.</a:t>
            </a:r>
          </a:p>
          <a:p>
            <a:pPr algn="l"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Phim “nặng nề” (war, horror) không hẳn gây tranh cãi nhiều hơn phim “dễ xem”.</a:t>
            </a:r>
          </a:p>
          <a:p>
            <a:pPr algn="l"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Sự khác biệt trong cảm nhận đến từ yếu tố người xem và thời điểm phát hành hơn là nội dung thể loại</a:t>
            </a:r>
          </a:p>
          <a:p>
            <a:pPr algn="l">
              <a:lnSpc>
                <a:spcPts val="4480"/>
              </a:lnSpc>
              <a:spcBef>
                <a:spcPct val="0"/>
              </a:spcBef>
            </a:pP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10" id="10"/>
          <p:cNvSpPr txBox="true"/>
          <p:nvPr/>
        </p:nvSpPr>
        <p:spPr>
          <a:xfrm rot="0">
            <a:off x="1022229" y="2867900"/>
            <a:ext cx="16237071" cy="539159"/>
          </a:xfrm>
          <a:prstGeom prst="rect">
            <a:avLst/>
          </a:prstGeom>
        </p:spPr>
        <p:txBody>
          <a:bodyPr anchor="t" rtlCol="false" tIns="0" lIns="0" bIns="0" rIns="0">
            <a:spAutoFit/>
          </a:bodyPr>
          <a:lstStyle/>
          <a:p>
            <a:pPr algn="ctr">
              <a:lnSpc>
                <a:spcPts val="4319"/>
              </a:lnSpc>
            </a:pPr>
            <a:r>
              <a:rPr lang="en-US" b="true" sz="3199" spc="191">
                <a:solidFill>
                  <a:srgbClr val="000000"/>
                </a:solidFill>
                <a:latin typeface="Public Sans Bold"/>
                <a:ea typeface="Public Sans Bold"/>
                <a:cs typeface="Public Sans Bold"/>
                <a:sym typeface="Public Sans Bold"/>
              </a:rPr>
              <a:t>Kết luận chung</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a:t>
            </a:r>
          </a:p>
          <a:p>
            <a:pPr algn="ctr">
              <a:lnSpc>
                <a:spcPts val="4320"/>
              </a:lnSpc>
            </a:pPr>
            <a:r>
              <a:rPr lang="en-US" b="true" sz="3200" spc="192">
                <a:solidFill>
                  <a:srgbClr val="000000"/>
                </a:solidFill>
                <a:latin typeface="Public Sans Bold"/>
                <a:ea typeface="Public Sans Bold"/>
                <a:cs typeface="Public Sans Bold"/>
                <a:sym typeface="Public Sans Bold"/>
              </a:rPr>
              <a:t>3.Mối tương quan: Độ phổ biến vs Mức độ đồng thuận</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402702" y="3020001"/>
            <a:ext cx="9912292" cy="6866261"/>
          </a:xfrm>
          <a:custGeom>
            <a:avLst/>
            <a:gdLst/>
            <a:ahLst/>
            <a:cxnLst/>
            <a:rect r="r" b="b" t="t" l="l"/>
            <a:pathLst>
              <a:path h="6866261" w="9912292">
                <a:moveTo>
                  <a:pt x="0" y="0"/>
                </a:moveTo>
                <a:lnTo>
                  <a:pt x="9912291" y="0"/>
                </a:lnTo>
                <a:lnTo>
                  <a:pt x="9912291" y="6866261"/>
                </a:lnTo>
                <a:lnTo>
                  <a:pt x="0" y="6866261"/>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10" id="10"/>
          <p:cNvSpPr txBox="true"/>
          <p:nvPr/>
        </p:nvSpPr>
        <p:spPr>
          <a:xfrm rot="0">
            <a:off x="11119190" y="5592828"/>
            <a:ext cx="6597039" cy="1625094"/>
          </a:xfrm>
          <a:prstGeom prst="rect">
            <a:avLst/>
          </a:prstGeom>
        </p:spPr>
        <p:txBody>
          <a:bodyPr anchor="t" rtlCol="false" tIns="0" lIns="0" bIns="0" rIns="0">
            <a:spAutoFit/>
          </a:bodyPr>
          <a:lstStyle/>
          <a:p>
            <a:pPr algn="ctr">
              <a:lnSpc>
                <a:spcPts val="4320"/>
              </a:lnSpc>
              <a:spcBef>
                <a:spcPct val="0"/>
              </a:spcBef>
            </a:pPr>
            <a:r>
              <a:rPr lang="en-US" sz="3200" spc="192">
                <a:solidFill>
                  <a:srgbClr val="000000"/>
                </a:solidFill>
                <a:latin typeface="Public Sans"/>
                <a:ea typeface="Public Sans"/>
                <a:cs typeface="Public Sans"/>
                <a:sym typeface="Public Sans"/>
              </a:rPr>
              <a:t>B</a:t>
            </a:r>
            <a:r>
              <a:rPr lang="en-US" sz="3200" spc="192">
                <a:solidFill>
                  <a:srgbClr val="000000"/>
                </a:solidFill>
                <a:latin typeface="Public Sans"/>
                <a:ea typeface="Public Sans"/>
                <a:cs typeface="Public Sans"/>
                <a:sym typeface="Public Sans"/>
              </a:rPr>
              <a:t>iểu đồ scatter thể hiện mối quan hệ độ phổ biến và mức độ đồng thuận</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a:t>
            </a:r>
          </a:p>
          <a:p>
            <a:pPr algn="ctr">
              <a:lnSpc>
                <a:spcPts val="4320"/>
              </a:lnSpc>
            </a:pPr>
            <a:r>
              <a:rPr lang="en-US" b="true" sz="3200" spc="192">
                <a:solidFill>
                  <a:srgbClr val="000000"/>
                </a:solidFill>
                <a:latin typeface="Public Sans Bold"/>
                <a:ea typeface="Public Sans Bold"/>
                <a:cs typeface="Public Sans Bold"/>
                <a:sym typeface="Public Sans Bold"/>
              </a:rPr>
              <a:t>3.Mối tương quan: Độ phổ biến vs Mức độ đồng thuận</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409377" y="2971693"/>
            <a:ext cx="9878833" cy="6660818"/>
          </a:xfrm>
          <a:custGeom>
            <a:avLst/>
            <a:gdLst/>
            <a:ahLst/>
            <a:cxnLst/>
            <a:rect r="r" b="b" t="t" l="l"/>
            <a:pathLst>
              <a:path h="6660818" w="9878833">
                <a:moveTo>
                  <a:pt x="0" y="0"/>
                </a:moveTo>
                <a:lnTo>
                  <a:pt x="9878833" y="0"/>
                </a:lnTo>
                <a:lnTo>
                  <a:pt x="9878833" y="6660818"/>
                </a:lnTo>
                <a:lnTo>
                  <a:pt x="0" y="6660818"/>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10" id="10"/>
          <p:cNvSpPr txBox="true"/>
          <p:nvPr/>
        </p:nvSpPr>
        <p:spPr>
          <a:xfrm rot="0">
            <a:off x="10918141" y="5732464"/>
            <a:ext cx="6597039" cy="1082126"/>
          </a:xfrm>
          <a:prstGeom prst="rect">
            <a:avLst/>
          </a:prstGeom>
        </p:spPr>
        <p:txBody>
          <a:bodyPr anchor="t" rtlCol="false" tIns="0" lIns="0" bIns="0" rIns="0">
            <a:spAutoFit/>
          </a:bodyPr>
          <a:lstStyle/>
          <a:p>
            <a:pPr algn="ctr">
              <a:lnSpc>
                <a:spcPts val="4320"/>
              </a:lnSpc>
              <a:spcBef>
                <a:spcPct val="0"/>
              </a:spcBef>
            </a:pPr>
            <a:r>
              <a:rPr lang="en-US" sz="3200" spc="192">
                <a:solidFill>
                  <a:srgbClr val="000000"/>
                </a:solidFill>
                <a:latin typeface="Public Sans"/>
                <a:ea typeface="Public Sans"/>
                <a:cs typeface="Public Sans"/>
                <a:sym typeface="Public Sans"/>
              </a:rPr>
              <a:t>B</a:t>
            </a:r>
            <a:r>
              <a:rPr lang="en-US" sz="3200" spc="192">
                <a:solidFill>
                  <a:srgbClr val="000000"/>
                </a:solidFill>
                <a:latin typeface="Public Sans"/>
                <a:ea typeface="Public Sans"/>
                <a:cs typeface="Public Sans"/>
                <a:sym typeface="Public Sans"/>
              </a:rPr>
              <a:t>iểu đồ hộp thể hiện độ phân tán theo mức độ phổ biến</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a:t>
            </a:r>
          </a:p>
          <a:p>
            <a:pPr algn="ctr">
              <a:lnSpc>
                <a:spcPts val="4320"/>
              </a:lnSpc>
            </a:pPr>
            <a:r>
              <a:rPr lang="en-US" b="true" sz="3200" spc="192">
                <a:solidFill>
                  <a:srgbClr val="000000"/>
                </a:solidFill>
                <a:latin typeface="Public Sans Bold"/>
                <a:ea typeface="Public Sans Bold"/>
                <a:cs typeface="Public Sans Bold"/>
                <a:sym typeface="Public Sans Bold"/>
              </a:rPr>
              <a:t>3.Mối tương quan: Độ phổ biến vs Mức độ đồng thuận</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9" id="9"/>
          <p:cNvSpPr txBox="true"/>
          <p:nvPr/>
        </p:nvSpPr>
        <p:spPr>
          <a:xfrm rot="0">
            <a:off x="1775818" y="3619938"/>
            <a:ext cx="15230518" cy="4339933"/>
          </a:xfrm>
          <a:prstGeom prst="rect">
            <a:avLst/>
          </a:prstGeom>
        </p:spPr>
        <p:txBody>
          <a:bodyPr anchor="t" rtlCol="false" tIns="0" lIns="0" bIns="0" rIns="0">
            <a:spAutoFit/>
          </a:bodyPr>
          <a:lstStyle/>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Ph</a:t>
            </a:r>
            <a:r>
              <a:rPr lang="en-US" sz="3200" spc="192">
                <a:solidFill>
                  <a:srgbClr val="000000"/>
                </a:solidFill>
                <a:latin typeface="Public Sans"/>
                <a:ea typeface="Public Sans"/>
                <a:cs typeface="Public Sans"/>
                <a:sym typeface="Public Sans"/>
              </a:rPr>
              <a:t>im có nhiều lượt rating → độ lệch chuẩn nhỏ → đánh giá ổn định hơn.</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Phim có ít lượt rating → độ lệch chuẩn lớn → ý kiến phân tán mạnh.</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Xu hướng nghịch nhẹ giữa số lượt rating và độ phân tán (σ).</a:t>
            </a:r>
          </a:p>
          <a:p>
            <a:pPr algn="l">
              <a:lnSpc>
                <a:spcPts val="4320"/>
              </a:lnSpc>
            </a:pPr>
            <a:r>
              <a:rPr lang="en-US" sz="3200" spc="192">
                <a:solidFill>
                  <a:srgbClr val="000000"/>
                </a:solidFill>
                <a:latin typeface="Public Sans"/>
                <a:ea typeface="Public Sans"/>
                <a:cs typeface="Public Sans"/>
                <a:sym typeface="Public Sans"/>
              </a:rPr>
              <a:t>→ </a:t>
            </a:r>
            <a:r>
              <a:rPr lang="en-US" b="true" sz="3200" spc="192">
                <a:solidFill>
                  <a:srgbClr val="000000"/>
                </a:solidFill>
                <a:latin typeface="Public Sans Bold"/>
                <a:ea typeface="Public Sans Bold"/>
                <a:cs typeface="Public Sans Bold"/>
                <a:sym typeface="Public Sans Bold"/>
              </a:rPr>
              <a:t>Kết luận:</a:t>
            </a:r>
          </a:p>
          <a:p>
            <a:pPr algn="l">
              <a:lnSpc>
                <a:spcPts val="4320"/>
              </a:lnSpc>
            </a:pPr>
            <a:r>
              <a:rPr lang="en-US" sz="3200" spc="192">
                <a:solidFill>
                  <a:srgbClr val="000000"/>
                </a:solidFill>
                <a:latin typeface="Public Sans"/>
                <a:ea typeface="Public Sans"/>
                <a:cs typeface="Public Sans"/>
                <a:sym typeface="Public Sans"/>
              </a:rPr>
              <a:t> Phim càng phổ biến thì mức độ đồng thuận càng cao, phản ánh tính nhất quán trong cộng đồng người xem lớn.</a:t>
            </a:r>
          </a:p>
          <a:p>
            <a:pPr algn="l">
              <a:lnSpc>
                <a:spcPts val="4320"/>
              </a:lnSpc>
            </a:pP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dự đoán</a:t>
            </a:r>
          </a:p>
          <a:p>
            <a:pPr algn="ctr">
              <a:lnSpc>
                <a:spcPts val="4320"/>
              </a:lnSpc>
            </a:pPr>
            <a:r>
              <a:rPr lang="en-US" b="true" sz="3200" spc="192">
                <a:solidFill>
                  <a:srgbClr val="000000"/>
                </a:solidFill>
                <a:latin typeface="Public Sans Bold"/>
                <a:ea typeface="Public Sans Bold"/>
                <a:cs typeface="Public Sans Bold"/>
                <a:sym typeface="Public Sans Bold"/>
              </a:rPr>
              <a:t>1.Xây dựng mô hình dự đoán độ lệch chuẩn rating</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028700" y="3200712"/>
            <a:ext cx="16230600" cy="5700998"/>
          </a:xfrm>
          <a:custGeom>
            <a:avLst/>
            <a:gdLst/>
            <a:ahLst/>
            <a:cxnLst/>
            <a:rect r="r" b="b" t="t" l="l"/>
            <a:pathLst>
              <a:path h="5700998" w="16230600">
                <a:moveTo>
                  <a:pt x="0" y="0"/>
                </a:moveTo>
                <a:lnTo>
                  <a:pt x="16230600" y="0"/>
                </a:lnTo>
                <a:lnTo>
                  <a:pt x="16230600" y="5700999"/>
                </a:lnTo>
                <a:lnTo>
                  <a:pt x="0" y="5700999"/>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10" id="10"/>
          <p:cNvSpPr txBox="true"/>
          <p:nvPr/>
        </p:nvSpPr>
        <p:spPr>
          <a:xfrm rot="0">
            <a:off x="2184925" y="9095833"/>
            <a:ext cx="14722346" cy="539158"/>
          </a:xfrm>
          <a:prstGeom prst="rect">
            <a:avLst/>
          </a:prstGeom>
        </p:spPr>
        <p:txBody>
          <a:bodyPr anchor="t" rtlCol="false" tIns="0" lIns="0" bIns="0" rIns="0">
            <a:spAutoFit/>
          </a:bodyPr>
          <a:lstStyle/>
          <a:p>
            <a:pPr algn="ctr">
              <a:lnSpc>
                <a:spcPts val="4320"/>
              </a:lnSpc>
              <a:spcBef>
                <a:spcPct val="0"/>
              </a:spcBef>
            </a:pPr>
            <a:r>
              <a:rPr lang="en-US" sz="3200" spc="192">
                <a:solidFill>
                  <a:srgbClr val="000000"/>
                </a:solidFill>
                <a:latin typeface="Public Sans"/>
                <a:ea typeface="Public Sans"/>
                <a:cs typeface="Public Sans"/>
                <a:sym typeface="Public Sans"/>
              </a:rPr>
              <a:t>Biểu đồ thể hiện kết quả dự đoán và tầm quan trọng của các đặc trưng</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dự đoán</a:t>
            </a:r>
          </a:p>
          <a:p>
            <a:pPr algn="ctr">
              <a:lnSpc>
                <a:spcPts val="4320"/>
              </a:lnSpc>
            </a:pPr>
            <a:r>
              <a:rPr lang="en-US" b="true" sz="3200" spc="192">
                <a:solidFill>
                  <a:srgbClr val="000000"/>
                </a:solidFill>
                <a:latin typeface="Public Sans Bold"/>
                <a:ea typeface="Public Sans Bold"/>
                <a:cs typeface="Public Sans Bold"/>
                <a:sym typeface="Public Sans Bold"/>
              </a:rPr>
              <a:t>1.Xây dựng mô hình dự đoán độ lệch chuẩn rating</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9" id="9"/>
          <p:cNvSpPr txBox="true"/>
          <p:nvPr/>
        </p:nvSpPr>
        <p:spPr>
          <a:xfrm rot="0">
            <a:off x="1533844" y="3588497"/>
            <a:ext cx="15226783" cy="5425869"/>
          </a:xfrm>
          <a:prstGeom prst="rect">
            <a:avLst/>
          </a:prstGeom>
        </p:spPr>
        <p:txBody>
          <a:bodyPr anchor="t" rtlCol="false" tIns="0" lIns="0" bIns="0" rIns="0">
            <a:spAutoFit/>
          </a:bodyPr>
          <a:lstStyle/>
          <a:p>
            <a:pPr algn="l">
              <a:lnSpc>
                <a:spcPts val="4320"/>
              </a:lnSpc>
            </a:pPr>
            <a:r>
              <a:rPr lang="en-US" b="true" sz="3200" spc="192">
                <a:solidFill>
                  <a:srgbClr val="000000"/>
                </a:solidFill>
                <a:latin typeface="Public Sans Bold"/>
                <a:ea typeface="Public Sans Bold"/>
                <a:cs typeface="Public Sans Bold"/>
                <a:sym typeface="Public Sans Bold"/>
              </a:rPr>
              <a:t>Dựa trên các</a:t>
            </a:r>
            <a:r>
              <a:rPr lang="en-US" b="true" sz="3200" spc="192">
                <a:solidFill>
                  <a:srgbClr val="000000"/>
                </a:solidFill>
                <a:latin typeface="Public Sans Bold"/>
                <a:ea typeface="Public Sans Bold"/>
                <a:cs typeface="Public Sans Bold"/>
                <a:sym typeface="Public Sans Bold"/>
              </a:rPr>
              <a:t> đặc trưng:</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Thể loại</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Năm phát hành</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Số lượt đánh giá (n_rating)</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Điểm trung bình (mean_rating)</a:t>
            </a:r>
          </a:p>
          <a:p>
            <a:pPr algn="l">
              <a:lnSpc>
                <a:spcPts val="4320"/>
              </a:lnSpc>
            </a:pPr>
            <a:r>
              <a:rPr lang="en-US" sz="3200" spc="192">
                <a:solidFill>
                  <a:srgbClr val="000000"/>
                </a:solidFill>
                <a:latin typeface="Public Sans"/>
                <a:ea typeface="Public Sans"/>
                <a:cs typeface="Public Sans"/>
                <a:sym typeface="Public Sans"/>
              </a:rPr>
              <a:t>Các điểm nằm gần đường chéo → dự đoán chính xác.</a:t>
            </a:r>
          </a:p>
          <a:p>
            <a:pPr algn="l">
              <a:lnSpc>
                <a:spcPts val="4320"/>
              </a:lnSpc>
            </a:pPr>
            <a:r>
              <a:rPr lang="en-US" sz="3200" spc="192">
                <a:solidFill>
                  <a:srgbClr val="000000"/>
                </a:solidFill>
                <a:latin typeface="Public Sans"/>
                <a:ea typeface="Public Sans"/>
                <a:cs typeface="Public Sans"/>
                <a:sym typeface="Public Sans"/>
              </a:rPr>
              <a:t>Residual plot: Sai số nhỏ, không có chệch hệ thống.</a:t>
            </a:r>
          </a:p>
          <a:p>
            <a:pPr algn="l">
              <a:lnSpc>
                <a:spcPts val="4320"/>
              </a:lnSpc>
            </a:pPr>
            <a:r>
              <a:rPr lang="en-US" sz="3200" spc="192">
                <a:solidFill>
                  <a:srgbClr val="000000"/>
                </a:solidFill>
                <a:latin typeface="Public Sans"/>
                <a:ea typeface="Public Sans"/>
                <a:cs typeface="Public Sans"/>
                <a:sym typeface="Public Sans"/>
              </a:rPr>
              <a:t>→ </a:t>
            </a:r>
            <a:r>
              <a:rPr lang="en-US" b="true" sz="3200" spc="192">
                <a:solidFill>
                  <a:srgbClr val="000000"/>
                </a:solidFill>
                <a:latin typeface="Public Sans Bold"/>
                <a:ea typeface="Public Sans Bold"/>
                <a:cs typeface="Public Sans Bold"/>
                <a:sym typeface="Public Sans Bold"/>
              </a:rPr>
              <a:t>Kết luận: </a:t>
            </a:r>
            <a:r>
              <a:rPr lang="en-US" sz="3200" spc="192">
                <a:solidFill>
                  <a:srgbClr val="000000"/>
                </a:solidFill>
                <a:latin typeface="Public Sans"/>
                <a:ea typeface="Public Sans"/>
                <a:cs typeface="Public Sans"/>
                <a:sym typeface="Public Sans"/>
              </a:rPr>
              <a:t>Mô hình ước lượng tốt độ lệch chuẩn rating dựa trên đặc trưng cơ bản → phản ánh đúng mức độ đồng thuận người xem.</a:t>
            </a:r>
          </a:p>
          <a:p>
            <a:pPr algn="l">
              <a:lnSpc>
                <a:spcPts val="4320"/>
              </a:lnSpc>
            </a:pP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dự đoán</a:t>
            </a:r>
          </a:p>
          <a:p>
            <a:pPr algn="ctr">
              <a:lnSpc>
                <a:spcPts val="4320"/>
              </a:lnSpc>
            </a:pPr>
            <a:r>
              <a:rPr lang="en-US" b="true" sz="3200" spc="192">
                <a:solidFill>
                  <a:srgbClr val="000000"/>
                </a:solidFill>
                <a:latin typeface="Public Sans Bold"/>
                <a:ea typeface="Public Sans Bold"/>
                <a:cs typeface="Public Sans Bold"/>
                <a:sym typeface="Public Sans Bold"/>
              </a:rPr>
              <a:t>2. Độ lệch chuẩn cao như chỉ báo “gây tranh cãi”</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9" id="9"/>
          <p:cNvSpPr txBox="true"/>
          <p:nvPr/>
        </p:nvSpPr>
        <p:spPr>
          <a:xfrm rot="0">
            <a:off x="1533844" y="3348454"/>
            <a:ext cx="15226783" cy="4882901"/>
          </a:xfrm>
          <a:prstGeom prst="rect">
            <a:avLst/>
          </a:prstGeom>
        </p:spPr>
        <p:txBody>
          <a:bodyPr anchor="t" rtlCol="false" tIns="0" lIns="0" bIns="0" rIns="0">
            <a:spAutoFit/>
          </a:bodyPr>
          <a:lstStyle/>
          <a:p>
            <a:pPr algn="just" marL="690881" indent="-345440" lvl="1">
              <a:lnSpc>
                <a:spcPts val="4320"/>
              </a:lnSpc>
              <a:buFont typeface="Arial"/>
              <a:buChar char="•"/>
            </a:pPr>
            <a:r>
              <a:rPr lang="en-US" sz="3200" spc="192">
                <a:solidFill>
                  <a:srgbClr val="000000"/>
                </a:solidFill>
                <a:latin typeface="Public Sans"/>
                <a:ea typeface="Public Sans"/>
                <a:cs typeface="Public Sans"/>
                <a:sym typeface="Public Sans"/>
              </a:rPr>
              <a:t>Phim có σ ≈ 0.9–1.1:</a:t>
            </a:r>
            <a:r>
              <a:rPr lang="en-US" sz="3200" spc="192">
                <a:solidFill>
                  <a:srgbClr val="000000"/>
                </a:solidFill>
                <a:latin typeface="Public Sans"/>
                <a:ea typeface="Public Sans"/>
                <a:cs typeface="Public Sans"/>
                <a:sym typeface="Public Sans"/>
              </a:rPr>
              <a:t> đa số được đồng thuận cao.</a:t>
            </a:r>
          </a:p>
          <a:p>
            <a:pPr algn="just" marL="690881" indent="-345440" lvl="1">
              <a:lnSpc>
                <a:spcPts val="4320"/>
              </a:lnSpc>
              <a:buFont typeface="Arial"/>
              <a:buChar char="•"/>
            </a:pPr>
            <a:r>
              <a:rPr lang="en-US" sz="3200" spc="192">
                <a:solidFill>
                  <a:srgbClr val="000000"/>
                </a:solidFill>
                <a:latin typeface="Public Sans"/>
                <a:ea typeface="Public Sans"/>
                <a:cs typeface="Public Sans"/>
                <a:sym typeface="Public Sans"/>
              </a:rPr>
              <a:t>Chỉ số ít phim có σ &gt; 1.5 → gây tranh cãi.</a:t>
            </a:r>
          </a:p>
          <a:p>
            <a:pPr algn="just" marL="690881" indent="-345440" lvl="1">
              <a:lnSpc>
                <a:spcPts val="4320"/>
              </a:lnSpc>
              <a:buFont typeface="Arial"/>
              <a:buChar char="•"/>
            </a:pPr>
            <a:r>
              <a:rPr lang="en-US" sz="3200" spc="192">
                <a:solidFill>
                  <a:srgbClr val="000000"/>
                </a:solidFill>
                <a:latin typeface="Public Sans"/>
                <a:ea typeface="Public Sans"/>
                <a:cs typeface="Public Sans"/>
                <a:sym typeface="Public Sans"/>
              </a:rPr>
              <a:t>σ cao nhất thường rơi vào phim điểm trung bình (6–7).</a:t>
            </a:r>
          </a:p>
          <a:p>
            <a:pPr algn="just" marL="690881" indent="-345440" lvl="1">
              <a:lnSpc>
                <a:spcPts val="4320"/>
              </a:lnSpc>
              <a:buFont typeface="Arial"/>
              <a:buChar char="•"/>
            </a:pPr>
            <a:r>
              <a:rPr lang="en-US" sz="3200" spc="192">
                <a:solidFill>
                  <a:srgbClr val="000000"/>
                </a:solidFill>
                <a:latin typeface="Public Sans"/>
                <a:ea typeface="Public Sans"/>
                <a:cs typeface="Public Sans"/>
                <a:sym typeface="Public Sans"/>
              </a:rPr>
              <a:t>Thể loại tâm lý, chính trị, kinh dị có σ cao hơn.</a:t>
            </a:r>
          </a:p>
          <a:p>
            <a:pPr algn="just" marL="690881" indent="-345440" lvl="1">
              <a:lnSpc>
                <a:spcPts val="4320"/>
              </a:lnSpc>
              <a:buFont typeface="Arial"/>
              <a:buChar char="•"/>
            </a:pPr>
            <a:r>
              <a:rPr lang="en-US" sz="3200" spc="192">
                <a:solidFill>
                  <a:srgbClr val="000000"/>
                </a:solidFill>
                <a:latin typeface="Public Sans"/>
                <a:ea typeface="Public Sans"/>
                <a:cs typeface="Public Sans"/>
                <a:sym typeface="Public Sans"/>
              </a:rPr>
              <a:t>Phim có nhiều lượt đánh giá → σ giảm nhẹ.</a:t>
            </a:r>
          </a:p>
          <a:p>
            <a:pPr algn="just">
              <a:lnSpc>
                <a:spcPts val="4320"/>
              </a:lnSpc>
            </a:pPr>
            <a:r>
              <a:rPr lang="en-US" sz="3200" spc="192">
                <a:solidFill>
                  <a:srgbClr val="000000"/>
                </a:solidFill>
                <a:latin typeface="Public Sans"/>
                <a:ea typeface="Public Sans"/>
                <a:cs typeface="Public Sans"/>
                <a:sym typeface="Public Sans"/>
              </a:rPr>
              <a:t>→ </a:t>
            </a:r>
            <a:r>
              <a:rPr lang="en-US" b="true" sz="3200" spc="192">
                <a:solidFill>
                  <a:srgbClr val="000000"/>
                </a:solidFill>
                <a:latin typeface="Public Sans Bold"/>
                <a:ea typeface="Public Sans Bold"/>
                <a:cs typeface="Public Sans Bold"/>
                <a:sym typeface="Public Sans Bold"/>
              </a:rPr>
              <a:t>Ý nghĩa:</a:t>
            </a:r>
          </a:p>
          <a:p>
            <a:pPr algn="just" marL="690881" indent="-345440" lvl="1">
              <a:lnSpc>
                <a:spcPts val="4320"/>
              </a:lnSpc>
              <a:buFont typeface="Arial"/>
              <a:buChar char="•"/>
            </a:pPr>
            <a:r>
              <a:rPr lang="en-US" sz="3200" spc="192">
                <a:solidFill>
                  <a:srgbClr val="000000"/>
                </a:solidFill>
                <a:latin typeface="Public Sans"/>
                <a:ea typeface="Public Sans"/>
                <a:cs typeface="Public Sans"/>
                <a:sym typeface="Public Sans"/>
              </a:rPr>
              <a:t>Độ lệch chuẩn rating là chỉ báo hợp lý cho mức độ tranh cãi của phim.</a:t>
            </a:r>
          </a:p>
          <a:p>
            <a:pPr algn="just" marL="690881" indent="-345440" lvl="1">
              <a:lnSpc>
                <a:spcPts val="4320"/>
              </a:lnSpc>
              <a:buFont typeface="Arial"/>
              <a:buChar char="•"/>
            </a:pPr>
            <a:r>
              <a:rPr lang="en-US" sz="3200" spc="192">
                <a:solidFill>
                  <a:srgbClr val="000000"/>
                </a:solidFill>
                <a:latin typeface="Public Sans"/>
                <a:ea typeface="Public Sans"/>
                <a:cs typeface="Public Sans"/>
                <a:sym typeface="Public Sans"/>
              </a:rPr>
              <a:t> Có thể dùng σ làm đặc trưng trong hệ thống gợi ý cá nhân hóa.</a:t>
            </a:r>
          </a:p>
          <a:p>
            <a:pPr algn="just">
              <a:lnSpc>
                <a:spcPts val="4320"/>
              </a:lnSpc>
            </a:pP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dự đoán</a:t>
            </a:r>
          </a:p>
          <a:p>
            <a:pPr algn="ctr">
              <a:lnSpc>
                <a:spcPts val="4320"/>
              </a:lnSpc>
            </a:pPr>
            <a:r>
              <a:rPr lang="en-US" b="true" sz="3200" spc="192">
                <a:solidFill>
                  <a:srgbClr val="000000"/>
                </a:solidFill>
                <a:latin typeface="Public Sans Bold"/>
                <a:ea typeface="Public Sans Bold"/>
                <a:cs typeface="Public Sans Bold"/>
                <a:sym typeface="Public Sans Bold"/>
              </a:rPr>
              <a:t>3.Hiệu suất thuật toán trên phim high-std</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022229" y="3159936"/>
            <a:ext cx="16237071" cy="5703271"/>
          </a:xfrm>
          <a:custGeom>
            <a:avLst/>
            <a:gdLst/>
            <a:ahLst/>
            <a:cxnLst/>
            <a:rect r="r" b="b" t="t" l="l"/>
            <a:pathLst>
              <a:path h="5703271" w="16237071">
                <a:moveTo>
                  <a:pt x="0" y="0"/>
                </a:moveTo>
                <a:lnTo>
                  <a:pt x="16237071" y="0"/>
                </a:lnTo>
                <a:lnTo>
                  <a:pt x="16237071" y="5703271"/>
                </a:lnTo>
                <a:lnTo>
                  <a:pt x="0" y="5703271"/>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10" id="10"/>
          <p:cNvSpPr txBox="true"/>
          <p:nvPr/>
        </p:nvSpPr>
        <p:spPr>
          <a:xfrm rot="0">
            <a:off x="4326460" y="9076581"/>
            <a:ext cx="10271232" cy="539158"/>
          </a:xfrm>
          <a:prstGeom prst="rect">
            <a:avLst/>
          </a:prstGeom>
        </p:spPr>
        <p:txBody>
          <a:bodyPr anchor="t" rtlCol="false" tIns="0" lIns="0" bIns="0" rIns="0">
            <a:spAutoFit/>
          </a:bodyPr>
          <a:lstStyle/>
          <a:p>
            <a:pPr algn="ctr">
              <a:lnSpc>
                <a:spcPts val="4320"/>
              </a:lnSpc>
              <a:spcBef>
                <a:spcPct val="0"/>
              </a:spcBef>
            </a:pPr>
            <a:r>
              <a:rPr lang="en-US" sz="3200" spc="192">
                <a:solidFill>
                  <a:srgbClr val="000000"/>
                </a:solidFill>
                <a:latin typeface="Public Sans"/>
                <a:ea typeface="Public Sans"/>
                <a:cs typeface="Public Sans"/>
                <a:sym typeface="Public Sans"/>
              </a:rPr>
              <a:t>Biểu đồ thể hiện hiệu suất và phân bố lỗi dự đoán</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dự đoán</a:t>
            </a:r>
          </a:p>
          <a:p>
            <a:pPr algn="ctr">
              <a:lnSpc>
                <a:spcPts val="4320"/>
              </a:lnSpc>
            </a:pPr>
            <a:r>
              <a:rPr lang="en-US" b="true" sz="3200" spc="192">
                <a:solidFill>
                  <a:srgbClr val="000000"/>
                </a:solidFill>
                <a:latin typeface="Public Sans Bold"/>
                <a:ea typeface="Public Sans Bold"/>
                <a:cs typeface="Public Sans Bold"/>
                <a:sym typeface="Public Sans Bold"/>
              </a:rPr>
              <a:t>3.Hiệu suất thuật toán trên phim high-std</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9" id="9"/>
          <p:cNvSpPr txBox="true"/>
          <p:nvPr/>
        </p:nvSpPr>
        <p:spPr>
          <a:xfrm rot="0">
            <a:off x="1775818" y="3891422"/>
            <a:ext cx="15226783" cy="3796965"/>
          </a:xfrm>
          <a:prstGeom prst="rect">
            <a:avLst/>
          </a:prstGeom>
        </p:spPr>
        <p:txBody>
          <a:bodyPr anchor="t" rtlCol="false" tIns="0" lIns="0" bIns="0" rIns="0">
            <a:spAutoFit/>
          </a:bodyPr>
          <a:lstStyle/>
          <a:p>
            <a:pPr algn="just" marL="690881" indent="-345440" lvl="1">
              <a:lnSpc>
                <a:spcPts val="4320"/>
              </a:lnSpc>
              <a:buFont typeface="Arial"/>
              <a:buChar char="•"/>
            </a:pPr>
            <a:r>
              <a:rPr lang="en-US" sz="3200" spc="192">
                <a:solidFill>
                  <a:srgbClr val="000000"/>
                </a:solidFill>
                <a:latin typeface="Public Sans"/>
                <a:ea typeface="Public Sans"/>
                <a:cs typeface="Public Sans"/>
                <a:sym typeface="Public Sans"/>
              </a:rPr>
              <a:t>Nhóm phim có σ cao →</a:t>
            </a:r>
            <a:r>
              <a:rPr lang="en-US" sz="3200" spc="192">
                <a:solidFill>
                  <a:srgbClr val="000000"/>
                </a:solidFill>
                <a:latin typeface="Public Sans"/>
                <a:ea typeface="Public Sans"/>
                <a:cs typeface="Public Sans"/>
                <a:sym typeface="Public Sans"/>
              </a:rPr>
              <a:t> sai số dự đoán lớn hơn.</a:t>
            </a:r>
          </a:p>
          <a:p>
            <a:pPr algn="just" marL="690881" indent="-345440" lvl="1">
              <a:lnSpc>
                <a:spcPts val="4320"/>
              </a:lnSpc>
              <a:buFont typeface="Arial"/>
              <a:buChar char="•"/>
            </a:pPr>
            <a:r>
              <a:rPr lang="en-US" sz="3200" spc="192">
                <a:solidFill>
                  <a:srgbClr val="000000"/>
                </a:solidFill>
                <a:latin typeface="Public Sans"/>
                <a:ea typeface="Public Sans"/>
                <a:cs typeface="Public Sans"/>
                <a:sym typeface="Public Sans"/>
              </a:rPr>
              <a:t>Biểu đồ hồi quy: σ tăng → sai số tăng.</a:t>
            </a:r>
          </a:p>
          <a:p>
            <a:pPr algn="just" marL="690881" indent="-345440" lvl="1">
              <a:lnSpc>
                <a:spcPts val="4320"/>
              </a:lnSpc>
              <a:buFont typeface="Arial"/>
              <a:buChar char="•"/>
            </a:pPr>
            <a:r>
              <a:rPr lang="en-US" sz="3200" spc="192">
                <a:solidFill>
                  <a:srgbClr val="000000"/>
                </a:solidFill>
                <a:latin typeface="Public Sans"/>
                <a:ea typeface="Public Sans"/>
                <a:cs typeface="Public Sans"/>
                <a:sym typeface="Public Sans"/>
              </a:rPr>
              <a:t>Thuật toán gợi ý dựa trung bình hoạt động kém hiệu quả với phim có đánh giá phân tán.</a:t>
            </a:r>
          </a:p>
          <a:p>
            <a:pPr algn="just">
              <a:lnSpc>
                <a:spcPts val="4320"/>
              </a:lnSpc>
            </a:pPr>
            <a:r>
              <a:rPr lang="en-US" sz="3200" spc="192">
                <a:solidFill>
                  <a:srgbClr val="000000"/>
                </a:solidFill>
                <a:latin typeface="Public Sans"/>
                <a:ea typeface="Public Sans"/>
                <a:cs typeface="Public Sans"/>
                <a:sym typeface="Public Sans"/>
              </a:rPr>
              <a:t>→ </a:t>
            </a:r>
            <a:r>
              <a:rPr lang="en-US" sz="3200" spc="192">
                <a:solidFill>
                  <a:srgbClr val="000000"/>
                </a:solidFill>
                <a:latin typeface="Public Sans"/>
                <a:ea typeface="Public Sans"/>
                <a:cs typeface="Public Sans"/>
                <a:sym typeface="Public Sans"/>
              </a:rPr>
              <a:t>Kết</a:t>
            </a:r>
            <a:r>
              <a:rPr lang="en-US" sz="3200" spc="192">
                <a:solidFill>
                  <a:srgbClr val="000000"/>
                </a:solidFill>
                <a:latin typeface="Public Sans"/>
                <a:ea typeface="Public Sans"/>
                <a:cs typeface="Public Sans"/>
                <a:sym typeface="Public Sans"/>
              </a:rPr>
              <a:t> luận: Chỉ dùng điểm trung bình là chưa đủ. Cần bổ sung độ lệch chuẩn rating (σ) để nâng độ chính xác gợi ý.</a:t>
            </a:r>
          </a:p>
          <a:p>
            <a:pPr algn="just">
              <a:lnSpc>
                <a:spcPts val="4320"/>
              </a:lnSpc>
            </a:pP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so sánh</a:t>
            </a:r>
          </a:p>
          <a:p>
            <a:pPr algn="ctr">
              <a:lnSpc>
                <a:spcPts val="4320"/>
              </a:lnSpc>
            </a:pPr>
            <a:r>
              <a:rPr lang="en-US" b="true" sz="3200" spc="192">
                <a:solidFill>
                  <a:srgbClr val="000000"/>
                </a:solidFill>
                <a:latin typeface="Public Sans Bold"/>
                <a:ea typeface="Public Sans Bold"/>
                <a:cs typeface="Public Sans Bold"/>
                <a:sym typeface="Public Sans Bold"/>
              </a:rPr>
              <a:t>1.Bất đồng ý kiến giữa giới tính</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434313" y="2981637"/>
            <a:ext cx="10809589" cy="6904625"/>
          </a:xfrm>
          <a:custGeom>
            <a:avLst/>
            <a:gdLst/>
            <a:ahLst/>
            <a:cxnLst/>
            <a:rect r="r" b="b" t="t" l="l"/>
            <a:pathLst>
              <a:path h="6904625" w="10809589">
                <a:moveTo>
                  <a:pt x="0" y="0"/>
                </a:moveTo>
                <a:lnTo>
                  <a:pt x="10809589" y="0"/>
                </a:lnTo>
                <a:lnTo>
                  <a:pt x="10809589" y="6904625"/>
                </a:lnTo>
                <a:lnTo>
                  <a:pt x="0" y="6904625"/>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10" id="10"/>
          <p:cNvSpPr txBox="true"/>
          <p:nvPr/>
        </p:nvSpPr>
        <p:spPr>
          <a:xfrm rot="0">
            <a:off x="11635462" y="2944958"/>
            <a:ext cx="6377427" cy="5968837"/>
          </a:xfrm>
          <a:prstGeom prst="rect">
            <a:avLst/>
          </a:prstGeom>
        </p:spPr>
        <p:txBody>
          <a:bodyPr anchor="t" rtlCol="false" tIns="0" lIns="0" bIns="0" rIns="0">
            <a:spAutoFit/>
          </a:bodyPr>
          <a:lstStyle/>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Nam đánh giá cao hơn với phim hành động, phiêu lưu (Fight Club, The Matrix...).</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Nữ đánh giá cao hơn với phim tâm lý, tình cảm.</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Một số phim có mức chênh lệch thấp → sở thích chung.</a:t>
            </a:r>
          </a:p>
          <a:p>
            <a:pPr algn="l">
              <a:lnSpc>
                <a:spcPts val="4320"/>
              </a:lnSpc>
              <a:spcBef>
                <a:spcPct val="0"/>
              </a:spcBef>
            </a:pPr>
            <a:r>
              <a:rPr lang="en-US" sz="3200" spc="192">
                <a:solidFill>
                  <a:srgbClr val="000000"/>
                </a:solidFill>
                <a:latin typeface="Public Sans"/>
                <a:ea typeface="Public Sans"/>
                <a:cs typeface="Public Sans"/>
                <a:sym typeface="Public Sans"/>
              </a:rPr>
              <a:t>→ </a:t>
            </a:r>
            <a:r>
              <a:rPr lang="en-US" b="true" sz="3200" spc="192">
                <a:solidFill>
                  <a:srgbClr val="000000"/>
                </a:solidFill>
                <a:latin typeface="Public Sans Bold"/>
                <a:ea typeface="Public Sans Bold"/>
                <a:cs typeface="Public Sans Bold"/>
                <a:sym typeface="Public Sans Bold"/>
              </a:rPr>
              <a:t>Ý nghĩa: </a:t>
            </a:r>
            <a:r>
              <a:rPr lang="en-US" sz="3200" spc="192">
                <a:solidFill>
                  <a:srgbClr val="000000"/>
                </a:solidFill>
                <a:latin typeface="Public Sans"/>
                <a:ea typeface="Public Sans"/>
                <a:cs typeface="Public Sans"/>
                <a:sym typeface="Public Sans"/>
              </a:rPr>
              <a:t>Giúp cá nhân hóa gợi ý phim, tránh đề xuất phim “thiên vị giới tính”.</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so sánh</a:t>
            </a:r>
          </a:p>
          <a:p>
            <a:pPr algn="ctr">
              <a:lnSpc>
                <a:spcPts val="4320"/>
              </a:lnSpc>
            </a:pPr>
            <a:r>
              <a:rPr lang="en-US" b="true" sz="3200" spc="192">
                <a:solidFill>
                  <a:srgbClr val="000000"/>
                </a:solidFill>
                <a:latin typeface="Public Sans Bold"/>
                <a:ea typeface="Public Sans Bold"/>
                <a:cs typeface="Public Sans Bold"/>
                <a:sym typeface="Public Sans Bold"/>
              </a:rPr>
              <a:t>2.Độ lệch chuẩn rating theo thập niên</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028700" y="2981637"/>
            <a:ext cx="8892120" cy="7271220"/>
          </a:xfrm>
          <a:custGeom>
            <a:avLst/>
            <a:gdLst/>
            <a:ahLst/>
            <a:cxnLst/>
            <a:rect r="r" b="b" t="t" l="l"/>
            <a:pathLst>
              <a:path h="7271220" w="8892120">
                <a:moveTo>
                  <a:pt x="0" y="0"/>
                </a:moveTo>
                <a:lnTo>
                  <a:pt x="8892120" y="0"/>
                </a:lnTo>
                <a:lnTo>
                  <a:pt x="8892120" y="7271221"/>
                </a:lnTo>
                <a:lnTo>
                  <a:pt x="0" y="7271221"/>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10" id="10"/>
          <p:cNvSpPr txBox="true"/>
          <p:nvPr/>
        </p:nvSpPr>
        <p:spPr>
          <a:xfrm rot="0">
            <a:off x="10092379" y="3332770"/>
            <a:ext cx="7751262" cy="6511804"/>
          </a:xfrm>
          <a:prstGeom prst="rect">
            <a:avLst/>
          </a:prstGeom>
        </p:spPr>
        <p:txBody>
          <a:bodyPr anchor="t" rtlCol="false" tIns="0" lIns="0" bIns="0" rIns="0">
            <a:spAutoFit/>
          </a:bodyPr>
          <a:lstStyle/>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T</a:t>
            </a:r>
            <a:r>
              <a:rPr lang="en-US" sz="3200" spc="192">
                <a:solidFill>
                  <a:srgbClr val="000000"/>
                </a:solidFill>
                <a:latin typeface="Public Sans"/>
                <a:ea typeface="Public Sans"/>
                <a:cs typeface="Public Sans"/>
                <a:sym typeface="Public Sans"/>
              </a:rPr>
              <a:t>hập niên 1990s–2000s: Độ lệch chuẩn ~1.0 → mức đồng thuận cao.</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2010s: Tăng nhẹ → khán giả có ý kiến trái chiều hơn.</a:t>
            </a:r>
          </a:p>
          <a:p>
            <a:pPr algn="l">
              <a:lnSpc>
                <a:spcPts val="4320"/>
              </a:lnSpc>
            </a:pPr>
            <a:r>
              <a:rPr lang="en-US" sz="3200" spc="192">
                <a:solidFill>
                  <a:srgbClr val="000000"/>
                </a:solidFill>
                <a:latin typeface="Public Sans"/>
                <a:ea typeface="Public Sans"/>
                <a:cs typeface="Public Sans"/>
                <a:sym typeface="Public Sans"/>
              </a:rPr>
              <a:t>→ </a:t>
            </a:r>
            <a:r>
              <a:rPr lang="en-US" b="true" sz="3200" spc="192">
                <a:solidFill>
                  <a:srgbClr val="000000"/>
                </a:solidFill>
                <a:latin typeface="Public Sans Bold"/>
                <a:ea typeface="Public Sans Bold"/>
                <a:cs typeface="Public Sans Bold"/>
                <a:sym typeface="Public Sans Bold"/>
              </a:rPr>
              <a:t>Kết luận:</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Phim hiện đại dễ “gây tranh cãi” hơn p</a:t>
            </a:r>
            <a:r>
              <a:rPr lang="en-US" sz="3200" spc="192">
                <a:solidFill>
                  <a:srgbClr val="000000"/>
                </a:solidFill>
                <a:latin typeface="Public Sans"/>
                <a:ea typeface="Public Sans"/>
                <a:cs typeface="Public Sans"/>
                <a:sym typeface="Public Sans"/>
              </a:rPr>
              <a:t>him cổ điển.</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Phản ánh sự đa dạng về phong cách kể chuyện và đối tượng khán giả.</a:t>
            </a:r>
          </a:p>
          <a:p>
            <a:pPr algn="l">
              <a:lnSpc>
                <a:spcPts val="4320"/>
              </a:lnSpc>
              <a:spcBef>
                <a:spcPct val="0"/>
              </a:spcBef>
            </a:pP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so sánh</a:t>
            </a:r>
          </a:p>
          <a:p>
            <a:pPr algn="ctr">
              <a:lnSpc>
                <a:spcPts val="4320"/>
              </a:lnSpc>
            </a:pPr>
            <a:r>
              <a:rPr lang="en-US" b="true" sz="3200" spc="192">
                <a:solidFill>
                  <a:srgbClr val="000000"/>
                </a:solidFill>
                <a:latin typeface="Public Sans Bold"/>
                <a:ea typeface="Public Sans Bold"/>
                <a:cs typeface="Public Sans Bold"/>
                <a:sym typeface="Public Sans Bold"/>
              </a:rPr>
              <a:t>3.Hành vi đánh giá của nhóm tuổi trẻ vs lớn tuổi</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523850" y="2981637"/>
            <a:ext cx="8620150" cy="7090073"/>
          </a:xfrm>
          <a:custGeom>
            <a:avLst/>
            <a:gdLst/>
            <a:ahLst/>
            <a:cxnLst/>
            <a:rect r="r" b="b" t="t" l="l"/>
            <a:pathLst>
              <a:path h="7090073" w="8620150">
                <a:moveTo>
                  <a:pt x="0" y="0"/>
                </a:moveTo>
                <a:lnTo>
                  <a:pt x="8620150" y="0"/>
                </a:lnTo>
                <a:lnTo>
                  <a:pt x="8620150" y="7090073"/>
                </a:lnTo>
                <a:lnTo>
                  <a:pt x="0" y="7090073"/>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10" id="10"/>
          <p:cNvSpPr txBox="true"/>
          <p:nvPr/>
        </p:nvSpPr>
        <p:spPr>
          <a:xfrm rot="0">
            <a:off x="9902880" y="5760369"/>
            <a:ext cx="7127352" cy="1082126"/>
          </a:xfrm>
          <a:prstGeom prst="rect">
            <a:avLst/>
          </a:prstGeom>
        </p:spPr>
        <p:txBody>
          <a:bodyPr anchor="t" rtlCol="false" tIns="0" lIns="0" bIns="0" rIns="0">
            <a:spAutoFit/>
          </a:bodyPr>
          <a:lstStyle/>
          <a:p>
            <a:pPr algn="l">
              <a:lnSpc>
                <a:spcPts val="4320"/>
              </a:lnSpc>
              <a:spcBef>
                <a:spcPct val="0"/>
              </a:spcBef>
            </a:pPr>
            <a:r>
              <a:rPr lang="en-US" sz="3200" spc="192">
                <a:solidFill>
                  <a:srgbClr val="000000"/>
                </a:solidFill>
                <a:latin typeface="Public Sans"/>
                <a:ea typeface="Public Sans"/>
                <a:cs typeface="Public Sans"/>
                <a:sym typeface="Public Sans"/>
              </a:rPr>
              <a:t>Biểu đồ cột thể hiện hành vi đánh giá cực đoan theo nhóm tuổi</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so sánh</a:t>
            </a:r>
          </a:p>
          <a:p>
            <a:pPr algn="ctr">
              <a:lnSpc>
                <a:spcPts val="4320"/>
              </a:lnSpc>
            </a:pPr>
            <a:r>
              <a:rPr lang="en-US" b="true" sz="3200" spc="192">
                <a:solidFill>
                  <a:srgbClr val="000000"/>
                </a:solidFill>
                <a:latin typeface="Public Sans Bold"/>
                <a:ea typeface="Public Sans Bold"/>
                <a:cs typeface="Public Sans Bold"/>
                <a:sym typeface="Public Sans Bold"/>
              </a:rPr>
              <a:t>3.Hành vi đánh giá của nhóm tuổi trẻ vs lớn tuổi</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522745" y="3003206"/>
            <a:ext cx="8624490" cy="6653602"/>
          </a:xfrm>
          <a:custGeom>
            <a:avLst/>
            <a:gdLst/>
            <a:ahLst/>
            <a:cxnLst/>
            <a:rect r="r" b="b" t="t" l="l"/>
            <a:pathLst>
              <a:path h="6653602" w="8624490">
                <a:moveTo>
                  <a:pt x="0" y="0"/>
                </a:moveTo>
                <a:lnTo>
                  <a:pt x="8624490" y="0"/>
                </a:lnTo>
                <a:lnTo>
                  <a:pt x="8624490" y="6653602"/>
                </a:lnTo>
                <a:lnTo>
                  <a:pt x="0" y="6653602"/>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10" id="10"/>
          <p:cNvSpPr txBox="true"/>
          <p:nvPr/>
        </p:nvSpPr>
        <p:spPr>
          <a:xfrm rot="0">
            <a:off x="9902880" y="5760369"/>
            <a:ext cx="7127352" cy="1082126"/>
          </a:xfrm>
          <a:prstGeom prst="rect">
            <a:avLst/>
          </a:prstGeom>
        </p:spPr>
        <p:txBody>
          <a:bodyPr anchor="t" rtlCol="false" tIns="0" lIns="0" bIns="0" rIns="0">
            <a:spAutoFit/>
          </a:bodyPr>
          <a:lstStyle/>
          <a:p>
            <a:pPr algn="l">
              <a:lnSpc>
                <a:spcPts val="4320"/>
              </a:lnSpc>
              <a:spcBef>
                <a:spcPct val="0"/>
              </a:spcBef>
            </a:pPr>
            <a:r>
              <a:rPr lang="en-US" sz="3200" spc="192">
                <a:solidFill>
                  <a:srgbClr val="000000"/>
                </a:solidFill>
                <a:latin typeface="Public Sans"/>
                <a:ea typeface="Public Sans"/>
                <a:cs typeface="Public Sans"/>
                <a:sym typeface="Public Sans"/>
              </a:rPr>
              <a:t>Biểu đồ thể hiện phân bố rating cực đoan theo nhóm tuổi</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so sánh</a:t>
            </a:r>
          </a:p>
          <a:p>
            <a:pPr algn="ctr">
              <a:lnSpc>
                <a:spcPts val="4320"/>
              </a:lnSpc>
            </a:pPr>
            <a:r>
              <a:rPr lang="en-US" b="true" sz="3200" spc="192">
                <a:solidFill>
                  <a:srgbClr val="000000"/>
                </a:solidFill>
                <a:latin typeface="Public Sans Bold"/>
                <a:ea typeface="Public Sans Bold"/>
                <a:cs typeface="Public Sans Bold"/>
                <a:sym typeface="Public Sans Bold"/>
              </a:rPr>
              <a:t>3.Hành vi đánh giá của nhóm tuổi trẻ vs lớn tuổi</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9" id="9"/>
          <p:cNvSpPr txBox="true"/>
          <p:nvPr/>
        </p:nvSpPr>
        <p:spPr>
          <a:xfrm rot="0">
            <a:off x="2089983" y="3348454"/>
            <a:ext cx="15169317" cy="4882901"/>
          </a:xfrm>
          <a:prstGeom prst="rect">
            <a:avLst/>
          </a:prstGeom>
        </p:spPr>
        <p:txBody>
          <a:bodyPr anchor="t" rtlCol="false" tIns="0" lIns="0" bIns="0" rIns="0">
            <a:spAutoFit/>
          </a:bodyPr>
          <a:lstStyle/>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Nhóm</a:t>
            </a:r>
            <a:r>
              <a:rPr lang="en-US" sz="3200" spc="192">
                <a:solidFill>
                  <a:srgbClr val="000000"/>
                </a:solidFill>
                <a:latin typeface="Public Sans"/>
                <a:ea typeface="Public Sans"/>
                <a:cs typeface="Public Sans"/>
                <a:sym typeface="Public Sans"/>
              </a:rPr>
              <a:t> &lt; 25 tuổi: nhiều đánh giá cực đoan (1 hoặc 5) → cảm tính, bộc lộ cảm xúc mạnh.</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Nhóm &gt; 35 tuổi: chấm điểm ổn định, ít cực đoan → đánh giá khách quan hơn.</a:t>
            </a:r>
          </a:p>
          <a:p>
            <a:pPr algn="l">
              <a:lnSpc>
                <a:spcPts val="4320"/>
              </a:lnSpc>
              <a:spcBef>
                <a:spcPct val="0"/>
              </a:spcBef>
            </a:pPr>
            <a:r>
              <a:rPr lang="en-US" sz="3200" spc="192">
                <a:solidFill>
                  <a:srgbClr val="000000"/>
                </a:solidFill>
                <a:latin typeface="Public Sans"/>
                <a:ea typeface="Public Sans"/>
                <a:cs typeface="Public Sans"/>
                <a:sym typeface="Public Sans"/>
              </a:rPr>
              <a:t>→</a:t>
            </a:r>
            <a:r>
              <a:rPr lang="en-US" b="true" sz="3200" spc="192">
                <a:solidFill>
                  <a:srgbClr val="000000"/>
                </a:solidFill>
                <a:latin typeface="Public Sans Bold"/>
                <a:ea typeface="Public Sans Bold"/>
                <a:cs typeface="Public Sans Bold"/>
                <a:sym typeface="Public Sans Bold"/>
              </a:rPr>
              <a:t> </a:t>
            </a:r>
            <a:r>
              <a:rPr lang="en-US" b="true" sz="3200" spc="192">
                <a:solidFill>
                  <a:srgbClr val="000000"/>
                </a:solidFill>
                <a:latin typeface="Public Sans Bold"/>
                <a:ea typeface="Public Sans Bold"/>
                <a:cs typeface="Public Sans Bold"/>
                <a:sym typeface="Public Sans Bold"/>
              </a:rPr>
              <a:t>Ý nghĩa:</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Tuổi ảnh hưởng đến hành vi đánh giá.</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Cần điều chỉnh mô hình gợi ý theo độ tuổi để phản ánh xu hướng cảm xúc và mức độ ổn định của người dùng.</a:t>
            </a:r>
          </a:p>
          <a:p>
            <a:pPr algn="l">
              <a:lnSpc>
                <a:spcPts val="4320"/>
              </a:lnSpc>
              <a:spcBef>
                <a:spcPct val="0"/>
              </a:spcBef>
            </a:pP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mở rộng</a:t>
            </a:r>
          </a:p>
          <a:p>
            <a:pPr algn="ctr">
              <a:lnSpc>
                <a:spcPts val="4320"/>
              </a:lnSpc>
            </a:pPr>
            <a:r>
              <a:rPr lang="en-US" b="true" sz="3200" spc="192">
                <a:solidFill>
                  <a:srgbClr val="000000"/>
                </a:solidFill>
                <a:latin typeface="Public Sans Bold"/>
                <a:ea typeface="Public Sans Bold"/>
                <a:cs typeface="Public Sans Bold"/>
                <a:sym typeface="Public Sans Bold"/>
              </a:rPr>
              <a:t>1.Phân cực cảm xúc trong khán giả</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310579" y="2993638"/>
            <a:ext cx="10607581" cy="6892625"/>
          </a:xfrm>
          <a:custGeom>
            <a:avLst/>
            <a:gdLst/>
            <a:ahLst/>
            <a:cxnLst/>
            <a:rect r="r" b="b" t="t" l="l"/>
            <a:pathLst>
              <a:path h="6892625" w="10607581">
                <a:moveTo>
                  <a:pt x="0" y="0"/>
                </a:moveTo>
                <a:lnTo>
                  <a:pt x="10607581" y="0"/>
                </a:lnTo>
                <a:lnTo>
                  <a:pt x="10607581" y="6892624"/>
                </a:lnTo>
                <a:lnTo>
                  <a:pt x="0" y="6892624"/>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10" id="10"/>
          <p:cNvSpPr txBox="true"/>
          <p:nvPr/>
        </p:nvSpPr>
        <p:spPr>
          <a:xfrm rot="0">
            <a:off x="12427836" y="5076825"/>
            <a:ext cx="5585053" cy="1671256"/>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Public Sans"/>
                <a:ea typeface="Public Sans"/>
                <a:cs typeface="Public Sans"/>
                <a:sym typeface="Public Sans"/>
              </a:rPr>
              <a:t>Biểu đồ scatter plot thể hiện mối quan hệ giữa std rating và emotional polaziration</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mở rộng</a:t>
            </a:r>
          </a:p>
          <a:p>
            <a:pPr algn="ctr">
              <a:lnSpc>
                <a:spcPts val="4320"/>
              </a:lnSpc>
            </a:pPr>
            <a:r>
              <a:rPr lang="en-US" b="true" sz="3200" spc="192">
                <a:solidFill>
                  <a:srgbClr val="000000"/>
                </a:solidFill>
                <a:latin typeface="Public Sans Bold"/>
                <a:ea typeface="Public Sans Bold"/>
                <a:cs typeface="Public Sans Bold"/>
                <a:sym typeface="Public Sans Bold"/>
              </a:rPr>
              <a:t>2.Gợi ý “Khám Phá” </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587466" y="2992826"/>
            <a:ext cx="11047996" cy="7098337"/>
          </a:xfrm>
          <a:custGeom>
            <a:avLst/>
            <a:gdLst/>
            <a:ahLst/>
            <a:cxnLst/>
            <a:rect r="r" b="b" t="t" l="l"/>
            <a:pathLst>
              <a:path h="7098337" w="11047996">
                <a:moveTo>
                  <a:pt x="0" y="0"/>
                </a:moveTo>
                <a:lnTo>
                  <a:pt x="11047996" y="0"/>
                </a:lnTo>
                <a:lnTo>
                  <a:pt x="11047996" y="7098338"/>
                </a:lnTo>
                <a:lnTo>
                  <a:pt x="0" y="7098338"/>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10" id="10"/>
          <p:cNvSpPr txBox="true"/>
          <p:nvPr/>
        </p:nvSpPr>
        <p:spPr>
          <a:xfrm rot="0">
            <a:off x="11915173" y="6126938"/>
            <a:ext cx="6097716" cy="547348"/>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Public Sans"/>
                <a:ea typeface="Public Sans"/>
                <a:cs typeface="Public Sans"/>
                <a:sym typeface="Public Sans"/>
              </a:rPr>
              <a:t>Biểu đồ cột thể hiện Top 20 Phim</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mở rộng</a:t>
            </a:r>
          </a:p>
          <a:p>
            <a:pPr algn="ctr">
              <a:lnSpc>
                <a:spcPts val="4320"/>
              </a:lnSpc>
            </a:pPr>
            <a:r>
              <a:rPr lang="en-US" b="true" sz="3200" spc="192">
                <a:solidFill>
                  <a:srgbClr val="000000"/>
                </a:solidFill>
                <a:latin typeface="Public Sans Bold"/>
                <a:ea typeface="Public Sans Bold"/>
                <a:cs typeface="Public Sans Bold"/>
                <a:sym typeface="Public Sans Bold"/>
              </a:rPr>
              <a:t>3.Khả năng lan tỏa truyền thông</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467924" y="3156651"/>
            <a:ext cx="16000749" cy="5980280"/>
          </a:xfrm>
          <a:custGeom>
            <a:avLst/>
            <a:gdLst/>
            <a:ahLst/>
            <a:cxnLst/>
            <a:rect r="r" b="b" t="t" l="l"/>
            <a:pathLst>
              <a:path h="5980280" w="16000749">
                <a:moveTo>
                  <a:pt x="0" y="0"/>
                </a:moveTo>
                <a:lnTo>
                  <a:pt x="16000749" y="0"/>
                </a:lnTo>
                <a:lnTo>
                  <a:pt x="16000749" y="5980280"/>
                </a:lnTo>
                <a:lnTo>
                  <a:pt x="0" y="5980280"/>
                </a:lnTo>
                <a:lnTo>
                  <a:pt x="0" y="0"/>
                </a:lnTo>
                <a:close/>
              </a:path>
            </a:pathLst>
          </a:custGeom>
          <a:blipFill>
            <a:blip r:embed="rId12"/>
            <a:stretch>
              <a:fillRect l="0" t="0" r="0" b="0"/>
            </a:stretch>
          </a:blipFill>
        </p:spPr>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10" id="10"/>
          <p:cNvSpPr txBox="true"/>
          <p:nvPr/>
        </p:nvSpPr>
        <p:spPr>
          <a:xfrm rot="0">
            <a:off x="3020420" y="9338914"/>
            <a:ext cx="12895756" cy="547348"/>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Public Sans"/>
                <a:ea typeface="Public Sans"/>
                <a:cs typeface="Public Sans"/>
                <a:sym typeface="Public Sans"/>
              </a:rPr>
              <a:t>Biểu đồ thể hiện khả năng lan tỏa và mối quan hệ mức độ với phổ biến</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mở rộng</a:t>
            </a:r>
          </a:p>
          <a:p>
            <a:pPr algn="ctr">
              <a:lnSpc>
                <a:spcPts val="4320"/>
              </a:lnSpc>
            </a:pPr>
            <a:r>
              <a:rPr lang="en-US" b="true" sz="3200" spc="192">
                <a:solidFill>
                  <a:srgbClr val="000000"/>
                </a:solidFill>
                <a:latin typeface="Public Sans Bold"/>
                <a:ea typeface="Public Sans Bold"/>
                <a:cs typeface="Public Sans Bold"/>
                <a:sym typeface="Public Sans Bold"/>
              </a:rPr>
              <a:t>3.Khả năng lan tỏa truyền thông</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9" id="9"/>
          <p:cNvSpPr txBox="true"/>
          <p:nvPr/>
        </p:nvSpPr>
        <p:spPr>
          <a:xfrm rot="0">
            <a:off x="1429781" y="3091416"/>
            <a:ext cx="15434909" cy="6166884"/>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Chỉ số lan tỏa tăng nhẹ kh</a:t>
            </a:r>
            <a:r>
              <a:rPr lang="en-US" sz="3200">
                <a:solidFill>
                  <a:srgbClr val="000000"/>
                </a:solidFill>
                <a:latin typeface="Public Sans"/>
                <a:ea typeface="Public Sans"/>
                <a:cs typeface="Public Sans"/>
                <a:sym typeface="Public Sans"/>
              </a:rPr>
              <a:t>i σ tăng → phim “gây tranh cãi” thu hút nhiều bàn luận.</a:t>
            </a:r>
          </a:p>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So sánh hai nhóm:</a:t>
            </a:r>
          </a:p>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Phim đồng thuận (σ thấp): ít được bàn luận.</a:t>
            </a:r>
          </a:p>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Phim gây chia rẽ (σ cao): có mức lan tỏa cao hơn rõ rệt.</a:t>
            </a:r>
          </a:p>
          <a:p>
            <a:pPr algn="l">
              <a:lnSpc>
                <a:spcPts val="4480"/>
              </a:lnSpc>
            </a:pPr>
            <a:r>
              <a:rPr lang="en-US" b="true" sz="3200">
                <a:solidFill>
                  <a:srgbClr val="000000"/>
                </a:solidFill>
                <a:latin typeface="Public Sans Bold"/>
                <a:ea typeface="Public Sans Bold"/>
                <a:cs typeface="Public Sans Bold"/>
                <a:sym typeface="Public Sans Bold"/>
              </a:rPr>
              <a:t>Ý nghĩa:</a:t>
            </a:r>
          </a:p>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Mức độ tranh cãi thúc đẩy sự chú ý và tương tác xã hội.</a:t>
            </a:r>
          </a:p>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Độ lệch chuẩn rating có thể dùng để dự đoán khả năng viral của phim.</a:t>
            </a:r>
          </a:p>
          <a:p>
            <a:pPr algn="l">
              <a:lnSpc>
                <a:spcPts val="4480"/>
              </a:lnSpc>
            </a:pPr>
            <a:r>
              <a:rPr lang="en-US" sz="3200">
                <a:solidFill>
                  <a:srgbClr val="000000"/>
                </a:solidFill>
                <a:latin typeface="Public Sans"/>
                <a:ea typeface="Public Sans"/>
                <a:cs typeface="Public Sans"/>
                <a:sym typeface="Public Sans"/>
              </a:rPr>
              <a:t>→ </a:t>
            </a:r>
            <a:r>
              <a:rPr lang="en-US" b="true" sz="3200">
                <a:solidFill>
                  <a:srgbClr val="000000"/>
                </a:solidFill>
                <a:latin typeface="Public Sans Bold"/>
                <a:ea typeface="Public Sans Bold"/>
                <a:cs typeface="Public Sans Bold"/>
                <a:sym typeface="Public Sans Bold"/>
              </a:rPr>
              <a:t>Kết luận: </a:t>
            </a:r>
            <a:r>
              <a:rPr lang="en-US" sz="3200">
                <a:solidFill>
                  <a:srgbClr val="000000"/>
                </a:solidFill>
                <a:latin typeface="Public Sans"/>
                <a:ea typeface="Public Sans"/>
                <a:cs typeface="Public Sans"/>
                <a:sym typeface="Public Sans"/>
              </a:rPr>
              <a:t>Phim “gây chia rẽ” = phim lan tỏa mạnh trên truyền thông → giá trị khai thác marketing &amp; gợi ý nội dung.</a:t>
            </a:r>
          </a:p>
          <a:p>
            <a:pPr algn="l">
              <a:lnSpc>
                <a:spcPts val="4480"/>
              </a:lnSpc>
            </a:pP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56392"/>
            <a:ext cx="16237071"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mở rộng</a:t>
            </a:r>
          </a:p>
          <a:p>
            <a:pPr algn="ctr">
              <a:lnSpc>
                <a:spcPts val="4320"/>
              </a:lnSpc>
            </a:pPr>
            <a:r>
              <a:rPr lang="en-US" b="true" sz="3200" spc="192">
                <a:solidFill>
                  <a:srgbClr val="000000"/>
                </a:solidFill>
                <a:latin typeface="Public Sans Bold"/>
                <a:ea typeface="Public Sans Bold"/>
                <a:cs typeface="Public Sans Bold"/>
                <a:sym typeface="Public Sans Bold"/>
              </a:rPr>
              <a:t>4.Kết luận</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11635462" y="9886262"/>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MOVIELENS 1M</a:t>
            </a:r>
          </a:p>
        </p:txBody>
      </p:sp>
      <p:sp>
        <p:nvSpPr>
          <p:cNvPr name="TextBox 9" id="9"/>
          <p:cNvSpPr txBox="true"/>
          <p:nvPr/>
        </p:nvSpPr>
        <p:spPr>
          <a:xfrm rot="0">
            <a:off x="1429781" y="2824333"/>
            <a:ext cx="15434909" cy="6166884"/>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Thuật toán gợi ý theo điểm trung bình hoạt động kém h</a:t>
            </a:r>
            <a:r>
              <a:rPr lang="en-US" sz="3200">
                <a:solidFill>
                  <a:srgbClr val="000000"/>
                </a:solidFill>
                <a:latin typeface="Public Sans"/>
                <a:ea typeface="Public Sans"/>
                <a:cs typeface="Public Sans"/>
                <a:sym typeface="Public Sans"/>
              </a:rPr>
              <a:t>iệu quả với phim có độ lệch chuẩn cao (σ lớn) → do ý kiến khán giả phân hóa mạnh.</a:t>
            </a:r>
          </a:p>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Giới tính và độ tuổi ảnh hưởng rõ đến đánh giá:</a:t>
            </a:r>
          </a:p>
          <a:p>
            <a:pPr algn="l" marL="1381761" indent="-460587" lvl="2">
              <a:lnSpc>
                <a:spcPts val="4480"/>
              </a:lnSpc>
              <a:buFont typeface="Arial"/>
              <a:buChar char="⚬"/>
            </a:pPr>
            <a:r>
              <a:rPr lang="en-US" sz="3200">
                <a:solidFill>
                  <a:srgbClr val="000000"/>
                </a:solidFill>
                <a:latin typeface="Public Sans"/>
                <a:ea typeface="Public Sans"/>
                <a:cs typeface="Public Sans"/>
                <a:sym typeface="Public Sans"/>
              </a:rPr>
              <a:t>Nam thích phim hành động, nữ thích phim cảm xúc;</a:t>
            </a:r>
          </a:p>
          <a:p>
            <a:pPr algn="l" marL="1381761" indent="-460587" lvl="2">
              <a:lnSpc>
                <a:spcPts val="4480"/>
              </a:lnSpc>
              <a:buFont typeface="Arial"/>
              <a:buChar char="⚬"/>
            </a:pPr>
            <a:r>
              <a:rPr lang="en-US" sz="3200">
                <a:solidFill>
                  <a:srgbClr val="000000"/>
                </a:solidFill>
                <a:latin typeface="Public Sans"/>
                <a:ea typeface="Public Sans"/>
                <a:cs typeface="Public Sans"/>
                <a:sym typeface="Public Sans"/>
              </a:rPr>
              <a:t>Người trẻ thường đánh giá cực đoan hơn người lớn tuổi.</a:t>
            </a:r>
          </a:p>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Phim hiện đại (2010s) có xu hướng phân cực hơn → thị hiếu</a:t>
            </a:r>
            <a:r>
              <a:rPr lang="en-US" sz="3200">
                <a:solidFill>
                  <a:srgbClr val="000000"/>
                </a:solidFill>
                <a:latin typeface="Public Sans"/>
                <a:ea typeface="Public Sans"/>
                <a:cs typeface="Public Sans"/>
                <a:sym typeface="Public Sans"/>
              </a:rPr>
              <a:t> ng</a:t>
            </a:r>
            <a:r>
              <a:rPr lang="en-US" sz="3200">
                <a:solidFill>
                  <a:srgbClr val="000000"/>
                </a:solidFill>
                <a:latin typeface="Public Sans"/>
                <a:ea typeface="Public Sans"/>
                <a:cs typeface="Public Sans"/>
                <a:sym typeface="Public Sans"/>
              </a:rPr>
              <a:t>ày càng đ</a:t>
            </a:r>
            <a:r>
              <a:rPr lang="en-US" sz="3200">
                <a:solidFill>
                  <a:srgbClr val="000000"/>
                </a:solidFill>
                <a:latin typeface="Public Sans"/>
                <a:ea typeface="Public Sans"/>
                <a:cs typeface="Public Sans"/>
                <a:sym typeface="Public Sans"/>
              </a:rPr>
              <a:t>a</a:t>
            </a:r>
            <a:r>
              <a:rPr lang="en-US" sz="3200">
                <a:solidFill>
                  <a:srgbClr val="000000"/>
                </a:solidFill>
                <a:latin typeface="Public Sans"/>
                <a:ea typeface="Public Sans"/>
                <a:cs typeface="Public Sans"/>
                <a:sym typeface="Public Sans"/>
              </a:rPr>
              <a:t> dạng.</a:t>
            </a:r>
          </a:p>
          <a:p>
            <a:pPr algn="l" marL="690881" indent="-345440" lvl="1">
              <a:lnSpc>
                <a:spcPts val="4480"/>
              </a:lnSpc>
              <a:buFont typeface="Arial"/>
              <a:buChar char="•"/>
            </a:pPr>
            <a:r>
              <a:rPr lang="en-US" sz="3200">
                <a:solidFill>
                  <a:srgbClr val="000000"/>
                </a:solidFill>
                <a:latin typeface="Public Sans"/>
                <a:ea typeface="Public Sans"/>
                <a:cs typeface="Public Sans"/>
                <a:sym typeface="Public Sans"/>
              </a:rPr>
              <a:t>Phim</a:t>
            </a:r>
            <a:r>
              <a:rPr lang="en-US" sz="3200">
                <a:solidFill>
                  <a:srgbClr val="000000"/>
                </a:solidFill>
                <a:latin typeface="Public Sans"/>
                <a:ea typeface="Public Sans"/>
                <a:cs typeface="Public Sans"/>
                <a:sym typeface="Public Sans"/>
              </a:rPr>
              <a:t> “gây tranh cãi” (σ cao) thường có độ lan tỏa cao, thích hợp cho gợi ý “khám phá” (serendipity).</a:t>
            </a:r>
          </a:p>
          <a:p>
            <a:pPr algn="l">
              <a:lnSpc>
                <a:spcPts val="4480"/>
              </a:lnSpc>
            </a:pPr>
            <a:r>
              <a:rPr lang="en-US" sz="3200">
                <a:solidFill>
                  <a:srgbClr val="000000"/>
                </a:solidFill>
                <a:latin typeface="Public Sans"/>
                <a:ea typeface="Public Sans"/>
                <a:cs typeface="Public Sans"/>
                <a:sym typeface="Public Sans"/>
              </a:rPr>
              <a:t>→ Độ lệch chuẩn rating là thước đo quan trọng phản ánh sự đa dạng cảm</a:t>
            </a:r>
            <a:r>
              <a:rPr lang="en-US" sz="3200">
                <a:solidFill>
                  <a:srgbClr val="000000"/>
                </a:solidFill>
                <a:latin typeface="Public Sans"/>
                <a:ea typeface="Public Sans"/>
                <a:cs typeface="Public Sans"/>
                <a:sym typeface="Public Sans"/>
              </a:rPr>
              <a:t> </a:t>
            </a:r>
            <a:r>
              <a:rPr lang="en-US" sz="3200">
                <a:solidFill>
                  <a:srgbClr val="000000"/>
                </a:solidFill>
                <a:latin typeface="Public Sans"/>
                <a:ea typeface="Public Sans"/>
                <a:cs typeface="Public Sans"/>
                <a:sym typeface="Public Sans"/>
              </a:rPr>
              <a:t>xúc,</a:t>
            </a:r>
            <a:r>
              <a:rPr lang="en-US" sz="3200">
                <a:solidFill>
                  <a:srgbClr val="000000"/>
                </a:solidFill>
                <a:latin typeface="Public Sans"/>
                <a:ea typeface="Public Sans"/>
                <a:cs typeface="Public Sans"/>
                <a:sym typeface="Public Sans"/>
              </a:rPr>
              <a:t> </a:t>
            </a:r>
            <a:r>
              <a:rPr lang="en-US" sz="3200">
                <a:solidFill>
                  <a:srgbClr val="000000"/>
                </a:solidFill>
                <a:latin typeface="Public Sans"/>
                <a:ea typeface="Public Sans"/>
                <a:cs typeface="Public Sans"/>
                <a:sym typeface="Public Sans"/>
              </a:rPr>
              <a:t>thị hiếu và khả năng lan tỏa, hữu ích cho việc nâng cao hệ thống gợi ý.</a:t>
            </a:r>
          </a:p>
          <a:p>
            <a:pPr algn="l">
              <a:lnSpc>
                <a:spcPts val="4480"/>
              </a:lnSpc>
            </a:pP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2838650" y="755661"/>
            <a:ext cx="12610699"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US Baby Names (1880–2010)</a:t>
            </a:r>
          </a:p>
        </p:txBody>
      </p:sp>
      <p:sp>
        <p:nvSpPr>
          <p:cNvPr name="TextBox 5" id="5"/>
          <p:cNvSpPr txBox="true"/>
          <p:nvPr/>
        </p:nvSpPr>
        <p:spPr>
          <a:xfrm rot="0">
            <a:off x="1028700" y="1676498"/>
            <a:ext cx="16237071" cy="8818911"/>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Giới thiệu</a:t>
            </a:r>
          </a:p>
          <a:p>
            <a:pPr algn="l">
              <a:lnSpc>
                <a:spcPts val="4319"/>
              </a:lnSpc>
            </a:pPr>
            <a:r>
              <a:rPr lang="en-US" sz="3199" spc="191" b="true">
                <a:solidFill>
                  <a:srgbClr val="000000"/>
                </a:solidFill>
                <a:latin typeface="Public Sans Bold"/>
                <a:ea typeface="Public Sans Bold"/>
                <a:cs typeface="Public Sans Bold"/>
                <a:sym typeface="Public Sans Bold"/>
              </a:rPr>
              <a:t>Tập dữ liệu: </a:t>
            </a:r>
            <a:r>
              <a:rPr lang="en-US" sz="3199" spc="191">
                <a:solidFill>
                  <a:srgbClr val="000000"/>
                </a:solidFill>
                <a:latin typeface="Public Sans"/>
                <a:ea typeface="Public Sans"/>
                <a:cs typeface="Public Sans"/>
                <a:sym typeface="Public Sans"/>
              </a:rPr>
              <a:t>US Baby Names</a:t>
            </a:r>
          </a:p>
          <a:p>
            <a:pPr algn="l">
              <a:lnSpc>
                <a:spcPts val="4319"/>
              </a:lnSpc>
            </a:pPr>
            <a:r>
              <a:rPr lang="en-US" sz="3199" spc="191" b="true">
                <a:solidFill>
                  <a:srgbClr val="000000"/>
                </a:solidFill>
                <a:latin typeface="Public Sans Bold"/>
                <a:ea typeface="Public Sans Bold"/>
                <a:cs typeface="Public Sans Bold"/>
                <a:sym typeface="Public Sans Bold"/>
              </a:rPr>
              <a:t>Định dạng:</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Mỗi file tương ứng 1 năm (yobYYYY.txt).</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Các trường: Name, Gender, Count.</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Chỉ gồm các tên xuất hiện ≥ 5 lần/năm.</a:t>
            </a:r>
          </a:p>
          <a:p>
            <a:pPr algn="l">
              <a:lnSpc>
                <a:spcPts val="4319"/>
              </a:lnSpc>
            </a:pPr>
            <a:r>
              <a:rPr lang="en-US" sz="3199" spc="191" b="true">
                <a:solidFill>
                  <a:srgbClr val="000000"/>
                </a:solidFill>
                <a:latin typeface="Public Sans Bold"/>
                <a:ea typeface="Public Sans Bold"/>
                <a:cs typeface="Public Sans Bold"/>
                <a:sym typeface="Public Sans Bold"/>
              </a:rPr>
              <a:t>Quy mô:</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131 file (1880–2010).</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~1.7 triệu bản ghi.</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Dữ liệu bán cấu trúc, định dạng CSV.</a:t>
            </a:r>
          </a:p>
          <a:p>
            <a:pPr algn="l">
              <a:lnSpc>
                <a:spcPts val="4319"/>
              </a:lnSpc>
            </a:pPr>
            <a:r>
              <a:rPr lang="en-US" sz="3199" spc="191" b="true">
                <a:solidFill>
                  <a:srgbClr val="000000"/>
                </a:solidFill>
                <a:latin typeface="Public Sans Bold"/>
                <a:ea typeface="Public Sans Bold"/>
                <a:cs typeface="Public Sans Bold"/>
                <a:sym typeface="Public Sans Bold"/>
              </a:rPr>
              <a:t>Mục tiêu</a:t>
            </a:r>
            <a:r>
              <a:rPr lang="en-US" sz="3199" spc="191">
                <a:solidFill>
                  <a:srgbClr val="000000"/>
                </a:solidFill>
                <a:latin typeface="Public Sans"/>
                <a:ea typeface="Public Sans"/>
                <a:cs typeface="Public Sans"/>
                <a:sym typeface="Public Sans"/>
              </a:rPr>
              <a:t>:</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Khám phá</a:t>
            </a:r>
            <a:r>
              <a:rPr lang="en-US" sz="3199" spc="191">
                <a:solidFill>
                  <a:srgbClr val="000000"/>
                </a:solidFill>
                <a:latin typeface="Public Sans"/>
                <a:ea typeface="Public Sans"/>
                <a:cs typeface="Public Sans"/>
                <a:sym typeface="Public Sans"/>
              </a:rPr>
              <a:t> sự thay đổi xu hướng đặt tên trong hơn 130 năm.</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Đánh giá mức độ phổ biến, đa dạng và vòng đờ</a:t>
            </a:r>
            <a:r>
              <a:rPr lang="en-US" sz="3199" spc="191">
                <a:solidFill>
                  <a:srgbClr val="000000"/>
                </a:solidFill>
                <a:latin typeface="Public Sans"/>
                <a:ea typeface="Public Sans"/>
                <a:cs typeface="Public Sans"/>
                <a:sym typeface="Public Sans"/>
              </a:rPr>
              <a:t>i</a:t>
            </a:r>
            <a:r>
              <a:rPr lang="en-US" sz="3199" spc="191">
                <a:solidFill>
                  <a:srgbClr val="000000"/>
                </a:solidFill>
                <a:latin typeface="Public Sans"/>
                <a:ea typeface="Public Sans"/>
                <a:cs typeface="Public Sans"/>
                <a:sym typeface="Public Sans"/>
              </a:rPr>
              <a:t> của tên.</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Phân</a:t>
            </a:r>
            <a:r>
              <a:rPr lang="en-US" sz="3199" spc="191">
                <a:solidFill>
                  <a:srgbClr val="000000"/>
                </a:solidFill>
                <a:latin typeface="Public Sans"/>
                <a:ea typeface="Public Sans"/>
                <a:cs typeface="Public Sans"/>
                <a:sym typeface="Public Sans"/>
              </a:rPr>
              <a:t> </a:t>
            </a:r>
            <a:r>
              <a:rPr lang="en-US" sz="3199" spc="191">
                <a:solidFill>
                  <a:srgbClr val="000000"/>
                </a:solidFill>
                <a:latin typeface="Public Sans"/>
                <a:ea typeface="Public Sans"/>
                <a:cs typeface="Public Sans"/>
                <a:sym typeface="Public Sans"/>
              </a:rPr>
              <a:t>tích </a:t>
            </a:r>
            <a:r>
              <a:rPr lang="en-US" sz="3199" spc="191">
                <a:solidFill>
                  <a:srgbClr val="000000"/>
                </a:solidFill>
                <a:latin typeface="Public Sans"/>
                <a:ea typeface="Public Sans"/>
                <a:cs typeface="Public Sans"/>
                <a:sym typeface="Public Sans"/>
              </a:rPr>
              <a:t>ảnh</a:t>
            </a:r>
            <a:r>
              <a:rPr lang="en-US" sz="3199" spc="191">
                <a:solidFill>
                  <a:srgbClr val="000000"/>
                </a:solidFill>
                <a:latin typeface="Public Sans"/>
                <a:ea typeface="Public Sans"/>
                <a:cs typeface="Public Sans"/>
                <a:sym typeface="Public Sans"/>
              </a:rPr>
              <a:t> </a:t>
            </a:r>
            <a:r>
              <a:rPr lang="en-US" sz="3199" spc="191">
                <a:solidFill>
                  <a:srgbClr val="000000"/>
                </a:solidFill>
                <a:latin typeface="Public Sans"/>
                <a:ea typeface="Public Sans"/>
                <a:cs typeface="Public Sans"/>
                <a:sym typeface="Public Sans"/>
              </a:rPr>
              <a:t>hưởng</a:t>
            </a:r>
            <a:r>
              <a:rPr lang="en-US" sz="3199" spc="191">
                <a:solidFill>
                  <a:srgbClr val="000000"/>
                </a:solidFill>
                <a:latin typeface="Public Sans"/>
                <a:ea typeface="Public Sans"/>
                <a:cs typeface="Public Sans"/>
                <a:sym typeface="Public Sans"/>
              </a:rPr>
              <a:t> vă</a:t>
            </a:r>
            <a:r>
              <a:rPr lang="en-US" sz="3199" spc="191">
                <a:solidFill>
                  <a:srgbClr val="000000"/>
                </a:solidFill>
                <a:latin typeface="Public Sans"/>
                <a:ea typeface="Public Sans"/>
                <a:cs typeface="Public Sans"/>
                <a:sym typeface="Public Sans"/>
              </a:rPr>
              <a:t>n</a:t>
            </a:r>
            <a:r>
              <a:rPr lang="en-US" sz="3199" spc="191">
                <a:solidFill>
                  <a:srgbClr val="000000"/>
                </a:solidFill>
                <a:latin typeface="Public Sans"/>
                <a:ea typeface="Public Sans"/>
                <a:cs typeface="Public Sans"/>
                <a:sym typeface="Public Sans"/>
              </a:rPr>
              <a:t> hóa, xã hộ</a:t>
            </a:r>
            <a:r>
              <a:rPr lang="en-US" sz="3199" spc="191">
                <a:solidFill>
                  <a:srgbClr val="000000"/>
                </a:solidFill>
                <a:latin typeface="Public Sans"/>
                <a:ea typeface="Public Sans"/>
                <a:cs typeface="Public Sans"/>
                <a:sym typeface="Public Sans"/>
              </a:rPr>
              <a:t>i,</a:t>
            </a:r>
            <a:r>
              <a:rPr lang="en-US" sz="3199" spc="191">
                <a:solidFill>
                  <a:srgbClr val="000000"/>
                </a:solidFill>
                <a:latin typeface="Public Sans"/>
                <a:ea typeface="Public Sans"/>
                <a:cs typeface="Public Sans"/>
                <a:sym typeface="Public Sans"/>
              </a:rPr>
              <a:t> và gi</a:t>
            </a:r>
            <a:r>
              <a:rPr lang="en-US" sz="3199" spc="191">
                <a:solidFill>
                  <a:srgbClr val="000000"/>
                </a:solidFill>
                <a:latin typeface="Public Sans"/>
                <a:ea typeface="Public Sans"/>
                <a:cs typeface="Public Sans"/>
                <a:sym typeface="Public Sans"/>
              </a:rPr>
              <a:t>ới tính tro</a:t>
            </a:r>
            <a:r>
              <a:rPr lang="en-US" sz="3199" spc="191">
                <a:solidFill>
                  <a:srgbClr val="000000"/>
                </a:solidFill>
                <a:latin typeface="Public Sans"/>
                <a:ea typeface="Public Sans"/>
                <a:cs typeface="Public Sans"/>
                <a:sym typeface="Public Sans"/>
              </a:rPr>
              <a:t>n</a:t>
            </a:r>
            <a:r>
              <a:rPr lang="en-US" sz="3199" spc="191">
                <a:solidFill>
                  <a:srgbClr val="000000"/>
                </a:solidFill>
                <a:latin typeface="Public Sans"/>
                <a:ea typeface="Public Sans"/>
                <a:cs typeface="Public Sans"/>
                <a:sym typeface="Public Sans"/>
              </a:rPr>
              <a:t>g đặt tên.</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Xác định mô hình dài hạn và khả năng “hồi sinh” của các tên cổ điển.</a:t>
            </a:r>
          </a:p>
          <a:p>
            <a:pPr algn="l" marL="0" indent="0" lvl="0">
              <a:lnSpc>
                <a:spcPts val="4319"/>
              </a:lnSpc>
              <a:spcBef>
                <a:spcPct val="0"/>
              </a:spcBef>
            </a:pPr>
          </a:p>
        </p:txBody>
      </p:sp>
      <p:sp>
        <p:nvSpPr>
          <p:cNvPr name="Freeform 6" id="6"/>
          <p:cNvSpPr/>
          <p:nvPr/>
        </p:nvSpPr>
        <p:spPr>
          <a:xfrm flipH="false" flipV="false" rot="0">
            <a:off x="15711732"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676498"/>
            <a:ext cx="12488146" cy="8275943"/>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Định dạng Dữ liệu</a:t>
            </a:r>
          </a:p>
          <a:p>
            <a:pPr algn="l">
              <a:lnSpc>
                <a:spcPts val="4319"/>
              </a:lnSpc>
            </a:pPr>
            <a:r>
              <a:rPr lang="en-US" sz="3199" spc="191">
                <a:solidFill>
                  <a:srgbClr val="000000"/>
                </a:solidFill>
                <a:latin typeface="Public Sans"/>
                <a:ea typeface="Public Sans"/>
                <a:cs typeface="Public Sans"/>
                <a:sym typeface="Public Sans"/>
              </a:rPr>
              <a:t> </a:t>
            </a:r>
            <a:r>
              <a:rPr lang="en-US" sz="3199" spc="191" b="true">
                <a:solidFill>
                  <a:srgbClr val="000000"/>
                </a:solidFill>
                <a:latin typeface="Public Sans Bold"/>
                <a:ea typeface="Public Sans Bold"/>
                <a:cs typeface="Public Sans Bold"/>
                <a:sym typeface="Public Sans Bold"/>
              </a:rPr>
              <a:t>Cấu trúc tệ</a:t>
            </a:r>
            <a:r>
              <a:rPr lang="en-US" sz="3199" spc="191" b="true">
                <a:solidFill>
                  <a:srgbClr val="000000"/>
                </a:solidFill>
                <a:latin typeface="Public Sans Bold"/>
                <a:ea typeface="Public Sans Bold"/>
                <a:cs typeface="Public Sans Bold"/>
                <a:sym typeface="Public Sans Bold"/>
              </a:rPr>
              <a:t>p dữ liệu:</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Mỗi năm có 1 tệp riêng dạng yobYYYY.txt.</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Định dạng </a:t>
            </a:r>
            <a:r>
              <a:rPr lang="en-US" sz="3199" spc="191">
                <a:solidFill>
                  <a:srgbClr val="000000"/>
                </a:solidFill>
                <a:latin typeface="Public Sans"/>
                <a:ea typeface="Public Sans"/>
                <a:cs typeface="Public Sans"/>
                <a:sym typeface="Public Sans"/>
              </a:rPr>
              <a:t>CSV, gồm 3 trường: Name, Gender, Count.</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Chỉ bao gồm các tên xuất hiện ≥ 5 lần/năm.</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Tổng ~2.000 tên, bé trai nhiều hơn bé gái ~20.000 người.</a:t>
            </a:r>
          </a:p>
          <a:p>
            <a:pPr algn="l">
              <a:lnSpc>
                <a:spcPts val="4319"/>
              </a:lnSpc>
            </a:pPr>
            <a:r>
              <a:rPr lang="en-US" sz="3199" spc="191">
                <a:solidFill>
                  <a:srgbClr val="000000"/>
                </a:solidFill>
                <a:latin typeface="Public Sans"/>
                <a:ea typeface="Public Sans"/>
                <a:cs typeface="Public Sans"/>
                <a:sym typeface="Public Sans"/>
              </a:rPr>
              <a:t> Sau khi gộp tất cả các năm:</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Bộ dữ liệu hoàn chỉnh gồm:</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 → ~1.7 triệu bản ghi</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 → Ghi nhận tên, giới tính và tần suất sinh từ 1880–2010</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Sẵn sàng cho bước phân tích xu hướng đặt tên theo thời gian.</a:t>
            </a:r>
          </a:p>
          <a:p>
            <a:pPr algn="l">
              <a:lnSpc>
                <a:spcPts val="4319"/>
              </a:lnSpc>
              <a:spcBef>
                <a:spcPct val="0"/>
              </a:spcBef>
            </a:pPr>
          </a:p>
        </p:txBody>
      </p:sp>
      <p:sp>
        <p:nvSpPr>
          <p:cNvPr name="Freeform 5" id="5"/>
          <p:cNvSpPr/>
          <p:nvPr/>
        </p:nvSpPr>
        <p:spPr>
          <a:xfrm flipH="false" flipV="false" rot="0">
            <a:off x="15711732"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3217034" y="1497635"/>
            <a:ext cx="4632666" cy="8389338"/>
          </a:xfrm>
          <a:custGeom>
            <a:avLst/>
            <a:gdLst/>
            <a:ahLst/>
            <a:cxnLst/>
            <a:rect r="r" b="b" t="t" l="l"/>
            <a:pathLst>
              <a:path h="8389338" w="4632666">
                <a:moveTo>
                  <a:pt x="0" y="0"/>
                </a:moveTo>
                <a:lnTo>
                  <a:pt x="4632667" y="0"/>
                </a:lnTo>
                <a:lnTo>
                  <a:pt x="4632667" y="8389338"/>
                </a:lnTo>
                <a:lnTo>
                  <a:pt x="0" y="8389338"/>
                </a:lnTo>
                <a:lnTo>
                  <a:pt x="0" y="0"/>
                </a:lnTo>
                <a:close/>
              </a:path>
            </a:pathLst>
          </a:custGeom>
          <a:blipFill>
            <a:blip r:embed="rId12"/>
            <a:stretch>
              <a:fillRect l="0" t="0" r="0" b="0"/>
            </a:stretch>
          </a:blipFill>
        </p:spPr>
      </p:sp>
      <p:sp>
        <p:nvSpPr>
          <p:cNvPr name="TextBox 9" id="9"/>
          <p:cNvSpPr txBox="true"/>
          <p:nvPr/>
        </p:nvSpPr>
        <p:spPr>
          <a:xfrm rot="0">
            <a:off x="2838650" y="755661"/>
            <a:ext cx="12610699"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US Baby Names (1880–2010)</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573708" y="3132348"/>
            <a:ext cx="9705884" cy="6939707"/>
          </a:xfrm>
          <a:custGeom>
            <a:avLst/>
            <a:gdLst/>
            <a:ahLst/>
            <a:cxnLst/>
            <a:rect r="r" b="b" t="t" l="l"/>
            <a:pathLst>
              <a:path h="6939707" w="9705884">
                <a:moveTo>
                  <a:pt x="0" y="0"/>
                </a:moveTo>
                <a:lnTo>
                  <a:pt x="9705884" y="0"/>
                </a:lnTo>
                <a:lnTo>
                  <a:pt x="9705884" y="6939708"/>
                </a:lnTo>
                <a:lnTo>
                  <a:pt x="0" y="6939708"/>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1.Có bao nhiêu trẻ em được sinh ra?</a:t>
            </a:r>
          </a:p>
        </p:txBody>
      </p:sp>
      <p:sp>
        <p:nvSpPr>
          <p:cNvPr name="TextBox 9" id="9"/>
          <p:cNvSpPr txBox="true"/>
          <p:nvPr/>
        </p:nvSpPr>
        <p:spPr>
          <a:xfrm rot="0">
            <a:off x="2838650" y="755661"/>
            <a:ext cx="12610699"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US Baby Names (1880–2010)</a:t>
            </a:r>
          </a:p>
        </p:txBody>
      </p:sp>
      <p:sp>
        <p:nvSpPr>
          <p:cNvPr name="TextBox 10" id="10"/>
          <p:cNvSpPr txBox="true"/>
          <p:nvPr/>
        </p:nvSpPr>
        <p:spPr>
          <a:xfrm rot="0">
            <a:off x="10613593" y="4408073"/>
            <a:ext cx="7185553" cy="3357116"/>
          </a:xfrm>
          <a:prstGeom prst="rect">
            <a:avLst/>
          </a:prstGeom>
        </p:spPr>
        <p:txBody>
          <a:bodyPr anchor="t" rtlCol="false" tIns="0" lIns="0" bIns="0" rIns="0">
            <a:spAutoFit/>
          </a:bodyPr>
          <a:lstStyle/>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Tổng số ca s</a:t>
            </a:r>
            <a:r>
              <a:rPr lang="en-US" sz="3200">
                <a:solidFill>
                  <a:srgbClr val="000000"/>
                </a:solidFill>
                <a:latin typeface="Public Sans"/>
                <a:ea typeface="Public Sans"/>
                <a:cs typeface="Public Sans"/>
                <a:sym typeface="Public Sans"/>
              </a:rPr>
              <a:t>inh tăng mạnh theo thời gian, đặc biệt sau giai đoạn Baby Boom (1940–1960).</a:t>
            </a:r>
          </a:p>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Số bé trai luôn nhiều hơn bé gái mỗi năm — một quy luật sinh học ổn định.</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696613" y="3134633"/>
            <a:ext cx="10206111" cy="6123667"/>
          </a:xfrm>
          <a:custGeom>
            <a:avLst/>
            <a:gdLst/>
            <a:ahLst/>
            <a:cxnLst/>
            <a:rect r="r" b="b" t="t" l="l"/>
            <a:pathLst>
              <a:path h="6123667" w="10206111">
                <a:moveTo>
                  <a:pt x="0" y="0"/>
                </a:moveTo>
                <a:lnTo>
                  <a:pt x="10206112" y="0"/>
                </a:lnTo>
                <a:lnTo>
                  <a:pt x="10206112" y="6123667"/>
                </a:lnTo>
                <a:lnTo>
                  <a:pt x="0" y="6123667"/>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2.Số lượng người đặt tên “John” và “Mary” qua các năm</a:t>
            </a:r>
          </a:p>
        </p:txBody>
      </p:sp>
      <p:sp>
        <p:nvSpPr>
          <p:cNvPr name="TextBox 9" id="9"/>
          <p:cNvSpPr txBox="true"/>
          <p:nvPr/>
        </p:nvSpPr>
        <p:spPr>
          <a:xfrm rot="0">
            <a:off x="2838650" y="755661"/>
            <a:ext cx="12610699"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US Baby Names (1880–2010)</a:t>
            </a:r>
          </a:p>
        </p:txBody>
      </p:sp>
      <p:sp>
        <p:nvSpPr>
          <p:cNvPr name="TextBox 10" id="10"/>
          <p:cNvSpPr txBox="true"/>
          <p:nvPr/>
        </p:nvSpPr>
        <p:spPr>
          <a:xfrm rot="0">
            <a:off x="11178899" y="3641641"/>
            <a:ext cx="6615716" cy="5042977"/>
          </a:xfrm>
          <a:prstGeom prst="rect">
            <a:avLst/>
          </a:prstGeom>
        </p:spPr>
        <p:txBody>
          <a:bodyPr anchor="t" rtlCol="false" tIns="0" lIns="0" bIns="0" rIns="0">
            <a:spAutoFit/>
          </a:bodyPr>
          <a:lstStyle/>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Trong gần một t</a:t>
            </a:r>
            <a:r>
              <a:rPr lang="en-US" sz="3200">
                <a:solidFill>
                  <a:srgbClr val="000000"/>
                </a:solidFill>
                <a:latin typeface="Public Sans"/>
                <a:ea typeface="Public Sans"/>
                <a:cs typeface="Public Sans"/>
                <a:sym typeface="Public Sans"/>
              </a:rPr>
              <a:t>hế kỷ, “John” (nam) và “Mary” (nữ) thống trị tuyệt đối danh sách tên phổ biến nhất.</a:t>
            </a:r>
          </a:p>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Tuy</a:t>
            </a:r>
            <a:r>
              <a:rPr lang="en-US" sz="3200">
                <a:solidFill>
                  <a:srgbClr val="000000"/>
                </a:solidFill>
                <a:latin typeface="Public Sans"/>
                <a:ea typeface="Public Sans"/>
                <a:cs typeface="Public Sans"/>
                <a:sym typeface="Public Sans"/>
              </a:rPr>
              <a:t> nhiên, điều đáng chú ý không chỉ là sự thống trị, mà còn là sự sụp đổ của nó khi xã hội và xu hướng văn hóa thay đổi.</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696613" y="3134633"/>
            <a:ext cx="9951118" cy="5970671"/>
          </a:xfrm>
          <a:custGeom>
            <a:avLst/>
            <a:gdLst/>
            <a:ahLst/>
            <a:cxnLst/>
            <a:rect r="r" b="b" t="t" l="l"/>
            <a:pathLst>
              <a:path h="5970671" w="9951118">
                <a:moveTo>
                  <a:pt x="0" y="0"/>
                </a:moveTo>
                <a:lnTo>
                  <a:pt x="9951119" y="0"/>
                </a:lnTo>
                <a:lnTo>
                  <a:pt x="9951119" y="5970671"/>
                </a:lnTo>
                <a:lnTo>
                  <a:pt x="0" y="5970671"/>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3.Các tên thường dùng theo giới tính</a:t>
            </a:r>
          </a:p>
        </p:txBody>
      </p:sp>
      <p:sp>
        <p:nvSpPr>
          <p:cNvPr name="TextBox 9" id="9"/>
          <p:cNvSpPr txBox="true"/>
          <p:nvPr/>
        </p:nvSpPr>
        <p:spPr>
          <a:xfrm rot="0">
            <a:off x="2838650" y="755661"/>
            <a:ext cx="12610699"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US Baby Names (1880–2010)</a:t>
            </a:r>
          </a:p>
        </p:txBody>
      </p:sp>
      <p:sp>
        <p:nvSpPr>
          <p:cNvPr name="TextBox 10" id="10"/>
          <p:cNvSpPr txBox="true"/>
          <p:nvPr/>
        </p:nvSpPr>
        <p:spPr>
          <a:xfrm rot="0">
            <a:off x="10647732" y="3134335"/>
            <a:ext cx="7110164" cy="3357116"/>
          </a:xfrm>
          <a:prstGeom prst="rect">
            <a:avLst/>
          </a:prstGeom>
        </p:spPr>
        <p:txBody>
          <a:bodyPr anchor="t" rtlCol="false" tIns="0" lIns="0" bIns="0" rIns="0">
            <a:spAutoFit/>
          </a:bodyPr>
          <a:lstStyle/>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Năm 1880</a:t>
            </a:r>
            <a:r>
              <a:rPr lang="en-US" sz="3200">
                <a:solidFill>
                  <a:srgbClr val="000000"/>
                </a:solidFill>
                <a:latin typeface="Public Sans"/>
                <a:ea typeface="Public Sans"/>
                <a:cs typeface="Public Sans"/>
                <a:sym typeface="Public Sans"/>
              </a:rPr>
              <a:t>, top 1000 tên phổ biến chiếm &gt;90% tổng số trẻ em — việc đặt tên rất tập trung.</a:t>
            </a:r>
          </a:p>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Từ 1960 trở đi, tỉ lệ này giảm mạnh, đến năm 2010 chỉ còn 70–75%.</a:t>
            </a:r>
          </a:p>
        </p:txBody>
      </p:sp>
      <p:sp>
        <p:nvSpPr>
          <p:cNvPr name="TextBox 11" id="11"/>
          <p:cNvSpPr txBox="true"/>
          <p:nvPr/>
        </p:nvSpPr>
        <p:spPr>
          <a:xfrm rot="0">
            <a:off x="11177836" y="6644149"/>
            <a:ext cx="7110164" cy="3357116"/>
          </a:xfrm>
          <a:prstGeom prst="rect">
            <a:avLst/>
          </a:prstGeom>
        </p:spPr>
        <p:txBody>
          <a:bodyPr anchor="t" rtlCol="false" tIns="0" lIns="0" bIns="0" rIns="0">
            <a:spAutoFit/>
          </a:bodyPr>
          <a:lstStyle/>
          <a:p>
            <a:pPr algn="just">
              <a:lnSpc>
                <a:spcPts val="4480"/>
              </a:lnSpc>
            </a:pPr>
            <a:r>
              <a:rPr lang="en-US" sz="3200">
                <a:solidFill>
                  <a:srgbClr val="000000"/>
                </a:solidFill>
                <a:latin typeface="Public Sans"/>
                <a:ea typeface="Public Sans"/>
                <a:cs typeface="Public Sans"/>
                <a:sym typeface="Public Sans"/>
              </a:rPr>
              <a:t>→ Năm 1880</a:t>
            </a:r>
            <a:r>
              <a:rPr lang="en-US" sz="3200">
                <a:solidFill>
                  <a:srgbClr val="000000"/>
                </a:solidFill>
                <a:latin typeface="Public Sans"/>
                <a:ea typeface="Public Sans"/>
                <a:cs typeface="Public Sans"/>
                <a:sym typeface="Public Sans"/>
              </a:rPr>
              <a:t>, top 1000 tên phổ biến chiếm &gt;90% tổng số trẻ em — việc đặt tên rất tập trung.</a:t>
            </a:r>
          </a:p>
          <a:p>
            <a:pPr algn="just">
              <a:lnSpc>
                <a:spcPts val="4480"/>
              </a:lnSpc>
            </a:pPr>
            <a:r>
              <a:rPr lang="en-US" sz="3200">
                <a:solidFill>
                  <a:srgbClr val="000000"/>
                </a:solidFill>
                <a:latin typeface="Public Sans"/>
                <a:ea typeface="Public Sans"/>
                <a:cs typeface="Public Sans"/>
                <a:sym typeface="Public Sans"/>
              </a:rPr>
              <a:t>→ Từ 1960 trở đi, tỉ lệ này giảm mạnh, đến năm 2010 chỉ còn 70–75%.</a:t>
            </a:r>
          </a:p>
          <a:p>
            <a:pPr algn="just">
              <a:lnSpc>
                <a:spcPts val="4480"/>
              </a:lnSpc>
            </a:pP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299550" y="3349158"/>
            <a:ext cx="10210626" cy="6126375"/>
          </a:xfrm>
          <a:custGeom>
            <a:avLst/>
            <a:gdLst/>
            <a:ahLst/>
            <a:cxnLst/>
            <a:rect r="r" b="b" t="t" l="l"/>
            <a:pathLst>
              <a:path h="6126375" w="10210626">
                <a:moveTo>
                  <a:pt x="0" y="0"/>
                </a:moveTo>
                <a:lnTo>
                  <a:pt x="10210626" y="0"/>
                </a:lnTo>
                <a:lnTo>
                  <a:pt x="10210626" y="6126376"/>
                </a:lnTo>
                <a:lnTo>
                  <a:pt x="0" y="6126376"/>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4.Giới tính và Vòng đời Tên gọi</a:t>
            </a:r>
          </a:p>
        </p:txBody>
      </p:sp>
      <p:sp>
        <p:nvSpPr>
          <p:cNvPr name="TextBox 9" id="9"/>
          <p:cNvSpPr txBox="true"/>
          <p:nvPr/>
        </p:nvSpPr>
        <p:spPr>
          <a:xfrm rot="0">
            <a:off x="2838650" y="755661"/>
            <a:ext cx="12610699"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US Baby Names (1880–2010)</a:t>
            </a:r>
          </a:p>
        </p:txBody>
      </p:sp>
      <p:sp>
        <p:nvSpPr>
          <p:cNvPr name="TextBox 10" id="10"/>
          <p:cNvSpPr txBox="true"/>
          <p:nvPr/>
        </p:nvSpPr>
        <p:spPr>
          <a:xfrm rot="0">
            <a:off x="10647732" y="3067958"/>
            <a:ext cx="7365157" cy="2233209"/>
          </a:xfrm>
          <a:prstGeom prst="rect">
            <a:avLst/>
          </a:prstGeom>
        </p:spPr>
        <p:txBody>
          <a:bodyPr anchor="t" rtlCol="false" tIns="0" lIns="0" bIns="0" rIns="0">
            <a:spAutoFit/>
          </a:bodyPr>
          <a:lstStyle/>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Tên nữ</a:t>
            </a:r>
            <a:r>
              <a:rPr lang="en-US" sz="3200">
                <a:solidFill>
                  <a:srgbClr val="000000"/>
                </a:solidFill>
                <a:latin typeface="Public Sans"/>
                <a:ea typeface="Public Sans"/>
                <a:cs typeface="Public Sans"/>
                <a:sym typeface="Public Sans"/>
              </a:rPr>
              <a:t> đa dạng hơn tên nam → cha mẹ sáng tạo hơn khi đặt cho bé gái.</a:t>
            </a:r>
          </a:p>
          <a:p>
            <a:pPr algn="just" marL="690881" indent="-345440" lvl="1">
              <a:lnSpc>
                <a:spcPts val="4480"/>
              </a:lnSpc>
              <a:spcBef>
                <a:spcPct val="0"/>
              </a:spcBef>
              <a:buFont typeface="Arial"/>
              <a:buChar char="•"/>
            </a:pPr>
            <a:r>
              <a:rPr lang="en-US" sz="3200">
                <a:solidFill>
                  <a:srgbClr val="000000"/>
                </a:solidFill>
                <a:latin typeface="Public Sans"/>
                <a:ea typeface="Public Sans"/>
                <a:cs typeface="Public Sans"/>
                <a:sym typeface="Public Sans"/>
              </a:rPr>
              <a:t> </a:t>
            </a:r>
            <a:r>
              <a:rPr lang="en-US" sz="3200">
                <a:solidFill>
                  <a:srgbClr val="000000"/>
                </a:solidFill>
                <a:latin typeface="Public Sans"/>
                <a:ea typeface="Public Sans"/>
                <a:cs typeface="Public Sans"/>
                <a:sym typeface="Public Sans"/>
              </a:rPr>
              <a:t>Tên nam ổn định, ít thay đổi theo thời gian.</a:t>
            </a:r>
          </a:p>
        </p:txBody>
      </p:sp>
      <p:sp>
        <p:nvSpPr>
          <p:cNvPr name="TextBox 11" id="11"/>
          <p:cNvSpPr txBox="true"/>
          <p:nvPr/>
        </p:nvSpPr>
        <p:spPr>
          <a:xfrm rot="0">
            <a:off x="10647732" y="5386892"/>
            <a:ext cx="7365157" cy="2795163"/>
          </a:xfrm>
          <a:prstGeom prst="rect">
            <a:avLst/>
          </a:prstGeom>
        </p:spPr>
        <p:txBody>
          <a:bodyPr anchor="t" rtlCol="false" tIns="0" lIns="0" bIns="0" rIns="0">
            <a:spAutoFit/>
          </a:bodyPr>
          <a:lstStyle/>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“Mary”</a:t>
            </a:r>
            <a:r>
              <a:rPr lang="en-US" sz="3200">
                <a:solidFill>
                  <a:srgbClr val="000000"/>
                </a:solidFill>
                <a:latin typeface="Public Sans"/>
                <a:ea typeface="Public Sans"/>
                <a:cs typeface="Public Sans"/>
                <a:sym typeface="Public Sans"/>
              </a:rPr>
              <a:t>, “John” sống lâu, phổ biến bền vững.</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“Jennifer” bùng nổ 1970–1980 rồi nhanh chóng giảm</a:t>
            </a:r>
          </a:p>
          <a:p>
            <a:pPr algn="just">
              <a:lnSpc>
                <a:spcPts val="4480"/>
              </a:lnSpc>
            </a:pPr>
          </a:p>
        </p:txBody>
      </p:sp>
      <p:sp>
        <p:nvSpPr>
          <p:cNvPr name="TextBox 12" id="12"/>
          <p:cNvSpPr txBox="true"/>
          <p:nvPr/>
        </p:nvSpPr>
        <p:spPr>
          <a:xfrm rot="0">
            <a:off x="10510176" y="7744885"/>
            <a:ext cx="7640268" cy="2233209"/>
          </a:xfrm>
          <a:prstGeom prst="rect">
            <a:avLst/>
          </a:prstGeom>
        </p:spPr>
        <p:txBody>
          <a:bodyPr anchor="t" rtlCol="false" tIns="0" lIns="0" bIns="0" rIns="0">
            <a:spAutoFit/>
          </a:bodyPr>
          <a:lstStyle/>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“Leslie”</a:t>
            </a:r>
            <a:r>
              <a:rPr lang="en-US" sz="3200">
                <a:solidFill>
                  <a:srgbClr val="000000"/>
                </a:solidFill>
                <a:latin typeface="Public Sans"/>
                <a:ea typeface="Public Sans"/>
                <a:cs typeface="Public Sans"/>
                <a:sym typeface="Public Sans"/>
              </a:rPr>
              <a:t> từ tên nam → chuyển sang nữ</a:t>
            </a:r>
          </a:p>
          <a:p>
            <a:pPr algn="just">
              <a:lnSpc>
                <a:spcPts val="4480"/>
              </a:lnSpc>
            </a:pPr>
            <a:r>
              <a:rPr lang="en-US" sz="3200">
                <a:solidFill>
                  <a:srgbClr val="000000"/>
                </a:solidFill>
                <a:latin typeface="Public Sans"/>
                <a:ea typeface="Public Sans"/>
                <a:cs typeface="Public Sans"/>
                <a:sym typeface="Public Sans"/>
              </a:rPr>
              <a:t> → Thể hiệ</a:t>
            </a:r>
            <a:r>
              <a:rPr lang="en-US" sz="3200">
                <a:solidFill>
                  <a:srgbClr val="000000"/>
                </a:solidFill>
                <a:latin typeface="Public Sans"/>
                <a:ea typeface="Public Sans"/>
                <a:cs typeface="Public Sans"/>
                <a:sym typeface="Public Sans"/>
              </a:rPr>
              <a:t>n xu hướng phi giới tính hóa trong đặt tên.</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696613" y="3132348"/>
            <a:ext cx="9951118" cy="5970671"/>
          </a:xfrm>
          <a:custGeom>
            <a:avLst/>
            <a:gdLst/>
            <a:ahLst/>
            <a:cxnLst/>
            <a:rect r="r" b="b" t="t" l="l"/>
            <a:pathLst>
              <a:path h="5970671" w="9951118">
                <a:moveTo>
                  <a:pt x="0" y="0"/>
                </a:moveTo>
                <a:lnTo>
                  <a:pt x="9951119" y="0"/>
                </a:lnTo>
                <a:lnTo>
                  <a:pt x="9951119" y="5970671"/>
                </a:lnTo>
                <a:lnTo>
                  <a:pt x="0" y="5970671"/>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Khám phá</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4.Giới tính và Vòng đời Tên gọi</a:t>
            </a:r>
          </a:p>
        </p:txBody>
      </p:sp>
      <p:sp>
        <p:nvSpPr>
          <p:cNvPr name="TextBox 9" id="9"/>
          <p:cNvSpPr txBox="true"/>
          <p:nvPr/>
        </p:nvSpPr>
        <p:spPr>
          <a:xfrm rot="0">
            <a:off x="2838650" y="755661"/>
            <a:ext cx="12610699"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US Baby Names (1880–2010)</a:t>
            </a:r>
          </a:p>
        </p:txBody>
      </p:sp>
      <p:sp>
        <p:nvSpPr>
          <p:cNvPr name="TextBox 10" id="10"/>
          <p:cNvSpPr txBox="true"/>
          <p:nvPr/>
        </p:nvSpPr>
        <p:spPr>
          <a:xfrm rot="0">
            <a:off x="10870073" y="5076825"/>
            <a:ext cx="7640268" cy="2233209"/>
          </a:xfrm>
          <a:prstGeom prst="rect">
            <a:avLst/>
          </a:prstGeom>
        </p:spPr>
        <p:txBody>
          <a:bodyPr anchor="t" rtlCol="false" tIns="0" lIns="0" bIns="0" rIns="0">
            <a:spAutoFit/>
          </a:bodyPr>
          <a:lstStyle/>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“Leslie”</a:t>
            </a:r>
            <a:r>
              <a:rPr lang="en-US" sz="3200">
                <a:solidFill>
                  <a:srgbClr val="000000"/>
                </a:solidFill>
                <a:latin typeface="Public Sans"/>
                <a:ea typeface="Public Sans"/>
                <a:cs typeface="Public Sans"/>
                <a:sym typeface="Public Sans"/>
              </a:rPr>
              <a:t> từ tên nam → chuyển sang nữ</a:t>
            </a:r>
          </a:p>
          <a:p>
            <a:pPr algn="just">
              <a:lnSpc>
                <a:spcPts val="4480"/>
              </a:lnSpc>
            </a:pPr>
            <a:r>
              <a:rPr lang="en-US" sz="3200">
                <a:solidFill>
                  <a:srgbClr val="000000"/>
                </a:solidFill>
                <a:latin typeface="Public Sans"/>
                <a:ea typeface="Public Sans"/>
                <a:cs typeface="Public Sans"/>
                <a:sym typeface="Public Sans"/>
              </a:rPr>
              <a:t> → Thể hiệ</a:t>
            </a:r>
            <a:r>
              <a:rPr lang="en-US" sz="3200">
                <a:solidFill>
                  <a:srgbClr val="000000"/>
                </a:solidFill>
                <a:latin typeface="Public Sans"/>
                <a:ea typeface="Public Sans"/>
                <a:cs typeface="Public Sans"/>
                <a:sym typeface="Public Sans"/>
              </a:rPr>
              <a:t>n xu hướng phi giới tính hóa trong đặt tên.</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299550" y="3132348"/>
            <a:ext cx="10570522" cy="6342313"/>
          </a:xfrm>
          <a:custGeom>
            <a:avLst/>
            <a:gdLst/>
            <a:ahLst/>
            <a:cxnLst/>
            <a:rect r="r" b="b" t="t" l="l"/>
            <a:pathLst>
              <a:path h="6342313" w="10570522">
                <a:moveTo>
                  <a:pt x="0" y="0"/>
                </a:moveTo>
                <a:lnTo>
                  <a:pt x="10570523" y="0"/>
                </a:lnTo>
                <a:lnTo>
                  <a:pt x="10570523" y="6342314"/>
                </a:lnTo>
                <a:lnTo>
                  <a:pt x="0" y="6342314"/>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Dự đoán &amp; Mô hình</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5.Những cái tên “hot”</a:t>
            </a:r>
          </a:p>
        </p:txBody>
      </p:sp>
      <p:sp>
        <p:nvSpPr>
          <p:cNvPr name="TextBox 9" id="9"/>
          <p:cNvSpPr txBox="true"/>
          <p:nvPr/>
        </p:nvSpPr>
        <p:spPr>
          <a:xfrm rot="0">
            <a:off x="2838650" y="755661"/>
            <a:ext cx="12610699"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US Baby Names (1880–2010)</a:t>
            </a:r>
          </a:p>
        </p:txBody>
      </p:sp>
      <p:sp>
        <p:nvSpPr>
          <p:cNvPr name="TextBox 10" id="10"/>
          <p:cNvSpPr txBox="true"/>
          <p:nvPr/>
        </p:nvSpPr>
        <p:spPr>
          <a:xfrm rot="0">
            <a:off x="11178899" y="4872586"/>
            <a:ext cx="6389227" cy="2795163"/>
          </a:xfrm>
          <a:prstGeom prst="rect">
            <a:avLst/>
          </a:prstGeom>
        </p:spPr>
        <p:txBody>
          <a:bodyPr anchor="t" rtlCol="false" tIns="0" lIns="0" bIns="0" rIns="0">
            <a:spAutoFit/>
          </a:bodyPr>
          <a:lstStyle/>
          <a:p>
            <a:pPr algn="just">
              <a:lnSpc>
                <a:spcPts val="4480"/>
              </a:lnSpc>
            </a:pPr>
            <a:r>
              <a:rPr lang="en-US" b="true" sz="3200">
                <a:solidFill>
                  <a:srgbClr val="000000"/>
                </a:solidFill>
                <a:latin typeface="Public Sans Bold"/>
                <a:ea typeface="Public Sans Bold"/>
                <a:cs typeface="Public Sans Bold"/>
                <a:sym typeface="Public Sans Bold"/>
              </a:rPr>
              <a:t>Quan sá</a:t>
            </a:r>
            <a:r>
              <a:rPr lang="en-US" b="true" sz="3200">
                <a:solidFill>
                  <a:srgbClr val="000000"/>
                </a:solidFill>
                <a:latin typeface="Public Sans Bold"/>
                <a:ea typeface="Public Sans Bold"/>
                <a:cs typeface="Public Sans Bold"/>
                <a:sym typeface="Public Sans Bold"/>
              </a:rPr>
              <a:t>t chữ cái cuối cùng:</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Bé trai: Sự trỗi</a:t>
            </a:r>
            <a:r>
              <a:rPr lang="en-US" sz="3200">
                <a:solidFill>
                  <a:srgbClr val="000000"/>
                </a:solidFill>
                <a:latin typeface="Public Sans"/>
                <a:ea typeface="Public Sans"/>
                <a:cs typeface="Public Sans"/>
                <a:sym typeface="Public Sans"/>
              </a:rPr>
              <a:t> dậy mạnh mẽ của chữ “n”</a:t>
            </a:r>
          </a:p>
          <a:p>
            <a:pPr algn="just">
              <a:lnSpc>
                <a:spcPts val="4480"/>
              </a:lnSpc>
            </a:pPr>
            <a:r>
              <a:rPr lang="en-US" sz="3200">
                <a:solidFill>
                  <a:srgbClr val="000000"/>
                </a:solidFill>
                <a:latin typeface="Public Sans"/>
                <a:ea typeface="Public Sans"/>
                <a:cs typeface="Public Sans"/>
                <a:sym typeface="Public Sans"/>
              </a:rPr>
              <a:t>→ Ethan, Aiden, Jayden, Mason</a:t>
            </a:r>
          </a:p>
          <a:p>
            <a:pPr algn="just">
              <a:lnSpc>
                <a:spcPts val="4480"/>
              </a:lnSpc>
            </a:pP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299550" y="3132348"/>
            <a:ext cx="10570522" cy="6342313"/>
          </a:xfrm>
          <a:custGeom>
            <a:avLst/>
            <a:gdLst/>
            <a:ahLst/>
            <a:cxnLst/>
            <a:rect r="r" b="b" t="t" l="l"/>
            <a:pathLst>
              <a:path h="6342313" w="10570522">
                <a:moveTo>
                  <a:pt x="0" y="0"/>
                </a:moveTo>
                <a:lnTo>
                  <a:pt x="10570523" y="0"/>
                </a:lnTo>
                <a:lnTo>
                  <a:pt x="10570523" y="6342314"/>
                </a:lnTo>
                <a:lnTo>
                  <a:pt x="0" y="6342314"/>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Dự đoán &amp; Mô hình</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5.Những cái tên “hot”</a:t>
            </a:r>
          </a:p>
        </p:txBody>
      </p:sp>
      <p:sp>
        <p:nvSpPr>
          <p:cNvPr name="TextBox 9" id="9"/>
          <p:cNvSpPr txBox="true"/>
          <p:nvPr/>
        </p:nvSpPr>
        <p:spPr>
          <a:xfrm rot="0">
            <a:off x="2838650" y="755661"/>
            <a:ext cx="12610699"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US Baby Names (1880–2010)</a:t>
            </a:r>
          </a:p>
        </p:txBody>
      </p:sp>
      <p:sp>
        <p:nvSpPr>
          <p:cNvPr name="TextBox 10" id="10"/>
          <p:cNvSpPr txBox="true"/>
          <p:nvPr/>
        </p:nvSpPr>
        <p:spPr>
          <a:xfrm rot="0">
            <a:off x="11178899" y="3200712"/>
            <a:ext cx="6389227" cy="2233209"/>
          </a:xfrm>
          <a:prstGeom prst="rect">
            <a:avLst/>
          </a:prstGeom>
        </p:spPr>
        <p:txBody>
          <a:bodyPr anchor="t" rtlCol="false" tIns="0" lIns="0" bIns="0" rIns="0">
            <a:spAutoFit/>
          </a:bodyPr>
          <a:lstStyle/>
          <a:p>
            <a:pPr algn="just">
              <a:lnSpc>
                <a:spcPts val="4480"/>
              </a:lnSpc>
            </a:pPr>
            <a:r>
              <a:rPr lang="en-US" b="true" sz="3200">
                <a:solidFill>
                  <a:srgbClr val="000000"/>
                </a:solidFill>
                <a:latin typeface="Public Sans Bold"/>
                <a:ea typeface="Public Sans Bold"/>
                <a:cs typeface="Public Sans Bold"/>
                <a:sym typeface="Public Sans Bold"/>
              </a:rPr>
              <a:t>Quan sá</a:t>
            </a:r>
            <a:r>
              <a:rPr lang="en-US" b="true" sz="3200">
                <a:solidFill>
                  <a:srgbClr val="000000"/>
                </a:solidFill>
                <a:latin typeface="Public Sans Bold"/>
                <a:ea typeface="Public Sans Bold"/>
                <a:cs typeface="Public Sans Bold"/>
                <a:sym typeface="Public Sans Bold"/>
              </a:rPr>
              <a:t>t chữ cái cuối cùng:</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Bé gái: “a” và</a:t>
            </a:r>
            <a:r>
              <a:rPr lang="en-US" sz="3200">
                <a:solidFill>
                  <a:srgbClr val="000000"/>
                </a:solidFill>
                <a:latin typeface="Public Sans"/>
                <a:ea typeface="Public Sans"/>
                <a:cs typeface="Public Sans"/>
                <a:sym typeface="Public Sans"/>
              </a:rPr>
              <a:t> “e” thống trị</a:t>
            </a:r>
          </a:p>
          <a:p>
            <a:pPr algn="just">
              <a:lnSpc>
                <a:spcPts val="4480"/>
              </a:lnSpc>
            </a:pPr>
            <a:r>
              <a:rPr lang="en-US" sz="3200">
                <a:solidFill>
                  <a:srgbClr val="000000"/>
                </a:solidFill>
                <a:latin typeface="Public Sans"/>
                <a:ea typeface="Public Sans"/>
                <a:cs typeface="Public Sans"/>
                <a:sym typeface="Public Sans"/>
              </a:rPr>
              <a:t> → Anna, Emma, Olivia, Ava</a:t>
            </a:r>
          </a:p>
          <a:p>
            <a:pPr algn="just">
              <a:lnSpc>
                <a:spcPts val="4480"/>
              </a:lnSpc>
            </a:pPr>
          </a:p>
        </p:txBody>
      </p:sp>
      <p:sp>
        <p:nvSpPr>
          <p:cNvPr name="TextBox 11" id="11"/>
          <p:cNvSpPr txBox="true"/>
          <p:nvPr/>
        </p:nvSpPr>
        <p:spPr>
          <a:xfrm rot="0">
            <a:off x="11024486" y="5367246"/>
            <a:ext cx="6698054" cy="4481023"/>
          </a:xfrm>
          <a:prstGeom prst="rect">
            <a:avLst/>
          </a:prstGeom>
        </p:spPr>
        <p:txBody>
          <a:bodyPr anchor="t" rtlCol="false" tIns="0" lIns="0" bIns="0" rIns="0">
            <a:spAutoFit/>
          </a:bodyPr>
          <a:lstStyle/>
          <a:p>
            <a:pPr algn="just">
              <a:lnSpc>
                <a:spcPts val="4480"/>
              </a:lnSpc>
            </a:pPr>
            <a:r>
              <a:rPr lang="en-US" sz="3200" b="true">
                <a:solidFill>
                  <a:srgbClr val="000000"/>
                </a:solidFill>
                <a:latin typeface="Public Sans Bold"/>
                <a:ea typeface="Public Sans Bold"/>
                <a:cs typeface="Public Sans Bold"/>
                <a:sym typeface="Public Sans Bold"/>
              </a:rPr>
              <a:t>Ý nghĩa:</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Xu hướng đặ</a:t>
            </a:r>
            <a:r>
              <a:rPr lang="en-US" sz="3200">
                <a:solidFill>
                  <a:srgbClr val="000000"/>
                </a:solidFill>
                <a:latin typeface="Public Sans"/>
                <a:ea typeface="Public Sans"/>
                <a:cs typeface="Public Sans"/>
                <a:sym typeface="Public Sans"/>
              </a:rPr>
              <a:t>t tên bị ảnh hưởng</a:t>
            </a:r>
            <a:r>
              <a:rPr lang="en-US" sz="3200">
                <a:solidFill>
                  <a:srgbClr val="000000"/>
                </a:solidFill>
                <a:latin typeface="Public Sans"/>
                <a:ea typeface="Public Sans"/>
                <a:cs typeface="Public Sans"/>
                <a:sym typeface="Public Sans"/>
              </a:rPr>
              <a:t> bởi âm thanh hợp</a:t>
            </a:r>
            <a:r>
              <a:rPr lang="en-US" sz="3200">
                <a:solidFill>
                  <a:srgbClr val="000000"/>
                </a:solidFill>
                <a:latin typeface="Public Sans"/>
                <a:ea typeface="Public Sans"/>
                <a:cs typeface="Public Sans"/>
                <a:sym typeface="Public Sans"/>
              </a:rPr>
              <a:t> thời (phonetic trend).</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Tên</a:t>
            </a:r>
            <a:r>
              <a:rPr lang="en-US" sz="3200">
                <a:solidFill>
                  <a:srgbClr val="000000"/>
                </a:solidFill>
                <a:latin typeface="Public Sans"/>
                <a:ea typeface="Public Sans"/>
                <a:cs typeface="Public Sans"/>
                <a:sym typeface="Public Sans"/>
              </a:rPr>
              <a:t> cũng tuân theo chu kỳ văn hóa — âm cũ trở lại, tạo cảm giác xưa cũ.</a:t>
            </a:r>
          </a:p>
          <a:p>
            <a:pPr algn="just">
              <a:lnSpc>
                <a:spcPts val="4480"/>
              </a:lnSpc>
            </a:pP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2810924" y="755661"/>
            <a:ext cx="12666153"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US Baby Names (1880–2010)</a:t>
            </a:r>
          </a:p>
        </p:txBody>
      </p:sp>
      <p:sp>
        <p:nvSpPr>
          <p:cNvPr name="TextBox 5" id="5"/>
          <p:cNvSpPr txBox="true"/>
          <p:nvPr/>
        </p:nvSpPr>
        <p:spPr>
          <a:xfrm rot="0">
            <a:off x="755542" y="2516651"/>
            <a:ext cx="16237071" cy="6647039"/>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Xu hướng đặt tên ở Mỹ trong 130 năm</a:t>
            </a:r>
          </a:p>
          <a:p>
            <a:pPr algn="just">
              <a:lnSpc>
                <a:spcPts val="4320"/>
              </a:lnSpc>
            </a:pPr>
            <a:r>
              <a:rPr lang="en-US" b="true" sz="3200" spc="192">
                <a:solidFill>
                  <a:srgbClr val="000000"/>
                </a:solidFill>
                <a:latin typeface="Public Sans Bold"/>
                <a:ea typeface="Public Sans Bold"/>
                <a:cs typeface="Public Sans Bold"/>
                <a:sym typeface="Public Sans Bold"/>
              </a:rPr>
              <a:t>Chuyển dịch văn hóa:</a:t>
            </a:r>
          </a:p>
          <a:p>
            <a:pPr algn="just" marL="690881" indent="-345440" lvl="1">
              <a:lnSpc>
                <a:spcPts val="4320"/>
              </a:lnSpc>
              <a:buFont typeface="Arial"/>
              <a:buChar char="•"/>
            </a:pPr>
            <a:r>
              <a:rPr lang="en-US" sz="3200" spc="192">
                <a:solidFill>
                  <a:srgbClr val="000000"/>
                </a:solidFill>
                <a:latin typeface="Public Sans"/>
                <a:ea typeface="Public Sans"/>
                <a:cs typeface="Public Sans"/>
                <a:sym typeface="Public Sans"/>
              </a:rPr>
              <a:t> Từ xã hội đồng nhất (John &amp; Mary) → xã hội cá nhân hóa, đa dạng tên gọi.</a:t>
            </a:r>
          </a:p>
          <a:p>
            <a:pPr algn="just" marL="690881" indent="-345440" lvl="1">
              <a:lnSpc>
                <a:spcPts val="4320"/>
              </a:lnSpc>
              <a:buFont typeface="Arial"/>
              <a:buChar char="•"/>
            </a:pPr>
            <a:r>
              <a:rPr lang="en-US" sz="3200" spc="192">
                <a:solidFill>
                  <a:srgbClr val="000000"/>
                </a:solidFill>
                <a:latin typeface="Public Sans"/>
                <a:ea typeface="Public Sans"/>
                <a:cs typeface="Public Sans"/>
                <a:sym typeface="Public Sans"/>
              </a:rPr>
              <a:t>Tên bé gái dẫn đầu xu hướng đa dạng:</a:t>
            </a:r>
          </a:p>
          <a:p>
            <a:pPr algn="just" marL="690881" indent="-345440" lvl="1">
              <a:lnSpc>
                <a:spcPts val="4320"/>
              </a:lnSpc>
              <a:buFont typeface="Arial"/>
              <a:buChar char="•"/>
            </a:pPr>
            <a:r>
              <a:rPr lang="en-US" sz="3200" spc="192">
                <a:solidFill>
                  <a:srgbClr val="000000"/>
                </a:solidFill>
                <a:latin typeface="Public Sans"/>
                <a:ea typeface="Public Sans"/>
                <a:cs typeface="Public Sans"/>
                <a:sym typeface="Public Sans"/>
              </a:rPr>
              <a:t> Cha mẹ sáng tạo hơn với tên con gái, trong khi tên con trai có xu hướng bảo thủ hơn.</a:t>
            </a:r>
          </a:p>
          <a:p>
            <a:pPr algn="just">
              <a:lnSpc>
                <a:spcPts val="4320"/>
              </a:lnSpc>
            </a:pPr>
            <a:r>
              <a:rPr lang="en-US" b="true" sz="3200" spc="192">
                <a:solidFill>
                  <a:srgbClr val="000000"/>
                </a:solidFill>
                <a:latin typeface="Public Sans Bold"/>
                <a:ea typeface="Public Sans Bold"/>
                <a:cs typeface="Public Sans Bold"/>
                <a:sym typeface="Public Sans Bold"/>
              </a:rPr>
              <a:t>Mô hình ẩn trong xu hướng:</a:t>
            </a:r>
          </a:p>
          <a:p>
            <a:pPr algn="just" marL="690881" indent="-345440" lvl="1">
              <a:lnSpc>
                <a:spcPts val="4320"/>
              </a:lnSpc>
              <a:buFont typeface="Arial"/>
              <a:buChar char="•"/>
            </a:pPr>
            <a:r>
              <a:rPr lang="en-US" sz="3200" spc="192">
                <a:solidFill>
                  <a:srgbClr val="000000"/>
                </a:solidFill>
                <a:latin typeface="Public Sans"/>
                <a:ea typeface="Public Sans"/>
                <a:cs typeface="Public Sans"/>
                <a:sym typeface="Public Sans"/>
              </a:rPr>
              <a:t> Ví dụ như chữ cái cuối cùng, âm thanh ảnh hưởng đến sự phổ biến mà nhiều người không nhận ra.</a:t>
            </a:r>
          </a:p>
          <a:p>
            <a:pPr algn="just">
              <a:lnSpc>
                <a:spcPts val="4320"/>
              </a:lnSpc>
            </a:pPr>
            <a:r>
              <a:rPr lang="en-US" b="true" sz="3200" spc="192">
                <a:solidFill>
                  <a:srgbClr val="000000"/>
                </a:solidFill>
                <a:latin typeface="Public Sans Bold"/>
                <a:ea typeface="Public Sans Bold"/>
                <a:cs typeface="Public Sans Bold"/>
                <a:sym typeface="Public Sans Bold"/>
              </a:rPr>
              <a:t>Ý nghĩa:</a:t>
            </a:r>
            <a:r>
              <a:rPr lang="en-US" sz="3200" spc="192">
                <a:solidFill>
                  <a:srgbClr val="000000"/>
                </a:solidFill>
                <a:latin typeface="Public Sans"/>
                <a:ea typeface="Public Sans"/>
                <a:cs typeface="Public Sans"/>
                <a:sym typeface="Public Sans"/>
              </a:rPr>
              <a:t> Tên là biểu hiện văn hóa, cảm xúc, và chu kỳ xu hướng, không chỉ là danh xưng.</a:t>
            </a:r>
          </a:p>
          <a:p>
            <a:pPr algn="just">
              <a:lnSpc>
                <a:spcPts val="4320"/>
              </a:lnSpc>
            </a:pPr>
          </a:p>
        </p:txBody>
      </p:sp>
      <p:sp>
        <p:nvSpPr>
          <p:cNvPr name="Freeform 6" id="6"/>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9618197"/>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7606705" y="1599098"/>
            <a:ext cx="2534744" cy="698478"/>
          </a:xfrm>
          <a:prstGeom prst="rect">
            <a:avLst/>
          </a:prstGeom>
        </p:spPr>
        <p:txBody>
          <a:bodyPr anchor="t" rtlCol="false" tIns="0" lIns="0" bIns="0" rIns="0">
            <a:spAutoFit/>
          </a:bodyPr>
          <a:lstStyle/>
          <a:p>
            <a:pPr algn="ctr">
              <a:lnSpc>
                <a:spcPts val="5600"/>
              </a:lnSpc>
              <a:spcBef>
                <a:spcPct val="0"/>
              </a:spcBef>
            </a:pPr>
            <a:r>
              <a:rPr lang="en-US" b="true" sz="4000">
                <a:solidFill>
                  <a:srgbClr val="000000"/>
                </a:solidFill>
                <a:latin typeface="Public Sans Bold"/>
                <a:ea typeface="Public Sans Bold"/>
                <a:cs typeface="Public Sans Bold"/>
                <a:sym typeface="Public Sans Bold"/>
              </a:rPr>
              <a:t>KẾT LUẬN</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
        <p:nvSpPr>
          <p:cNvPr name="TextBox 5" id="5"/>
          <p:cNvSpPr txBox="true"/>
          <p:nvPr/>
        </p:nvSpPr>
        <p:spPr>
          <a:xfrm rot="0">
            <a:off x="1028700" y="1792479"/>
            <a:ext cx="16237071" cy="7732975"/>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Giới thiệu</a:t>
            </a:r>
          </a:p>
          <a:p>
            <a:pPr algn="l">
              <a:lnSpc>
                <a:spcPts val="4319"/>
              </a:lnSpc>
            </a:pPr>
            <a:r>
              <a:rPr lang="en-US" sz="3199" spc="191" b="true">
                <a:solidFill>
                  <a:srgbClr val="000000"/>
                </a:solidFill>
                <a:latin typeface="Public Sans Bold"/>
                <a:ea typeface="Public Sans Bold"/>
                <a:cs typeface="Public Sans Bold"/>
                <a:sym typeface="Public Sans Bold"/>
              </a:rPr>
              <a:t>Tập dữ liệu: </a:t>
            </a:r>
            <a:r>
              <a:rPr lang="en-US" sz="3199" spc="191">
                <a:solidFill>
                  <a:srgbClr val="000000"/>
                </a:solidFill>
                <a:latin typeface="Public Sans"/>
                <a:ea typeface="Public Sans"/>
                <a:cs typeface="Public Sans"/>
                <a:sym typeface="Public Sans"/>
              </a:rPr>
              <a:t>US Baby Names</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Hàng ngàn loại thực phẩm với &gt;150 chất dinh dưỡng (năng lượng, protein, chất béo, carbs, chất xơ, nước, vi chất…).</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Nguồn</a:t>
            </a:r>
            <a:r>
              <a:rPr lang="en-US" sz="3199" spc="191">
                <a:solidFill>
                  <a:srgbClr val="000000"/>
                </a:solidFill>
                <a:latin typeface="Public Sans"/>
                <a:ea typeface="Public Sans"/>
                <a:cs typeface="Public Sans"/>
                <a:sym typeface="Public Sans"/>
              </a:rPr>
              <a:t> tài nguyên quý giá cho dinh dưỡng, khoa học thực phẩm và sức khỏe cộng đồng.</a:t>
            </a:r>
          </a:p>
          <a:p>
            <a:pPr algn="l">
              <a:lnSpc>
                <a:spcPts val="4319"/>
              </a:lnSpc>
            </a:pPr>
            <a:r>
              <a:rPr lang="en-US" sz="3199" spc="191" b="true">
                <a:solidFill>
                  <a:srgbClr val="000000"/>
                </a:solidFill>
                <a:latin typeface="Public Sans Bold"/>
                <a:ea typeface="Public Sans Bold"/>
                <a:cs typeface="Public Sans Bold"/>
                <a:sym typeface="Public Sans Bold"/>
              </a:rPr>
              <a:t>Mục tiêu</a:t>
            </a:r>
            <a:r>
              <a:rPr lang="en-US" sz="3199" spc="191">
                <a:solidFill>
                  <a:srgbClr val="000000"/>
                </a:solidFill>
                <a:latin typeface="Public Sans"/>
                <a:ea typeface="Public Sans"/>
                <a:cs typeface="Public Sans"/>
                <a:sym typeface="Public Sans"/>
              </a:rPr>
              <a:t>:</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Làm sạch, tổng hợp và</a:t>
            </a:r>
            <a:r>
              <a:rPr lang="en-US" sz="3199" spc="191">
                <a:solidFill>
                  <a:srgbClr val="000000"/>
                </a:solidFill>
                <a:latin typeface="Public Sans"/>
                <a:ea typeface="Public Sans"/>
                <a:cs typeface="Public Sans"/>
                <a:sym typeface="Public Sans"/>
              </a:rPr>
              <a:t> trực quan hóa dữ liệu dinh dưỡng.</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Phân tích hàm lượng chất dinh dưỡng trung bình theo nhóm thực phẩm.</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Đánh giá độ đa dạng và mối tương quan giữa các </a:t>
            </a:r>
            <a:r>
              <a:rPr lang="en-US" sz="3199" spc="191">
                <a:solidFill>
                  <a:srgbClr val="000000"/>
                </a:solidFill>
                <a:latin typeface="Public Sans"/>
                <a:ea typeface="Public Sans"/>
                <a:cs typeface="Public Sans"/>
                <a:sym typeface="Public Sans"/>
              </a:rPr>
              <a:t>chất di</a:t>
            </a:r>
            <a:r>
              <a:rPr lang="en-US" sz="3199" spc="191">
                <a:solidFill>
                  <a:srgbClr val="000000"/>
                </a:solidFill>
                <a:latin typeface="Public Sans"/>
                <a:ea typeface="Public Sans"/>
                <a:cs typeface="Public Sans"/>
                <a:sym typeface="Public Sans"/>
              </a:rPr>
              <a:t>nh</a:t>
            </a:r>
            <a:r>
              <a:rPr lang="en-US" sz="3199" spc="191">
                <a:solidFill>
                  <a:srgbClr val="000000"/>
                </a:solidFill>
                <a:latin typeface="Public Sans"/>
                <a:ea typeface="Public Sans"/>
                <a:cs typeface="Public Sans"/>
                <a:sym typeface="Public Sans"/>
              </a:rPr>
              <a:t> d</a:t>
            </a:r>
            <a:r>
              <a:rPr lang="en-US" sz="3199" spc="191">
                <a:solidFill>
                  <a:srgbClr val="000000"/>
                </a:solidFill>
                <a:latin typeface="Public Sans"/>
                <a:ea typeface="Public Sans"/>
                <a:cs typeface="Public Sans"/>
                <a:sym typeface="Public Sans"/>
              </a:rPr>
              <a:t>ưỡng (Energy</a:t>
            </a:r>
            <a:r>
              <a:rPr lang="en-US" sz="3199" spc="191">
                <a:solidFill>
                  <a:srgbClr val="000000"/>
                </a:solidFill>
                <a:latin typeface="Public Sans"/>
                <a:ea typeface="Public Sans"/>
                <a:cs typeface="Public Sans"/>
                <a:sym typeface="Public Sans"/>
              </a:rPr>
              <a:t> vs Fat, Water vs E</a:t>
            </a:r>
            <a:r>
              <a:rPr lang="en-US" sz="3199" spc="191">
                <a:solidFill>
                  <a:srgbClr val="000000"/>
                </a:solidFill>
                <a:latin typeface="Public Sans"/>
                <a:ea typeface="Public Sans"/>
                <a:cs typeface="Public Sans"/>
                <a:sym typeface="Public Sans"/>
              </a:rPr>
              <a:t>nergy…).</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Xác định tỷ lệ Macronutrient và chỉ số dinh dưỡng cân bằng.</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Đề xuất khuyến nghị dinh dưỡng dựa trên dữ liệu.</a:t>
            </a:r>
          </a:p>
          <a:p>
            <a:pPr algn="l" marL="0" indent="0" lvl="0">
              <a:lnSpc>
                <a:spcPts val="4319"/>
              </a:lnSpc>
              <a:spcBef>
                <a:spcPct val="0"/>
              </a:spcBef>
            </a:pPr>
          </a:p>
        </p:txBody>
      </p:sp>
      <p:sp>
        <p:nvSpPr>
          <p:cNvPr name="Freeform 6" id="6"/>
          <p:cNvSpPr/>
          <p:nvPr/>
        </p:nvSpPr>
        <p:spPr>
          <a:xfrm flipH="false" flipV="false" rot="0">
            <a:off x="15711732"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
        <p:nvSpPr>
          <p:cNvPr name="TextBox 5" id="5"/>
          <p:cNvSpPr txBox="true"/>
          <p:nvPr/>
        </p:nvSpPr>
        <p:spPr>
          <a:xfrm rot="0">
            <a:off x="1028700" y="1575494"/>
            <a:ext cx="16237071" cy="666772"/>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Quy trình làm sạch và Tiền xử lý dữ liệu</a:t>
            </a:r>
          </a:p>
        </p:txBody>
      </p:sp>
      <p:sp>
        <p:nvSpPr>
          <p:cNvPr name="Freeform 6" id="6"/>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10203066"/>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0" y="2394667"/>
            <a:ext cx="18336469" cy="2867573"/>
          </a:xfrm>
          <a:prstGeom prst="rect">
            <a:avLst/>
          </a:prstGeom>
        </p:spPr>
        <p:txBody>
          <a:bodyPr anchor="t" rtlCol="false" tIns="0" lIns="0" bIns="0" rIns="0">
            <a:spAutoFit/>
          </a:bodyPr>
          <a:lstStyle/>
          <a:p>
            <a:pPr algn="ctr">
              <a:lnSpc>
                <a:spcPts val="4900"/>
              </a:lnSpc>
            </a:pPr>
            <a:r>
              <a:rPr lang="en-US" sz="3500" b="true">
                <a:solidFill>
                  <a:srgbClr val="000000"/>
                </a:solidFill>
                <a:latin typeface="Public Sans Bold"/>
                <a:ea typeface="Public Sans Bold"/>
                <a:cs typeface="Public Sans Bold"/>
                <a:sym typeface="Public Sans Bold"/>
              </a:rPr>
              <a:t>1.Đọc dữ liệu &amp; xử lý JSON</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Tách</a:t>
            </a:r>
            <a:r>
              <a:rPr lang="en-US" sz="3200">
                <a:solidFill>
                  <a:srgbClr val="000000"/>
                </a:solidFill>
                <a:latin typeface="Public Sans"/>
                <a:ea typeface="Public Sans"/>
                <a:cs typeface="Public Sans"/>
                <a:sym typeface="Public Sans"/>
              </a:rPr>
              <a:t> dữ liệu từ database.json thành thông tin thực phẩm &amp;</a:t>
            </a:r>
            <a:r>
              <a:rPr lang="en-US" sz="3200">
                <a:solidFill>
                  <a:srgbClr val="000000"/>
                </a:solidFill>
                <a:latin typeface="Public Sans"/>
                <a:ea typeface="Public Sans"/>
                <a:cs typeface="Public Sans"/>
                <a:sym typeface="Public Sans"/>
              </a:rPr>
              <a:t> danh sách chất dinh dưỡng.</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Kiểm tra và xử lý giá trị thiếu (NaN/0), phân loại lại hoặc loại bỏ bản ghi không hợp lệ.</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Nhóm thực phẩm phổ biến: Vegetables, Dairy Products, Meat Products, Cereal Grains &amp; Pasta.</a:t>
            </a:r>
          </a:p>
          <a:p>
            <a:pPr algn="l">
              <a:lnSpc>
                <a:spcPts val="4480"/>
              </a:lnSpc>
            </a:pPr>
          </a:p>
        </p:txBody>
      </p:sp>
      <p:sp>
        <p:nvSpPr>
          <p:cNvPr name="TextBox 10" id="10"/>
          <p:cNvSpPr txBox="true"/>
          <p:nvPr/>
        </p:nvSpPr>
        <p:spPr>
          <a:xfrm rot="0">
            <a:off x="0" y="5026994"/>
            <a:ext cx="18288000" cy="2305620"/>
          </a:xfrm>
          <a:prstGeom prst="rect">
            <a:avLst/>
          </a:prstGeom>
        </p:spPr>
        <p:txBody>
          <a:bodyPr anchor="t" rtlCol="false" tIns="0" lIns="0" bIns="0" rIns="0">
            <a:spAutoFit/>
          </a:bodyPr>
          <a:lstStyle/>
          <a:p>
            <a:pPr algn="ctr">
              <a:lnSpc>
                <a:spcPts val="4900"/>
              </a:lnSpc>
            </a:pPr>
            <a:r>
              <a:rPr lang="en-US" sz="3500" b="true">
                <a:solidFill>
                  <a:srgbClr val="000000"/>
                </a:solidFill>
                <a:latin typeface="Public Sans Bold"/>
                <a:ea typeface="Public Sans Bold"/>
                <a:cs typeface="Public Sans Bold"/>
                <a:sym typeface="Public Sans Bold"/>
              </a:rPr>
              <a:t>2.Trích xuất &amp; chuẩn hóa đặc trưng</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Trích</a:t>
            </a:r>
            <a:r>
              <a:rPr lang="en-US" sz="3200">
                <a:solidFill>
                  <a:srgbClr val="000000"/>
                </a:solidFill>
                <a:latin typeface="Public Sans"/>
                <a:ea typeface="Public Sans"/>
                <a:cs typeface="Public Sans"/>
                <a:sym typeface="Public Sans"/>
              </a:rPr>
              <a:t> xuất nutrients thành bảng riêng: id,</a:t>
            </a:r>
            <a:r>
              <a:rPr lang="en-US" sz="3200">
                <a:solidFill>
                  <a:srgbClr val="000000"/>
                </a:solidFill>
                <a:latin typeface="Public Sans"/>
                <a:ea typeface="Public Sans"/>
                <a:cs typeface="Public Sans"/>
                <a:sym typeface="Public Sans"/>
              </a:rPr>
              <a:t> description, value, unit, group.</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Chuẩn hóa tên &amp; đơn vị dinh dưỡng (Protein, Fat, Carb, Energy, Water, Fiber).</a:t>
            </a:r>
          </a:p>
          <a:p>
            <a:pPr algn="l">
              <a:lnSpc>
                <a:spcPts val="4480"/>
              </a:lnSpc>
            </a:pPr>
          </a:p>
        </p:txBody>
      </p:sp>
      <p:sp>
        <p:nvSpPr>
          <p:cNvPr name="TextBox 11" id="11"/>
          <p:cNvSpPr txBox="true"/>
          <p:nvPr/>
        </p:nvSpPr>
        <p:spPr>
          <a:xfrm rot="0">
            <a:off x="0" y="7246889"/>
            <a:ext cx="18288000" cy="2305620"/>
          </a:xfrm>
          <a:prstGeom prst="rect">
            <a:avLst/>
          </a:prstGeom>
        </p:spPr>
        <p:txBody>
          <a:bodyPr anchor="t" rtlCol="false" tIns="0" lIns="0" bIns="0" rIns="0">
            <a:spAutoFit/>
          </a:bodyPr>
          <a:lstStyle/>
          <a:p>
            <a:pPr algn="ctr">
              <a:lnSpc>
                <a:spcPts val="4900"/>
              </a:lnSpc>
            </a:pPr>
            <a:r>
              <a:rPr lang="en-US" sz="3500" b="true">
                <a:solidFill>
                  <a:srgbClr val="000000"/>
                </a:solidFill>
                <a:latin typeface="Public Sans Bold"/>
                <a:ea typeface="Public Sans Bold"/>
                <a:cs typeface="Public Sans Bold"/>
                <a:sym typeface="Public Sans Bold"/>
              </a:rPr>
              <a:t>3. Kết hợp bảng dữ liệu</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Gộp</a:t>
            </a:r>
            <a:r>
              <a:rPr lang="en-US" sz="3200">
                <a:solidFill>
                  <a:srgbClr val="000000"/>
                </a:solidFill>
                <a:latin typeface="Public Sans"/>
                <a:ea typeface="Public Sans"/>
                <a:cs typeface="Public Sans"/>
                <a:sym typeface="Public Sans"/>
              </a:rPr>
              <a:t> bảng thực phẩm và bảng chất dinh</a:t>
            </a:r>
            <a:r>
              <a:rPr lang="en-US" sz="3200">
                <a:solidFill>
                  <a:srgbClr val="000000"/>
                </a:solidFill>
                <a:latin typeface="Public Sans"/>
                <a:ea typeface="Public Sans"/>
                <a:cs typeface="Public Sans"/>
                <a:sym typeface="Public Sans"/>
              </a:rPr>
              <a:t> dưỡng theo id.</a:t>
            </a:r>
          </a:p>
          <a:p>
            <a:pPr algn="l" marL="690890" indent="-345445" lvl="1">
              <a:lnSpc>
                <a:spcPts val="4480"/>
              </a:lnSpc>
              <a:buFont typeface="Arial"/>
              <a:buChar char="•"/>
            </a:pPr>
            <a:r>
              <a:rPr lang="en-US" sz="3200">
                <a:solidFill>
                  <a:srgbClr val="000000"/>
                </a:solidFill>
                <a:latin typeface="Public Sans"/>
                <a:ea typeface="Public Sans"/>
                <a:cs typeface="Public Sans"/>
                <a:sym typeface="Public Sans"/>
              </a:rPr>
              <a:t>Tạo bảng tổng hợp sẵn sàng cho phân tích đa chiều, pivot, groupby, merge.</a:t>
            </a:r>
          </a:p>
          <a:p>
            <a:pPr algn="l">
              <a:lnSpc>
                <a:spcPts val="4480"/>
              </a:lnSpc>
            </a:pPr>
          </a:p>
        </p:txBody>
      </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266605" y="3132348"/>
            <a:ext cx="10121020" cy="6845745"/>
          </a:xfrm>
          <a:custGeom>
            <a:avLst/>
            <a:gdLst/>
            <a:ahLst/>
            <a:cxnLst/>
            <a:rect r="r" b="b" t="t" l="l"/>
            <a:pathLst>
              <a:path h="6845745" w="10121020">
                <a:moveTo>
                  <a:pt x="0" y="0"/>
                </a:moveTo>
                <a:lnTo>
                  <a:pt x="10121020" y="0"/>
                </a:lnTo>
                <a:lnTo>
                  <a:pt x="10121020" y="6845746"/>
                </a:lnTo>
                <a:lnTo>
                  <a:pt x="0" y="6845746"/>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1.Năng Lượng Trung Bình theo Nhóm Thực Phẩm</a:t>
            </a:r>
          </a:p>
        </p:txBody>
      </p:sp>
      <p:sp>
        <p:nvSpPr>
          <p:cNvPr name="TextBox 9" id="9"/>
          <p:cNvSpPr txBox="true"/>
          <p:nvPr/>
        </p:nvSpPr>
        <p:spPr>
          <a:xfrm rot="0">
            <a:off x="11178899" y="5445919"/>
            <a:ext cx="6389227" cy="1109302"/>
          </a:xfrm>
          <a:prstGeom prst="rect">
            <a:avLst/>
          </a:prstGeom>
        </p:spPr>
        <p:txBody>
          <a:bodyPr anchor="t" rtlCol="false" tIns="0" lIns="0" bIns="0" rIns="0">
            <a:spAutoFit/>
          </a:bodyPr>
          <a:lstStyle/>
          <a:p>
            <a:pPr algn="just">
              <a:lnSpc>
                <a:spcPts val="4480"/>
              </a:lnSpc>
            </a:pPr>
            <a:r>
              <a:rPr lang="en-US" sz="3200">
                <a:solidFill>
                  <a:srgbClr val="000000"/>
                </a:solidFill>
                <a:latin typeface="Public Sans"/>
                <a:ea typeface="Public Sans"/>
                <a:cs typeface="Public Sans"/>
                <a:sym typeface="Public Sans"/>
              </a:rPr>
              <a:t>Biểu đồ cộ</a:t>
            </a:r>
            <a:r>
              <a:rPr lang="en-US" sz="3200">
                <a:solidFill>
                  <a:srgbClr val="000000"/>
                </a:solidFill>
                <a:latin typeface="Public Sans"/>
                <a:ea typeface="Public Sans"/>
                <a:cs typeface="Public Sans"/>
                <a:sym typeface="Public Sans"/>
              </a:rPr>
              <a:t>t thể hiện năng</a:t>
            </a:r>
            <a:r>
              <a:rPr lang="en-US" sz="3200">
                <a:solidFill>
                  <a:srgbClr val="000000"/>
                </a:solidFill>
                <a:latin typeface="Public Sans"/>
                <a:ea typeface="Public Sans"/>
                <a:cs typeface="Public Sans"/>
                <a:sym typeface="Public Sans"/>
              </a:rPr>
              <a:t> lượng</a:t>
            </a:r>
            <a:r>
              <a:rPr lang="en-US" sz="3200">
                <a:solidFill>
                  <a:srgbClr val="000000"/>
                </a:solidFill>
                <a:latin typeface="Public Sans"/>
                <a:ea typeface="Public Sans"/>
                <a:cs typeface="Public Sans"/>
                <a:sym typeface="Public Sans"/>
              </a:rPr>
              <a:t> trung bình theo nhóm thực phẩm</a:t>
            </a:r>
          </a:p>
        </p:txBody>
      </p:sp>
      <p:sp>
        <p:nvSpPr>
          <p:cNvPr name="TextBox 10" id="10"/>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375341" y="3055487"/>
            <a:ext cx="10862200" cy="6922607"/>
          </a:xfrm>
          <a:custGeom>
            <a:avLst/>
            <a:gdLst/>
            <a:ahLst/>
            <a:cxnLst/>
            <a:rect r="r" b="b" t="t" l="l"/>
            <a:pathLst>
              <a:path h="6922607" w="10862200">
                <a:moveTo>
                  <a:pt x="0" y="0"/>
                </a:moveTo>
                <a:lnTo>
                  <a:pt x="10862199" y="0"/>
                </a:lnTo>
                <a:lnTo>
                  <a:pt x="10862199" y="6922607"/>
                </a:lnTo>
                <a:lnTo>
                  <a:pt x="0" y="6922607"/>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1.Năng Lượng Trung Bình theo Nhóm Thực Phẩm</a:t>
            </a:r>
          </a:p>
        </p:txBody>
      </p:sp>
      <p:sp>
        <p:nvSpPr>
          <p:cNvPr name="TextBox 9" id="9"/>
          <p:cNvSpPr txBox="true"/>
          <p:nvPr/>
        </p:nvSpPr>
        <p:spPr>
          <a:xfrm rot="0">
            <a:off x="11623661" y="5407488"/>
            <a:ext cx="6389227" cy="1109302"/>
          </a:xfrm>
          <a:prstGeom prst="rect">
            <a:avLst/>
          </a:prstGeom>
        </p:spPr>
        <p:txBody>
          <a:bodyPr anchor="t" rtlCol="false" tIns="0" lIns="0" bIns="0" rIns="0">
            <a:spAutoFit/>
          </a:bodyPr>
          <a:lstStyle/>
          <a:p>
            <a:pPr algn="just">
              <a:lnSpc>
                <a:spcPts val="4480"/>
              </a:lnSpc>
            </a:pPr>
            <a:r>
              <a:rPr lang="en-US" sz="3200">
                <a:solidFill>
                  <a:srgbClr val="000000"/>
                </a:solidFill>
                <a:latin typeface="Public Sans"/>
                <a:ea typeface="Public Sans"/>
                <a:cs typeface="Public Sans"/>
                <a:sym typeface="Public Sans"/>
              </a:rPr>
              <a:t>Biểu đồ hộp</a:t>
            </a:r>
            <a:r>
              <a:rPr lang="en-US" sz="3200">
                <a:solidFill>
                  <a:srgbClr val="000000"/>
                </a:solidFill>
                <a:latin typeface="Public Sans"/>
                <a:ea typeface="Public Sans"/>
                <a:cs typeface="Public Sans"/>
                <a:sym typeface="Public Sans"/>
              </a:rPr>
              <a:t> thể hiện phân bố năng</a:t>
            </a:r>
            <a:r>
              <a:rPr lang="en-US" sz="3200">
                <a:solidFill>
                  <a:srgbClr val="000000"/>
                </a:solidFill>
                <a:latin typeface="Public Sans"/>
                <a:ea typeface="Public Sans"/>
                <a:cs typeface="Public Sans"/>
                <a:sym typeface="Public Sans"/>
              </a:rPr>
              <a:t> lượng</a:t>
            </a:r>
            <a:r>
              <a:rPr lang="en-US" sz="3200">
                <a:solidFill>
                  <a:srgbClr val="000000"/>
                </a:solidFill>
                <a:latin typeface="Public Sans"/>
                <a:ea typeface="Public Sans"/>
                <a:cs typeface="Public Sans"/>
                <a:sym typeface="Public Sans"/>
              </a:rPr>
              <a:t> theo nhóm</a:t>
            </a:r>
          </a:p>
        </p:txBody>
      </p:sp>
      <p:sp>
        <p:nvSpPr>
          <p:cNvPr name="TextBox 10" id="10"/>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1.Năng Lượng Trung Bình theo Nhóm Thực Phẩm</a:t>
            </a:r>
          </a:p>
        </p:txBody>
      </p:sp>
      <p:sp>
        <p:nvSpPr>
          <p:cNvPr name="TextBox 8" id="8"/>
          <p:cNvSpPr txBox="true"/>
          <p:nvPr/>
        </p:nvSpPr>
        <p:spPr>
          <a:xfrm rot="0">
            <a:off x="1272824" y="2996209"/>
            <a:ext cx="15986476" cy="7290791"/>
          </a:xfrm>
          <a:prstGeom prst="rect">
            <a:avLst/>
          </a:prstGeom>
        </p:spPr>
        <p:txBody>
          <a:bodyPr anchor="t" rtlCol="false" tIns="0" lIns="0" bIns="0" rIns="0">
            <a:spAutoFit/>
          </a:bodyPr>
          <a:lstStyle/>
          <a:p>
            <a:pPr algn="just">
              <a:lnSpc>
                <a:spcPts val="4480"/>
              </a:lnSpc>
            </a:pPr>
            <a:r>
              <a:rPr lang="en-US" sz="3200" b="true">
                <a:solidFill>
                  <a:srgbClr val="000000"/>
                </a:solidFill>
                <a:latin typeface="Public Sans Bold"/>
                <a:ea typeface="Public Sans Bold"/>
                <a:cs typeface="Public Sans Bold"/>
                <a:sym typeface="Public Sans Bold"/>
              </a:rPr>
              <a:t>Các nhóm thực phẩm có năng lượng cao nhất:</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Fats and Oils: &gt;600 kcal/100g</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Snacks: &gt;500 kcal/100g</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Sweets: &gt;400 kcal/100g</a:t>
            </a:r>
          </a:p>
          <a:p>
            <a:pPr algn="just">
              <a:lnSpc>
                <a:spcPts val="4480"/>
              </a:lnSpc>
            </a:pPr>
            <a:r>
              <a:rPr lang="en-US" sz="3200" b="true">
                <a:solidFill>
                  <a:srgbClr val="000000"/>
                </a:solidFill>
                <a:latin typeface="Public Sans Bold"/>
                <a:ea typeface="Public Sans Bold"/>
                <a:cs typeface="Public Sans Bold"/>
                <a:sym typeface="Public Sans Bold"/>
              </a:rPr>
              <a:t>Nhóm thực phẩm năng lượng thấp:</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Vegetables and Vegetable Products: 50–80 kcal/100g</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Fruits and Fruit Juices: 40–60 kcal/100g</a:t>
            </a:r>
          </a:p>
          <a:p>
            <a:pPr algn="just">
              <a:lnSpc>
                <a:spcPts val="4480"/>
              </a:lnSpc>
            </a:pPr>
            <a:r>
              <a:rPr lang="en-US" b="true" sz="3200">
                <a:solidFill>
                  <a:srgbClr val="000000"/>
                </a:solidFill>
                <a:latin typeface="Public Sans Bold"/>
                <a:ea typeface="Public Sans Bold"/>
                <a:cs typeface="Public Sans Bold"/>
                <a:sym typeface="Public Sans Bold"/>
              </a:rPr>
              <a:t>Nhận xét: </a:t>
            </a:r>
            <a:r>
              <a:rPr lang="en-US" sz="3200">
                <a:solidFill>
                  <a:srgbClr val="000000"/>
                </a:solidFill>
                <a:latin typeface="Public Sans"/>
                <a:ea typeface="Public Sans"/>
                <a:cs typeface="Public Sans"/>
                <a:sym typeface="Public Sans"/>
              </a:rPr>
              <a:t>Nhóm g</a:t>
            </a:r>
            <a:r>
              <a:rPr lang="en-US" sz="3200">
                <a:solidFill>
                  <a:srgbClr val="000000"/>
                </a:solidFill>
                <a:latin typeface="Public Sans"/>
                <a:ea typeface="Public Sans"/>
                <a:cs typeface="Public Sans"/>
                <a:sym typeface="Public Sans"/>
              </a:rPr>
              <a:t>iàu chất béo và đường (Fats, Snacks, Sweets) cung cấp năng lượng cao nhưng cần hạn chế với chế độ ăn giảm cân. Rau củ và trái cây cung cấp</a:t>
            </a:r>
            <a:r>
              <a:rPr lang="en-US" sz="3200">
                <a:solidFill>
                  <a:srgbClr val="000000"/>
                </a:solidFill>
                <a:latin typeface="Public Sans"/>
                <a:ea typeface="Public Sans"/>
                <a:cs typeface="Public Sans"/>
                <a:sym typeface="Public Sans"/>
              </a:rPr>
              <a:t> năng lượng thấp, giàu nước và chất xơ.</a:t>
            </a:r>
          </a:p>
          <a:p>
            <a:pPr algn="just">
              <a:lnSpc>
                <a:spcPts val="4480"/>
              </a:lnSpc>
            </a:pPr>
            <a:r>
              <a:rPr lang="en-US" b="true" sz="3200">
                <a:solidFill>
                  <a:srgbClr val="000000"/>
                </a:solidFill>
                <a:latin typeface="Public Sans Bold"/>
                <a:ea typeface="Public Sans Bold"/>
                <a:cs typeface="Public Sans Bold"/>
                <a:sym typeface="Public Sans Bold"/>
              </a:rPr>
              <a:t>Kết luận: </a:t>
            </a:r>
            <a:r>
              <a:rPr lang="en-US" sz="3200">
                <a:solidFill>
                  <a:srgbClr val="000000"/>
                </a:solidFill>
                <a:latin typeface="Public Sans"/>
                <a:ea typeface="Public Sans"/>
                <a:cs typeface="Public Sans"/>
                <a:sym typeface="Public Sans"/>
              </a:rPr>
              <a:t>Hiểu phân bố năng</a:t>
            </a:r>
            <a:r>
              <a:rPr lang="en-US" sz="3200">
                <a:solidFill>
                  <a:srgbClr val="000000"/>
                </a:solidFill>
                <a:latin typeface="Public Sans"/>
                <a:ea typeface="Public Sans"/>
                <a:cs typeface="Public Sans"/>
                <a:sym typeface="Public Sans"/>
              </a:rPr>
              <a:t> lượng</a:t>
            </a:r>
            <a:r>
              <a:rPr lang="en-US" sz="3200">
                <a:solidFill>
                  <a:srgbClr val="000000"/>
                </a:solidFill>
                <a:latin typeface="Public Sans"/>
                <a:ea typeface="Public Sans"/>
                <a:cs typeface="Public Sans"/>
                <a:sym typeface="Public Sans"/>
              </a:rPr>
              <a:t> giúp thiết kế khẩu phần ăn cân đối, phù hợp nhu cầu cá nhân.</a:t>
            </a:r>
          </a:p>
          <a:p>
            <a:pPr algn="just">
              <a:lnSpc>
                <a:spcPts val="4480"/>
              </a:lnSpc>
            </a:pP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244363" y="3132348"/>
            <a:ext cx="11214480" cy="6845745"/>
          </a:xfrm>
          <a:custGeom>
            <a:avLst/>
            <a:gdLst/>
            <a:ahLst/>
            <a:cxnLst/>
            <a:rect r="r" b="b" t="t" l="l"/>
            <a:pathLst>
              <a:path h="6845745" w="11214480">
                <a:moveTo>
                  <a:pt x="0" y="0"/>
                </a:moveTo>
                <a:lnTo>
                  <a:pt x="11214480" y="0"/>
                </a:lnTo>
                <a:lnTo>
                  <a:pt x="11214480" y="6845746"/>
                </a:lnTo>
                <a:lnTo>
                  <a:pt x="0" y="6845746"/>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2.Thực phẩm giàu protein nhất theo nhóm</a:t>
            </a:r>
          </a:p>
        </p:txBody>
      </p:sp>
      <p:sp>
        <p:nvSpPr>
          <p:cNvPr name="TextBox 9" id="9"/>
          <p:cNvSpPr txBox="true"/>
          <p:nvPr/>
        </p:nvSpPr>
        <p:spPr>
          <a:xfrm rot="0">
            <a:off x="11623661" y="5445919"/>
            <a:ext cx="6389227" cy="1109302"/>
          </a:xfrm>
          <a:prstGeom prst="rect">
            <a:avLst/>
          </a:prstGeom>
        </p:spPr>
        <p:txBody>
          <a:bodyPr anchor="t" rtlCol="false" tIns="0" lIns="0" bIns="0" rIns="0">
            <a:spAutoFit/>
          </a:bodyPr>
          <a:lstStyle/>
          <a:p>
            <a:pPr algn="just">
              <a:lnSpc>
                <a:spcPts val="4480"/>
              </a:lnSpc>
            </a:pPr>
            <a:r>
              <a:rPr lang="en-US" sz="3200">
                <a:solidFill>
                  <a:srgbClr val="000000"/>
                </a:solidFill>
                <a:latin typeface="Public Sans"/>
                <a:ea typeface="Public Sans"/>
                <a:cs typeface="Public Sans"/>
                <a:sym typeface="Public Sans"/>
              </a:rPr>
              <a:t>Bảng</a:t>
            </a:r>
            <a:r>
              <a:rPr lang="en-US" sz="3200">
                <a:solidFill>
                  <a:srgbClr val="000000"/>
                </a:solidFill>
                <a:latin typeface="Public Sans"/>
                <a:ea typeface="Public Sans"/>
                <a:cs typeface="Public Sans"/>
                <a:sym typeface="Public Sans"/>
              </a:rPr>
              <a:t> thực phẩm có Protein cao nhất</a:t>
            </a:r>
            <a:r>
              <a:rPr lang="en-US" sz="3200">
                <a:solidFill>
                  <a:srgbClr val="000000"/>
                </a:solidFill>
                <a:latin typeface="Public Sans"/>
                <a:ea typeface="Public Sans"/>
                <a:cs typeface="Public Sans"/>
                <a:sym typeface="Public Sans"/>
              </a:rPr>
              <a:t> trong</a:t>
            </a:r>
            <a:r>
              <a:rPr lang="en-US" sz="3200">
                <a:solidFill>
                  <a:srgbClr val="000000"/>
                </a:solidFill>
                <a:latin typeface="Public Sans"/>
                <a:ea typeface="Public Sans"/>
                <a:cs typeface="Public Sans"/>
                <a:sym typeface="Public Sans"/>
              </a:rPr>
              <a:t> mỗi nhóm</a:t>
            </a:r>
          </a:p>
        </p:txBody>
      </p:sp>
      <p:sp>
        <p:nvSpPr>
          <p:cNvPr name="TextBox 10" id="10"/>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2.Thực phẩm giàu protein nhất theo nhóm</a:t>
            </a:r>
          </a:p>
        </p:txBody>
      </p:sp>
      <p:sp>
        <p:nvSpPr>
          <p:cNvPr name="TextBox 8" id="8"/>
          <p:cNvSpPr txBox="true"/>
          <p:nvPr/>
        </p:nvSpPr>
        <p:spPr>
          <a:xfrm rot="0">
            <a:off x="1216645" y="3151225"/>
            <a:ext cx="16042655" cy="5604930"/>
          </a:xfrm>
          <a:prstGeom prst="rect">
            <a:avLst/>
          </a:prstGeom>
        </p:spPr>
        <p:txBody>
          <a:bodyPr anchor="t" rtlCol="false" tIns="0" lIns="0" bIns="0" rIns="0">
            <a:spAutoFit/>
          </a:bodyPr>
          <a:lstStyle/>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Meat and Meat Products: Beef jerky 40–45 g/100g</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Legumes and Legume Products: Soybeans 36–38 g/100g</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Cereal Grains and Pasta: Seitan 25–30 g/100g</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Dairy and Egg Products: Parmesan 35–38 g/100g (nhiều hơn trứng 12–13 g/100g và sữa 3–4 g/100g)</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Vegetables &amp; Fruits: Protein thấp (&lt;5 g/100g)</a:t>
            </a:r>
          </a:p>
          <a:p>
            <a:pPr algn="just">
              <a:lnSpc>
                <a:spcPts val="4480"/>
              </a:lnSpc>
            </a:pPr>
            <a:r>
              <a:rPr lang="en-US" sz="3200" b="true">
                <a:solidFill>
                  <a:srgbClr val="000000"/>
                </a:solidFill>
                <a:latin typeface="Public Sans Bold"/>
                <a:ea typeface="Public Sans Bold"/>
                <a:cs typeface="Public Sans Bold"/>
                <a:sym typeface="Public Sans Bold"/>
              </a:rPr>
              <a:t>Nhận xét:</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Các</a:t>
            </a:r>
            <a:r>
              <a:rPr lang="en-US" sz="3200">
                <a:solidFill>
                  <a:srgbClr val="000000"/>
                </a:solidFill>
                <a:latin typeface="Public Sans"/>
                <a:ea typeface="Public Sans"/>
                <a:cs typeface="Public Sans"/>
                <a:sym typeface="Public Sans"/>
              </a:rPr>
              <a:t> thực phẩm protein cao thường qua chế biến hoặc cô đặc.</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Một số loại giàu protein cũng chứa nhiều chất béo hoặc muối → cân nhắc khi sử dụng.</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504263" y="2981637"/>
            <a:ext cx="10091928" cy="6996456"/>
          </a:xfrm>
          <a:custGeom>
            <a:avLst/>
            <a:gdLst/>
            <a:ahLst/>
            <a:cxnLst/>
            <a:rect r="r" b="b" t="t" l="l"/>
            <a:pathLst>
              <a:path h="6996456" w="10091928">
                <a:moveTo>
                  <a:pt x="0" y="0"/>
                </a:moveTo>
                <a:lnTo>
                  <a:pt x="10091928" y="0"/>
                </a:lnTo>
                <a:lnTo>
                  <a:pt x="10091928" y="6996457"/>
                </a:lnTo>
                <a:lnTo>
                  <a:pt x="0" y="6996457"/>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3.Độ đa dạng dinh dưỡng theo nhóm thực phẩm</a:t>
            </a:r>
          </a:p>
        </p:txBody>
      </p:sp>
      <p:sp>
        <p:nvSpPr>
          <p:cNvPr name="TextBox 9" id="9"/>
          <p:cNvSpPr txBox="true"/>
          <p:nvPr/>
        </p:nvSpPr>
        <p:spPr>
          <a:xfrm rot="0">
            <a:off x="11178899" y="5595876"/>
            <a:ext cx="6389227" cy="1109302"/>
          </a:xfrm>
          <a:prstGeom prst="rect">
            <a:avLst/>
          </a:prstGeom>
        </p:spPr>
        <p:txBody>
          <a:bodyPr anchor="t" rtlCol="false" tIns="0" lIns="0" bIns="0" rIns="0">
            <a:spAutoFit/>
          </a:bodyPr>
          <a:lstStyle/>
          <a:p>
            <a:pPr algn="just">
              <a:lnSpc>
                <a:spcPts val="4480"/>
              </a:lnSpc>
            </a:pPr>
            <a:r>
              <a:rPr lang="en-US" sz="3200">
                <a:solidFill>
                  <a:srgbClr val="000000"/>
                </a:solidFill>
                <a:latin typeface="Public Sans"/>
                <a:ea typeface="Public Sans"/>
                <a:cs typeface="Public Sans"/>
                <a:sym typeface="Public Sans"/>
              </a:rPr>
              <a:t> Biểu đồ cột ngang</a:t>
            </a:r>
            <a:r>
              <a:rPr lang="en-US" sz="3200">
                <a:solidFill>
                  <a:srgbClr val="000000"/>
                </a:solidFill>
                <a:latin typeface="Public Sans"/>
                <a:ea typeface="Public Sans"/>
                <a:cs typeface="Public Sans"/>
                <a:sym typeface="Public Sans"/>
              </a:rPr>
              <a:t> thể hiện độ đa dạng chất</a:t>
            </a:r>
            <a:r>
              <a:rPr lang="en-US" sz="3200">
                <a:solidFill>
                  <a:srgbClr val="000000"/>
                </a:solidFill>
                <a:latin typeface="Public Sans"/>
                <a:ea typeface="Public Sans"/>
                <a:cs typeface="Public Sans"/>
                <a:sym typeface="Public Sans"/>
              </a:rPr>
              <a:t> dinh dưỡng</a:t>
            </a:r>
            <a:r>
              <a:rPr lang="en-US" sz="3200">
                <a:solidFill>
                  <a:srgbClr val="000000"/>
                </a:solidFill>
                <a:latin typeface="Public Sans"/>
                <a:ea typeface="Public Sans"/>
                <a:cs typeface="Public Sans"/>
                <a:sym typeface="Public Sans"/>
              </a:rPr>
              <a:t> theo nhóm</a:t>
            </a:r>
          </a:p>
        </p:txBody>
      </p:sp>
      <p:sp>
        <p:nvSpPr>
          <p:cNvPr name="TextBox 10" id="10"/>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293740" y="2981637"/>
            <a:ext cx="9973425" cy="6996456"/>
          </a:xfrm>
          <a:custGeom>
            <a:avLst/>
            <a:gdLst/>
            <a:ahLst/>
            <a:cxnLst/>
            <a:rect r="r" b="b" t="t" l="l"/>
            <a:pathLst>
              <a:path h="6996456" w="9973425">
                <a:moveTo>
                  <a:pt x="0" y="0"/>
                </a:moveTo>
                <a:lnTo>
                  <a:pt x="9973425" y="0"/>
                </a:lnTo>
                <a:lnTo>
                  <a:pt x="9973425" y="6996457"/>
                </a:lnTo>
                <a:lnTo>
                  <a:pt x="0" y="6996457"/>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3.Độ đa dạng dinh dưỡng theo nhóm thực phẩm</a:t>
            </a:r>
          </a:p>
        </p:txBody>
      </p:sp>
      <p:sp>
        <p:nvSpPr>
          <p:cNvPr name="TextBox 9" id="9"/>
          <p:cNvSpPr txBox="true"/>
          <p:nvPr/>
        </p:nvSpPr>
        <p:spPr>
          <a:xfrm rot="0">
            <a:off x="11178899" y="5565885"/>
            <a:ext cx="6389227" cy="1109302"/>
          </a:xfrm>
          <a:prstGeom prst="rect">
            <a:avLst/>
          </a:prstGeom>
        </p:spPr>
        <p:txBody>
          <a:bodyPr anchor="t" rtlCol="false" tIns="0" lIns="0" bIns="0" rIns="0">
            <a:spAutoFit/>
          </a:bodyPr>
          <a:lstStyle/>
          <a:p>
            <a:pPr algn="just">
              <a:lnSpc>
                <a:spcPts val="4480"/>
              </a:lnSpc>
            </a:pPr>
            <a:r>
              <a:rPr lang="en-US" sz="3200">
                <a:solidFill>
                  <a:srgbClr val="000000"/>
                </a:solidFill>
                <a:latin typeface="Public Sans"/>
                <a:ea typeface="Public Sans"/>
                <a:cs typeface="Public Sans"/>
                <a:sym typeface="Public Sans"/>
              </a:rPr>
              <a:t>Biểu đồ cột ngang</a:t>
            </a:r>
            <a:r>
              <a:rPr lang="en-US" sz="3200">
                <a:solidFill>
                  <a:srgbClr val="000000"/>
                </a:solidFill>
                <a:latin typeface="Public Sans"/>
                <a:ea typeface="Public Sans"/>
                <a:cs typeface="Public Sans"/>
                <a:sym typeface="Public Sans"/>
              </a:rPr>
              <a:t> thể hiện số lượng thực</a:t>
            </a:r>
            <a:r>
              <a:rPr lang="en-US" sz="3200">
                <a:solidFill>
                  <a:srgbClr val="000000"/>
                </a:solidFill>
                <a:latin typeface="Public Sans"/>
                <a:ea typeface="Public Sans"/>
                <a:cs typeface="Public Sans"/>
                <a:sym typeface="Public Sans"/>
              </a:rPr>
              <a:t> phẩm</a:t>
            </a:r>
            <a:r>
              <a:rPr lang="en-US" sz="3200">
                <a:solidFill>
                  <a:srgbClr val="000000"/>
                </a:solidFill>
                <a:latin typeface="Public Sans"/>
                <a:ea typeface="Public Sans"/>
                <a:cs typeface="Public Sans"/>
                <a:sym typeface="Public Sans"/>
              </a:rPr>
              <a:t> theo nhóm</a:t>
            </a:r>
          </a:p>
        </p:txBody>
      </p:sp>
      <p:sp>
        <p:nvSpPr>
          <p:cNvPr name="TextBox 10" id="10"/>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Thống kê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3.Độ đa dạng dinh dưỡng theo nhóm thực phẩm</a:t>
            </a:r>
          </a:p>
        </p:txBody>
      </p:sp>
      <p:sp>
        <p:nvSpPr>
          <p:cNvPr name="TextBox 8" id="8"/>
          <p:cNvSpPr txBox="true"/>
          <p:nvPr/>
        </p:nvSpPr>
        <p:spPr>
          <a:xfrm rot="0">
            <a:off x="687189" y="2996209"/>
            <a:ext cx="17036175" cy="7290791"/>
          </a:xfrm>
          <a:prstGeom prst="rect">
            <a:avLst/>
          </a:prstGeom>
        </p:spPr>
        <p:txBody>
          <a:bodyPr anchor="t" rtlCol="false" tIns="0" lIns="0" bIns="0" rIns="0">
            <a:spAutoFit/>
          </a:bodyPr>
          <a:lstStyle/>
          <a:p>
            <a:pPr algn="just">
              <a:lnSpc>
                <a:spcPts val="4480"/>
              </a:lnSpc>
            </a:pPr>
            <a:r>
              <a:rPr lang="en-US" sz="3200" b="true">
                <a:solidFill>
                  <a:srgbClr val="000000"/>
                </a:solidFill>
                <a:latin typeface="Public Sans Bold"/>
                <a:ea typeface="Public Sans Bold"/>
                <a:cs typeface="Public Sans Bold"/>
                <a:sym typeface="Public Sans Bold"/>
              </a:rPr>
              <a:t>Đa dạng nhất:</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Vegetables &amp; Vegetable Products: chứa đầy đủ vitamin (A, C, K), khoáng chất (K, Mg, Fe), chất xơ, nước và vi chất khác</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Fruits &amp; Fruit Juices: cung cấp nh</a:t>
            </a:r>
            <a:r>
              <a:rPr lang="en-US" sz="3200">
                <a:solidFill>
                  <a:srgbClr val="000000"/>
                </a:solidFill>
                <a:latin typeface="Public Sans"/>
                <a:ea typeface="Public Sans"/>
                <a:cs typeface="Public Sans"/>
                <a:sym typeface="Public Sans"/>
              </a:rPr>
              <a:t>iều vitamin và khoáng chất, mức độ đa dạng cao</a:t>
            </a:r>
          </a:p>
          <a:p>
            <a:pPr algn="just">
              <a:lnSpc>
                <a:spcPts val="4480"/>
              </a:lnSpc>
            </a:pPr>
            <a:r>
              <a:rPr lang="en-US" sz="3200" b="true">
                <a:solidFill>
                  <a:srgbClr val="000000"/>
                </a:solidFill>
                <a:latin typeface="Public Sans Bold"/>
                <a:ea typeface="Public Sans Bold"/>
                <a:cs typeface="Public Sans Bold"/>
                <a:sym typeface="Public Sans Bold"/>
              </a:rPr>
              <a:t>Đa dạng trung bình:</a:t>
            </a:r>
            <a:r>
              <a:rPr lang="en-US" sz="3200">
                <a:solidFill>
                  <a:srgbClr val="000000"/>
                </a:solidFill>
                <a:latin typeface="Public Sans"/>
                <a:ea typeface="Public Sans"/>
                <a:cs typeface="Public Sans"/>
                <a:sym typeface="Public Sans"/>
              </a:rPr>
              <a:t> Meat, Dairy → tập trung vào protein, chất béo, ít vi chất</a:t>
            </a:r>
          </a:p>
          <a:p>
            <a:pPr algn="just">
              <a:lnSpc>
                <a:spcPts val="4480"/>
              </a:lnSpc>
            </a:pPr>
            <a:r>
              <a:rPr lang="en-US" b="true" sz="3200">
                <a:solidFill>
                  <a:srgbClr val="000000"/>
                </a:solidFill>
                <a:latin typeface="Public Sans Bold"/>
                <a:ea typeface="Public Sans Bold"/>
                <a:cs typeface="Public Sans Bold"/>
                <a:sym typeface="Public Sans Bold"/>
              </a:rPr>
              <a:t>Đa dạng</a:t>
            </a:r>
            <a:r>
              <a:rPr lang="en-US" b="true" sz="3200">
                <a:solidFill>
                  <a:srgbClr val="000000"/>
                </a:solidFill>
                <a:latin typeface="Public Sans Bold"/>
                <a:ea typeface="Public Sans Bold"/>
                <a:cs typeface="Public Sans Bold"/>
                <a:sym typeface="Public Sans Bold"/>
              </a:rPr>
              <a:t> thấp:</a:t>
            </a:r>
            <a:r>
              <a:rPr lang="en-US" sz="3200">
                <a:solidFill>
                  <a:srgbClr val="000000"/>
                </a:solidFill>
                <a:latin typeface="Public Sans"/>
                <a:ea typeface="Public Sans"/>
                <a:cs typeface="Public Sans"/>
                <a:sym typeface="Public Sans"/>
              </a:rPr>
              <a:t> Sweets/Desserts, Beverages → chủ yếu đường và năng lượng</a:t>
            </a:r>
          </a:p>
          <a:p>
            <a:pPr algn="just">
              <a:lnSpc>
                <a:spcPts val="4480"/>
              </a:lnSpc>
            </a:pPr>
            <a:r>
              <a:rPr lang="en-US" b="true" sz="3200">
                <a:solidFill>
                  <a:srgbClr val="000000"/>
                </a:solidFill>
                <a:latin typeface="Public Sans Bold"/>
                <a:ea typeface="Public Sans Bold"/>
                <a:cs typeface="Public Sans Bold"/>
                <a:sym typeface="Public Sans Bold"/>
              </a:rPr>
              <a:t>Nhận xét:</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Rau củ và trái cây có sự phân bố dưỡng chất cân đối, không tập trung vào vài chất</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Các nhóm khác đa phần thiếu vi chất, cần kết hợp đa dạng nhóm thực</a:t>
            </a:r>
            <a:r>
              <a:rPr lang="en-US" sz="3200">
                <a:solidFill>
                  <a:srgbClr val="000000"/>
                </a:solidFill>
                <a:latin typeface="Public Sans"/>
                <a:ea typeface="Public Sans"/>
                <a:cs typeface="Public Sans"/>
                <a:sym typeface="Public Sans"/>
              </a:rPr>
              <a:t> phẩm</a:t>
            </a:r>
            <a:r>
              <a:rPr lang="en-US" sz="3200">
                <a:solidFill>
                  <a:srgbClr val="000000"/>
                </a:solidFill>
                <a:latin typeface="Public Sans"/>
                <a:ea typeface="Public Sans"/>
                <a:cs typeface="Public Sans"/>
                <a:sym typeface="Public Sans"/>
              </a:rPr>
              <a:t> trong khẩu phần</a:t>
            </a:r>
          </a:p>
          <a:p>
            <a:pPr algn="just">
              <a:lnSpc>
                <a:spcPts val="4480"/>
              </a:lnSpc>
            </a:pPr>
            <a:r>
              <a:rPr lang="en-US" b="true" sz="3200">
                <a:solidFill>
                  <a:srgbClr val="000000"/>
                </a:solidFill>
                <a:latin typeface="Public Sans Bold"/>
                <a:ea typeface="Public Sans Bold"/>
                <a:cs typeface="Public Sans Bold"/>
                <a:sym typeface="Public Sans Bold"/>
              </a:rPr>
              <a:t>Kết luận:</a:t>
            </a:r>
            <a:r>
              <a:rPr lang="en-US" sz="3200">
                <a:solidFill>
                  <a:srgbClr val="000000"/>
                </a:solidFill>
                <a:latin typeface="Public Sans"/>
                <a:ea typeface="Public Sans"/>
                <a:cs typeface="Public Sans"/>
                <a:sym typeface="Public Sans"/>
              </a:rPr>
              <a:t> Bổ sung rau củ và trái cây vào khẩu phần hàng ngày giúp cân bằng và đa dạng hóa dinh dưỡng, hỗ trợ sức khỏe toàn diện.</a:t>
            </a:r>
          </a:p>
          <a:p>
            <a:pPr algn="just">
              <a:lnSpc>
                <a:spcPts val="4480"/>
              </a:lnSpc>
            </a:pP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581146" y="2981637"/>
            <a:ext cx="15678154" cy="4824806"/>
          </a:xfrm>
          <a:custGeom>
            <a:avLst/>
            <a:gdLst/>
            <a:ahLst/>
            <a:cxnLst/>
            <a:rect r="r" b="b" t="t" l="l"/>
            <a:pathLst>
              <a:path h="4824806" w="15678154">
                <a:moveTo>
                  <a:pt x="0" y="0"/>
                </a:moveTo>
                <a:lnTo>
                  <a:pt x="15678154" y="0"/>
                </a:lnTo>
                <a:lnTo>
                  <a:pt x="15678154" y="4824807"/>
                </a:lnTo>
                <a:lnTo>
                  <a:pt x="0" y="4824807"/>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So Sánh</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Tỷ lệ Energy-to-Protein</a:t>
            </a:r>
          </a:p>
        </p:txBody>
      </p:sp>
      <p:sp>
        <p:nvSpPr>
          <p:cNvPr name="TextBox 9" id="9"/>
          <p:cNvSpPr txBox="true"/>
          <p:nvPr/>
        </p:nvSpPr>
        <p:spPr>
          <a:xfrm rot="0">
            <a:off x="520904" y="7873119"/>
            <a:ext cx="17368745" cy="2795163"/>
          </a:xfrm>
          <a:prstGeom prst="rect">
            <a:avLst/>
          </a:prstGeom>
        </p:spPr>
        <p:txBody>
          <a:bodyPr anchor="t" rtlCol="false" tIns="0" lIns="0" bIns="0" rIns="0">
            <a:spAutoFit/>
          </a:bodyPr>
          <a:lstStyle/>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Grains: Tỷ lệ cao → nhiều năng lượng,</a:t>
            </a:r>
            <a:r>
              <a:rPr lang="en-US" sz="3200">
                <a:solidFill>
                  <a:srgbClr val="000000"/>
                </a:solidFill>
                <a:latin typeface="Public Sans"/>
                <a:ea typeface="Public Sans"/>
                <a:cs typeface="Public Sans"/>
                <a:sym typeface="Public Sans"/>
              </a:rPr>
              <a:t> protein vừa phải</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Vegetables: Tỷ lệ thấp → năng lượng thấp, protein ổn định</a:t>
            </a:r>
          </a:p>
          <a:p>
            <a:pPr algn="just">
              <a:lnSpc>
                <a:spcPts val="4480"/>
              </a:lnSpc>
            </a:pPr>
            <a:r>
              <a:rPr lang="en-US" b="true" sz="3200">
                <a:solidFill>
                  <a:srgbClr val="000000"/>
                </a:solidFill>
                <a:latin typeface="Public Sans Bold"/>
                <a:ea typeface="Public Sans Bold"/>
                <a:cs typeface="Public Sans Bold"/>
                <a:sym typeface="Public Sans Bold"/>
              </a:rPr>
              <a:t>Kết luận: </a:t>
            </a:r>
            <a:r>
              <a:rPr lang="en-US" sz="3200">
                <a:solidFill>
                  <a:srgbClr val="000000"/>
                </a:solidFill>
                <a:latin typeface="Public Sans"/>
                <a:ea typeface="Public Sans"/>
                <a:cs typeface="Public Sans"/>
                <a:sym typeface="Public Sans"/>
              </a:rPr>
              <a:t>Chọn nhóm thực</a:t>
            </a:r>
            <a:r>
              <a:rPr lang="en-US" sz="3200">
                <a:solidFill>
                  <a:srgbClr val="000000"/>
                </a:solidFill>
                <a:latin typeface="Public Sans"/>
                <a:ea typeface="Public Sans"/>
                <a:cs typeface="Public Sans"/>
                <a:sym typeface="Public Sans"/>
              </a:rPr>
              <a:t> phẩm</a:t>
            </a:r>
            <a:r>
              <a:rPr lang="en-US" sz="3200">
                <a:solidFill>
                  <a:srgbClr val="000000"/>
                </a:solidFill>
                <a:latin typeface="Public Sans"/>
                <a:ea typeface="Public Sans"/>
                <a:cs typeface="Public Sans"/>
                <a:sym typeface="Public Sans"/>
              </a:rPr>
              <a:t> phù hợp giúp cân bằng năng lượng và protein trong khẩu phần ăn.</a:t>
            </a:r>
          </a:p>
          <a:p>
            <a:pPr algn="just">
              <a:lnSpc>
                <a:spcPts val="4480"/>
              </a:lnSpc>
            </a:pPr>
          </a:p>
        </p:txBody>
      </p:sp>
      <p:sp>
        <p:nvSpPr>
          <p:cNvPr name="TextBox 10" id="10"/>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1.Tương Quan Giữa các Chất Dinh Dưỡng</a:t>
            </a:r>
          </a:p>
        </p:txBody>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
        <p:nvSpPr>
          <p:cNvPr name="Freeform 9" id="9"/>
          <p:cNvSpPr/>
          <p:nvPr/>
        </p:nvSpPr>
        <p:spPr>
          <a:xfrm flipH="false" flipV="false" rot="0">
            <a:off x="3505778" y="398068"/>
            <a:ext cx="10704253" cy="9490864"/>
          </a:xfrm>
          <a:custGeom>
            <a:avLst/>
            <a:gdLst/>
            <a:ahLst/>
            <a:cxnLst/>
            <a:rect r="r" b="b" t="t" l="l"/>
            <a:pathLst>
              <a:path h="9490864" w="10704253">
                <a:moveTo>
                  <a:pt x="0" y="0"/>
                </a:moveTo>
                <a:lnTo>
                  <a:pt x="10704253" y="0"/>
                </a:lnTo>
                <a:lnTo>
                  <a:pt x="10704253" y="9490864"/>
                </a:lnTo>
                <a:lnTo>
                  <a:pt x="0" y="9490864"/>
                </a:lnTo>
                <a:lnTo>
                  <a:pt x="0" y="0"/>
                </a:lnTo>
                <a:close/>
              </a:path>
            </a:pathLst>
          </a:custGeom>
          <a:blipFill>
            <a:blip r:embed="rId12"/>
            <a:stretch>
              <a:fillRect l="0" t="0" r="0" b="0"/>
            </a:stretch>
          </a:blipFill>
        </p:spPr>
      </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1.Tương Quan Giữa các Chất Dinh Dưỡng</a:t>
            </a:r>
          </a:p>
        </p:txBody>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
        <p:nvSpPr>
          <p:cNvPr name="TextBox 9" id="9"/>
          <p:cNvSpPr txBox="true"/>
          <p:nvPr/>
        </p:nvSpPr>
        <p:spPr>
          <a:xfrm rot="0">
            <a:off x="2736456" y="3286945"/>
            <a:ext cx="13986803" cy="3253997"/>
          </a:xfrm>
          <a:prstGeom prst="rect">
            <a:avLst/>
          </a:prstGeom>
        </p:spPr>
        <p:txBody>
          <a:bodyPr anchor="t" rtlCol="false" tIns="0" lIns="0" bIns="0" rIns="0">
            <a:spAutoFit/>
          </a:bodyPr>
          <a:lstStyle/>
          <a:p>
            <a:pPr algn="l" marL="690881" indent="-345440" lvl="1">
              <a:lnSpc>
                <a:spcPts val="4320"/>
              </a:lnSpc>
              <a:spcBef>
                <a:spcPct val="0"/>
              </a:spcBef>
              <a:buFont typeface="Arial"/>
              <a:buChar char="•"/>
            </a:pPr>
            <a:r>
              <a:rPr lang="en-US" b="true" sz="3200" spc="192">
                <a:solidFill>
                  <a:srgbClr val="000000"/>
                </a:solidFill>
                <a:latin typeface="Public Sans Bold"/>
                <a:ea typeface="Public Sans Bold"/>
                <a:cs typeface="Public Sans Bold"/>
                <a:sym typeface="Public Sans Bold"/>
              </a:rPr>
              <a:t>Mố</a:t>
            </a:r>
            <a:r>
              <a:rPr lang="en-US" b="true" sz="3200" spc="192">
                <a:solidFill>
                  <a:srgbClr val="000000"/>
                </a:solidFill>
                <a:latin typeface="Public Sans Bold"/>
                <a:ea typeface="Public Sans Bold"/>
                <a:cs typeface="Public Sans Bold"/>
                <a:sym typeface="Public Sans Bold"/>
              </a:rPr>
              <a:t>i quan hệ thuận:</a:t>
            </a:r>
            <a:r>
              <a:rPr lang="en-US" sz="3200" spc="192">
                <a:solidFill>
                  <a:srgbClr val="000000"/>
                </a:solidFill>
                <a:latin typeface="Public Sans"/>
                <a:ea typeface="Public Sans"/>
                <a:cs typeface="Public Sans"/>
                <a:sym typeface="Public Sans"/>
              </a:rPr>
              <a:t> năng lượng tăng cùng với chất béo</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Thực phẩm giàu chất béo (phô mai, bơ, thịt mỡ, bánh kẹo) → năng lượng cao</a:t>
            </a:r>
          </a:p>
          <a:p>
            <a:pPr algn="l" marL="690881" indent="-345440" lvl="1">
              <a:lnSpc>
                <a:spcPts val="4320"/>
              </a:lnSpc>
              <a:spcBef>
                <a:spcPct val="0"/>
              </a:spcBef>
              <a:buFont typeface="Arial"/>
              <a:buChar char="•"/>
            </a:pPr>
            <a:r>
              <a:rPr lang="en-US" b="true" sz="3200" spc="192">
                <a:solidFill>
                  <a:srgbClr val="000000"/>
                </a:solidFill>
                <a:latin typeface="Public Sans Bold"/>
                <a:ea typeface="Public Sans Bold"/>
                <a:cs typeface="Public Sans Bold"/>
                <a:sym typeface="Public Sans Bold"/>
              </a:rPr>
              <a:t>Kết luận:</a:t>
            </a:r>
            <a:r>
              <a:rPr lang="en-US" sz="3200" spc="192">
                <a:solidFill>
                  <a:srgbClr val="000000"/>
                </a:solidFill>
                <a:latin typeface="Public Sans"/>
                <a:ea typeface="Public Sans"/>
                <a:cs typeface="Public Sans"/>
                <a:sym typeface="Public Sans"/>
              </a:rPr>
              <a:t> Chất béo là thành phần chủ đạo quyết định năng lượng của thực phẩm</a:t>
            </a:r>
          </a:p>
          <a:p>
            <a:pPr algn="l">
              <a:lnSpc>
                <a:spcPts val="4320"/>
              </a:lnSpc>
              <a:spcBef>
                <a:spcPct val="0"/>
              </a:spcBef>
            </a:pPr>
          </a:p>
        </p:txBody>
      </p:sp>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28700" y="3267387"/>
            <a:ext cx="16625484" cy="5170237"/>
          </a:xfrm>
          <a:custGeom>
            <a:avLst/>
            <a:gdLst/>
            <a:ahLst/>
            <a:cxnLst/>
            <a:rect r="r" b="b" t="t" l="l"/>
            <a:pathLst>
              <a:path h="5170237" w="16625484">
                <a:moveTo>
                  <a:pt x="0" y="0"/>
                </a:moveTo>
                <a:lnTo>
                  <a:pt x="16625484" y="0"/>
                </a:lnTo>
                <a:lnTo>
                  <a:pt x="16625484" y="5170238"/>
                </a:lnTo>
                <a:lnTo>
                  <a:pt x="0" y="5170238"/>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2.Năng lượng cao nhưng Protein thấp</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2.Năng lượng cao nhưng Protein thấp</a:t>
            </a:r>
          </a:p>
        </p:txBody>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
        <p:nvSpPr>
          <p:cNvPr name="TextBox 9" id="9"/>
          <p:cNvSpPr txBox="true"/>
          <p:nvPr/>
        </p:nvSpPr>
        <p:spPr>
          <a:xfrm rot="0">
            <a:off x="1707756" y="3299581"/>
            <a:ext cx="15551544" cy="3621162"/>
          </a:xfrm>
          <a:prstGeom prst="rect">
            <a:avLst/>
          </a:prstGeom>
        </p:spPr>
        <p:txBody>
          <a:bodyPr anchor="t" rtlCol="false" tIns="0" lIns="0" bIns="0" rIns="0">
            <a:spAutoFit/>
          </a:bodyPr>
          <a:lstStyle/>
          <a:p>
            <a:pPr algn="l" marL="768171" indent="-384086" lvl="1">
              <a:lnSpc>
                <a:spcPts val="4803"/>
              </a:lnSpc>
              <a:spcBef>
                <a:spcPct val="0"/>
              </a:spcBef>
              <a:buFont typeface="Arial"/>
              <a:buChar char="•"/>
            </a:pPr>
            <a:r>
              <a:rPr lang="en-US" sz="3557" spc="213">
                <a:solidFill>
                  <a:srgbClr val="000000"/>
                </a:solidFill>
                <a:latin typeface="Public Sans"/>
                <a:ea typeface="Public Sans"/>
                <a:cs typeface="Public Sans"/>
                <a:sym typeface="Public Sans"/>
              </a:rPr>
              <a:t>Nhóm</a:t>
            </a:r>
            <a:r>
              <a:rPr lang="en-US" sz="3557" spc="213">
                <a:solidFill>
                  <a:srgbClr val="000000"/>
                </a:solidFill>
                <a:latin typeface="Public Sans"/>
                <a:ea typeface="Public Sans"/>
                <a:cs typeface="Public Sans"/>
                <a:sym typeface="Public Sans"/>
              </a:rPr>
              <a:t> thực phẩm Sweets/Desserts &amp; Sweetened Beverages: năng lượng cao, protein gần 0</a:t>
            </a:r>
          </a:p>
          <a:p>
            <a:pPr algn="l" marL="768171" indent="-384086" lvl="1">
              <a:lnSpc>
                <a:spcPts val="4803"/>
              </a:lnSpc>
              <a:spcBef>
                <a:spcPct val="0"/>
              </a:spcBef>
              <a:buFont typeface="Arial"/>
              <a:buChar char="•"/>
            </a:pPr>
            <a:r>
              <a:rPr lang="en-US" sz="3557" spc="213">
                <a:solidFill>
                  <a:srgbClr val="000000"/>
                </a:solidFill>
                <a:latin typeface="Public Sans"/>
                <a:ea typeface="Public Sans"/>
                <a:cs typeface="Public Sans"/>
                <a:sym typeface="Public Sans"/>
              </a:rPr>
              <a:t>Chủ yếu từ đường và chất béo bão hòa</a:t>
            </a:r>
          </a:p>
          <a:p>
            <a:pPr algn="l">
              <a:lnSpc>
                <a:spcPts val="4803"/>
              </a:lnSpc>
              <a:spcBef>
                <a:spcPct val="0"/>
              </a:spcBef>
            </a:pPr>
            <a:r>
              <a:rPr lang="en-US" b="true" sz="3557" spc="213">
                <a:solidFill>
                  <a:srgbClr val="000000"/>
                </a:solidFill>
                <a:latin typeface="Public Sans Bold"/>
                <a:ea typeface="Public Sans Bold"/>
                <a:cs typeface="Public Sans Bold"/>
                <a:sym typeface="Public Sans Bold"/>
              </a:rPr>
              <a:t>Kết luận:</a:t>
            </a:r>
            <a:r>
              <a:rPr lang="en-US" sz="3557" spc="213">
                <a:solidFill>
                  <a:srgbClr val="000000"/>
                </a:solidFill>
                <a:latin typeface="Public Sans"/>
                <a:ea typeface="Public Sans"/>
                <a:cs typeface="Public Sans"/>
                <a:sym typeface="Public Sans"/>
              </a:rPr>
              <a:t> Nguồn năng lượng rỗng, nên hạn chế trong chế độ ăn lành mạnh</a:t>
            </a:r>
          </a:p>
          <a:p>
            <a:pPr algn="l">
              <a:lnSpc>
                <a:spcPts val="4803"/>
              </a:lnSpc>
              <a:spcBef>
                <a:spcPct val="0"/>
              </a:spcBef>
            </a:pPr>
          </a:p>
        </p:txBody>
      </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293643" y="2989473"/>
            <a:ext cx="9885256" cy="6845745"/>
          </a:xfrm>
          <a:custGeom>
            <a:avLst/>
            <a:gdLst/>
            <a:ahLst/>
            <a:cxnLst/>
            <a:rect r="r" b="b" t="t" l="l"/>
            <a:pathLst>
              <a:path h="6845745" w="9885256">
                <a:moveTo>
                  <a:pt x="0" y="0"/>
                </a:moveTo>
                <a:lnTo>
                  <a:pt x="9885256" y="0"/>
                </a:lnTo>
                <a:lnTo>
                  <a:pt x="9885256" y="6845746"/>
                </a:lnTo>
                <a:lnTo>
                  <a:pt x="0" y="6845746"/>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3.Nước &amp; Năng lượng</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
        <p:nvSpPr>
          <p:cNvPr name="TextBox 10" id="10"/>
          <p:cNvSpPr txBox="true"/>
          <p:nvPr/>
        </p:nvSpPr>
        <p:spPr>
          <a:xfrm rot="0">
            <a:off x="11791546" y="5330220"/>
            <a:ext cx="5829627" cy="1082126"/>
          </a:xfrm>
          <a:prstGeom prst="rect">
            <a:avLst/>
          </a:prstGeom>
        </p:spPr>
        <p:txBody>
          <a:bodyPr anchor="t" rtlCol="false" tIns="0" lIns="0" bIns="0" rIns="0">
            <a:spAutoFit/>
          </a:bodyPr>
          <a:lstStyle/>
          <a:p>
            <a:pPr algn="ctr">
              <a:lnSpc>
                <a:spcPts val="4320"/>
              </a:lnSpc>
              <a:spcBef>
                <a:spcPct val="0"/>
              </a:spcBef>
            </a:pPr>
            <a:r>
              <a:rPr lang="en-US" sz="3200" spc="192">
                <a:solidFill>
                  <a:srgbClr val="000000"/>
                </a:solidFill>
                <a:latin typeface="Public Sans"/>
                <a:ea typeface="Public Sans"/>
                <a:cs typeface="Public Sans"/>
                <a:sym typeface="Public Sans"/>
              </a:rPr>
              <a:t>B</a:t>
            </a:r>
            <a:r>
              <a:rPr lang="en-US" sz="3200" spc="192">
                <a:solidFill>
                  <a:srgbClr val="000000"/>
                </a:solidFill>
                <a:latin typeface="Public Sans"/>
                <a:ea typeface="Public Sans"/>
                <a:cs typeface="Public Sans"/>
                <a:sym typeface="Public Sans"/>
              </a:rPr>
              <a:t>iểu đồ hộp thể hiện năng lượng theo mức độ nước</a:t>
            </a:r>
          </a:p>
        </p:txBody>
      </p:sp>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714280" y="3132348"/>
            <a:ext cx="9408961" cy="6573848"/>
          </a:xfrm>
          <a:custGeom>
            <a:avLst/>
            <a:gdLst/>
            <a:ahLst/>
            <a:cxnLst/>
            <a:rect r="r" b="b" t="t" l="l"/>
            <a:pathLst>
              <a:path h="6573848" w="9408961">
                <a:moveTo>
                  <a:pt x="0" y="0"/>
                </a:moveTo>
                <a:lnTo>
                  <a:pt x="9408961" y="0"/>
                </a:lnTo>
                <a:lnTo>
                  <a:pt x="9408961" y="6573849"/>
                </a:lnTo>
                <a:lnTo>
                  <a:pt x="0" y="6573849"/>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3.Nước &amp; Năng lượng</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
        <p:nvSpPr>
          <p:cNvPr name="TextBox 10" id="10"/>
          <p:cNvSpPr txBox="true"/>
          <p:nvPr/>
        </p:nvSpPr>
        <p:spPr>
          <a:xfrm rot="0">
            <a:off x="10921655" y="2924487"/>
            <a:ext cx="6092711" cy="1082126"/>
          </a:xfrm>
          <a:prstGeom prst="rect">
            <a:avLst/>
          </a:prstGeom>
        </p:spPr>
        <p:txBody>
          <a:bodyPr anchor="t" rtlCol="false" tIns="0" lIns="0" bIns="0" rIns="0">
            <a:spAutoFit/>
          </a:bodyPr>
          <a:lstStyle/>
          <a:p>
            <a:pPr algn="ctr">
              <a:lnSpc>
                <a:spcPts val="4320"/>
              </a:lnSpc>
              <a:spcBef>
                <a:spcPct val="0"/>
              </a:spcBef>
            </a:pPr>
            <a:r>
              <a:rPr lang="en-US" sz="3200" spc="192">
                <a:solidFill>
                  <a:srgbClr val="000000"/>
                </a:solidFill>
                <a:latin typeface="Public Sans"/>
                <a:ea typeface="Public Sans"/>
                <a:cs typeface="Public Sans"/>
                <a:sym typeface="Public Sans"/>
              </a:rPr>
              <a:t>B</a:t>
            </a:r>
            <a:r>
              <a:rPr lang="en-US" sz="3200" spc="192">
                <a:solidFill>
                  <a:srgbClr val="000000"/>
                </a:solidFill>
                <a:latin typeface="Public Sans"/>
                <a:ea typeface="Public Sans"/>
                <a:cs typeface="Public Sans"/>
                <a:sym typeface="Public Sans"/>
              </a:rPr>
              <a:t>iểu đồ scatter plot thể hiện mối quan hệ Water và Energy</a:t>
            </a:r>
          </a:p>
        </p:txBody>
      </p:sp>
      <p:sp>
        <p:nvSpPr>
          <p:cNvPr name="TextBox 11" id="11"/>
          <p:cNvSpPr txBox="true"/>
          <p:nvPr/>
        </p:nvSpPr>
        <p:spPr>
          <a:xfrm rot="0">
            <a:off x="10123241" y="4318163"/>
            <a:ext cx="7889647" cy="5968837"/>
          </a:xfrm>
          <a:prstGeom prst="rect">
            <a:avLst/>
          </a:prstGeom>
        </p:spPr>
        <p:txBody>
          <a:bodyPr anchor="t" rtlCol="false" tIns="0" lIns="0" bIns="0" rIns="0">
            <a:spAutoFit/>
          </a:bodyPr>
          <a:lstStyle/>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Thực phẩm nh</a:t>
            </a:r>
            <a:r>
              <a:rPr lang="en-US" sz="3200" spc="192">
                <a:solidFill>
                  <a:srgbClr val="000000"/>
                </a:solidFill>
                <a:latin typeface="Public Sans"/>
                <a:ea typeface="Public Sans"/>
                <a:cs typeface="Public Sans"/>
                <a:sym typeface="Public Sans"/>
              </a:rPr>
              <a:t>iều nước → năng lượng thấp</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Rau củ, trái cây: nước cao, năng lượng thấp</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Bánh kẹo, phô mai: nước thấp, năng lượng cao</a:t>
            </a:r>
          </a:p>
          <a:p>
            <a:pPr algn="l">
              <a:lnSpc>
                <a:spcPts val="4320"/>
              </a:lnSpc>
              <a:spcBef>
                <a:spcPct val="0"/>
              </a:spcBef>
            </a:pPr>
            <a:r>
              <a:rPr lang="en-US" b="true" sz="3200" spc="192">
                <a:solidFill>
                  <a:srgbClr val="000000"/>
                </a:solidFill>
                <a:latin typeface="Public Sans Bold"/>
                <a:ea typeface="Public Sans Bold"/>
                <a:cs typeface="Public Sans Bold"/>
                <a:sym typeface="Public Sans Bold"/>
              </a:rPr>
              <a:t>Kết luận:</a:t>
            </a:r>
            <a:r>
              <a:rPr lang="en-US" sz="3200" spc="192">
                <a:solidFill>
                  <a:srgbClr val="000000"/>
                </a:solidFill>
                <a:latin typeface="Public Sans"/>
                <a:ea typeface="Public Sans"/>
                <a:cs typeface="Public Sans"/>
                <a:sym typeface="Public Sans"/>
              </a:rPr>
              <a:t> Mối quan hệ nghịch giữa Water và Energy → lựa chọn thực phẩm giàu nước giúp giảm calo, tăng cảm giác no</a:t>
            </a:r>
          </a:p>
          <a:p>
            <a:pPr algn="l">
              <a:lnSpc>
                <a:spcPts val="4320"/>
              </a:lnSpc>
              <a:spcBef>
                <a:spcPct val="0"/>
              </a:spcBef>
            </a:pPr>
          </a:p>
        </p:txBody>
      </p:sp>
    </p:spTree>
  </p:cSld>
  <p:clrMapOvr>
    <a:masterClrMapping/>
  </p:clrMapOvr>
</p:sld>
</file>

<file path=ppt/slides/slide9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393650" y="2989473"/>
            <a:ext cx="9885256" cy="6845745"/>
          </a:xfrm>
          <a:custGeom>
            <a:avLst/>
            <a:gdLst/>
            <a:ahLst/>
            <a:cxnLst/>
            <a:rect r="r" b="b" t="t" l="l"/>
            <a:pathLst>
              <a:path h="6845745" w="9885256">
                <a:moveTo>
                  <a:pt x="0" y="0"/>
                </a:moveTo>
                <a:lnTo>
                  <a:pt x="9885256" y="0"/>
                </a:lnTo>
                <a:lnTo>
                  <a:pt x="9885256" y="6845746"/>
                </a:lnTo>
                <a:lnTo>
                  <a:pt x="0" y="6845746"/>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3.Nước &amp; Năng lượng</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
        <p:nvSpPr>
          <p:cNvPr name="TextBox 10" id="10"/>
          <p:cNvSpPr txBox="true"/>
          <p:nvPr/>
        </p:nvSpPr>
        <p:spPr>
          <a:xfrm rot="0">
            <a:off x="10352862" y="3289463"/>
            <a:ext cx="7230298" cy="5968837"/>
          </a:xfrm>
          <a:prstGeom prst="rect">
            <a:avLst/>
          </a:prstGeom>
        </p:spPr>
        <p:txBody>
          <a:bodyPr anchor="t" rtlCol="false" tIns="0" lIns="0" bIns="0" rIns="0">
            <a:spAutoFit/>
          </a:bodyPr>
          <a:lstStyle/>
          <a:p>
            <a:pPr algn="just"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Thực phẩm nh</a:t>
            </a:r>
            <a:r>
              <a:rPr lang="en-US" sz="3200" spc="192">
                <a:solidFill>
                  <a:srgbClr val="000000"/>
                </a:solidFill>
                <a:latin typeface="Public Sans"/>
                <a:ea typeface="Public Sans"/>
                <a:cs typeface="Public Sans"/>
                <a:sym typeface="Public Sans"/>
              </a:rPr>
              <a:t>iều nước → năng lượng thấp</a:t>
            </a:r>
          </a:p>
          <a:p>
            <a:pPr algn="just"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Rau củ, trái cây: nước cao, năng lượng thấp</a:t>
            </a:r>
          </a:p>
          <a:p>
            <a:pPr algn="just"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Bánh kẹo, phô mai: nước thấp, năng lượng cao</a:t>
            </a:r>
          </a:p>
          <a:p>
            <a:pPr algn="just">
              <a:lnSpc>
                <a:spcPts val="4320"/>
              </a:lnSpc>
              <a:spcBef>
                <a:spcPct val="0"/>
              </a:spcBef>
            </a:pPr>
            <a:r>
              <a:rPr lang="en-US" b="true" sz="3200" spc="192">
                <a:solidFill>
                  <a:srgbClr val="000000"/>
                </a:solidFill>
                <a:latin typeface="Public Sans Bold"/>
                <a:ea typeface="Public Sans Bold"/>
                <a:cs typeface="Public Sans Bold"/>
                <a:sym typeface="Public Sans Bold"/>
              </a:rPr>
              <a:t>Kết luận:</a:t>
            </a:r>
            <a:r>
              <a:rPr lang="en-US" sz="3200" spc="192">
                <a:solidFill>
                  <a:srgbClr val="000000"/>
                </a:solidFill>
                <a:latin typeface="Public Sans"/>
                <a:ea typeface="Public Sans"/>
                <a:cs typeface="Public Sans"/>
                <a:sym typeface="Public Sans"/>
              </a:rPr>
              <a:t> Mối quan hệ nghịch giữa Water và Energy → lựa chọn thực phẩm giàu nước giúp giảm calo, tăng cảm giác no</a:t>
            </a:r>
          </a:p>
          <a:p>
            <a:pPr algn="just">
              <a:lnSpc>
                <a:spcPts val="4320"/>
              </a:lnSpc>
              <a:spcBef>
                <a:spcPct val="0"/>
              </a:spcBef>
            </a:pPr>
          </a:p>
        </p:txBody>
      </p:sp>
    </p:spTree>
  </p:cSld>
  <p:clrMapOvr>
    <a:masterClrMapping/>
  </p:clrMapOvr>
</p:sld>
</file>

<file path=ppt/slides/slide9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821888" y="2846598"/>
            <a:ext cx="10601270" cy="7131495"/>
          </a:xfrm>
          <a:custGeom>
            <a:avLst/>
            <a:gdLst/>
            <a:ahLst/>
            <a:cxnLst/>
            <a:rect r="r" b="b" t="t" l="l"/>
            <a:pathLst>
              <a:path h="7131495" w="10601270">
                <a:moveTo>
                  <a:pt x="0" y="0"/>
                </a:moveTo>
                <a:lnTo>
                  <a:pt x="10601270" y="0"/>
                </a:lnTo>
                <a:lnTo>
                  <a:pt x="10601270" y="7131496"/>
                </a:lnTo>
                <a:lnTo>
                  <a:pt x="0" y="7131496"/>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Dự Đoán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1.Chỉ Số Dinh Dưỡng Cân Bằng theo Nhóm Thực Phẩm</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
        <p:nvSpPr>
          <p:cNvPr name="TextBox 10" id="10"/>
          <p:cNvSpPr txBox="true"/>
          <p:nvPr/>
        </p:nvSpPr>
        <p:spPr>
          <a:xfrm rot="0">
            <a:off x="11647331" y="5330220"/>
            <a:ext cx="6365558" cy="1082126"/>
          </a:xfrm>
          <a:prstGeom prst="rect">
            <a:avLst/>
          </a:prstGeom>
        </p:spPr>
        <p:txBody>
          <a:bodyPr anchor="t" rtlCol="false" tIns="0" lIns="0" bIns="0" rIns="0">
            <a:spAutoFit/>
          </a:bodyPr>
          <a:lstStyle/>
          <a:p>
            <a:pPr algn="ctr">
              <a:lnSpc>
                <a:spcPts val="4320"/>
              </a:lnSpc>
              <a:spcBef>
                <a:spcPct val="0"/>
              </a:spcBef>
            </a:pPr>
            <a:r>
              <a:rPr lang="en-US" sz="3200" spc="192">
                <a:solidFill>
                  <a:srgbClr val="000000"/>
                </a:solidFill>
                <a:latin typeface="Public Sans"/>
                <a:ea typeface="Public Sans"/>
                <a:cs typeface="Public Sans"/>
                <a:sym typeface="Public Sans"/>
              </a:rPr>
              <a:t>B</a:t>
            </a:r>
            <a:r>
              <a:rPr lang="en-US" sz="3200" spc="192">
                <a:solidFill>
                  <a:srgbClr val="000000"/>
                </a:solidFill>
                <a:latin typeface="Public Sans"/>
                <a:ea typeface="Public Sans"/>
                <a:cs typeface="Public Sans"/>
                <a:sym typeface="Public Sans"/>
              </a:rPr>
              <a:t>iểu đồ cột ngang thể hiện hàm lượng Protein trung bình</a:t>
            </a:r>
          </a:p>
        </p:txBody>
      </p:sp>
    </p:spTree>
  </p:cSld>
  <p:clrMapOvr>
    <a:masterClrMapping/>
  </p:clrMapOvr>
</p:sld>
</file>

<file path=ppt/slides/slide9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249930" y="3056587"/>
            <a:ext cx="10955900" cy="6921507"/>
          </a:xfrm>
          <a:custGeom>
            <a:avLst/>
            <a:gdLst/>
            <a:ahLst/>
            <a:cxnLst/>
            <a:rect r="r" b="b" t="t" l="l"/>
            <a:pathLst>
              <a:path h="6921507" w="10955900">
                <a:moveTo>
                  <a:pt x="0" y="0"/>
                </a:moveTo>
                <a:lnTo>
                  <a:pt x="10955900" y="0"/>
                </a:lnTo>
                <a:lnTo>
                  <a:pt x="10955900" y="6921507"/>
                </a:lnTo>
                <a:lnTo>
                  <a:pt x="0" y="6921507"/>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Dự Đoán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Chỉ Số Dinh Dưỡng Cân Bằng theo Nhóm Thực Phẩm</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
        <p:nvSpPr>
          <p:cNvPr name="TextBox 10" id="10"/>
          <p:cNvSpPr txBox="true"/>
          <p:nvPr/>
        </p:nvSpPr>
        <p:spPr>
          <a:xfrm rot="0">
            <a:off x="11507379" y="5435215"/>
            <a:ext cx="6780621" cy="1082126"/>
          </a:xfrm>
          <a:prstGeom prst="rect">
            <a:avLst/>
          </a:prstGeom>
        </p:spPr>
        <p:txBody>
          <a:bodyPr anchor="t" rtlCol="false" tIns="0" lIns="0" bIns="0" rIns="0">
            <a:spAutoFit/>
          </a:bodyPr>
          <a:lstStyle/>
          <a:p>
            <a:pPr algn="ctr">
              <a:lnSpc>
                <a:spcPts val="4320"/>
              </a:lnSpc>
              <a:spcBef>
                <a:spcPct val="0"/>
              </a:spcBef>
            </a:pPr>
            <a:r>
              <a:rPr lang="en-US" sz="3200" spc="192">
                <a:solidFill>
                  <a:srgbClr val="000000"/>
                </a:solidFill>
                <a:latin typeface="Public Sans"/>
                <a:ea typeface="Public Sans"/>
                <a:cs typeface="Public Sans"/>
                <a:sym typeface="Public Sans"/>
              </a:rPr>
              <a:t>Biểu đồ c</a:t>
            </a:r>
            <a:r>
              <a:rPr lang="en-US" sz="3200" spc="192">
                <a:solidFill>
                  <a:srgbClr val="000000"/>
                </a:solidFill>
                <a:latin typeface="Public Sans"/>
                <a:ea typeface="Public Sans"/>
                <a:cs typeface="Public Sans"/>
                <a:sym typeface="Public Sans"/>
              </a:rPr>
              <a:t>ột ngang thể hiện hàm lượng chất béo trung bình</a:t>
            </a:r>
          </a:p>
        </p:txBody>
      </p:sp>
    </p:spTree>
  </p:cSld>
  <p:clrMapOvr>
    <a:masterClrMapping/>
  </p:clrMapOvr>
</p:sld>
</file>

<file path=ppt/slides/slide9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Dự Đoán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1.Chỉ Số Dinh Dưỡng Cân Bằng theo Nhóm Thực Phẩm</a:t>
            </a:r>
          </a:p>
        </p:txBody>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
        <p:nvSpPr>
          <p:cNvPr name="TextBox 9" id="9"/>
          <p:cNvSpPr txBox="true"/>
          <p:nvPr/>
        </p:nvSpPr>
        <p:spPr>
          <a:xfrm rot="0">
            <a:off x="2485166" y="3670837"/>
            <a:ext cx="13440221" cy="5425869"/>
          </a:xfrm>
          <a:prstGeom prst="rect">
            <a:avLst/>
          </a:prstGeom>
        </p:spPr>
        <p:txBody>
          <a:bodyPr anchor="t" rtlCol="false" tIns="0" lIns="0" bIns="0" rIns="0">
            <a:spAutoFit/>
          </a:bodyPr>
          <a:lstStyle/>
          <a:p>
            <a:pPr algn="just"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Protein: “Meat” cao nhất → nguồn đạm chủ yế</a:t>
            </a:r>
            <a:r>
              <a:rPr lang="en-US" sz="3200" spc="192">
                <a:solidFill>
                  <a:srgbClr val="000000"/>
                </a:solidFill>
                <a:latin typeface="Public Sans"/>
                <a:ea typeface="Public Sans"/>
                <a:cs typeface="Public Sans"/>
                <a:sym typeface="Public Sans"/>
              </a:rPr>
              <a:t>u; “Dairy” và “Grains” trung bình; “Vegetables” &amp; “Fruits” thấp</a:t>
            </a:r>
          </a:p>
          <a:p>
            <a:pPr algn="just"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Lipid: “D</a:t>
            </a:r>
            <a:r>
              <a:rPr lang="en-US" sz="3200" spc="192">
                <a:solidFill>
                  <a:srgbClr val="000000"/>
                </a:solidFill>
                <a:latin typeface="Public Sans"/>
                <a:ea typeface="Public Sans"/>
                <a:cs typeface="Public Sans"/>
                <a:sym typeface="Public Sans"/>
              </a:rPr>
              <a:t>airy” cao nhất nhờ phô mai, bơ; “Meat” dao động, “Vegetables” &amp; “Fruits” gần như không đáng kể</a:t>
            </a:r>
          </a:p>
          <a:p>
            <a:pPr algn="just">
              <a:lnSpc>
                <a:spcPts val="4320"/>
              </a:lnSpc>
              <a:spcBef>
                <a:spcPct val="0"/>
              </a:spcBef>
            </a:pPr>
            <a:r>
              <a:rPr lang="en-US" b="true" sz="3200" spc="192">
                <a:solidFill>
                  <a:srgbClr val="000000"/>
                </a:solidFill>
                <a:latin typeface="Public Sans Bold"/>
                <a:ea typeface="Public Sans Bold"/>
                <a:cs typeface="Public Sans Bold"/>
                <a:sym typeface="Public Sans Bold"/>
              </a:rPr>
              <a:t>Nhận xét:</a:t>
            </a:r>
            <a:r>
              <a:rPr lang="en-US" sz="3200" spc="192">
                <a:solidFill>
                  <a:srgbClr val="000000"/>
                </a:solidFill>
                <a:latin typeface="Public Sans"/>
                <a:ea typeface="Public Sans"/>
                <a:cs typeface="Public Sans"/>
                <a:sym typeface="Public Sans"/>
              </a:rPr>
              <a:t> Không nhóm nào hoàn toàn cân bằng; mỗi nhóm mạnh về một thành phần dinh dưỡng</a:t>
            </a:r>
          </a:p>
          <a:p>
            <a:pPr algn="just">
              <a:lnSpc>
                <a:spcPts val="4320"/>
              </a:lnSpc>
              <a:spcBef>
                <a:spcPct val="0"/>
              </a:spcBef>
            </a:pPr>
            <a:r>
              <a:rPr lang="en-US" b="true" sz="3200" spc="192">
                <a:solidFill>
                  <a:srgbClr val="000000"/>
                </a:solidFill>
                <a:latin typeface="Public Sans Bold"/>
                <a:ea typeface="Public Sans Bold"/>
                <a:cs typeface="Public Sans Bold"/>
                <a:sym typeface="Public Sans Bold"/>
              </a:rPr>
              <a:t>Kết luận: </a:t>
            </a:r>
            <a:r>
              <a:rPr lang="en-US" sz="3200" spc="192">
                <a:solidFill>
                  <a:srgbClr val="000000"/>
                </a:solidFill>
                <a:latin typeface="Public Sans"/>
                <a:ea typeface="Public Sans"/>
                <a:cs typeface="Public Sans"/>
                <a:sym typeface="Public Sans"/>
              </a:rPr>
              <a:t>Chế độ ăn lành mạnh cần kết hợp đa dạng nhóm thực phẩm để đảm bảo cân bằng Protein, Lipid, Carbohydrate, và Nước</a:t>
            </a:r>
          </a:p>
          <a:p>
            <a:pPr algn="just">
              <a:lnSpc>
                <a:spcPts val="4320"/>
              </a:lnSpc>
              <a:spcBef>
                <a:spcPct val="0"/>
              </a:spcBef>
            </a:pPr>
          </a:p>
        </p:txBody>
      </p:sp>
    </p:spTree>
  </p:cSld>
  <p:clrMapOvr>
    <a:masterClrMapping/>
  </p:clrMapOvr>
</p:sld>
</file>

<file path=ppt/slides/slide9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666772"/>
          </a:xfrm>
          <a:prstGeom prst="rect">
            <a:avLst/>
          </a:prstGeom>
        </p:spPr>
        <p:txBody>
          <a:bodyPr anchor="t" rtlCol="false" tIns="0" lIns="0" bIns="0" rIns="0">
            <a:spAutoFit/>
          </a:bodyPr>
          <a:lstStyle/>
          <a:p>
            <a:pPr algn="ctr">
              <a:lnSpc>
                <a:spcPts val="5399"/>
              </a:lnSpc>
              <a:spcBef>
                <a:spcPct val="0"/>
              </a:spcBef>
            </a:pPr>
            <a:r>
              <a:rPr lang="en-US" b="true" sz="3999" spc="239">
                <a:solidFill>
                  <a:srgbClr val="000000"/>
                </a:solidFill>
                <a:latin typeface="Public Sans Bold"/>
                <a:ea typeface="Public Sans Bold"/>
                <a:cs typeface="Public Sans Bold"/>
                <a:sym typeface="Public Sans Bold"/>
              </a:rPr>
              <a:t>Phân Tích Dự Đoán</a:t>
            </a:r>
          </a:p>
        </p:txBody>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Cơ sở dữ liệu Thực phẩm USDA</a:t>
            </a:r>
          </a:p>
        </p:txBody>
      </p:sp>
      <p:sp>
        <p:nvSpPr>
          <p:cNvPr name="TextBox 9" id="9"/>
          <p:cNvSpPr txBox="true"/>
          <p:nvPr/>
        </p:nvSpPr>
        <p:spPr>
          <a:xfrm rot="0">
            <a:off x="407659" y="3285581"/>
            <a:ext cx="17605230" cy="6511804"/>
          </a:xfrm>
          <a:prstGeom prst="rect">
            <a:avLst/>
          </a:prstGeom>
        </p:spPr>
        <p:txBody>
          <a:bodyPr anchor="t" rtlCol="false" tIns="0" lIns="0" bIns="0" rIns="0">
            <a:spAutoFit/>
          </a:bodyPr>
          <a:lstStyle/>
          <a:p>
            <a:pPr algn="just">
              <a:lnSpc>
                <a:spcPts val="4320"/>
              </a:lnSpc>
              <a:spcBef>
                <a:spcPct val="0"/>
              </a:spcBef>
            </a:pPr>
            <a:r>
              <a:rPr lang="en-US" b="true" sz="3200" spc="192">
                <a:solidFill>
                  <a:srgbClr val="000000"/>
                </a:solidFill>
                <a:latin typeface="Public Sans Bold"/>
                <a:ea typeface="Public Sans Bold"/>
                <a:cs typeface="Public Sans Bold"/>
                <a:sym typeface="Public Sans Bold"/>
              </a:rPr>
              <a:t>Mỗi nhóm thực phẩm có đặc</a:t>
            </a:r>
            <a:r>
              <a:rPr lang="en-US" b="true" sz="3200" spc="192">
                <a:solidFill>
                  <a:srgbClr val="000000"/>
                </a:solidFill>
                <a:latin typeface="Public Sans Bold"/>
                <a:ea typeface="Public Sans Bold"/>
                <a:cs typeface="Public Sans Bold"/>
                <a:sym typeface="Public Sans Bold"/>
              </a:rPr>
              <a:t> điểm nổi bật riêng về:</a:t>
            </a:r>
          </a:p>
          <a:p>
            <a:pPr algn="just"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Protein: Meat,</a:t>
            </a:r>
            <a:r>
              <a:rPr lang="en-US" sz="3200" spc="192">
                <a:solidFill>
                  <a:srgbClr val="000000"/>
                </a:solidFill>
                <a:latin typeface="Public Sans"/>
                <a:ea typeface="Public Sans"/>
                <a:cs typeface="Public Sans"/>
                <a:sym typeface="Public Sans"/>
              </a:rPr>
              <a:t> D</a:t>
            </a:r>
            <a:r>
              <a:rPr lang="en-US" sz="3200" spc="192">
                <a:solidFill>
                  <a:srgbClr val="000000"/>
                </a:solidFill>
                <a:latin typeface="Public Sans"/>
                <a:ea typeface="Public Sans"/>
                <a:cs typeface="Public Sans"/>
                <a:sym typeface="Public Sans"/>
              </a:rPr>
              <a:t>airy</a:t>
            </a:r>
          </a:p>
          <a:p>
            <a:pPr algn="just"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Chất béo: Dairy, Fats &amp; Oils</a:t>
            </a:r>
          </a:p>
          <a:p>
            <a:pPr algn="just"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Carbohydrate: Grains, Snacks</a:t>
            </a:r>
          </a:p>
          <a:p>
            <a:pPr algn="just"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Nước &amp; Vi chất: Fruits, Vegetables</a:t>
            </a:r>
          </a:p>
          <a:p>
            <a:pPr algn="just">
              <a:lnSpc>
                <a:spcPts val="4320"/>
              </a:lnSpc>
              <a:spcBef>
                <a:spcPct val="0"/>
              </a:spcBef>
            </a:pPr>
            <a:r>
              <a:rPr lang="en-US" b="true" sz="3200" spc="192">
                <a:solidFill>
                  <a:srgbClr val="000000"/>
                </a:solidFill>
                <a:latin typeface="Public Sans Bold"/>
                <a:ea typeface="Public Sans Bold"/>
                <a:cs typeface="Public Sans Bold"/>
                <a:sym typeface="Public Sans Bold"/>
              </a:rPr>
              <a:t>Khuyến nghị:</a:t>
            </a:r>
          </a:p>
          <a:p>
            <a:pPr algn="just"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Kết hợp đa dạng n</a:t>
            </a:r>
            <a:r>
              <a:rPr lang="en-US" sz="3200" spc="192">
                <a:solidFill>
                  <a:srgbClr val="000000"/>
                </a:solidFill>
                <a:latin typeface="Public Sans"/>
                <a:ea typeface="Public Sans"/>
                <a:cs typeface="Public Sans"/>
                <a:sym typeface="Public Sans"/>
              </a:rPr>
              <a:t>h</a:t>
            </a:r>
            <a:r>
              <a:rPr lang="en-US" sz="3200" spc="192">
                <a:solidFill>
                  <a:srgbClr val="000000"/>
                </a:solidFill>
                <a:latin typeface="Public Sans"/>
                <a:ea typeface="Public Sans"/>
                <a:cs typeface="Public Sans"/>
                <a:sym typeface="Public Sans"/>
              </a:rPr>
              <a:t>óm</a:t>
            </a:r>
            <a:r>
              <a:rPr lang="en-US" sz="3200" spc="192">
                <a:solidFill>
                  <a:srgbClr val="000000"/>
                </a:solidFill>
                <a:latin typeface="Public Sans"/>
                <a:ea typeface="Public Sans"/>
                <a:cs typeface="Public Sans"/>
                <a:sym typeface="Public Sans"/>
              </a:rPr>
              <a:t> t</a:t>
            </a:r>
            <a:r>
              <a:rPr lang="en-US" sz="3200" spc="192">
                <a:solidFill>
                  <a:srgbClr val="000000"/>
                </a:solidFill>
                <a:latin typeface="Public Sans"/>
                <a:ea typeface="Public Sans"/>
                <a:cs typeface="Public Sans"/>
                <a:sym typeface="Public Sans"/>
              </a:rPr>
              <a:t>hực phẩm để đảm bảo cân bằng dinh dưỡng</a:t>
            </a:r>
          </a:p>
          <a:p>
            <a:pPr algn="just"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Hạn chế thực phẩm “năng</a:t>
            </a:r>
            <a:r>
              <a:rPr lang="en-US" sz="3200" spc="192">
                <a:solidFill>
                  <a:srgbClr val="000000"/>
                </a:solidFill>
                <a:latin typeface="Public Sans"/>
                <a:ea typeface="Public Sans"/>
                <a:cs typeface="Public Sans"/>
                <a:sym typeface="Public Sans"/>
              </a:rPr>
              <a:t> l</a:t>
            </a:r>
            <a:r>
              <a:rPr lang="en-US" sz="3200" spc="192">
                <a:solidFill>
                  <a:srgbClr val="000000"/>
                </a:solidFill>
                <a:latin typeface="Public Sans"/>
                <a:ea typeface="Public Sans"/>
                <a:cs typeface="Public Sans"/>
                <a:sym typeface="Public Sans"/>
              </a:rPr>
              <a:t>ượ</a:t>
            </a:r>
            <a:r>
              <a:rPr lang="en-US" sz="3200" spc="192">
                <a:solidFill>
                  <a:srgbClr val="000000"/>
                </a:solidFill>
                <a:latin typeface="Public Sans"/>
                <a:ea typeface="Public Sans"/>
                <a:cs typeface="Public Sans"/>
                <a:sym typeface="Public Sans"/>
              </a:rPr>
              <a:t>n</a:t>
            </a:r>
            <a:r>
              <a:rPr lang="en-US" sz="3200" spc="192">
                <a:solidFill>
                  <a:srgbClr val="000000"/>
                </a:solidFill>
                <a:latin typeface="Public Sans"/>
                <a:ea typeface="Public Sans"/>
                <a:cs typeface="Public Sans"/>
                <a:sym typeface="Public Sans"/>
              </a:rPr>
              <a:t>g rỗng” (Sweets, Sweetened Beverages)</a:t>
            </a:r>
          </a:p>
          <a:p>
            <a:pPr algn="just">
              <a:lnSpc>
                <a:spcPts val="4320"/>
              </a:lnSpc>
              <a:spcBef>
                <a:spcPct val="0"/>
              </a:spcBef>
            </a:pPr>
            <a:r>
              <a:rPr lang="en-US" b="true" sz="3200" spc="192">
                <a:solidFill>
                  <a:srgbClr val="000000"/>
                </a:solidFill>
                <a:latin typeface="Public Sans Bold"/>
                <a:ea typeface="Public Sans Bold"/>
                <a:cs typeface="Public Sans Bold"/>
                <a:sym typeface="Public Sans Bold"/>
              </a:rPr>
              <a:t>Mục tiêu:</a:t>
            </a:r>
          </a:p>
          <a:p>
            <a:pPr algn="just"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Cung cấp đầy đủ dưỡng chất</a:t>
            </a:r>
          </a:p>
          <a:p>
            <a:pPr algn="just"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Hỗ trợ kiểm soát cân nặng và nâng cao chất lượng bữa ăn hàng ngày</a:t>
            </a:r>
          </a:p>
          <a:p>
            <a:pPr algn="just">
              <a:lnSpc>
                <a:spcPts val="4320"/>
              </a:lnSpc>
              <a:spcBef>
                <a:spcPct val="0"/>
              </a:spcBef>
            </a:pPr>
          </a:p>
        </p:txBody>
      </p:sp>
      <p:sp>
        <p:nvSpPr>
          <p:cNvPr name="TextBox 10" id="10"/>
          <p:cNvSpPr txBox="true"/>
          <p:nvPr/>
        </p:nvSpPr>
        <p:spPr>
          <a:xfrm rot="0">
            <a:off x="2896692" y="2495251"/>
            <a:ext cx="12488146" cy="666772"/>
          </a:xfrm>
          <a:prstGeom prst="rect">
            <a:avLst/>
          </a:prstGeom>
        </p:spPr>
        <p:txBody>
          <a:bodyPr anchor="t" rtlCol="false" tIns="0" lIns="0" bIns="0" rIns="0">
            <a:spAutoFit/>
          </a:bodyPr>
          <a:lstStyle/>
          <a:p>
            <a:pPr algn="ctr">
              <a:lnSpc>
                <a:spcPts val="5399"/>
              </a:lnSpc>
              <a:spcBef>
                <a:spcPct val="0"/>
              </a:spcBef>
            </a:pPr>
            <a:r>
              <a:rPr lang="en-US" b="true" sz="3999" spc="239">
                <a:solidFill>
                  <a:srgbClr val="000000"/>
                </a:solidFill>
                <a:latin typeface="Public Sans Bold"/>
                <a:ea typeface="Public Sans Bold"/>
                <a:cs typeface="Public Sans Bold"/>
                <a:sym typeface="Public Sans Bold"/>
              </a:rPr>
              <a:t>KẾT LUẬN</a:t>
            </a:r>
          </a:p>
        </p:txBody>
      </p:sp>
    </p:spTree>
  </p:cSld>
  <p:clrMapOvr>
    <a:masterClrMapping/>
  </p:clrMapOvr>
</p:sld>
</file>

<file path=ppt/slides/slide9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
        <p:nvSpPr>
          <p:cNvPr name="TextBox 5" id="5"/>
          <p:cNvSpPr txBox="true"/>
          <p:nvPr/>
        </p:nvSpPr>
        <p:spPr>
          <a:xfrm rot="0">
            <a:off x="1028700" y="1468089"/>
            <a:ext cx="16237071" cy="8818911"/>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Giới thiệu</a:t>
            </a:r>
          </a:p>
          <a:p>
            <a:pPr algn="l">
              <a:lnSpc>
                <a:spcPts val="4319"/>
              </a:lnSpc>
            </a:pPr>
            <a:r>
              <a:rPr lang="en-US" sz="3199" spc="191" b="true">
                <a:solidFill>
                  <a:srgbClr val="000000"/>
                </a:solidFill>
                <a:latin typeface="Public Sans Bold"/>
                <a:ea typeface="Public Sans Bold"/>
                <a:cs typeface="Public Sans Bold"/>
                <a:sym typeface="Public Sans Bold"/>
              </a:rPr>
              <a:t>Tập dữ liệu: </a:t>
            </a:r>
            <a:r>
              <a:rPr lang="en-US" sz="3199" spc="191">
                <a:solidFill>
                  <a:srgbClr val="000000"/>
                </a:solidFill>
                <a:latin typeface="Public Sans"/>
                <a:ea typeface="Public Sans"/>
                <a:cs typeface="Public Sans"/>
                <a:sym typeface="Public Sans"/>
              </a:rPr>
              <a:t>Dữ liệu Bầu cử Liên bang 2012</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Tập dữ liệu cung cấp thông tin về các khoản quyên góp cho chiến dịch tổng thống Mỹ 2012.</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Bao gồm các trường: số tiền đóng góp, nghề nghiệp, nhà t</a:t>
            </a:r>
            <a:r>
              <a:rPr lang="en-US" sz="3199" spc="191">
                <a:solidFill>
                  <a:srgbClr val="000000"/>
                </a:solidFill>
                <a:latin typeface="Public Sans"/>
                <a:ea typeface="Public Sans"/>
                <a:cs typeface="Public Sans"/>
                <a:sym typeface="Public Sans"/>
              </a:rPr>
              <a:t>uyển</a:t>
            </a:r>
            <a:r>
              <a:rPr lang="en-US" sz="3199" spc="191">
                <a:solidFill>
                  <a:srgbClr val="000000"/>
                </a:solidFill>
                <a:latin typeface="Public Sans"/>
                <a:ea typeface="Public Sans"/>
                <a:cs typeface="Public Sans"/>
                <a:sym typeface="Public Sans"/>
              </a:rPr>
              <a:t> dụng, tiểu bang, thành phố, đảng phái.</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Dữ liệu cho phép phân tích xu hướng địa lý, xã hội và tài chính trong hoạt động quyên góp.</a:t>
            </a:r>
          </a:p>
          <a:p>
            <a:pPr algn="l">
              <a:lnSpc>
                <a:spcPts val="4319"/>
              </a:lnSpc>
            </a:pPr>
            <a:r>
              <a:rPr lang="en-US" sz="3199" spc="191" b="true">
                <a:solidFill>
                  <a:srgbClr val="000000"/>
                </a:solidFill>
                <a:latin typeface="Public Sans Bold"/>
                <a:ea typeface="Public Sans Bold"/>
                <a:cs typeface="Public Sans Bold"/>
                <a:sym typeface="Public Sans Bold"/>
              </a:rPr>
              <a:t>Mục tiêu</a:t>
            </a:r>
            <a:r>
              <a:rPr lang="en-US" sz="3199" spc="191">
                <a:solidFill>
                  <a:srgbClr val="000000"/>
                </a:solidFill>
                <a:latin typeface="Public Sans"/>
                <a:ea typeface="Public Sans"/>
                <a:cs typeface="Public Sans"/>
                <a:sym typeface="Public Sans"/>
              </a:rPr>
              <a:t>:</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Kiểm tra, làm sạch và</a:t>
            </a:r>
            <a:r>
              <a:rPr lang="en-US" sz="3199" spc="191">
                <a:solidFill>
                  <a:srgbClr val="000000"/>
                </a:solidFill>
                <a:latin typeface="Public Sans"/>
                <a:ea typeface="Public Sans"/>
                <a:cs typeface="Public Sans"/>
                <a:sym typeface="Public Sans"/>
              </a:rPr>
              <a:t> chuẩn hóa dữ liệu.</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Tổng hợp và phân tích theo các nhóm đặc trưng: tiểu bang, nghề nghiệp, nhà tuyển dụng, giá trị đóng góp, ứng viên, đảng phái.</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Trực quan hóa kế</a:t>
            </a:r>
            <a:r>
              <a:rPr lang="en-US" sz="3199" spc="191">
                <a:solidFill>
                  <a:srgbClr val="000000"/>
                </a:solidFill>
                <a:latin typeface="Public Sans"/>
                <a:ea typeface="Public Sans"/>
                <a:cs typeface="Public Sans"/>
                <a:sym typeface="Public Sans"/>
              </a:rPr>
              <a:t>t quả</a:t>
            </a:r>
            <a:r>
              <a:rPr lang="en-US" sz="3199" spc="191">
                <a:solidFill>
                  <a:srgbClr val="000000"/>
                </a:solidFill>
                <a:latin typeface="Public Sans"/>
                <a:ea typeface="Public Sans"/>
                <a:cs typeface="Public Sans"/>
                <a:sym typeface="Public Sans"/>
              </a:rPr>
              <a:t> bằng</a:t>
            </a:r>
            <a:r>
              <a:rPr lang="en-US" sz="3199" spc="191">
                <a:solidFill>
                  <a:srgbClr val="000000"/>
                </a:solidFill>
                <a:latin typeface="Public Sans"/>
                <a:ea typeface="Public Sans"/>
                <a:cs typeface="Public Sans"/>
                <a:sym typeface="Public Sans"/>
              </a:rPr>
              <a:t> biểu đồ đa dạ</a:t>
            </a:r>
            <a:r>
              <a:rPr lang="en-US" sz="3199" spc="191">
                <a:solidFill>
                  <a:srgbClr val="000000"/>
                </a:solidFill>
                <a:latin typeface="Public Sans"/>
                <a:ea typeface="Public Sans"/>
                <a:cs typeface="Public Sans"/>
                <a:sym typeface="Public Sans"/>
              </a:rPr>
              <a:t>ng để nhận diện xu hướng, nhóm và khu vực ảnh hưởng lớn.</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Cung cấp cái nhìn tổng thể về cấu trúc và động lực tài trợ chính trị.</a:t>
            </a:r>
          </a:p>
          <a:p>
            <a:pPr algn="l" marL="0" indent="0" lvl="0">
              <a:lnSpc>
                <a:spcPts val="4319"/>
              </a:lnSpc>
              <a:spcBef>
                <a:spcPct val="0"/>
              </a:spcBef>
            </a:pPr>
          </a:p>
        </p:txBody>
      </p:sp>
      <p:sp>
        <p:nvSpPr>
          <p:cNvPr name="Freeform 6" id="6"/>
          <p:cNvSpPr/>
          <p:nvPr/>
        </p:nvSpPr>
        <p:spPr>
          <a:xfrm flipH="false" flipV="false" rot="0">
            <a:off x="15711732" y="9258300"/>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sld>
</file>

<file path=ppt/slides/slide9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75494"/>
            <a:ext cx="16237071" cy="666772"/>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Quy trình làm sạch và Tiền xử lý dữ liệu</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10203066"/>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1035171" y="4467435"/>
            <a:ext cx="16230600" cy="3919070"/>
          </a:xfrm>
          <a:prstGeom prst="rect">
            <a:avLst/>
          </a:prstGeom>
        </p:spPr>
        <p:txBody>
          <a:bodyPr anchor="t" rtlCol="false" tIns="0" lIns="0" bIns="0" rIns="0">
            <a:spAutoFit/>
          </a:bodyPr>
          <a:lstStyle/>
          <a:p>
            <a:pPr algn="just">
              <a:lnSpc>
                <a:spcPts val="4480"/>
              </a:lnSpc>
            </a:pPr>
            <a:r>
              <a:rPr lang="en-US" b="true" sz="3200">
                <a:solidFill>
                  <a:srgbClr val="000000"/>
                </a:solidFill>
                <a:latin typeface="Public Sans Bold"/>
                <a:ea typeface="Public Sans Bold"/>
                <a:cs typeface="Public Sans Bold"/>
                <a:sym typeface="Public Sans Bold"/>
              </a:rPr>
              <a:t>Giai đoạn 1: Đọc dữ liệu &amp; xử lý giá trị thiếu</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Đọc dữ liệu bằng Pandas, kiểm tra cấu trúc ban đầu.</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Xác định các trường thiếu dữ liệu hoặc không hợp lệ.</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Thay thế/loại bỏ giá trị thiếu:</a:t>
            </a:r>
          </a:p>
          <a:p>
            <a:pPr algn="just" marL="1381761" indent="-460587" lvl="2">
              <a:lnSpc>
                <a:spcPts val="4480"/>
              </a:lnSpc>
              <a:buFont typeface="Arial"/>
              <a:buChar char="⚬"/>
            </a:pPr>
            <a:r>
              <a:rPr lang="en-US" sz="3200">
                <a:solidFill>
                  <a:srgbClr val="000000"/>
                </a:solidFill>
                <a:latin typeface="Public Sans"/>
                <a:ea typeface="Public Sans"/>
                <a:cs typeface="Public Sans"/>
                <a:sym typeface="Public Sans"/>
              </a:rPr>
              <a:t>“Unknown” cho nghề nghiệp và nhà tuyển dụng.</a:t>
            </a:r>
          </a:p>
          <a:p>
            <a:pPr algn="just">
              <a:lnSpc>
                <a:spcPts val="4480"/>
              </a:lnSpc>
            </a:pPr>
            <a:r>
              <a:rPr lang="en-US" b="true" sz="3200">
                <a:solidFill>
                  <a:srgbClr val="000000"/>
                </a:solidFill>
                <a:latin typeface="Public Sans Bold"/>
                <a:ea typeface="Public Sans Bold"/>
                <a:cs typeface="Public Sans Bold"/>
                <a:sym typeface="Public Sans Bold"/>
              </a:rPr>
              <a:t>Kết quả:</a:t>
            </a:r>
            <a:r>
              <a:rPr lang="en-US" sz="3200">
                <a:solidFill>
                  <a:srgbClr val="000000"/>
                </a:solidFill>
                <a:latin typeface="Public Sans"/>
                <a:ea typeface="Public Sans"/>
                <a:cs typeface="Public Sans"/>
                <a:sym typeface="Public Sans"/>
              </a:rPr>
              <a:t> Dữ liệu đầy đủ, chất lượng cao.</a:t>
            </a:r>
          </a:p>
          <a:p>
            <a:pPr algn="just">
              <a:lnSpc>
                <a:spcPts val="4480"/>
              </a:lnSpc>
            </a:pPr>
          </a:p>
        </p:txBody>
      </p:sp>
      <p:sp>
        <p:nvSpPr>
          <p:cNvPr name="TextBox 9" id="9"/>
          <p:cNvSpPr txBox="true"/>
          <p:nvPr/>
        </p:nvSpPr>
        <p:spPr>
          <a:xfrm rot="0">
            <a:off x="921246" y="2423242"/>
            <a:ext cx="16344525" cy="1625094"/>
          </a:xfrm>
          <a:prstGeom prst="rect">
            <a:avLst/>
          </a:prstGeom>
        </p:spPr>
        <p:txBody>
          <a:bodyPr anchor="t" rtlCol="false" tIns="0" lIns="0" bIns="0" rIns="0">
            <a:spAutoFit/>
          </a:bodyPr>
          <a:lstStyle/>
          <a:p>
            <a:pPr algn="l">
              <a:lnSpc>
                <a:spcPts val="4320"/>
              </a:lnSpc>
              <a:spcBef>
                <a:spcPct val="0"/>
              </a:spcBef>
            </a:pPr>
            <a:r>
              <a:rPr lang="en-US" b="true" sz="3200" spc="192">
                <a:solidFill>
                  <a:srgbClr val="000000"/>
                </a:solidFill>
                <a:latin typeface="Public Sans Bold"/>
                <a:ea typeface="Public Sans Bold"/>
                <a:cs typeface="Public Sans Bold"/>
                <a:sym typeface="Public Sans Bold"/>
              </a:rPr>
              <a:t>Mục tiêu:</a:t>
            </a:r>
            <a:r>
              <a:rPr lang="en-US" sz="3200" spc="192">
                <a:solidFill>
                  <a:srgbClr val="000000"/>
                </a:solidFill>
                <a:latin typeface="Public Sans"/>
                <a:ea typeface="Public Sans"/>
                <a:cs typeface="Public Sans"/>
                <a:sym typeface="Public Sans"/>
              </a:rPr>
              <a:t> </a:t>
            </a:r>
            <a:r>
              <a:rPr lang="en-US" sz="3200" spc="192">
                <a:solidFill>
                  <a:srgbClr val="000000"/>
                </a:solidFill>
                <a:latin typeface="Public Sans"/>
                <a:ea typeface="Public Sans"/>
                <a:cs typeface="Public Sans"/>
                <a:sym typeface="Public Sans"/>
              </a:rPr>
              <a:t>Chuyển đổ</a:t>
            </a:r>
            <a:r>
              <a:rPr lang="en-US" sz="3200" spc="192">
                <a:solidFill>
                  <a:srgbClr val="000000"/>
                </a:solidFill>
                <a:latin typeface="Public Sans"/>
                <a:ea typeface="Public Sans"/>
                <a:cs typeface="Public Sans"/>
                <a:sym typeface="Public Sans"/>
              </a:rPr>
              <a:t>i dữ liệu thô (CSV) về các khoản quyên góp tranh cử thành định dạng phân tích thống kê (DataFrame), đảm bảo độ đầy đủ, chính xác và dễ phân tích.</a:t>
            </a:r>
          </a:p>
        </p:txBody>
      </p:sp>
      <p:sp>
        <p:nvSpPr>
          <p:cNvPr name="TextBox 10" id="10"/>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Tree>
  </p:cSld>
  <p:clrMapOvr>
    <a:masterClrMapping/>
  </p:clrMapOvr>
</p:sld>
</file>

<file path=ppt/slides/slide9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028700" y="1575494"/>
            <a:ext cx="16237071" cy="666772"/>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Quy trình làm sạch và Tiền xử lý dữ liệu</a:t>
            </a:r>
          </a:p>
        </p:txBody>
      </p:sp>
      <p:sp>
        <p:nvSpPr>
          <p:cNvPr name="Freeform 5" id="5"/>
          <p:cNvSpPr/>
          <p:nvPr/>
        </p:nvSpPr>
        <p:spPr>
          <a:xfrm flipH="false" flipV="false" rot="0">
            <a:off x="15711732" y="8863207"/>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10203066"/>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1269728" y="2610743"/>
            <a:ext cx="16230600" cy="3357116"/>
          </a:xfrm>
          <a:prstGeom prst="rect">
            <a:avLst/>
          </a:prstGeom>
        </p:spPr>
        <p:txBody>
          <a:bodyPr anchor="t" rtlCol="false" tIns="0" lIns="0" bIns="0" rIns="0">
            <a:spAutoFit/>
          </a:bodyPr>
          <a:lstStyle/>
          <a:p>
            <a:pPr algn="just">
              <a:lnSpc>
                <a:spcPts val="4480"/>
              </a:lnSpc>
            </a:pPr>
            <a:r>
              <a:rPr lang="en-US" sz="3200" b="true">
                <a:solidFill>
                  <a:srgbClr val="000000"/>
                </a:solidFill>
                <a:latin typeface="Public Sans Bold"/>
                <a:ea typeface="Public Sans Bold"/>
                <a:cs typeface="Public Sans Bold"/>
                <a:sym typeface="Public Sans Bold"/>
              </a:rPr>
              <a:t>Giai đoạn 2: Chuẩn hóa &amp; trích xuất đặc trưng</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Chuẩn hóa O</a:t>
            </a:r>
            <a:r>
              <a:rPr lang="en-US" sz="3200">
                <a:solidFill>
                  <a:srgbClr val="000000"/>
                </a:solidFill>
                <a:latin typeface="Public Sans"/>
                <a:ea typeface="Public Sans"/>
                <a:cs typeface="Public Sans"/>
                <a:sym typeface="Public Sans"/>
              </a:rPr>
              <a:t>ccupation &amp; Employer: thống nhất tên, loại bỏ ký tự đặc biệt, viết hoa.</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Tạo biến Đảng phái (Democrat/Republican) và ứng viên chính.</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Phân nhóm giá trị quyên góp để phân tích tần suất.</a:t>
            </a:r>
          </a:p>
          <a:p>
            <a:pPr algn="just">
              <a:lnSpc>
                <a:spcPts val="4480"/>
              </a:lnSpc>
            </a:pPr>
            <a:r>
              <a:rPr lang="en-US" b="true" sz="3200">
                <a:solidFill>
                  <a:srgbClr val="000000"/>
                </a:solidFill>
                <a:latin typeface="Public Sans Bold"/>
                <a:ea typeface="Public Sans Bold"/>
                <a:cs typeface="Public Sans Bold"/>
                <a:sym typeface="Public Sans Bold"/>
              </a:rPr>
              <a:t>Kết quả:</a:t>
            </a:r>
            <a:r>
              <a:rPr lang="en-US" sz="3200">
                <a:solidFill>
                  <a:srgbClr val="000000"/>
                </a:solidFill>
                <a:latin typeface="Public Sans"/>
                <a:ea typeface="Public Sans"/>
                <a:cs typeface="Public Sans"/>
                <a:sym typeface="Public Sans"/>
              </a:rPr>
              <a:t> Nhận diện các nhóm nghề nghiệp, nhà tuyển dụng và ứng viên nổi bật.</a:t>
            </a:r>
          </a:p>
          <a:p>
            <a:pPr algn="just">
              <a:lnSpc>
                <a:spcPts val="4480"/>
              </a:lnSpc>
            </a:pPr>
          </a:p>
        </p:txBody>
      </p:sp>
      <p:sp>
        <p:nvSpPr>
          <p:cNvPr name="TextBox 9" id="9"/>
          <p:cNvSpPr txBox="true"/>
          <p:nvPr/>
        </p:nvSpPr>
        <p:spPr>
          <a:xfrm rot="0">
            <a:off x="1269728" y="6139309"/>
            <a:ext cx="16230600" cy="3357116"/>
          </a:xfrm>
          <a:prstGeom prst="rect">
            <a:avLst/>
          </a:prstGeom>
        </p:spPr>
        <p:txBody>
          <a:bodyPr anchor="t" rtlCol="false" tIns="0" lIns="0" bIns="0" rIns="0">
            <a:spAutoFit/>
          </a:bodyPr>
          <a:lstStyle/>
          <a:p>
            <a:pPr algn="just">
              <a:lnSpc>
                <a:spcPts val="4480"/>
              </a:lnSpc>
            </a:pPr>
            <a:r>
              <a:rPr lang="en-US" sz="3200" b="true">
                <a:solidFill>
                  <a:srgbClr val="000000"/>
                </a:solidFill>
                <a:latin typeface="Public Sans Bold"/>
                <a:ea typeface="Public Sans Bold"/>
                <a:cs typeface="Public Sans Bold"/>
                <a:sym typeface="Public Sans Bold"/>
              </a:rPr>
              <a:t>Giai đoạn 3: Tổng hợp &amp; kết nối dữ liệu</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Tổng hợp </a:t>
            </a:r>
            <a:r>
              <a:rPr lang="en-US" sz="3200">
                <a:solidFill>
                  <a:srgbClr val="000000"/>
                </a:solidFill>
                <a:latin typeface="Public Sans"/>
                <a:ea typeface="Public Sans"/>
                <a:cs typeface="Public Sans"/>
                <a:sym typeface="Public Sans"/>
              </a:rPr>
              <a:t>theo tiểu bang, nghề nghiệp, nhà tuyển dụng, ứng viên, đảng phái, nhóm giá trị.</a:t>
            </a:r>
          </a:p>
          <a:p>
            <a:pPr algn="just" marL="690881" indent="-345440" lvl="1">
              <a:lnSpc>
                <a:spcPts val="4480"/>
              </a:lnSpc>
              <a:buFont typeface="Arial"/>
              <a:buChar char="•"/>
            </a:pPr>
            <a:r>
              <a:rPr lang="en-US" sz="3200">
                <a:solidFill>
                  <a:srgbClr val="000000"/>
                </a:solidFill>
                <a:latin typeface="Public Sans"/>
                <a:ea typeface="Public Sans"/>
                <a:cs typeface="Public Sans"/>
                <a:sym typeface="Public Sans"/>
              </a:rPr>
              <a:t>Tạo bảng pivot và biểu đồ trực quan để khám phá xu hướng.</a:t>
            </a:r>
          </a:p>
          <a:p>
            <a:pPr algn="just">
              <a:lnSpc>
                <a:spcPts val="4480"/>
              </a:lnSpc>
            </a:pPr>
            <a:r>
              <a:rPr lang="en-US" b="true" sz="3200">
                <a:solidFill>
                  <a:srgbClr val="000000"/>
                </a:solidFill>
                <a:latin typeface="Public Sans Bold"/>
                <a:ea typeface="Public Sans Bold"/>
                <a:cs typeface="Public Sans Bold"/>
                <a:sym typeface="Public Sans Bold"/>
              </a:rPr>
              <a:t>Kết quả:</a:t>
            </a:r>
            <a:r>
              <a:rPr lang="en-US" sz="3200">
                <a:solidFill>
                  <a:srgbClr val="000000"/>
                </a:solidFill>
                <a:latin typeface="Public Sans"/>
                <a:ea typeface="Public Sans"/>
                <a:cs typeface="Public Sans"/>
                <a:sym typeface="Public Sans"/>
              </a:rPr>
              <a:t> Dữ liệu sẵn sàng cho phân tích sâu, khám phá địa lý, xã hội và tài chính.</a:t>
            </a:r>
          </a:p>
          <a:p>
            <a:pPr algn="just">
              <a:lnSpc>
                <a:spcPts val="4480"/>
              </a:lnSpc>
            </a:pPr>
          </a:p>
        </p:txBody>
      </p:sp>
      <p:sp>
        <p:nvSpPr>
          <p:cNvPr name="TextBox 10" id="10"/>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Tree>
  </p:cSld>
  <p:clrMapOvr>
    <a:masterClrMapping/>
  </p:clrMapOvr>
</p:sld>
</file>

<file path=ppt/slides/slide10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383078" y="3132348"/>
            <a:ext cx="10123581" cy="6845745"/>
          </a:xfrm>
          <a:custGeom>
            <a:avLst/>
            <a:gdLst/>
            <a:ahLst/>
            <a:cxnLst/>
            <a:rect r="r" b="b" t="t" l="l"/>
            <a:pathLst>
              <a:path h="6845745" w="10123581">
                <a:moveTo>
                  <a:pt x="0" y="0"/>
                </a:moveTo>
                <a:lnTo>
                  <a:pt x="10123580" y="0"/>
                </a:lnTo>
                <a:lnTo>
                  <a:pt x="10123580" y="6845746"/>
                </a:lnTo>
                <a:lnTo>
                  <a:pt x="0" y="6845746"/>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1.Phân tích dữ liệu thiếu</a:t>
            </a:r>
          </a:p>
        </p:txBody>
      </p:sp>
      <p:sp>
        <p:nvSpPr>
          <p:cNvPr name="TextBox 9" id="9"/>
          <p:cNvSpPr txBox="true"/>
          <p:nvPr/>
        </p:nvSpPr>
        <p:spPr>
          <a:xfrm rot="0">
            <a:off x="11178899" y="5473095"/>
            <a:ext cx="6780621" cy="1082126"/>
          </a:xfrm>
          <a:prstGeom prst="rect">
            <a:avLst/>
          </a:prstGeom>
        </p:spPr>
        <p:txBody>
          <a:bodyPr anchor="t" rtlCol="false" tIns="0" lIns="0" bIns="0" rIns="0">
            <a:spAutoFit/>
          </a:bodyPr>
          <a:lstStyle/>
          <a:p>
            <a:pPr algn="ctr">
              <a:lnSpc>
                <a:spcPts val="4320"/>
              </a:lnSpc>
              <a:spcBef>
                <a:spcPct val="0"/>
              </a:spcBef>
            </a:pPr>
            <a:r>
              <a:rPr lang="en-US" sz="3200" spc="192">
                <a:solidFill>
                  <a:srgbClr val="000000"/>
                </a:solidFill>
                <a:latin typeface="Public Sans"/>
                <a:ea typeface="Public Sans"/>
                <a:cs typeface="Public Sans"/>
                <a:sym typeface="Public Sans"/>
              </a:rPr>
              <a:t>Biểu đồ c</a:t>
            </a:r>
            <a:r>
              <a:rPr lang="en-US" sz="3200" spc="192">
                <a:solidFill>
                  <a:srgbClr val="000000"/>
                </a:solidFill>
                <a:latin typeface="Public Sans"/>
                <a:ea typeface="Public Sans"/>
                <a:cs typeface="Public Sans"/>
                <a:sym typeface="Public Sans"/>
              </a:rPr>
              <a:t>ột thể hiện tỷ lệ dữ liệu thiếu (%)</a:t>
            </a:r>
          </a:p>
        </p:txBody>
      </p:sp>
      <p:sp>
        <p:nvSpPr>
          <p:cNvPr name="TextBox 10" id="10"/>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Tree>
  </p:cSld>
  <p:clrMapOvr>
    <a:masterClrMapping/>
  </p:clrMapOvr>
</p:sld>
</file>

<file path=ppt/slides/slide10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425144" y="2981637"/>
            <a:ext cx="9307446" cy="6996456"/>
          </a:xfrm>
          <a:custGeom>
            <a:avLst/>
            <a:gdLst/>
            <a:ahLst/>
            <a:cxnLst/>
            <a:rect r="r" b="b" t="t" l="l"/>
            <a:pathLst>
              <a:path h="6996456" w="9307446">
                <a:moveTo>
                  <a:pt x="0" y="0"/>
                </a:moveTo>
                <a:lnTo>
                  <a:pt x="9307445" y="0"/>
                </a:lnTo>
                <a:lnTo>
                  <a:pt x="9307445" y="6996457"/>
                </a:lnTo>
                <a:lnTo>
                  <a:pt x="0" y="6996457"/>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1.Phân tích dữ liệu thiếu</a:t>
            </a:r>
          </a:p>
        </p:txBody>
      </p:sp>
      <p:sp>
        <p:nvSpPr>
          <p:cNvPr name="TextBox 9" id="9"/>
          <p:cNvSpPr txBox="true"/>
          <p:nvPr/>
        </p:nvSpPr>
        <p:spPr>
          <a:xfrm rot="0">
            <a:off x="10577700" y="5397740"/>
            <a:ext cx="6780621" cy="1082126"/>
          </a:xfrm>
          <a:prstGeom prst="rect">
            <a:avLst/>
          </a:prstGeom>
        </p:spPr>
        <p:txBody>
          <a:bodyPr anchor="t" rtlCol="false" tIns="0" lIns="0" bIns="0" rIns="0">
            <a:spAutoFit/>
          </a:bodyPr>
          <a:lstStyle/>
          <a:p>
            <a:pPr algn="ctr">
              <a:lnSpc>
                <a:spcPts val="4320"/>
              </a:lnSpc>
              <a:spcBef>
                <a:spcPct val="0"/>
              </a:spcBef>
            </a:pPr>
            <a:r>
              <a:rPr lang="en-US" sz="3200" spc="192">
                <a:solidFill>
                  <a:srgbClr val="000000"/>
                </a:solidFill>
                <a:latin typeface="Public Sans"/>
                <a:ea typeface="Public Sans"/>
                <a:cs typeface="Public Sans"/>
                <a:sym typeface="Public Sans"/>
              </a:rPr>
              <a:t> Biểu đồ c</a:t>
            </a:r>
            <a:r>
              <a:rPr lang="en-US" sz="3200" spc="192">
                <a:solidFill>
                  <a:srgbClr val="000000"/>
                </a:solidFill>
                <a:latin typeface="Public Sans"/>
                <a:ea typeface="Public Sans"/>
                <a:cs typeface="Public Sans"/>
                <a:sym typeface="Public Sans"/>
              </a:rPr>
              <a:t>ột thể hiện top 10 tiểu bang - số lượng quyên góp</a:t>
            </a:r>
          </a:p>
        </p:txBody>
      </p:sp>
      <p:sp>
        <p:nvSpPr>
          <p:cNvPr name="TextBox 10" id="10"/>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Tree>
  </p:cSld>
  <p:clrMapOvr>
    <a:masterClrMapping/>
  </p:clrMapOvr>
</p:sld>
</file>

<file path=ppt/slides/slide10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1.Phân tích dữ liệu thiếu</a:t>
            </a:r>
          </a:p>
        </p:txBody>
      </p:sp>
      <p:sp>
        <p:nvSpPr>
          <p:cNvPr name="TextBox 8" id="8"/>
          <p:cNvSpPr txBox="true"/>
          <p:nvPr/>
        </p:nvSpPr>
        <p:spPr>
          <a:xfrm rot="0">
            <a:off x="1531658" y="3245518"/>
            <a:ext cx="15224685" cy="5425869"/>
          </a:xfrm>
          <a:prstGeom prst="rect">
            <a:avLst/>
          </a:prstGeom>
        </p:spPr>
        <p:txBody>
          <a:bodyPr anchor="t" rtlCol="false" tIns="0" lIns="0" bIns="0" rIns="0">
            <a:spAutoFit/>
          </a:bodyPr>
          <a:lstStyle/>
          <a:p>
            <a:pPr algn="l">
              <a:lnSpc>
                <a:spcPts val="4320"/>
              </a:lnSpc>
            </a:pPr>
            <a:r>
              <a:rPr lang="en-US" sz="3200" spc="192" b="true">
                <a:solidFill>
                  <a:srgbClr val="000000"/>
                </a:solidFill>
                <a:latin typeface="Public Sans Bold"/>
                <a:ea typeface="Public Sans Bold"/>
                <a:cs typeface="Public Sans Bold"/>
                <a:sym typeface="Public Sans Bold"/>
              </a:rPr>
              <a:t>Phân tích dữ liệu thiếu</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Biểu đồ V.3.1.a: Tỷ lệ dữ liệu thiếu (%) theo trường.</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Giúp nhận diện các trường cần tiền xử lý, đảm bảo đ</a:t>
            </a:r>
            <a:r>
              <a:rPr lang="en-US" sz="3200" spc="192">
                <a:solidFill>
                  <a:srgbClr val="000000"/>
                </a:solidFill>
                <a:latin typeface="Public Sans"/>
                <a:ea typeface="Public Sans"/>
                <a:cs typeface="Public Sans"/>
                <a:sym typeface="Public Sans"/>
              </a:rPr>
              <a:t>ộ tin cậy cho phân tích tiếp theo.</a:t>
            </a:r>
          </a:p>
          <a:p>
            <a:pPr algn="l">
              <a:lnSpc>
                <a:spcPts val="4320"/>
              </a:lnSpc>
              <a:spcBef>
                <a:spcPct val="0"/>
              </a:spcBef>
            </a:pPr>
            <a:r>
              <a:rPr lang="en-US" b="true" sz="3200" spc="192">
                <a:solidFill>
                  <a:srgbClr val="000000"/>
                </a:solidFill>
                <a:latin typeface="Public Sans Bold"/>
                <a:ea typeface="Public Sans Bold"/>
                <a:cs typeface="Public Sans Bold"/>
                <a:sym typeface="Public Sans Bold"/>
              </a:rPr>
              <a:t>Phân bố đóng góp theo tiểu bang</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Biểu đồ V.3.1.b: Top 10 tiểu bang theo tổng số tiền quyên góp.</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Bang nổi bật: California, Texas, New York.</a:t>
            </a:r>
          </a:p>
          <a:p>
            <a:pPr algn="l">
              <a:lnSpc>
                <a:spcPts val="4320"/>
              </a:lnSpc>
              <a:spcBef>
                <a:spcPct val="0"/>
              </a:spcBef>
            </a:pPr>
            <a:r>
              <a:rPr lang="en-US" b="true" sz="3200" spc="192">
                <a:solidFill>
                  <a:srgbClr val="000000"/>
                </a:solidFill>
                <a:latin typeface="Public Sans Bold"/>
                <a:ea typeface="Public Sans Bold"/>
                <a:cs typeface="Public Sans Bold"/>
                <a:sym typeface="Public Sans Bold"/>
              </a:rPr>
              <a:t>Ý nghĩa:</a:t>
            </a:r>
            <a:r>
              <a:rPr lang="en-US" sz="3200" spc="192">
                <a:solidFill>
                  <a:srgbClr val="000000"/>
                </a:solidFill>
                <a:latin typeface="Public Sans"/>
                <a:ea typeface="Public Sans"/>
                <a:cs typeface="Public Sans"/>
                <a:sym typeface="Public Sans"/>
              </a:rPr>
              <a:t> Một số bang đóng vai trò then chốt trong chiến dịch, phản ánh xu hướng địa lý của quyên góp.</a:t>
            </a:r>
          </a:p>
          <a:p>
            <a:pPr algn="l">
              <a:lnSpc>
                <a:spcPts val="4320"/>
              </a:lnSpc>
              <a:spcBef>
                <a:spcPct val="0"/>
              </a:spcBef>
            </a:pP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Tree>
  </p:cSld>
  <p:clrMapOvr>
    <a:masterClrMapping/>
  </p:clrMapOvr>
</p:sld>
</file>

<file path=ppt/slides/slide10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581146" y="3076357"/>
            <a:ext cx="15678154" cy="5821341"/>
          </a:xfrm>
          <a:custGeom>
            <a:avLst/>
            <a:gdLst/>
            <a:ahLst/>
            <a:cxnLst/>
            <a:rect r="r" b="b" t="t" l="l"/>
            <a:pathLst>
              <a:path h="5821341" w="15678154">
                <a:moveTo>
                  <a:pt x="0" y="0"/>
                </a:moveTo>
                <a:lnTo>
                  <a:pt x="15678154" y="0"/>
                </a:lnTo>
                <a:lnTo>
                  <a:pt x="15678154" y="5821341"/>
                </a:lnTo>
                <a:lnTo>
                  <a:pt x="0" y="5821341"/>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2.Phân tích ngành nghề</a:t>
            </a:r>
          </a:p>
        </p:txBody>
      </p:sp>
      <p:sp>
        <p:nvSpPr>
          <p:cNvPr name="TextBox 9" id="9"/>
          <p:cNvSpPr txBox="true"/>
          <p:nvPr/>
        </p:nvSpPr>
        <p:spPr>
          <a:xfrm rot="0">
            <a:off x="1581146" y="9069148"/>
            <a:ext cx="15678154" cy="539158"/>
          </a:xfrm>
          <a:prstGeom prst="rect">
            <a:avLst/>
          </a:prstGeom>
        </p:spPr>
        <p:txBody>
          <a:bodyPr anchor="t" rtlCol="false" tIns="0" lIns="0" bIns="0" rIns="0">
            <a:spAutoFit/>
          </a:bodyPr>
          <a:lstStyle/>
          <a:p>
            <a:pPr algn="ctr">
              <a:lnSpc>
                <a:spcPts val="4320"/>
              </a:lnSpc>
              <a:spcBef>
                <a:spcPct val="0"/>
              </a:spcBef>
            </a:pPr>
            <a:r>
              <a:rPr lang="en-US" sz="3200" spc="192">
                <a:solidFill>
                  <a:srgbClr val="000000"/>
                </a:solidFill>
                <a:latin typeface="Public Sans"/>
                <a:ea typeface="Public Sans"/>
                <a:cs typeface="Public Sans"/>
                <a:sym typeface="Public Sans"/>
              </a:rPr>
              <a:t> Biểu đồ c</a:t>
            </a:r>
            <a:r>
              <a:rPr lang="en-US" sz="3200" spc="192">
                <a:solidFill>
                  <a:srgbClr val="000000"/>
                </a:solidFill>
                <a:latin typeface="Public Sans"/>
                <a:ea typeface="Public Sans"/>
                <a:cs typeface="Public Sans"/>
                <a:sym typeface="Public Sans"/>
              </a:rPr>
              <a:t>ột thể hiện Top 15 ngành nghề ở số lượng - tổng tiền quyên góp</a:t>
            </a:r>
          </a:p>
        </p:txBody>
      </p:sp>
      <p:sp>
        <p:nvSpPr>
          <p:cNvPr name="TextBox 10" id="10"/>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Tree>
  </p:cSld>
  <p:clrMapOvr>
    <a:masterClrMapping/>
  </p:clrMapOvr>
</p:sld>
</file>

<file path=ppt/slides/slide10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mô tả</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2.Phân tích ngành nghề</a:t>
            </a:r>
          </a:p>
        </p:txBody>
      </p:sp>
      <p:sp>
        <p:nvSpPr>
          <p:cNvPr name="TextBox 8" id="8"/>
          <p:cNvSpPr txBox="true"/>
          <p:nvPr/>
        </p:nvSpPr>
        <p:spPr>
          <a:xfrm rot="0">
            <a:off x="1531658" y="3245518"/>
            <a:ext cx="15224685" cy="5968837"/>
          </a:xfrm>
          <a:prstGeom prst="rect">
            <a:avLst/>
          </a:prstGeom>
        </p:spPr>
        <p:txBody>
          <a:bodyPr anchor="t" rtlCol="false" tIns="0" lIns="0" bIns="0" rIns="0">
            <a:spAutoFit/>
          </a:bodyPr>
          <a:lstStyle/>
          <a:p>
            <a:pPr algn="l">
              <a:lnSpc>
                <a:spcPts val="4320"/>
              </a:lnSpc>
            </a:pPr>
            <a:r>
              <a:rPr lang="en-US" sz="3200" spc="192" b="true">
                <a:solidFill>
                  <a:srgbClr val="000000"/>
                </a:solidFill>
                <a:latin typeface="Public Sans Bold"/>
                <a:ea typeface="Public Sans Bold"/>
                <a:cs typeface="Public Sans Bold"/>
                <a:sym typeface="Public Sans Bold"/>
              </a:rPr>
              <a:t>Top 15 nghề nghiệp theo tổng tiền quyên góp</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Biểu đồ hiển thị các nghề nghiệp đóng góp nhiều nhất.</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Nghề nghiệp nổi bật: Luật sư, Giám đốc điều hành, Giáo v</a:t>
            </a:r>
            <a:r>
              <a:rPr lang="en-US" sz="3200" spc="192">
                <a:solidFill>
                  <a:srgbClr val="000000"/>
                </a:solidFill>
                <a:latin typeface="Public Sans"/>
                <a:ea typeface="Public Sans"/>
                <a:cs typeface="Public Sans"/>
                <a:sym typeface="Public Sans"/>
              </a:rPr>
              <a:t>iên, Bác sĩ.</a:t>
            </a:r>
          </a:p>
          <a:p>
            <a:pPr algn="l">
              <a:lnSpc>
                <a:spcPts val="4320"/>
              </a:lnSpc>
              <a:spcBef>
                <a:spcPct val="0"/>
              </a:spcBef>
            </a:pPr>
            <a:r>
              <a:rPr lang="en-US" b="true" sz="3200" spc="192">
                <a:solidFill>
                  <a:srgbClr val="000000"/>
                </a:solidFill>
                <a:latin typeface="Public Sans Bold"/>
                <a:ea typeface="Public Sans Bold"/>
                <a:cs typeface="Public Sans Bold"/>
                <a:sym typeface="Public Sans Bold"/>
              </a:rPr>
              <a:t>Ý nghĩa:</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Nhóm trí thức, chuyên môn và lãnh đạo doanh nghiệp có tác động lớn đến hoạt động tài trợ chính trị.</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Giúp</a:t>
            </a:r>
            <a:r>
              <a:rPr lang="en-US" sz="3200" spc="192">
                <a:solidFill>
                  <a:srgbClr val="000000"/>
                </a:solidFill>
                <a:latin typeface="Public Sans"/>
                <a:ea typeface="Public Sans"/>
                <a:cs typeface="Public Sans"/>
                <a:sym typeface="Public Sans"/>
              </a:rPr>
              <a:t> nhận diện xu hướng ủng hộ của từng nhóm nghề nghiệp đối với ứng viên và đảng phái.</a:t>
            </a:r>
          </a:p>
          <a:p>
            <a:pPr algn="l" marL="690881" indent="-345440" lvl="1">
              <a:lnSpc>
                <a:spcPts val="4320"/>
              </a:lnSpc>
              <a:spcBef>
                <a:spcPct val="0"/>
              </a:spcBef>
              <a:buFont typeface="Arial"/>
              <a:buChar char="•"/>
            </a:pPr>
            <a:r>
              <a:rPr lang="en-US" sz="3200" spc="192">
                <a:solidFill>
                  <a:srgbClr val="000000"/>
                </a:solidFill>
                <a:latin typeface="Public Sans"/>
                <a:ea typeface="Public Sans"/>
                <a:cs typeface="Public Sans"/>
                <a:sym typeface="Public Sans"/>
              </a:rPr>
              <a:t>Hỗ trợ kể chuyện dữ liệu trực quan, làm nổi bật tác động xã hội của từng ngành nghề.</a:t>
            </a:r>
          </a:p>
          <a:p>
            <a:pPr algn="l">
              <a:lnSpc>
                <a:spcPts val="4320"/>
              </a:lnSpc>
              <a:spcBef>
                <a:spcPct val="0"/>
              </a:spcBef>
            </a:pP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Tree>
  </p:cSld>
  <p:clrMapOvr>
    <a:masterClrMapping/>
  </p:clrMapOvr>
</p:sld>
</file>

<file path=ppt/slides/slide10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3411417" y="2846598"/>
            <a:ext cx="11458695" cy="7440402"/>
          </a:xfrm>
          <a:custGeom>
            <a:avLst/>
            <a:gdLst/>
            <a:ahLst/>
            <a:cxnLst/>
            <a:rect r="r" b="b" t="t" l="l"/>
            <a:pathLst>
              <a:path h="7440402" w="11458695">
                <a:moveTo>
                  <a:pt x="0" y="0"/>
                </a:moveTo>
                <a:lnTo>
                  <a:pt x="11458695" y="0"/>
                </a:lnTo>
                <a:lnTo>
                  <a:pt x="11458695" y="7440402"/>
                </a:lnTo>
                <a:lnTo>
                  <a:pt x="0" y="7440402"/>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1.Phân tích tương quan theo Đảng Phái</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Tree>
  </p:cSld>
  <p:clrMapOvr>
    <a:masterClrMapping/>
  </p:clrMapOvr>
</p:sld>
</file>

<file path=ppt/slides/slide10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1.Phân tích tương quan theo Đảng Phái</a:t>
            </a:r>
          </a:p>
        </p:txBody>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
        <p:nvSpPr>
          <p:cNvPr name="TextBox 9" id="9"/>
          <p:cNvSpPr txBox="true"/>
          <p:nvPr/>
        </p:nvSpPr>
        <p:spPr>
          <a:xfrm rot="0">
            <a:off x="1775818" y="3127869"/>
            <a:ext cx="14605892" cy="6511804"/>
          </a:xfrm>
          <a:prstGeom prst="rect">
            <a:avLst/>
          </a:prstGeom>
        </p:spPr>
        <p:txBody>
          <a:bodyPr anchor="t" rtlCol="false" tIns="0" lIns="0" bIns="0" rIns="0">
            <a:spAutoFit/>
          </a:bodyPr>
          <a:lstStyle/>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Nhóm nghề nghiệp được thống kê và so sánh giữa Democrat và Republican.</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Kết quả: Một số nghề nghiệp đóng góp nổi bật cho từng đảng, phản ánh sự khác biệt về cơ cấu xã hội.</a:t>
            </a:r>
          </a:p>
          <a:p>
            <a:pPr algn="l">
              <a:lnSpc>
                <a:spcPts val="4320"/>
              </a:lnSpc>
            </a:pPr>
            <a:r>
              <a:rPr lang="en-US" b="true" sz="3200" spc="192">
                <a:solidFill>
                  <a:srgbClr val="000000"/>
                </a:solidFill>
                <a:latin typeface="Public Sans Bold"/>
                <a:ea typeface="Public Sans Bold"/>
                <a:cs typeface="Public Sans Bold"/>
                <a:sym typeface="Public Sans Bold"/>
              </a:rPr>
              <a:t>Biểu đồ c</a:t>
            </a:r>
            <a:r>
              <a:rPr lang="en-US" b="true" sz="3200" spc="192">
                <a:solidFill>
                  <a:srgbClr val="000000"/>
                </a:solidFill>
                <a:latin typeface="Public Sans Bold"/>
                <a:ea typeface="Public Sans Bold"/>
                <a:cs typeface="Public Sans Bold"/>
                <a:sym typeface="Public Sans Bold"/>
              </a:rPr>
              <a:t>ột ngang:</a:t>
            </a:r>
          </a:p>
          <a:p>
            <a:pPr algn="l" marL="1381761" indent="-460587" lvl="2">
              <a:lnSpc>
                <a:spcPts val="4320"/>
              </a:lnSpc>
              <a:buFont typeface="Arial"/>
              <a:buChar char="⚬"/>
            </a:pPr>
            <a:r>
              <a:rPr lang="en-US" sz="3200" spc="192">
                <a:solidFill>
                  <a:srgbClr val="000000"/>
                </a:solidFill>
                <a:latin typeface="Public Sans"/>
                <a:ea typeface="Public Sans"/>
                <a:cs typeface="Public Sans"/>
                <a:sym typeface="Public Sans"/>
              </a:rPr>
              <a:t>Tổng số tiền quyên góp theo nghề nghiệp phân chia theo đảng.</a:t>
            </a:r>
          </a:p>
          <a:p>
            <a:pPr algn="l" marL="1381761" indent="-460587" lvl="2">
              <a:lnSpc>
                <a:spcPts val="4320"/>
              </a:lnSpc>
              <a:buFont typeface="Arial"/>
              <a:buChar char="⚬"/>
            </a:pPr>
            <a:r>
              <a:rPr lang="en-US" sz="3200" spc="192">
                <a:solidFill>
                  <a:srgbClr val="000000"/>
                </a:solidFill>
                <a:latin typeface="Public Sans"/>
                <a:ea typeface="Public Sans"/>
                <a:cs typeface="Public Sans"/>
                <a:sym typeface="Public Sans"/>
              </a:rPr>
              <a:t>Biểu đồ số lượng giao dịch minh họa mức độ tham gia.</a:t>
            </a:r>
          </a:p>
          <a:p>
            <a:pPr algn="l">
              <a:lnSpc>
                <a:spcPts val="4320"/>
              </a:lnSpc>
            </a:pPr>
            <a:r>
              <a:rPr lang="en-US" b="true" sz="3200" spc="192">
                <a:solidFill>
                  <a:srgbClr val="000000"/>
                </a:solidFill>
                <a:latin typeface="Public Sans Bold"/>
                <a:ea typeface="Public Sans Bold"/>
                <a:cs typeface="Public Sans Bold"/>
                <a:sym typeface="Public Sans Bold"/>
              </a:rPr>
              <a:t>Ý nghĩa:</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Giúp nhận diện các nhóm nghề nghiệp có tác động lớn đến chiến dịch.</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Làm nổi bật xu hướng xã hội trong hoạt động quyên góp.</a:t>
            </a:r>
          </a:p>
          <a:p>
            <a:pPr algn="l">
              <a:lnSpc>
                <a:spcPts val="4320"/>
              </a:lnSpc>
            </a:pPr>
          </a:p>
        </p:txBody>
      </p:sp>
    </p:spTree>
  </p:cSld>
  <p:clrMapOvr>
    <a:masterClrMapping/>
  </p:clrMapOvr>
</p:sld>
</file>

<file path=ppt/slides/slide10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648670" y="2981637"/>
            <a:ext cx="16984189" cy="6302309"/>
          </a:xfrm>
          <a:custGeom>
            <a:avLst/>
            <a:gdLst/>
            <a:ahLst/>
            <a:cxnLst/>
            <a:rect r="r" b="b" t="t" l="l"/>
            <a:pathLst>
              <a:path h="6302309" w="16984189">
                <a:moveTo>
                  <a:pt x="0" y="0"/>
                </a:moveTo>
                <a:lnTo>
                  <a:pt x="16984189" y="0"/>
                </a:lnTo>
                <a:lnTo>
                  <a:pt x="16984189" y="6302309"/>
                </a:lnTo>
                <a:lnTo>
                  <a:pt x="0" y="6302309"/>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2.Phân tích Employer theo Ứng Viên Chính</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
        <p:nvSpPr>
          <p:cNvPr name="TextBox 10" id="10"/>
          <p:cNvSpPr txBox="true"/>
          <p:nvPr/>
        </p:nvSpPr>
        <p:spPr>
          <a:xfrm rot="0">
            <a:off x="648670" y="9226796"/>
            <a:ext cx="16984189" cy="539158"/>
          </a:xfrm>
          <a:prstGeom prst="rect">
            <a:avLst/>
          </a:prstGeom>
        </p:spPr>
        <p:txBody>
          <a:bodyPr anchor="t" rtlCol="false" tIns="0" lIns="0" bIns="0" rIns="0">
            <a:spAutoFit/>
          </a:bodyPr>
          <a:lstStyle/>
          <a:p>
            <a:pPr algn="ctr">
              <a:lnSpc>
                <a:spcPts val="4320"/>
              </a:lnSpc>
              <a:spcBef>
                <a:spcPct val="0"/>
              </a:spcBef>
            </a:pPr>
            <a:r>
              <a:rPr lang="en-US" sz="3200" spc="192">
                <a:solidFill>
                  <a:srgbClr val="000000"/>
                </a:solidFill>
                <a:latin typeface="Public Sans"/>
                <a:ea typeface="Public Sans"/>
                <a:cs typeface="Public Sans"/>
                <a:sym typeface="Public Sans"/>
              </a:rPr>
              <a:t>Biểu đồ c</a:t>
            </a:r>
            <a:r>
              <a:rPr lang="en-US" sz="3200" spc="192">
                <a:solidFill>
                  <a:srgbClr val="000000"/>
                </a:solidFill>
                <a:latin typeface="Public Sans"/>
                <a:ea typeface="Public Sans"/>
                <a:cs typeface="Public Sans"/>
                <a:sym typeface="Public Sans"/>
              </a:rPr>
              <a:t>ột thể hiện sự phân bố theo nhà tuyển dụng và ứng viên</a:t>
            </a:r>
          </a:p>
        </p:txBody>
      </p:sp>
    </p:spTree>
  </p:cSld>
  <p:clrMapOvr>
    <a:masterClrMapping/>
  </p:clrMapOvr>
</p:sld>
</file>

<file path=ppt/slides/slide10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2.Phân tích Employer theo Ứng Viên Chính</a:t>
            </a:r>
          </a:p>
        </p:txBody>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
        <p:nvSpPr>
          <p:cNvPr name="TextBox 9" id="9"/>
          <p:cNvSpPr txBox="true"/>
          <p:nvPr/>
        </p:nvSpPr>
        <p:spPr>
          <a:xfrm rot="0">
            <a:off x="1775818" y="3127869"/>
            <a:ext cx="14605892" cy="7054772"/>
          </a:xfrm>
          <a:prstGeom prst="rect">
            <a:avLst/>
          </a:prstGeom>
        </p:spPr>
        <p:txBody>
          <a:bodyPr anchor="t" rtlCol="false" tIns="0" lIns="0" bIns="0" rIns="0">
            <a:spAutoFit/>
          </a:bodyPr>
          <a:lstStyle/>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Nhà tuyển dụng được thống kê theo số tiền và số lượng giao dịch cho các ứng viên chính.</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Kết quả: Một số tổ chức, doanh nghiệp có mức đóng góp nổi bật cho từng ứng viên.</a:t>
            </a:r>
          </a:p>
          <a:p>
            <a:pPr algn="l">
              <a:lnSpc>
                <a:spcPts val="4320"/>
              </a:lnSpc>
            </a:pPr>
            <a:r>
              <a:rPr lang="en-US" b="true" sz="3200" spc="192">
                <a:solidFill>
                  <a:srgbClr val="000000"/>
                </a:solidFill>
                <a:latin typeface="Public Sans Bold"/>
                <a:ea typeface="Public Sans Bold"/>
                <a:cs typeface="Public Sans Bold"/>
                <a:sym typeface="Public Sans Bold"/>
              </a:rPr>
              <a:t>Biểu đồ</a:t>
            </a:r>
            <a:r>
              <a:rPr lang="en-US" b="true" sz="3200" spc="192">
                <a:solidFill>
                  <a:srgbClr val="000000"/>
                </a:solidFill>
                <a:latin typeface="Public Sans Bold"/>
                <a:ea typeface="Public Sans Bold"/>
                <a:cs typeface="Public Sans Bold"/>
                <a:sym typeface="Public Sans Bold"/>
              </a:rPr>
              <a:t>:</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Tổng số tiền quyên góp từ employer theo ứng viên.</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Biểu đồ số lượng giao dịch minh họa mức độ tham gia của các tổ chức.</a:t>
            </a:r>
          </a:p>
          <a:p>
            <a:pPr algn="l">
              <a:lnSpc>
                <a:spcPts val="4320"/>
              </a:lnSpc>
            </a:pPr>
            <a:r>
              <a:rPr lang="en-US" b="true" sz="3200" spc="192">
                <a:solidFill>
                  <a:srgbClr val="000000"/>
                </a:solidFill>
                <a:latin typeface="Public Sans Bold"/>
                <a:ea typeface="Public Sans Bold"/>
                <a:cs typeface="Public Sans Bold"/>
                <a:sym typeface="Public Sans Bold"/>
              </a:rPr>
              <a:t>Ý nghĩa:</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M</a:t>
            </a:r>
            <a:r>
              <a:rPr lang="en-US" sz="3200" spc="192">
                <a:solidFill>
                  <a:srgbClr val="000000"/>
                </a:solidFill>
                <a:latin typeface="Public Sans"/>
                <a:ea typeface="Public Sans"/>
                <a:cs typeface="Public Sans"/>
                <a:sym typeface="Public Sans"/>
              </a:rPr>
              <a:t>inh họa vai trò các tổ chức trong chiến dịch.</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Hỗ trợ phân tích nguồn lực tài chính và mạng lưới xã hội của ứng viên.</a:t>
            </a:r>
          </a:p>
          <a:p>
            <a:pPr algn="l">
              <a:lnSpc>
                <a:spcPts val="4320"/>
              </a:lnSpc>
            </a:pPr>
          </a:p>
        </p:txBody>
      </p:sp>
    </p:spTree>
  </p:cSld>
  <p:clrMapOvr>
    <a:masterClrMapping/>
  </p:clrMapOvr>
</p:sld>
</file>

<file path=ppt/slides/slide10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3.Phân tích địa lý</a:t>
            </a:r>
          </a:p>
        </p:txBody>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
        <p:nvSpPr>
          <p:cNvPr name="Freeform 9" id="9"/>
          <p:cNvSpPr/>
          <p:nvPr/>
        </p:nvSpPr>
        <p:spPr>
          <a:xfrm flipH="false" flipV="false" rot="0">
            <a:off x="1463263" y="0"/>
            <a:ext cx="15796037" cy="9825334"/>
          </a:xfrm>
          <a:custGeom>
            <a:avLst/>
            <a:gdLst/>
            <a:ahLst/>
            <a:cxnLst/>
            <a:rect r="r" b="b" t="t" l="l"/>
            <a:pathLst>
              <a:path h="9825334" w="15796037">
                <a:moveTo>
                  <a:pt x="0" y="0"/>
                </a:moveTo>
                <a:lnTo>
                  <a:pt x="15796037" y="0"/>
                </a:lnTo>
                <a:lnTo>
                  <a:pt x="15796037" y="9825334"/>
                </a:lnTo>
                <a:lnTo>
                  <a:pt x="0" y="9825334"/>
                </a:lnTo>
                <a:lnTo>
                  <a:pt x="0" y="0"/>
                </a:lnTo>
                <a:close/>
              </a:path>
            </a:pathLst>
          </a:custGeom>
          <a:blipFill>
            <a:blip r:embed="rId12"/>
            <a:stretch>
              <a:fillRect l="0" t="0" r="0" b="0"/>
            </a:stretch>
          </a:blipFill>
        </p:spPr>
      </p:sp>
    </p:spTree>
  </p:cSld>
  <p:clrMapOvr>
    <a:masterClrMapping/>
  </p:clrMapOvr>
</p:sld>
</file>

<file path=ppt/slides/slide11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tương quan</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3.Phân tích địa lý</a:t>
            </a:r>
          </a:p>
        </p:txBody>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
        <p:nvSpPr>
          <p:cNvPr name="TextBox 9" id="9"/>
          <p:cNvSpPr txBox="true"/>
          <p:nvPr/>
        </p:nvSpPr>
        <p:spPr>
          <a:xfrm rot="0">
            <a:off x="1028700" y="3210237"/>
            <a:ext cx="16230600" cy="5425869"/>
          </a:xfrm>
          <a:prstGeom prst="rect">
            <a:avLst/>
          </a:prstGeom>
        </p:spPr>
        <p:txBody>
          <a:bodyPr anchor="t" rtlCol="false" tIns="0" lIns="0" bIns="0" rIns="0">
            <a:spAutoFit/>
          </a:bodyPr>
          <a:lstStyle/>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Dữ liệu nhóm theo state và city, tổng hợp số lượng giao dịch và tổng tiền.</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Kết quả: Một số bang/thành phố có mức đóng góp vượt tr</a:t>
            </a:r>
            <a:r>
              <a:rPr lang="en-US" sz="3200" spc="192">
                <a:solidFill>
                  <a:srgbClr val="000000"/>
                </a:solidFill>
                <a:latin typeface="Public Sans"/>
                <a:ea typeface="Public Sans"/>
                <a:cs typeface="Public Sans"/>
                <a:sym typeface="Public Sans"/>
              </a:rPr>
              <a:t>ội.</a:t>
            </a:r>
          </a:p>
          <a:p>
            <a:pPr algn="l">
              <a:lnSpc>
                <a:spcPts val="4320"/>
              </a:lnSpc>
            </a:pPr>
            <a:r>
              <a:rPr lang="en-US" b="true" sz="3200" spc="192">
                <a:solidFill>
                  <a:srgbClr val="000000"/>
                </a:solidFill>
                <a:latin typeface="Public Sans Bold"/>
                <a:ea typeface="Public Sans Bold"/>
                <a:cs typeface="Public Sans Bold"/>
                <a:sym typeface="Public Sans Bold"/>
              </a:rPr>
              <a:t>Biểu đồ:</a:t>
            </a:r>
          </a:p>
          <a:p>
            <a:pPr algn="l" marL="1381761" indent="-460587" lvl="2">
              <a:lnSpc>
                <a:spcPts val="4320"/>
              </a:lnSpc>
              <a:buFont typeface="Arial"/>
              <a:buChar char="⚬"/>
            </a:pPr>
            <a:r>
              <a:rPr lang="en-US" sz="3200" spc="192">
                <a:solidFill>
                  <a:srgbClr val="000000"/>
                </a:solidFill>
                <a:latin typeface="Public Sans"/>
                <a:ea typeface="Public Sans"/>
                <a:cs typeface="Public Sans"/>
                <a:sym typeface="Public Sans"/>
              </a:rPr>
              <a:t>Top 12 tiểu bang theo tổng tiền và số lượng giao dịch.</a:t>
            </a:r>
          </a:p>
          <a:p>
            <a:pPr algn="l" marL="1381761" indent="-460587" lvl="2">
              <a:lnSpc>
                <a:spcPts val="4320"/>
              </a:lnSpc>
              <a:buFont typeface="Arial"/>
              <a:buChar char="⚬"/>
            </a:pPr>
            <a:r>
              <a:rPr lang="en-US" sz="3200" spc="192">
                <a:solidFill>
                  <a:srgbClr val="000000"/>
                </a:solidFill>
                <a:latin typeface="Public Sans"/>
                <a:ea typeface="Public Sans"/>
                <a:cs typeface="Public Sans"/>
                <a:sym typeface="Public Sans"/>
              </a:rPr>
              <a:t>Biểu đồ cột và ngang minh họa phân hóa địa lý rõ rệt.</a:t>
            </a:r>
          </a:p>
          <a:p>
            <a:pPr algn="l">
              <a:lnSpc>
                <a:spcPts val="4320"/>
              </a:lnSpc>
            </a:pPr>
            <a:r>
              <a:rPr lang="en-US" b="true" sz="3200" spc="192">
                <a:solidFill>
                  <a:srgbClr val="000000"/>
                </a:solidFill>
                <a:latin typeface="Public Sans Bold"/>
                <a:ea typeface="Public Sans Bold"/>
                <a:cs typeface="Public Sans Bold"/>
                <a:sym typeface="Public Sans Bold"/>
              </a:rPr>
              <a:t>Ý nghĩa:</a:t>
            </a:r>
          </a:p>
          <a:p>
            <a:pPr algn="l">
              <a:lnSpc>
                <a:spcPts val="4320"/>
              </a:lnSpc>
            </a:pPr>
            <a:r>
              <a:rPr lang="en-US" sz="3200" spc="192">
                <a:solidFill>
                  <a:srgbClr val="000000"/>
                </a:solidFill>
                <a:latin typeface="Public Sans"/>
                <a:ea typeface="Public Sans"/>
                <a:cs typeface="Public Sans"/>
                <a:sym typeface="Public Sans"/>
              </a:rPr>
              <a:t>Nhận diện các trung tâm tài trợ chính cho chiến dịch.</a:t>
            </a:r>
          </a:p>
          <a:p>
            <a:pPr algn="l">
              <a:lnSpc>
                <a:spcPts val="4320"/>
              </a:lnSpc>
            </a:pPr>
            <a:r>
              <a:rPr lang="en-US" sz="3200" spc="192">
                <a:solidFill>
                  <a:srgbClr val="000000"/>
                </a:solidFill>
                <a:latin typeface="Public Sans"/>
                <a:ea typeface="Public Sans"/>
                <a:cs typeface="Public Sans"/>
                <a:sym typeface="Public Sans"/>
              </a:rPr>
              <a:t>Giúp hiểu sâu hơn về chiến lược vận động tranh cử và mức độ tham gia của cộng đồng địa phương.</a:t>
            </a:r>
          </a:p>
          <a:p>
            <a:pPr algn="l">
              <a:lnSpc>
                <a:spcPts val="4320"/>
              </a:lnSpc>
            </a:pPr>
          </a:p>
        </p:txBody>
      </p:sp>
    </p:spTree>
  </p:cSld>
  <p:clrMapOvr>
    <a:masterClrMapping/>
  </p:clrMapOvr>
</p:sld>
</file>

<file path=ppt/slides/slide11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91501" y="3132348"/>
            <a:ext cx="10987398" cy="6957905"/>
          </a:xfrm>
          <a:custGeom>
            <a:avLst/>
            <a:gdLst/>
            <a:ahLst/>
            <a:cxnLst/>
            <a:rect r="r" b="b" t="t" l="l"/>
            <a:pathLst>
              <a:path h="6957905" w="10987398">
                <a:moveTo>
                  <a:pt x="0" y="0"/>
                </a:moveTo>
                <a:lnTo>
                  <a:pt x="10987398" y="0"/>
                </a:lnTo>
                <a:lnTo>
                  <a:pt x="10987398" y="6957905"/>
                </a:lnTo>
                <a:lnTo>
                  <a:pt x="0" y="6957905"/>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phân nhóm</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Tần suất quyên góp</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
        <p:nvSpPr>
          <p:cNvPr name="TextBox 10" id="10"/>
          <p:cNvSpPr txBox="true"/>
          <p:nvPr/>
        </p:nvSpPr>
        <p:spPr>
          <a:xfrm rot="0">
            <a:off x="11566135" y="5086350"/>
            <a:ext cx="6191544" cy="2168062"/>
          </a:xfrm>
          <a:prstGeom prst="rect">
            <a:avLst/>
          </a:prstGeom>
        </p:spPr>
        <p:txBody>
          <a:bodyPr anchor="t" rtlCol="false" tIns="0" lIns="0" bIns="0" rIns="0">
            <a:spAutoFit/>
          </a:bodyPr>
          <a:lstStyle/>
          <a:p>
            <a:pPr algn="l">
              <a:lnSpc>
                <a:spcPts val="4320"/>
              </a:lnSpc>
              <a:spcBef>
                <a:spcPct val="0"/>
              </a:spcBef>
            </a:pPr>
            <a:r>
              <a:rPr lang="en-US" sz="3200" spc="192">
                <a:solidFill>
                  <a:srgbClr val="000000"/>
                </a:solidFill>
                <a:latin typeface="Public Sans"/>
                <a:ea typeface="Public Sans"/>
                <a:cs typeface="Public Sans"/>
                <a:sym typeface="Public Sans"/>
              </a:rPr>
              <a:t>Phần lớn g</a:t>
            </a:r>
            <a:r>
              <a:rPr lang="en-US" sz="3200" spc="192">
                <a:solidFill>
                  <a:srgbClr val="000000"/>
                </a:solidFill>
                <a:latin typeface="Public Sans"/>
                <a:ea typeface="Public Sans"/>
                <a:cs typeface="Public Sans"/>
                <a:sym typeface="Public Sans"/>
              </a:rPr>
              <a:t>iao dịch nằm trong nhóm giá trị thấp (&lt;100 USD), thể hiện sự tham gia rộng rãi của các cá nhân.</a:t>
            </a:r>
          </a:p>
        </p:txBody>
      </p:sp>
    </p:spTree>
  </p:cSld>
  <p:clrMapOvr>
    <a:masterClrMapping/>
  </p:clrMapOvr>
</p:sld>
</file>

<file path=ppt/slides/slide11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792463" y="3132348"/>
            <a:ext cx="9759420" cy="6498986"/>
          </a:xfrm>
          <a:custGeom>
            <a:avLst/>
            <a:gdLst/>
            <a:ahLst/>
            <a:cxnLst/>
            <a:rect r="r" b="b" t="t" l="l"/>
            <a:pathLst>
              <a:path h="6498986" w="9759420">
                <a:moveTo>
                  <a:pt x="0" y="0"/>
                </a:moveTo>
                <a:lnTo>
                  <a:pt x="9759419" y="0"/>
                </a:lnTo>
                <a:lnTo>
                  <a:pt x="9759419" y="6498986"/>
                </a:lnTo>
                <a:lnTo>
                  <a:pt x="0" y="6498986"/>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phân nhóm</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Tổng số tiền quyên góp </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
        <p:nvSpPr>
          <p:cNvPr name="TextBox 10" id="10"/>
          <p:cNvSpPr txBox="true"/>
          <p:nvPr/>
        </p:nvSpPr>
        <p:spPr>
          <a:xfrm rot="0">
            <a:off x="11178899" y="5086350"/>
            <a:ext cx="6191544" cy="2168062"/>
          </a:xfrm>
          <a:prstGeom prst="rect">
            <a:avLst/>
          </a:prstGeom>
        </p:spPr>
        <p:txBody>
          <a:bodyPr anchor="t" rtlCol="false" tIns="0" lIns="0" bIns="0" rIns="0">
            <a:spAutoFit/>
          </a:bodyPr>
          <a:lstStyle/>
          <a:p>
            <a:pPr algn="l">
              <a:lnSpc>
                <a:spcPts val="4320"/>
              </a:lnSpc>
              <a:spcBef>
                <a:spcPct val="0"/>
              </a:spcBef>
            </a:pPr>
            <a:r>
              <a:rPr lang="en-US" sz="3200" spc="192">
                <a:solidFill>
                  <a:srgbClr val="000000"/>
                </a:solidFill>
                <a:latin typeface="Public Sans"/>
                <a:ea typeface="Public Sans"/>
                <a:cs typeface="Public Sans"/>
                <a:sym typeface="Public Sans"/>
              </a:rPr>
              <a:t>N</a:t>
            </a:r>
            <a:r>
              <a:rPr lang="en-US" sz="3200" spc="192">
                <a:solidFill>
                  <a:srgbClr val="000000"/>
                </a:solidFill>
                <a:latin typeface="Public Sans"/>
                <a:ea typeface="Public Sans"/>
                <a:cs typeface="Public Sans"/>
                <a:sym typeface="Public Sans"/>
              </a:rPr>
              <a:t>hóm giá trị cao (500–1000 USD, &gt;1000 USD) chiếm phần lớn tổng ngân sách chiến dịch, dù số lượng ít.</a:t>
            </a:r>
          </a:p>
        </p:txBody>
      </p:sp>
    </p:spTree>
  </p:cSld>
  <p:clrMapOvr>
    <a:masterClrMapping/>
  </p:clrMapOvr>
</p:sld>
</file>

<file path=ppt/slides/slide11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3993389" y="2981637"/>
            <a:ext cx="10423774" cy="6996456"/>
          </a:xfrm>
          <a:custGeom>
            <a:avLst/>
            <a:gdLst/>
            <a:ahLst/>
            <a:cxnLst/>
            <a:rect r="r" b="b" t="t" l="l"/>
            <a:pathLst>
              <a:path h="6996456" w="10423774">
                <a:moveTo>
                  <a:pt x="0" y="0"/>
                </a:moveTo>
                <a:lnTo>
                  <a:pt x="10423775" y="0"/>
                </a:lnTo>
                <a:lnTo>
                  <a:pt x="10423775" y="6996457"/>
                </a:lnTo>
                <a:lnTo>
                  <a:pt x="0" y="6996457"/>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phân nhóm</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 Tỷ lệ phần trăm tiền quyên góp </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Tree>
  </p:cSld>
  <p:clrMapOvr>
    <a:masterClrMapping/>
  </p:clrMapOvr>
</p:sld>
</file>

<file path=ppt/slides/slide11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2158703" y="2910885"/>
            <a:ext cx="13964124" cy="7067209"/>
          </a:xfrm>
          <a:custGeom>
            <a:avLst/>
            <a:gdLst/>
            <a:ahLst/>
            <a:cxnLst/>
            <a:rect r="r" b="b" t="t" l="l"/>
            <a:pathLst>
              <a:path h="7067209" w="13964124">
                <a:moveTo>
                  <a:pt x="0" y="0"/>
                </a:moveTo>
                <a:lnTo>
                  <a:pt x="13964123" y="0"/>
                </a:lnTo>
                <a:lnTo>
                  <a:pt x="13964123" y="7067209"/>
                </a:lnTo>
                <a:lnTo>
                  <a:pt x="0" y="7067209"/>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phân nhóm</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 Tỷ lệ phần trăm úng viên</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Tree>
  </p:cSld>
  <p:clrMapOvr>
    <a:masterClrMapping/>
  </p:clrMapOvr>
</p:sld>
</file>

<file path=ppt/slides/slide11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phân nhóm</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 Tỷ lệ phần trăm úng viên</a:t>
            </a:r>
          </a:p>
        </p:txBody>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
        <p:nvSpPr>
          <p:cNvPr name="TextBox 9" id="9"/>
          <p:cNvSpPr txBox="true"/>
          <p:nvPr/>
        </p:nvSpPr>
        <p:spPr>
          <a:xfrm rot="0">
            <a:off x="1964599" y="3075198"/>
            <a:ext cx="14481356" cy="5968837"/>
          </a:xfrm>
          <a:prstGeom prst="rect">
            <a:avLst/>
          </a:prstGeom>
        </p:spPr>
        <p:txBody>
          <a:bodyPr anchor="t" rtlCol="false" tIns="0" lIns="0" bIns="0" rIns="0">
            <a:spAutoFit/>
          </a:bodyPr>
          <a:lstStyle/>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M</a:t>
            </a:r>
            <a:r>
              <a:rPr lang="en-US" sz="3200" spc="192">
                <a:solidFill>
                  <a:srgbClr val="000000"/>
                </a:solidFill>
                <a:latin typeface="Public Sans"/>
                <a:ea typeface="Public Sans"/>
                <a:cs typeface="Public Sans"/>
                <a:sym typeface="Public Sans"/>
              </a:rPr>
              <a:t>inh họa tỷ trọng đóng góp từng nhóm giá trị trong tổng số giao dịch và tổng tiền.</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Khi loại bỏ các khoản lớn, thấy rõ vai trò của các khoản quyên góp nhỏ trong chiến dịch.</a:t>
            </a:r>
          </a:p>
          <a:p>
            <a:pPr algn="l">
              <a:lnSpc>
                <a:spcPts val="4320"/>
              </a:lnSpc>
            </a:pPr>
            <a:r>
              <a:rPr lang="en-US" b="true" sz="3200" spc="192">
                <a:solidFill>
                  <a:srgbClr val="000000"/>
                </a:solidFill>
                <a:latin typeface="Public Sans Bold"/>
                <a:ea typeface="Public Sans Bold"/>
                <a:cs typeface="Public Sans Bold"/>
                <a:sym typeface="Public Sans Bold"/>
              </a:rPr>
              <a:t>Ý nghĩa:</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Hiển thị sự phân hóa về mức đóng góp.</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Làm nổi bật vai trò của cả cá nhân đóng góp nhỏ và nhà tài trợ lớn.</a:t>
            </a:r>
          </a:p>
          <a:p>
            <a:pPr algn="l" marL="690881" indent="-345440" lvl="1">
              <a:lnSpc>
                <a:spcPts val="4320"/>
              </a:lnSpc>
              <a:buFont typeface="Arial"/>
              <a:buChar char="•"/>
            </a:pPr>
            <a:r>
              <a:rPr lang="en-US" sz="3200" spc="192">
                <a:solidFill>
                  <a:srgbClr val="000000"/>
                </a:solidFill>
                <a:latin typeface="Public Sans"/>
                <a:ea typeface="Public Sans"/>
                <a:cs typeface="Public Sans"/>
                <a:sym typeface="Public Sans"/>
              </a:rPr>
              <a:t>Giúp hiểu rõ cấu trúc tài trợ và nguồn lực tài chính của các ứng viên.</a:t>
            </a:r>
          </a:p>
          <a:p>
            <a:pPr algn="l">
              <a:lnSpc>
                <a:spcPts val="4320"/>
              </a:lnSpc>
            </a:pPr>
          </a:p>
        </p:txBody>
      </p:sp>
    </p:spTree>
  </p:cSld>
  <p:clrMapOvr>
    <a:masterClrMapping/>
  </p:clrMapOvr>
</p:sld>
</file>

<file path=ppt/slides/slide11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57669" y="3138477"/>
            <a:ext cx="9229007" cy="6547738"/>
          </a:xfrm>
          <a:custGeom>
            <a:avLst/>
            <a:gdLst/>
            <a:ahLst/>
            <a:cxnLst/>
            <a:rect r="r" b="b" t="t" l="l"/>
            <a:pathLst>
              <a:path h="6547738" w="9229007">
                <a:moveTo>
                  <a:pt x="0" y="0"/>
                </a:moveTo>
                <a:lnTo>
                  <a:pt x="9229007" y="0"/>
                </a:lnTo>
                <a:lnTo>
                  <a:pt x="9229007" y="6547738"/>
                </a:lnTo>
                <a:lnTo>
                  <a:pt x="0" y="6547738"/>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thống kê chi tiết</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Tổng tiền quyên góp - tất cả ứng viên</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
        <p:nvSpPr>
          <p:cNvPr name="TextBox 10" id="10"/>
          <p:cNvSpPr txBox="true"/>
          <p:nvPr/>
        </p:nvSpPr>
        <p:spPr>
          <a:xfrm rot="0">
            <a:off x="10370087" y="4883759"/>
            <a:ext cx="7642802" cy="2168062"/>
          </a:xfrm>
          <a:prstGeom prst="rect">
            <a:avLst/>
          </a:prstGeom>
        </p:spPr>
        <p:txBody>
          <a:bodyPr anchor="t" rtlCol="false" tIns="0" lIns="0" bIns="0" rIns="0">
            <a:spAutoFit/>
          </a:bodyPr>
          <a:lstStyle/>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Trực quan hóa ngân sách nhận được từ các khoản đóng góp.</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Một số ứng viên nổi bật với sức hút tài chính lớn nhất.</a:t>
            </a:r>
          </a:p>
        </p:txBody>
      </p:sp>
    </p:spTree>
  </p:cSld>
  <p:clrMapOvr>
    <a:masterClrMapping/>
  </p:clrMapOvr>
</p:sld>
</file>

<file path=ppt/slides/slide11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452008" y="3132348"/>
            <a:ext cx="9957448" cy="6845745"/>
          </a:xfrm>
          <a:custGeom>
            <a:avLst/>
            <a:gdLst/>
            <a:ahLst/>
            <a:cxnLst/>
            <a:rect r="r" b="b" t="t" l="l"/>
            <a:pathLst>
              <a:path h="6845745" w="9957448">
                <a:moveTo>
                  <a:pt x="0" y="0"/>
                </a:moveTo>
                <a:lnTo>
                  <a:pt x="9957447" y="0"/>
                </a:lnTo>
                <a:lnTo>
                  <a:pt x="9957447" y="6845746"/>
                </a:lnTo>
                <a:lnTo>
                  <a:pt x="0" y="6845746"/>
                </a:lnTo>
                <a:lnTo>
                  <a:pt x="0" y="0"/>
                </a:lnTo>
                <a:close/>
              </a:path>
            </a:pathLst>
          </a:custGeom>
          <a:blipFill>
            <a:blip r:embed="rId12"/>
            <a:stretch>
              <a:fillRect l="0" t="0" r="0" b="0"/>
            </a:stretch>
          </a:blipFill>
        </p:spPr>
      </p:sp>
      <p:sp>
        <p:nvSpPr>
          <p:cNvPr name="TextBox 8" id="8"/>
          <p:cNvSpPr txBox="true"/>
          <p:nvPr/>
        </p:nvSpPr>
        <p:spPr>
          <a:xfrm rot="0">
            <a:off x="2961204" y="1629239"/>
            <a:ext cx="12488146" cy="1217360"/>
          </a:xfrm>
          <a:prstGeom prst="rect">
            <a:avLst/>
          </a:prstGeom>
        </p:spPr>
        <p:txBody>
          <a:bodyPr anchor="t" rtlCol="false" tIns="0" lIns="0" bIns="0" rIns="0">
            <a:spAutoFit/>
          </a:bodyPr>
          <a:lstStyle/>
          <a:p>
            <a:pPr algn="ctr">
              <a:lnSpc>
                <a:spcPts val="5399"/>
              </a:lnSpc>
            </a:pPr>
            <a:r>
              <a:rPr lang="en-US" b="true" sz="3999" spc="239">
                <a:solidFill>
                  <a:srgbClr val="000000"/>
                </a:solidFill>
                <a:latin typeface="Public Sans Bold"/>
                <a:ea typeface="Public Sans Bold"/>
                <a:cs typeface="Public Sans Bold"/>
                <a:sym typeface="Public Sans Bold"/>
              </a:rPr>
              <a:t>Phân tích thống kê chi tiết</a:t>
            </a:r>
          </a:p>
          <a:p>
            <a:pPr algn="ctr">
              <a:lnSpc>
                <a:spcPts val="4320"/>
              </a:lnSpc>
              <a:spcBef>
                <a:spcPct val="0"/>
              </a:spcBef>
            </a:pPr>
            <a:r>
              <a:rPr lang="en-US" b="true" sz="3200" spc="192">
                <a:solidFill>
                  <a:srgbClr val="000000"/>
                </a:solidFill>
                <a:latin typeface="Public Sans Bold"/>
                <a:ea typeface="Public Sans Bold"/>
                <a:cs typeface="Public Sans Bold"/>
                <a:sym typeface="Public Sans Bold"/>
              </a:rPr>
              <a:t>Số lượng quyên góp - tất cả ứng viên</a:t>
            </a:r>
          </a:p>
        </p:txBody>
      </p:sp>
      <p:sp>
        <p:nvSpPr>
          <p:cNvPr name="TextBox 9" id="9"/>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
        <p:nvSpPr>
          <p:cNvPr name="TextBox 10" id="10"/>
          <p:cNvSpPr txBox="true"/>
          <p:nvPr/>
        </p:nvSpPr>
        <p:spPr>
          <a:xfrm rot="0">
            <a:off x="10409455" y="5028256"/>
            <a:ext cx="7642802" cy="2711030"/>
          </a:xfrm>
          <a:prstGeom prst="rect">
            <a:avLst/>
          </a:prstGeom>
        </p:spPr>
        <p:txBody>
          <a:bodyPr anchor="t" rtlCol="false" tIns="0" lIns="0" bIns="0" rIns="0">
            <a:spAutoFit/>
          </a:bodyPr>
          <a:lstStyle/>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P</a:t>
            </a:r>
            <a:r>
              <a:rPr lang="en-US" sz="3199" spc="191">
                <a:solidFill>
                  <a:srgbClr val="000000"/>
                </a:solidFill>
                <a:latin typeface="Public Sans"/>
                <a:ea typeface="Public Sans"/>
                <a:cs typeface="Public Sans"/>
                <a:sym typeface="Public Sans"/>
              </a:rPr>
              <a:t>hản ánh mức độ ủng hộ cộng đồng.</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Cho thấy sự khác biệt giữa ứng viên nhận nhiều khoản nhỏ và ứng viên nhận ít khoản lớn.</a:t>
            </a:r>
          </a:p>
        </p:txBody>
      </p:sp>
    </p:spTree>
  </p:cSld>
  <p:clrMapOvr>
    <a:masterClrMapping/>
  </p:clrMapOvr>
</p:sld>
</file>

<file path=ppt/slides/slide11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666772"/>
          </a:xfrm>
          <a:prstGeom prst="rect">
            <a:avLst/>
          </a:prstGeom>
        </p:spPr>
        <p:txBody>
          <a:bodyPr anchor="t" rtlCol="false" tIns="0" lIns="0" bIns="0" rIns="0">
            <a:spAutoFit/>
          </a:bodyPr>
          <a:lstStyle/>
          <a:p>
            <a:pPr algn="ctr">
              <a:lnSpc>
                <a:spcPts val="5399"/>
              </a:lnSpc>
              <a:spcBef>
                <a:spcPct val="0"/>
              </a:spcBef>
            </a:pPr>
            <a:r>
              <a:rPr lang="en-US" b="true" sz="3999" spc="239">
                <a:solidFill>
                  <a:srgbClr val="000000"/>
                </a:solidFill>
                <a:latin typeface="Public Sans Bold"/>
                <a:ea typeface="Public Sans Bold"/>
                <a:cs typeface="Public Sans Bold"/>
                <a:sym typeface="Public Sans Bold"/>
              </a:rPr>
              <a:t>Phân tích thống kê chi tiết</a:t>
            </a:r>
          </a:p>
        </p:txBody>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
        <p:nvSpPr>
          <p:cNvPr name="TextBox 9" id="9"/>
          <p:cNvSpPr txBox="true"/>
          <p:nvPr/>
        </p:nvSpPr>
        <p:spPr>
          <a:xfrm rot="0">
            <a:off x="1797907" y="3286611"/>
            <a:ext cx="14814740" cy="3253998"/>
          </a:xfrm>
          <a:prstGeom prst="rect">
            <a:avLst/>
          </a:prstGeom>
        </p:spPr>
        <p:txBody>
          <a:bodyPr anchor="t" rtlCol="false" tIns="0" lIns="0" bIns="0" rIns="0">
            <a:spAutoFit/>
          </a:bodyPr>
          <a:lstStyle/>
          <a:p>
            <a:pPr algn="l">
              <a:lnSpc>
                <a:spcPts val="4319"/>
              </a:lnSpc>
            </a:pPr>
            <a:r>
              <a:rPr lang="en-US" sz="3199" spc="191" b="true">
                <a:solidFill>
                  <a:srgbClr val="000000"/>
                </a:solidFill>
                <a:latin typeface="Public Sans Bold"/>
                <a:ea typeface="Public Sans Bold"/>
                <a:cs typeface="Public Sans Bold"/>
                <a:sym typeface="Public Sans Bold"/>
              </a:rPr>
              <a:t>Ý ng</a:t>
            </a:r>
            <a:r>
              <a:rPr lang="en-US" b="true" sz="3199" spc="191">
                <a:solidFill>
                  <a:srgbClr val="000000"/>
                </a:solidFill>
                <a:latin typeface="Public Sans Bold"/>
                <a:ea typeface="Public Sans Bold"/>
                <a:cs typeface="Public Sans Bold"/>
                <a:sym typeface="Public Sans Bold"/>
              </a:rPr>
              <a:t>hĩa:</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Giúp hiểu rõ sức mạnh tài chính và xã hội của từng ứng viên.</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Minh họa chiến lược vận động tài chính và xu hướng ủng hộ của cử tri.</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Hỗ trợ việc kể chuyện dữ liệu bằng cách làm nổi bật các ứng viên nổi bật trong chiến dịch.</a:t>
            </a:r>
          </a:p>
        </p:txBody>
      </p:sp>
    </p:spTree>
  </p:cSld>
  <p:clrMapOvr>
    <a:masterClrMapping/>
  </p:clrMapOvr>
</p:sld>
</file>

<file path=ppt/slides/slide11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666772"/>
          </a:xfrm>
          <a:prstGeom prst="rect">
            <a:avLst/>
          </a:prstGeom>
        </p:spPr>
        <p:txBody>
          <a:bodyPr anchor="t" rtlCol="false" tIns="0" lIns="0" bIns="0" rIns="0">
            <a:spAutoFit/>
          </a:bodyPr>
          <a:lstStyle/>
          <a:p>
            <a:pPr algn="ctr">
              <a:lnSpc>
                <a:spcPts val="5399"/>
              </a:lnSpc>
              <a:spcBef>
                <a:spcPct val="0"/>
              </a:spcBef>
            </a:pPr>
            <a:r>
              <a:rPr lang="en-US" b="true" sz="3999" spc="239">
                <a:solidFill>
                  <a:srgbClr val="000000"/>
                </a:solidFill>
                <a:latin typeface="Public Sans Bold"/>
                <a:ea typeface="Public Sans Bold"/>
                <a:cs typeface="Public Sans Bold"/>
                <a:sym typeface="Public Sans Bold"/>
              </a:rPr>
              <a:t>Phân tích thống kê chi tiết</a:t>
            </a:r>
          </a:p>
        </p:txBody>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
        <p:nvSpPr>
          <p:cNvPr name="TextBox 9" id="9"/>
          <p:cNvSpPr txBox="true"/>
          <p:nvPr/>
        </p:nvSpPr>
        <p:spPr>
          <a:xfrm rot="0">
            <a:off x="576568" y="3348535"/>
            <a:ext cx="16682732" cy="6511805"/>
          </a:xfrm>
          <a:prstGeom prst="rect">
            <a:avLst/>
          </a:prstGeom>
        </p:spPr>
        <p:txBody>
          <a:bodyPr anchor="t" rtlCol="false" tIns="0" lIns="0" bIns="0" rIns="0">
            <a:spAutoFit/>
          </a:bodyPr>
          <a:lstStyle/>
          <a:p>
            <a:pPr algn="l">
              <a:lnSpc>
                <a:spcPts val="4319"/>
              </a:lnSpc>
            </a:pPr>
            <a:r>
              <a:rPr lang="en-US" sz="3199" spc="191" b="true">
                <a:solidFill>
                  <a:srgbClr val="000000"/>
                </a:solidFill>
                <a:latin typeface="Public Sans Bold"/>
                <a:ea typeface="Public Sans Bold"/>
                <a:cs typeface="Public Sans Bold"/>
                <a:sym typeface="Public Sans Bold"/>
              </a:rPr>
              <a:t>Tổng qu</a:t>
            </a:r>
            <a:r>
              <a:rPr lang="en-US" b="true" sz="3199" spc="191">
                <a:solidFill>
                  <a:srgbClr val="000000"/>
                </a:solidFill>
                <a:latin typeface="Public Sans Bold"/>
                <a:ea typeface="Public Sans Bold"/>
                <a:cs typeface="Public Sans Bold"/>
                <a:sym typeface="Public Sans Bold"/>
              </a:rPr>
              <a:t>an:</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Hệ</a:t>
            </a:r>
            <a:r>
              <a:rPr lang="en-US" sz="3199" spc="191">
                <a:solidFill>
                  <a:srgbClr val="000000"/>
                </a:solidFill>
                <a:latin typeface="Public Sans"/>
                <a:ea typeface="Public Sans"/>
                <a:cs typeface="Public Sans"/>
                <a:sym typeface="Public Sans"/>
              </a:rPr>
              <a:t> thống biểu đồ trực quan cung cấp cái nhìn tổng thể về hoạt động quyên góp tranh cử 2012.</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Phân tích đa chiều: tiểu bang, nghề nghiệp, nhà tuyển dụng, nhóm giá trị, ứng viên, đảng phái.</a:t>
            </a:r>
          </a:p>
          <a:p>
            <a:pPr algn="l">
              <a:lnSpc>
                <a:spcPts val="4319"/>
              </a:lnSpc>
            </a:pPr>
            <a:r>
              <a:rPr lang="en-US" b="true" sz="3199" spc="191">
                <a:solidFill>
                  <a:srgbClr val="000000"/>
                </a:solidFill>
                <a:latin typeface="Public Sans Bold"/>
                <a:ea typeface="Public Sans Bold"/>
                <a:cs typeface="Public Sans Bold"/>
                <a:sym typeface="Public Sans Bold"/>
              </a:rPr>
              <a:t>Phân hóa nổi bật:</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Địa lý: Một số bang và thành phố nổi bật về mức độ đóng góp.</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Xã hội: Khác biệt về số lượng và giá trị đóng góp giữa các nhóm nghề nghiệp và nhà tuyển dụng.</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Ứng viên &amp; Đảng phái: Sự chênh lệch rõ rệt về ngân sách nhận được và số lượng giao dịch.</a:t>
            </a:r>
          </a:p>
          <a:p>
            <a:pPr algn="l">
              <a:lnSpc>
                <a:spcPts val="4319"/>
              </a:lnSpc>
            </a:pPr>
          </a:p>
        </p:txBody>
      </p:sp>
      <p:sp>
        <p:nvSpPr>
          <p:cNvPr name="TextBox 10" id="10"/>
          <p:cNvSpPr txBox="true"/>
          <p:nvPr/>
        </p:nvSpPr>
        <p:spPr>
          <a:xfrm rot="0">
            <a:off x="2903163" y="2453162"/>
            <a:ext cx="12488146" cy="666772"/>
          </a:xfrm>
          <a:prstGeom prst="rect">
            <a:avLst/>
          </a:prstGeom>
        </p:spPr>
        <p:txBody>
          <a:bodyPr anchor="t" rtlCol="false" tIns="0" lIns="0" bIns="0" rIns="0">
            <a:spAutoFit/>
          </a:bodyPr>
          <a:lstStyle/>
          <a:p>
            <a:pPr algn="ctr">
              <a:lnSpc>
                <a:spcPts val="5399"/>
              </a:lnSpc>
              <a:spcBef>
                <a:spcPct val="0"/>
              </a:spcBef>
            </a:pPr>
            <a:r>
              <a:rPr lang="en-US" b="true" sz="3999" spc="239">
                <a:solidFill>
                  <a:srgbClr val="000000"/>
                </a:solidFill>
                <a:latin typeface="Public Sans Bold"/>
                <a:ea typeface="Public Sans Bold"/>
                <a:cs typeface="Public Sans Bold"/>
                <a:sym typeface="Public Sans Bold"/>
              </a:rPr>
              <a:t>KẾT LUẬN</a:t>
            </a:r>
          </a:p>
        </p:txBody>
      </p:sp>
    </p:spTree>
  </p:cSld>
  <p:clrMapOvr>
    <a:masterClrMapping/>
  </p:clrMapOvr>
</p:sld>
</file>

<file path=ppt/slides/slide12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225792" y="-2268415"/>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11732" y="9978094"/>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0765" y="9978094"/>
            <a:ext cx="4076270" cy="2863579"/>
          </a:xfrm>
          <a:custGeom>
            <a:avLst/>
            <a:gdLst/>
            <a:ahLst/>
            <a:cxnLst/>
            <a:rect r="r" b="b" t="t" l="l"/>
            <a:pathLst>
              <a:path h="2863579" w="4076270">
                <a:moveTo>
                  <a:pt x="0" y="0"/>
                </a:moveTo>
                <a:lnTo>
                  <a:pt x="4076269" y="0"/>
                </a:lnTo>
                <a:lnTo>
                  <a:pt x="4076269"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961204" y="1629239"/>
            <a:ext cx="12488146" cy="666772"/>
          </a:xfrm>
          <a:prstGeom prst="rect">
            <a:avLst/>
          </a:prstGeom>
        </p:spPr>
        <p:txBody>
          <a:bodyPr anchor="t" rtlCol="false" tIns="0" lIns="0" bIns="0" rIns="0">
            <a:spAutoFit/>
          </a:bodyPr>
          <a:lstStyle/>
          <a:p>
            <a:pPr algn="ctr">
              <a:lnSpc>
                <a:spcPts val="5399"/>
              </a:lnSpc>
              <a:spcBef>
                <a:spcPct val="0"/>
              </a:spcBef>
            </a:pPr>
            <a:r>
              <a:rPr lang="en-US" b="true" sz="3999" spc="239">
                <a:solidFill>
                  <a:srgbClr val="000000"/>
                </a:solidFill>
                <a:latin typeface="Public Sans Bold"/>
                <a:ea typeface="Public Sans Bold"/>
                <a:cs typeface="Public Sans Bold"/>
                <a:sym typeface="Public Sans Bold"/>
              </a:rPr>
              <a:t>Phân tích thống kê chi tiết</a:t>
            </a:r>
          </a:p>
        </p:txBody>
      </p:sp>
      <p:sp>
        <p:nvSpPr>
          <p:cNvPr name="TextBox 8" id="8"/>
          <p:cNvSpPr txBox="true"/>
          <p:nvPr/>
        </p:nvSpPr>
        <p:spPr>
          <a:xfrm rot="0">
            <a:off x="4326460" y="755661"/>
            <a:ext cx="9641550" cy="650854"/>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Dữ liệu Bầu cử Liên bang 2012</a:t>
            </a:r>
          </a:p>
        </p:txBody>
      </p:sp>
      <p:sp>
        <p:nvSpPr>
          <p:cNvPr name="TextBox 9" id="9"/>
          <p:cNvSpPr txBox="true"/>
          <p:nvPr/>
        </p:nvSpPr>
        <p:spPr>
          <a:xfrm rot="0">
            <a:off x="799399" y="3586660"/>
            <a:ext cx="16682732" cy="4339934"/>
          </a:xfrm>
          <a:prstGeom prst="rect">
            <a:avLst/>
          </a:prstGeom>
        </p:spPr>
        <p:txBody>
          <a:bodyPr anchor="t" rtlCol="false" tIns="0" lIns="0" bIns="0" rIns="0">
            <a:spAutoFit/>
          </a:bodyPr>
          <a:lstStyle/>
          <a:p>
            <a:pPr algn="l">
              <a:lnSpc>
                <a:spcPts val="4319"/>
              </a:lnSpc>
            </a:pPr>
            <a:r>
              <a:rPr lang="en-US" sz="3199" spc="191" b="true">
                <a:solidFill>
                  <a:srgbClr val="000000"/>
                </a:solidFill>
                <a:latin typeface="Public Sans Bold"/>
                <a:ea typeface="Public Sans Bold"/>
                <a:cs typeface="Public Sans Bold"/>
                <a:sym typeface="Public Sans Bold"/>
              </a:rPr>
              <a:t>N</a:t>
            </a:r>
            <a:r>
              <a:rPr lang="en-US" b="true" sz="3199" spc="191">
                <a:solidFill>
                  <a:srgbClr val="000000"/>
                </a:solidFill>
                <a:latin typeface="Public Sans Bold"/>
                <a:ea typeface="Public Sans Bold"/>
                <a:cs typeface="Public Sans Bold"/>
                <a:sym typeface="Public Sans Bold"/>
              </a:rPr>
              <a:t>hóm giá trị quyên góp: </a:t>
            </a:r>
            <a:r>
              <a:rPr lang="en-US" sz="3199" spc="191">
                <a:solidFill>
                  <a:srgbClr val="000000"/>
                </a:solidFill>
                <a:latin typeface="Public Sans"/>
                <a:ea typeface="Public Sans"/>
                <a:cs typeface="Public Sans"/>
                <a:sym typeface="Public Sans"/>
              </a:rPr>
              <a:t>Các khoản đóng góp nhỏ phổ biến nhưng lớn chiếm phần lớn tổng ngân sách.</a:t>
            </a:r>
          </a:p>
          <a:p>
            <a:pPr algn="l">
              <a:lnSpc>
                <a:spcPts val="4319"/>
              </a:lnSpc>
            </a:pPr>
            <a:r>
              <a:rPr lang="en-US" b="true" sz="3199" spc="191">
                <a:solidFill>
                  <a:srgbClr val="000000"/>
                </a:solidFill>
                <a:latin typeface="Public Sans Bold"/>
                <a:ea typeface="Public Sans Bold"/>
                <a:cs typeface="Public Sans Bold"/>
                <a:sym typeface="Public Sans Bold"/>
              </a:rPr>
              <a:t>Ý nghĩa:</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Trực quan hóa bức tranh tài trợ chính trị, làm nổi bật xu hướng, sự chênh lệch, điểm đặc biệt.</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Giúp nhận diện khu vực, nhóm xã hội và ứng viên có ảnh hưởng lớn.</a:t>
            </a:r>
          </a:p>
          <a:p>
            <a:pPr algn="l" marL="690872" indent="-345436" lvl="1">
              <a:lnSpc>
                <a:spcPts val="4319"/>
              </a:lnSpc>
              <a:buFont typeface="Arial"/>
              <a:buChar char="•"/>
            </a:pPr>
            <a:r>
              <a:rPr lang="en-US" sz="3199" spc="191">
                <a:solidFill>
                  <a:srgbClr val="000000"/>
                </a:solidFill>
                <a:latin typeface="Public Sans"/>
                <a:ea typeface="Public Sans"/>
                <a:cs typeface="Public Sans"/>
                <a:sym typeface="Public Sans"/>
              </a:rPr>
              <a:t>Hỗ trợ kể chuyện dữ liệu sinh động, truyền tải thông tin phức tạp dễ hiểu.</a:t>
            </a:r>
          </a:p>
          <a:p>
            <a:pPr algn="l">
              <a:lnSpc>
                <a:spcPts val="4319"/>
              </a:lnSpc>
            </a:pPr>
          </a:p>
        </p:txBody>
      </p:sp>
      <p:sp>
        <p:nvSpPr>
          <p:cNvPr name="TextBox 10" id="10"/>
          <p:cNvSpPr txBox="true"/>
          <p:nvPr/>
        </p:nvSpPr>
        <p:spPr>
          <a:xfrm rot="0">
            <a:off x="2903163" y="2453162"/>
            <a:ext cx="12488146" cy="666772"/>
          </a:xfrm>
          <a:prstGeom prst="rect">
            <a:avLst/>
          </a:prstGeom>
        </p:spPr>
        <p:txBody>
          <a:bodyPr anchor="t" rtlCol="false" tIns="0" lIns="0" bIns="0" rIns="0">
            <a:spAutoFit/>
          </a:bodyPr>
          <a:lstStyle/>
          <a:p>
            <a:pPr algn="ctr">
              <a:lnSpc>
                <a:spcPts val="5399"/>
              </a:lnSpc>
              <a:spcBef>
                <a:spcPct val="0"/>
              </a:spcBef>
            </a:pPr>
            <a:r>
              <a:rPr lang="en-US" b="true" sz="3999" spc="239">
                <a:solidFill>
                  <a:srgbClr val="000000"/>
                </a:solidFill>
                <a:latin typeface="Public Sans Bold"/>
                <a:ea typeface="Public Sans Bold"/>
                <a:cs typeface="Public Sans Bold"/>
                <a:sym typeface="Public Sans Bold"/>
              </a:rPr>
              <a:t>KẾT LUẬN</a:t>
            </a:r>
          </a:p>
        </p:txBody>
      </p:sp>
    </p:spTree>
  </p:cSld>
  <p:clrMapOvr>
    <a:masterClrMapping/>
  </p:clrMapOvr>
</p:sld>
</file>

<file path=ppt/slides/slide12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5" id="15"/>
          <p:cNvSpPr txBox="true"/>
          <p:nvPr/>
        </p:nvSpPr>
        <p:spPr>
          <a:xfrm rot="0">
            <a:off x="-2784118" y="4580727"/>
            <a:ext cx="24205132" cy="1209674"/>
          </a:xfrm>
          <a:prstGeom prst="rect">
            <a:avLst/>
          </a:prstGeom>
        </p:spPr>
        <p:txBody>
          <a:bodyPr anchor="t" rtlCol="false" tIns="0" lIns="0" bIns="0" rIns="0">
            <a:spAutoFit/>
          </a:bodyPr>
          <a:lstStyle/>
          <a:p>
            <a:pPr algn="ctr">
              <a:lnSpc>
                <a:spcPts val="8699"/>
              </a:lnSpc>
            </a:pPr>
            <a:r>
              <a:rPr lang="en-US" b="true" sz="9999">
                <a:solidFill>
                  <a:srgbClr val="000000"/>
                </a:solidFill>
                <a:latin typeface="Public Sans Bold"/>
                <a:ea typeface="Public Sans Bold"/>
                <a:cs typeface="Public Sans Bold"/>
                <a:sym typeface="Public Sans Bold"/>
              </a:rPr>
              <a:t>Thanks for your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DAG3X59-qJI</dc:identifier>
  <dcterms:modified xsi:type="dcterms:W3CDTF">2011-08-01T06:04:30Z</dcterms:modified>
  <cp:revision>1</cp:revision>
  <dc:title>Lab2 - Phân tích dữ liệu</dc:title>
</cp:coreProperties>
</file>