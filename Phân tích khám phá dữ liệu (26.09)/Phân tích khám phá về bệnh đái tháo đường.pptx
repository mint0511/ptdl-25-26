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18288000" cy="10287000"/>
  <p:notesSz cx="6858000" cy="9144000"/>
  <p:embeddedFontLst>
    <p:embeddedFont>
      <p:font typeface="Public Sans Bold" charset="1" panose="00000000000000000000"/>
      <p:regular r:id="rId54"/>
    </p:embeddedFont>
    <p:embeddedFont>
      <p:font typeface="Public Sans" charset="1" panose="0000000000000000000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fonts/font54.fntdata" Type="http://schemas.openxmlformats.org/officeDocument/2006/relationships/font"/><Relationship Id="rId55" Target="fonts/font55.fntdata" Type="http://schemas.openxmlformats.org/officeDocument/2006/relationships/font"/><Relationship Id="rId56" Target="notesMasters/notesMaster1.xml" Type="http://schemas.openxmlformats.org/officeDocument/2006/relationships/notesMaster"/><Relationship Id="rId57" Target="theme/theme2.xml" Type="http://schemas.openxmlformats.org/officeDocument/2006/relationships/theme"/><Relationship Id="rId58" Target="notesSlides/notesSlide1.xml" Type="http://schemas.openxmlformats.org/officeDocument/2006/relationships/notesSlide"/><Relationship Id="rId59" Target="notesSlides/notesSlide2.xml" Type="http://schemas.openxmlformats.org/officeDocument/2006/relationships/notesSlide"/><Relationship Id="rId6" Target="slides/slide1.xml" Type="http://schemas.openxmlformats.org/officeDocument/2006/relationships/slide"/><Relationship Id="rId60" Target="notesSlides/notesSlide3.xml" Type="http://schemas.openxmlformats.org/officeDocument/2006/relationships/notesSlide"/><Relationship Id="rId61" Target="notesSlides/notesSlide4.xml" Type="http://schemas.openxmlformats.org/officeDocument/2006/relationships/notesSlide"/><Relationship Id="rId62" Target="notesSlides/notesSlide5.xml" Type="http://schemas.openxmlformats.org/officeDocument/2006/relationships/notesSlide"/><Relationship Id="rId63" Target="notesSlides/notesSlide6.xml" Type="http://schemas.openxmlformats.org/officeDocument/2006/relationships/notesSlide"/><Relationship Id="rId64" Target="notesSlides/notesSlide7.xml" Type="http://schemas.openxmlformats.org/officeDocument/2006/relationships/notesSlide"/><Relationship Id="rId65" Target="notesSlides/notesSlide8.xml" Type="http://schemas.openxmlformats.org/officeDocument/2006/relationships/notesSlide"/><Relationship Id="rId66" Target="notesSlides/notesSlide9.xml" Type="http://schemas.openxmlformats.org/officeDocument/2006/relationships/notesSlide"/><Relationship Id="rId67" Target="notesSlides/notesSlide10.xml" Type="http://schemas.openxmlformats.org/officeDocument/2006/relationships/notesSlide"/><Relationship Id="rId68" Target="notesSlides/notesSlide11.xml" Type="http://schemas.openxmlformats.org/officeDocument/2006/relationships/notesSlide"/><Relationship Id="rId69" Target="notesSlides/notesSlide12.xml" Type="http://schemas.openxmlformats.org/officeDocument/2006/relationships/notesSlide"/><Relationship Id="rId7" Target="slides/slide2.xml" Type="http://schemas.openxmlformats.org/officeDocument/2006/relationships/slide"/><Relationship Id="rId70" Target="notesSlides/notesSlide13.xml" Type="http://schemas.openxmlformats.org/officeDocument/2006/relationships/notesSlide"/><Relationship Id="rId71" Target="notesSlides/notesSlide14.xml" Type="http://schemas.openxmlformats.org/officeDocument/2006/relationships/notesSlide"/><Relationship Id="rId72" Target="notesSlides/notesSlide15.xml" Type="http://schemas.openxmlformats.org/officeDocument/2006/relationships/notesSlide"/><Relationship Id="rId73" Target="notesSlides/notesSlide16.xml" Type="http://schemas.openxmlformats.org/officeDocument/2006/relationships/notesSlide"/><Relationship Id="rId74" Target="notesSlides/notesSlide17.xml" Type="http://schemas.openxmlformats.org/officeDocument/2006/relationships/notesSlide"/><Relationship Id="rId75" Target="notesSlides/notesSlide18.xml" Type="http://schemas.openxmlformats.org/officeDocument/2006/relationships/notesSlide"/><Relationship Id="rId76" Target="notesSlides/notesSlide19.xml" Type="http://schemas.openxmlformats.org/officeDocument/2006/relationships/notesSlide"/><Relationship Id="rId77" Target="notesSlides/notesSlide20.xml" Type="http://schemas.openxmlformats.org/officeDocument/2006/relationships/notesSlide"/><Relationship Id="rId78" Target="notesSlides/notesSlide21.xml" Type="http://schemas.openxmlformats.org/officeDocument/2006/relationships/notesSlide"/><Relationship Id="rId79" Target="notesSlides/notesSlide22.xml" Type="http://schemas.openxmlformats.org/officeDocument/2006/relationships/notesSlide"/><Relationship Id="rId8" Target="slides/slide3.xml" Type="http://schemas.openxmlformats.org/officeDocument/2006/relationships/slide"/><Relationship Id="rId80" Target="notesSlides/notesSlide23.xml" Type="http://schemas.openxmlformats.org/officeDocument/2006/relationships/notesSlide"/><Relationship Id="rId81" Target="notesSlides/notesSlide24.xml" Type="http://schemas.openxmlformats.org/officeDocument/2006/relationships/notesSlide"/><Relationship Id="rId82" Target="notesSlides/notesSlide25.xml" Type="http://schemas.openxmlformats.org/officeDocument/2006/relationships/notesSlide"/><Relationship Id="rId83" Target="notesSlides/notesSlide26.xml" Type="http://schemas.openxmlformats.org/officeDocument/2006/relationships/notesSlide"/><Relationship Id="rId84" Target="notesSlides/notesSlide27.xml" Type="http://schemas.openxmlformats.org/officeDocument/2006/relationships/notesSlide"/><Relationship Id="rId85" Target="notesSlides/notesSlide28.xml" Type="http://schemas.openxmlformats.org/officeDocument/2006/relationships/notesSlide"/><Relationship Id="rId86" Target="notesSlides/notesSlide29.xml" Type="http://schemas.openxmlformats.org/officeDocument/2006/relationships/notesSlide"/><Relationship Id="rId87" Target="notesSlides/notesSlide30.xml" Type="http://schemas.openxmlformats.org/officeDocument/2006/relationships/notesSlide"/><Relationship Id="rId88" Target="notesSlides/notesSlide31.xml" Type="http://schemas.openxmlformats.org/officeDocument/2006/relationships/notesSlide"/><Relationship Id="rId89" Target="notesSlides/notesSlide32.xml" Type="http://schemas.openxmlformats.org/officeDocument/2006/relationships/notesSlide"/><Relationship Id="rId9" Target="slides/slide4.xml" Type="http://schemas.openxmlformats.org/officeDocument/2006/relationships/slide"/><Relationship Id="rId90" Target="notesSlides/notesSlide33.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số tính năng quan trọng nhất cần tìm kiếm trong phần mềm MRP:</a:t>
            </a:r>
          </a:p>
          <a:p>
            <a:r>
              <a:rPr lang="en-US"/>
              <a:t>Dự báo nhu cầu (Demand forecasting): MRP phải có khả năng tạo ra các dự báo nhu cầu chính xác =&gt; đảm bảo có đủ hàng tồn kho để đáp ứng nhu cầu của khách hàng.</a:t>
            </a:r>
          </a:p>
          <a:p>
            <a:r>
              <a:rPr lang="en-US"/>
              <a:t>Danh mục vật liệu (Bill of materials): Phần mềm lập kế hoạch nhu cầu vật liệu phải có khả năng lưu trữ và quản lý danh mục vật liệu (BOM) =&gt; theo dõi các vật liệu và thành phần cần thiết để sản xuất từng sản phẩm.</a:t>
            </a:r>
          </a:p>
          <a:p>
            <a:r>
              <a:rPr lang="en-US"/>
              <a:t>Kiểm soát hàng tồn kho (Inventory control): MRP phải có khả năng theo dõi mức tồn kho =&gt; ngăn ngừa tình trạng hết hàng và đảm bảo rằng doanh nghiệp không dự trữ quá nhiều vật liệu.</a:t>
            </a:r>
          </a:p>
          <a:p>
            <a:r>
              <a:rPr lang="en-US"/>
              <a:t>Lên lịch (Scheduling): MRP phải có khả năng tạo lịch trình sản xuất =&gt; tối ưu hóa quy trình sản xuất và đảm bảo rằng các sản phẩm được giao đúng hạn.</a:t>
            </a:r>
          </a:p>
          <a:p>
            <a:r>
              <a:rPr lang="en-US"/>
              <a:t>Tính giá thành (Costing): CSDL MRP phải có khả năng theo dõi chi phí =&gt; kiểm soát chi phí và đưa ra quyết định kinh doanh sáng suốt.</a:t>
            </a:r>
          </a:p>
          <a:p>
            <a:r>
              <a:rPr lang="en-US"/>
              <a:t>Ngoài các tính năng chính được liệt kê ở trên, còn có một số tính năng khác có thể quan trọng đối với một số doanh nghiệp. Bao gồm:</a:t>
            </a:r>
          </a:p>
          <a:p>
            <a:r>
              <a:rPr lang="en-US"/>
              <a:t>Lập kế hoạch năng lực (Capacity planning): Giúp doanh nghiệp xác định họ có đủ nguồn lực để đáp ứng kế hoạch sản xuất không</a:t>
            </a:r>
          </a:p>
          <a:p>
            <a:r>
              <a:rPr lang="en-US"/>
              <a:t>Quản lý quy trình làm việc (Workflow management) : Giúp theo dõi và tự động hoá quy trình sản xuất, đặt hàng và lắp ráp</a:t>
            </a:r>
          </a:p>
          <a:p>
            <a:r>
              <a:rPr lang="en-US"/>
              <a:t>Báo cáo (Reporting) : Báo cáo về tình trạng sản xuất, hàng tồn kho, hiệu suất làm việc để doanh nghiệp ra quyết định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Hệ thống MRP (Material Requirements Planning) phù hợp với nhiều loại doanh nghiệp, đặc biệt là những doanh nghiệp có các đặc điểm sau:</a:t>
            </a:r>
          </a:p>
          <a:p>
            <a:r>
              <a:rPr lang="en-US"/>
              <a:t>Doanh nghiệp sản xuất đa dạng sản phẩm: Các doanh nghiệp sản xuất đa dạng sản phẩm, từ hàng tiêu dùng cho đến sản phẩm công nghiệp, có thể tận dụng MRP để quản lý tốt hơn các nguồn lực và nguyên liệu cần thiết cho từng sản phẩm.</a:t>
            </a:r>
          </a:p>
          <a:p>
            <a:r>
              <a:rPr lang="en-US"/>
              <a:t>Ví dụ: Một công ty sản xuất cả đồ gia dụng (nồi cơm điện, lò vi sóng) lẫn linh kiện công nghiệp (động cơ, bộ truyền động) có thể dùng MRP để quản lý nguyên liệu riêng cho từng dòng sản phẩm, tránh nhầm lẫn &amp; tối ưu sản xuất.</a:t>
            </a:r>
          </a:p>
          <a:p>
            <a:r>
              <a:rPr lang="en-US"/>
              <a:t>Doanh nghiệp với nhu cầu kiểm soát chặt chẽ hàng tồn kho: Doanh nghiệp mà việc kiểm soát hàng tồn kho là cần thiết để giảm chi phí và tránh lãng phí sẽ hưởng lợi từ việc áp dụng MRP.</a:t>
            </a:r>
          </a:p>
          <a:p>
            <a:r>
              <a:rPr lang="en-US"/>
              <a:t>Ví dụ: Một công ty thực phẩm cần kiểm soát nguyên liệu như bột mì, sữa, đường để tránh hư hỏng &amp; lãng phí. MRP giúp dự báo chính xác lượng hàng cần nhập &amp; xuất, đảm bảo nguyên liệu luôn tươi mới.</a:t>
            </a:r>
          </a:p>
          <a:p>
            <a:r>
              <a:rPr lang="en-US"/>
              <a:t>Doanh nghiệp cần cải thiện dịch vụ khách hàng: MRP giúp giảm thời gian chờ cho khách hàng và tăng tính chính xác của đơn hàng, từ đó nâng cao sự hài lòng của khách hàng.</a:t>
            </a:r>
          </a:p>
          <a:p>
            <a:r>
              <a:rPr lang="en-US"/>
              <a:t>Ví dụ: Một hãng sản xuất điện thoại có thể dùng MRP để theo dõi từng linh kiện (màn hình, pin, chip), đảm bảo đủ hàng để lắp ráp đúng hạn, tránh tình trạng khách hàng phải chờ đợi lâu khi đặt hàng.</a:t>
            </a:r>
          </a:p>
          <a:p>
            <a:r>
              <a:rPr lang="en-US"/>
              <a:t>Doanh nghiệp có chuỗi cung ứng phức tạp: Các doanh nghiệp có chuỗi cung ứng phức tạp, đòi hỏi sự phối hợp chặt chẽ giữa nhiều bộ phận và giai đoạn sản xuất, sẽ hưởng lợi từ việc sử dụng MRP để quản lý và điều phối các hoạt động.</a:t>
            </a:r>
          </a:p>
          <a:p>
            <a:r>
              <a:rPr lang="en-US"/>
              <a:t>Ví dụ: Một hãng xe hơi có hàng ngàn linh kiện từ nhiều nhà cung cấp khác nhau. MRP giúp lên kế hoạch nhập hàng, lắp ráp &amp; phân phối, đảm bảo mọi bộ phận đến đúng nơi, đúng thời điểm.</a:t>
            </a:r>
          </a:p>
          <a:p>
            <a:r>
              <a:rPr lang="en-US"/>
              <a:t>Doanh nghiệp với yêu cầu đổi mới liên tục và sản xuất linh hoạt: Những doanh nghiệp cần thích nghi nhanh với thị trường, thường xuyên cập nhật sản phẩm mới hoặc thay đổi trong quy trình sản xuất sẽ tìm thấy giá trị trong việc sử dụng MRP để thích ứng nhanh chóng và hiệu quả.</a:t>
            </a:r>
          </a:p>
          <a:p>
            <a:r>
              <a:rPr lang="en-US"/>
              <a:t>Ví dụ: Một công ty thời trang nhanh (fast fashion) cần cập nhật mẫu mã liên tục. MRP giúp điều chỉnh nhanh nguyên liệu vải, phụ kiện để sản xuất các bộ sưu tập mới mà không bị trì hoãn.</a:t>
            </a:r>
          </a:p>
          <a:p>
            <a:r>
              <a:rPr lang="en-US"/>
              <a:t>=&gt; Hệ thống MRP hỗ trợ lập kế hoạch &amp; quản lý nguyên vật liệu hiệu quả.</a:t>
            </a:r>
          </a:p>
          <a:p>
            <a:r>
              <a:rPr lang="en-US"/>
              <a:t>Thích ứng nhanh với thay đổi trong sản xuất &amp; nhu cầu thị trường.</a:t>
            </a:r>
          </a:p>
          <a:p>
            <a:r>
              <a:rPr lang="en-US"/>
              <a:t>Doanh nghiệp cần đánh giá nhu cầu để chọn hệ thống MRP phù hợp.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33.png" Type="http://schemas.openxmlformats.org/officeDocument/2006/relationships/image"/><Relationship Id="rId5" Target="../embeddings/oleObject1.bin" Type="http://schemas.openxmlformats.org/officeDocument/2006/relationships/oleObject"/><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34.png" Type="http://schemas.openxmlformats.org/officeDocument/2006/relationships/image"/><Relationship Id="rId5" Target="../embeddings/oleObject2.bin" Type="http://schemas.openxmlformats.org/officeDocument/2006/relationships/oleObject"/><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35.png" Type="http://schemas.openxmlformats.org/officeDocument/2006/relationships/image"/><Relationship Id="rId3" Target="../embeddings/oleObject3.bin" Type="http://schemas.openxmlformats.org/officeDocument/2006/relationships/oleObject"/><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embeddings/oleObject4.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2" Target="../media/image39.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0.png" Type="http://schemas.openxmlformats.org/officeDocument/2006/relationships/image"/><Relationship Id="rId2" Target="../notesSlides/notesSlide1.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1.png" Type="http://schemas.openxmlformats.org/officeDocument/2006/relationships/image"/><Relationship Id="rId2" Target="../notesSlides/notesSlide2.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2.png" Type="http://schemas.openxmlformats.org/officeDocument/2006/relationships/image"/><Relationship Id="rId2" Target="../notesSlides/notesSlide3.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3.png" Type="http://schemas.openxmlformats.org/officeDocument/2006/relationships/image"/><Relationship Id="rId2" Target="../notesSlides/notesSlide4.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4.png" Type="http://schemas.openxmlformats.org/officeDocument/2006/relationships/image"/><Relationship Id="rId2" Target="../notesSlides/notesSlide5.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5.png" Type="http://schemas.openxmlformats.org/officeDocument/2006/relationships/image"/><Relationship Id="rId2" Target="../notesSlides/notesSlide6.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6.png" Type="http://schemas.openxmlformats.org/officeDocument/2006/relationships/image"/><Relationship Id="rId2" Target="../notesSlides/notesSlide7.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7.png" Type="http://schemas.openxmlformats.org/officeDocument/2006/relationships/image"/><Relationship Id="rId2" Target="../notesSlides/notesSlide8.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8.png" Type="http://schemas.openxmlformats.org/officeDocument/2006/relationships/image"/><Relationship Id="rId2" Target="../notesSlides/notesSlide9.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8.png" Type="http://schemas.openxmlformats.org/officeDocument/2006/relationships/image"/><Relationship Id="rId2" Target="../notesSlides/notesSlide10.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49.png" Type="http://schemas.openxmlformats.org/officeDocument/2006/relationships/image"/><Relationship Id="rId2" Target="../notesSlides/notesSlide11.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0.png" Type="http://schemas.openxmlformats.org/officeDocument/2006/relationships/image"/><Relationship Id="rId2" Target="../notesSlides/notesSlide12.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1.png" Type="http://schemas.openxmlformats.org/officeDocument/2006/relationships/image"/><Relationship Id="rId2" Target="../notesSlides/notesSlide13.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2.png" Type="http://schemas.openxmlformats.org/officeDocument/2006/relationships/image"/><Relationship Id="rId2" Target="../notesSlides/notesSlide14.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3.png" Type="http://schemas.openxmlformats.org/officeDocument/2006/relationships/image"/><Relationship Id="rId14" Target="../media/image54.png" Type="http://schemas.openxmlformats.org/officeDocument/2006/relationships/image"/><Relationship Id="rId2" Target="../notesSlides/notesSlide15.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5.png" Type="http://schemas.openxmlformats.org/officeDocument/2006/relationships/image"/><Relationship Id="rId2" Target="../notesSlides/notesSlide16.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6.png" Type="http://schemas.openxmlformats.org/officeDocument/2006/relationships/image"/><Relationship Id="rId2" Target="../notesSlides/notesSlide17.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7.png" Type="http://schemas.openxmlformats.org/officeDocument/2006/relationships/image"/><Relationship Id="rId2" Target="../notesSlides/notesSlide18.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8.png" Type="http://schemas.openxmlformats.org/officeDocument/2006/relationships/image"/><Relationship Id="rId2" Target="../notesSlides/notesSlide19.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59.png" Type="http://schemas.openxmlformats.org/officeDocument/2006/relationships/image"/><Relationship Id="rId2" Target="../notesSlides/notesSlide20.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0.png" Type="http://schemas.openxmlformats.org/officeDocument/2006/relationships/image"/><Relationship Id="rId2" Target="../notesSlides/notesSlide21.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1.png" Type="http://schemas.openxmlformats.org/officeDocument/2006/relationships/image"/><Relationship Id="rId2" Target="../notesSlides/notesSlide22.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2.png" Type="http://schemas.openxmlformats.org/officeDocument/2006/relationships/image"/><Relationship Id="rId2" Target="../notesSlides/notesSlide23.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3.png" Type="http://schemas.openxmlformats.org/officeDocument/2006/relationships/image"/><Relationship Id="rId2" Target="../notesSlides/notesSlide24.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4.png" Type="http://schemas.openxmlformats.org/officeDocument/2006/relationships/image"/><Relationship Id="rId2" Target="../notesSlides/notesSlide25.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5.png" Type="http://schemas.openxmlformats.org/officeDocument/2006/relationships/image"/><Relationship Id="rId2" Target="../notesSlides/notesSlide26.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6.png" Type="http://schemas.openxmlformats.org/officeDocument/2006/relationships/image"/><Relationship Id="rId2" Target="../notesSlides/notesSlide27.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7.png" Type="http://schemas.openxmlformats.org/officeDocument/2006/relationships/image"/><Relationship Id="rId2" Target="../notesSlides/notesSlide28.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8.png" Type="http://schemas.openxmlformats.org/officeDocument/2006/relationships/image"/><Relationship Id="rId2" Target="../notesSlides/notesSlide29.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69.png" Type="http://schemas.openxmlformats.org/officeDocument/2006/relationships/image"/><Relationship Id="rId2" Target="../notesSlides/notesSlide30.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70.png" Type="http://schemas.openxmlformats.org/officeDocument/2006/relationships/image"/><Relationship Id="rId2" Target="../notesSlides/notesSlide31.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13" Target="../media/image71.png" Type="http://schemas.openxmlformats.org/officeDocument/2006/relationships/image"/><Relationship Id="rId2" Target="../notesSlides/notesSlide32.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9.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72.png" Type="http://schemas.openxmlformats.org/officeDocument/2006/relationships/image"/><Relationship Id="rId6" Target="../media/image73.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73080" y="7087784"/>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
        <p:nvSpPr>
          <p:cNvPr name="Freeform 16" id="16"/>
          <p:cNvSpPr/>
          <p:nvPr/>
        </p:nvSpPr>
        <p:spPr>
          <a:xfrm flipH="false" flipV="false" rot="0">
            <a:off x="3139074" y="2844441"/>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775818" y="2566523"/>
            <a:ext cx="15321152" cy="2473267"/>
          </a:xfrm>
          <a:prstGeom prst="rect">
            <a:avLst/>
          </a:prstGeom>
        </p:spPr>
        <p:txBody>
          <a:bodyPr anchor="t" rtlCol="false" tIns="0" lIns="0" bIns="0" rIns="0">
            <a:spAutoFit/>
          </a:bodyPr>
          <a:lstStyle/>
          <a:p>
            <a:pPr algn="ctr">
              <a:lnSpc>
                <a:spcPts val="9619"/>
              </a:lnSpc>
            </a:pPr>
            <a:r>
              <a:rPr lang="en-US" b="true" sz="8745" spc="244">
                <a:solidFill>
                  <a:srgbClr val="000000">
                    <a:alpha val="83922"/>
                  </a:srgbClr>
                </a:solidFill>
                <a:latin typeface="Public Sans Bold"/>
                <a:ea typeface="Public Sans Bold"/>
                <a:cs typeface="Public Sans Bold"/>
                <a:sym typeface="Public Sans Bold"/>
              </a:rPr>
              <a:t>PHÂN TÍCH KHÁM PHÁ VỀ BỆNH ĐÁI THÁO ĐƯỜNG</a:t>
            </a:r>
          </a:p>
        </p:txBody>
      </p:sp>
      <p:sp>
        <p:nvSpPr>
          <p:cNvPr name="TextBox 18" id="18"/>
          <p:cNvSpPr txBox="true"/>
          <p:nvPr/>
        </p:nvSpPr>
        <p:spPr>
          <a:xfrm rot="0">
            <a:off x="5040158" y="5250332"/>
            <a:ext cx="8459795" cy="587551"/>
          </a:xfrm>
          <a:prstGeom prst="rect">
            <a:avLst/>
          </a:prstGeom>
        </p:spPr>
        <p:txBody>
          <a:bodyPr anchor="t" rtlCol="false" tIns="0" lIns="0" bIns="0" rIns="0">
            <a:spAutoFit/>
          </a:bodyPr>
          <a:lstStyle/>
          <a:p>
            <a:pPr algn="ctr">
              <a:lnSpc>
                <a:spcPts val="4381"/>
              </a:lnSpc>
            </a:pPr>
            <a:r>
              <a:rPr lang="en-US" b="true" sz="4381" spc="-87">
                <a:solidFill>
                  <a:srgbClr val="000000"/>
                </a:solidFill>
                <a:latin typeface="Public Sans Bold"/>
                <a:ea typeface="Public Sans Bold"/>
                <a:cs typeface="Public Sans Bold"/>
                <a:sym typeface="Public Sans Bold"/>
              </a:rPr>
              <a:t>PHÂN TÍCH DỮ LIỆU</a:t>
            </a:r>
          </a:p>
        </p:txBody>
      </p:sp>
      <p:sp>
        <p:nvSpPr>
          <p:cNvPr name="TextBox 19" id="19"/>
          <p:cNvSpPr txBox="true"/>
          <p:nvPr/>
        </p:nvSpPr>
        <p:spPr>
          <a:xfrm rot="0">
            <a:off x="3722357" y="7784313"/>
            <a:ext cx="10843287" cy="830580"/>
          </a:xfrm>
          <a:prstGeom prst="rect">
            <a:avLst/>
          </a:prstGeom>
        </p:spPr>
        <p:txBody>
          <a:bodyPr anchor="t" rtlCol="false" tIns="0" lIns="0" bIns="0" rIns="0">
            <a:spAutoFit/>
          </a:bodyPr>
          <a:lstStyle/>
          <a:p>
            <a:pPr algn="ctr">
              <a:lnSpc>
                <a:spcPts val="6719"/>
              </a:lnSpc>
              <a:spcBef>
                <a:spcPct val="0"/>
              </a:spcBef>
            </a:pPr>
            <a:r>
              <a:rPr lang="en-US" b="true" sz="4800">
                <a:solidFill>
                  <a:srgbClr val="000000"/>
                </a:solidFill>
                <a:latin typeface="Public Sans Bold"/>
                <a:ea typeface="Public Sans Bold"/>
                <a:cs typeface="Public Sans Bold"/>
                <a:sym typeface="Public Sans Bold"/>
              </a:rPr>
              <a:t>Giảng viên hướng dẫn: TS. Đỗ Như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0994934" y="2091045"/>
            <a:ext cx="6264366" cy="6104909"/>
          </a:xfrm>
          <a:custGeom>
            <a:avLst/>
            <a:gdLst/>
            <a:ahLst/>
            <a:cxnLst/>
            <a:rect r="r" b="b" t="t" l="l"/>
            <a:pathLst>
              <a:path h="6104909" w="6264366">
                <a:moveTo>
                  <a:pt x="0" y="0"/>
                </a:moveTo>
                <a:lnTo>
                  <a:pt x="6264366" y="0"/>
                </a:lnTo>
                <a:lnTo>
                  <a:pt x="6264366" y="6104910"/>
                </a:lnTo>
                <a:lnTo>
                  <a:pt x="0" y="6104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04950" y="3443913"/>
            <a:ext cx="9489984" cy="1052837"/>
          </a:xfrm>
          <a:prstGeom prst="rect">
            <a:avLst/>
          </a:prstGeom>
        </p:spPr>
        <p:txBody>
          <a:bodyPr anchor="t" rtlCol="false" tIns="0" lIns="0" bIns="0" rIns="0">
            <a:spAutoFit/>
          </a:bodyPr>
          <a:lstStyle/>
          <a:p>
            <a:pPr algn="l">
              <a:lnSpc>
                <a:spcPts val="7760"/>
              </a:lnSpc>
            </a:pPr>
            <a:r>
              <a:rPr lang="en-US" sz="8000" b="true">
                <a:solidFill>
                  <a:srgbClr val="000000"/>
                </a:solidFill>
                <a:latin typeface="Public Sans Bold"/>
                <a:ea typeface="Public Sans Bold"/>
                <a:cs typeface="Public Sans Bold"/>
                <a:sym typeface="Public Sans Bold"/>
              </a:rPr>
              <a:t>Thành viên nhóm:</a:t>
            </a:r>
          </a:p>
        </p:txBody>
      </p:sp>
      <p:sp>
        <p:nvSpPr>
          <p:cNvPr name="TextBox 4" id="4"/>
          <p:cNvSpPr txBox="true"/>
          <p:nvPr/>
        </p:nvSpPr>
        <p:spPr>
          <a:xfrm rot="0">
            <a:off x="1938678" y="4588906"/>
            <a:ext cx="7707571" cy="2019129"/>
          </a:xfrm>
          <a:prstGeom prst="rect">
            <a:avLst/>
          </a:prstGeom>
        </p:spPr>
        <p:txBody>
          <a:bodyPr anchor="t" rtlCol="false" tIns="0" lIns="0" bIns="0" rIns="0">
            <a:spAutoFit/>
          </a:bodyPr>
          <a:lstStyle/>
          <a:p>
            <a:pPr algn="ctr">
              <a:lnSpc>
                <a:spcPts val="4049"/>
              </a:lnSpc>
            </a:pPr>
            <a:r>
              <a:rPr lang="en-US" sz="2999" spc="179">
                <a:solidFill>
                  <a:srgbClr val="000000"/>
                </a:solidFill>
                <a:latin typeface="Public Sans"/>
                <a:ea typeface="Public Sans"/>
                <a:cs typeface="Public Sans"/>
                <a:sym typeface="Public Sans"/>
              </a:rPr>
              <a:t>Nguyễn Văn Minh - 3122410242</a:t>
            </a:r>
          </a:p>
          <a:p>
            <a:pPr algn="ctr">
              <a:lnSpc>
                <a:spcPts val="4049"/>
              </a:lnSpc>
            </a:pPr>
            <a:r>
              <a:rPr lang="en-US" sz="2999" spc="179">
                <a:solidFill>
                  <a:srgbClr val="000000"/>
                </a:solidFill>
                <a:latin typeface="Public Sans"/>
                <a:ea typeface="Public Sans"/>
                <a:cs typeface="Public Sans"/>
                <a:sym typeface="Public Sans"/>
              </a:rPr>
              <a:t>Vũ Thị Thanh Ngân - 3122410255</a:t>
            </a:r>
          </a:p>
          <a:p>
            <a:pPr algn="ctr">
              <a:lnSpc>
                <a:spcPts val="4049"/>
              </a:lnSpc>
            </a:pPr>
            <a:r>
              <a:rPr lang="en-US" sz="2999" spc="179">
                <a:solidFill>
                  <a:srgbClr val="000000"/>
                </a:solidFill>
                <a:latin typeface="Public Sans"/>
                <a:ea typeface="Public Sans"/>
                <a:cs typeface="Public Sans"/>
                <a:sym typeface="Public Sans"/>
              </a:rPr>
              <a:t>Nguyễn Trương Hiệp - 3122410110</a:t>
            </a:r>
          </a:p>
          <a:p>
            <a:pPr algn="ctr" marL="0" indent="0" lvl="0">
              <a:lnSpc>
                <a:spcPts val="4049"/>
              </a:lnSpc>
              <a:spcBef>
                <a:spcPct val="0"/>
              </a:spcBef>
            </a:pPr>
            <a:r>
              <a:rPr lang="en-US" sz="2999" spc="179">
                <a:solidFill>
                  <a:srgbClr val="000000"/>
                </a:solidFill>
                <a:latin typeface="Public Sans"/>
                <a:ea typeface="Public Sans"/>
                <a:cs typeface="Public Sans"/>
                <a:sym typeface="Public Sans"/>
              </a:rPr>
              <a:t>Trương Xuân Hưng - 3122410161</a:t>
            </a:r>
          </a:p>
        </p:txBody>
      </p:sp>
      <p:sp>
        <p:nvSpPr>
          <p:cNvPr name="Freeform 5" id="5"/>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1788149" y="129283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788149" y="1879538"/>
            <a:ext cx="5956731" cy="6527925"/>
          </a:xfrm>
          <a:custGeom>
            <a:avLst/>
            <a:gdLst/>
            <a:ahLst/>
            <a:cxnLst/>
            <a:rect r="r" b="b" t="t" l="l"/>
            <a:pathLst>
              <a:path h="6527925" w="5956731">
                <a:moveTo>
                  <a:pt x="0" y="0"/>
                </a:moveTo>
                <a:lnTo>
                  <a:pt x="5956732" y="0"/>
                </a:lnTo>
                <a:lnTo>
                  <a:pt x="5956732" y="6527924"/>
                </a:lnTo>
                <a:lnTo>
                  <a:pt x="0" y="6527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19780"/>
            <a:ext cx="13024982"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Khái niệm: Bệnh đái tháo đường(DM) là gì?</a:t>
            </a:r>
          </a:p>
        </p:txBody>
      </p:sp>
      <p:sp>
        <p:nvSpPr>
          <p:cNvPr name="TextBox 5" id="5"/>
          <p:cNvSpPr txBox="true"/>
          <p:nvPr/>
        </p:nvSpPr>
        <p:spPr>
          <a:xfrm rot="0">
            <a:off x="1028700" y="1958571"/>
            <a:ext cx="10891826" cy="1230630"/>
          </a:xfrm>
          <a:prstGeom prst="rect">
            <a:avLst/>
          </a:prstGeom>
        </p:spPr>
        <p:txBody>
          <a:bodyPr anchor="t" rtlCol="false" tIns="0" lIns="0" bIns="0" rIns="0">
            <a:spAutoFit/>
          </a:bodyPr>
          <a:lstStyle/>
          <a:p>
            <a:pPr algn="l">
              <a:lnSpc>
                <a:spcPts val="3239"/>
              </a:lnSpc>
            </a:pPr>
            <a:r>
              <a:rPr lang="en-US" sz="2399" spc="143">
                <a:solidFill>
                  <a:srgbClr val="000000"/>
                </a:solidFill>
                <a:latin typeface="Public Sans"/>
                <a:ea typeface="Public Sans"/>
                <a:cs typeface="Public Sans"/>
                <a:sym typeface="Public Sans"/>
              </a:rPr>
              <a:t> - L</a:t>
            </a:r>
            <a:r>
              <a:rPr lang="en-US" sz="2399" spc="143">
                <a:solidFill>
                  <a:srgbClr val="000000"/>
                </a:solidFill>
                <a:latin typeface="Public Sans"/>
                <a:ea typeface="Public Sans"/>
                <a:cs typeface="Public Sans"/>
                <a:sym typeface="Public Sans"/>
              </a:rPr>
              <a:t>à một rối loạn chuyển hóa có nhiều căn nguyên, </a:t>
            </a:r>
            <a:r>
              <a:rPr lang="en-US" sz="2399" spc="143">
                <a:solidFill>
                  <a:srgbClr val="000000"/>
                </a:solidFill>
                <a:latin typeface="Public Sans"/>
                <a:ea typeface="Public Sans"/>
                <a:cs typeface="Public Sans"/>
                <a:sym typeface="Public Sans"/>
              </a:rPr>
              <a:t>đặc trưng bởi tình trạng tăng glucose huyết mạn tính (chronic hyperglycaemia).</a:t>
            </a:r>
          </a:p>
          <a:p>
            <a:pPr algn="l" marL="0" indent="0" lvl="0">
              <a:lnSpc>
                <a:spcPts val="3239"/>
              </a:lnSpc>
              <a:spcBef>
                <a:spcPct val="0"/>
              </a:spcBef>
            </a:pPr>
          </a:p>
        </p:txBody>
      </p:sp>
      <p:sp>
        <p:nvSpPr>
          <p:cNvPr name="TextBox 6" id="6"/>
          <p:cNvSpPr txBox="true"/>
          <p:nvPr/>
        </p:nvSpPr>
        <p:spPr>
          <a:xfrm rot="0">
            <a:off x="1028700" y="2941790"/>
            <a:ext cx="10606225" cy="2868930"/>
          </a:xfrm>
          <a:prstGeom prst="rect">
            <a:avLst/>
          </a:prstGeom>
        </p:spPr>
        <p:txBody>
          <a:bodyPr anchor="t" rtlCol="false" tIns="0" lIns="0" bIns="0" rIns="0">
            <a:spAutoFit/>
          </a:bodyPr>
          <a:lstStyle/>
          <a:p>
            <a:pPr algn="l">
              <a:lnSpc>
                <a:spcPts val="3239"/>
              </a:lnSpc>
            </a:pPr>
            <a:r>
              <a:rPr lang="en-US" sz="2399" spc="143">
                <a:solidFill>
                  <a:srgbClr val="000000"/>
                </a:solidFill>
                <a:latin typeface="Public Sans"/>
                <a:ea typeface="Public Sans"/>
                <a:cs typeface="Public Sans"/>
                <a:sym typeface="Public Sans"/>
              </a:rPr>
              <a:t>- Sự tăng glucose huyết này l</a:t>
            </a:r>
            <a:r>
              <a:rPr lang="en-US" sz="2399" spc="143">
                <a:solidFill>
                  <a:srgbClr val="000000"/>
                </a:solidFill>
                <a:latin typeface="Public Sans"/>
                <a:ea typeface="Public Sans"/>
                <a:cs typeface="Public Sans"/>
                <a:sym typeface="Public Sans"/>
              </a:rPr>
              <a:t>à kết quả của các khiếm khuyết trong sự tiết insulin, hoạt động của insulin (kháng insulin), hoặc sự kết hợp của cả hai. </a:t>
            </a:r>
          </a:p>
          <a:p>
            <a:pPr algn="l">
              <a:lnSpc>
                <a:spcPts val="3239"/>
              </a:lnSpc>
            </a:pPr>
            <a:r>
              <a:rPr lang="en-US" sz="2399" spc="143">
                <a:solidFill>
                  <a:srgbClr val="000000"/>
                </a:solidFill>
                <a:latin typeface="Public Sans"/>
                <a:ea typeface="Public Sans"/>
                <a:cs typeface="Public Sans"/>
                <a:sym typeface="Public Sans"/>
              </a:rPr>
              <a:t>=&gt; Xuất phát từ hoạt động của insulin bị thiếu hụt</a:t>
            </a:r>
            <a:r>
              <a:rPr lang="en-US" sz="2399" spc="143">
                <a:solidFill>
                  <a:srgbClr val="000000"/>
                </a:solidFill>
                <a:latin typeface="Public Sans"/>
                <a:ea typeface="Public Sans"/>
                <a:cs typeface="Public Sans"/>
                <a:sym typeface="Public Sans"/>
              </a:rPr>
              <a:t> trên các mô đích, gây ra bởi tình trạng thiếu insulin hoặc các mô bị giảm nhạy cảm với insulin.</a:t>
            </a:r>
          </a:p>
          <a:p>
            <a:pPr algn="l" marL="0" indent="0" lvl="0">
              <a:lnSpc>
                <a:spcPts val="3239"/>
              </a:lnSpc>
              <a:spcBef>
                <a:spcPct val="0"/>
              </a:spcBef>
            </a:pPr>
          </a:p>
        </p:txBody>
      </p:sp>
      <p:sp>
        <p:nvSpPr>
          <p:cNvPr name="TextBox 7" id="7"/>
          <p:cNvSpPr txBox="true"/>
          <p:nvPr/>
        </p:nvSpPr>
        <p:spPr>
          <a:xfrm rot="0">
            <a:off x="1028700" y="5492390"/>
            <a:ext cx="10759449" cy="4507230"/>
          </a:xfrm>
          <a:prstGeom prst="rect">
            <a:avLst/>
          </a:prstGeom>
        </p:spPr>
        <p:txBody>
          <a:bodyPr anchor="t" rtlCol="false" tIns="0" lIns="0" bIns="0" rIns="0">
            <a:spAutoFit/>
          </a:bodyPr>
          <a:lstStyle/>
          <a:p>
            <a:pPr algn="l">
              <a:lnSpc>
                <a:spcPts val="3239"/>
              </a:lnSpc>
            </a:pPr>
            <a:r>
              <a:rPr lang="en-US" sz="2399" spc="143">
                <a:solidFill>
                  <a:srgbClr val="000000"/>
                </a:solidFill>
                <a:latin typeface="Public Sans"/>
                <a:ea typeface="Public Sans"/>
                <a:cs typeface="Public Sans"/>
                <a:sym typeface="Public Sans"/>
              </a:rPr>
              <a:t> - Các ảnh hưởng và biến chứng: Các tác động</a:t>
            </a:r>
            <a:r>
              <a:rPr lang="en-US" sz="2399" spc="143">
                <a:solidFill>
                  <a:srgbClr val="000000"/>
                </a:solidFill>
                <a:latin typeface="Public Sans"/>
                <a:ea typeface="Public Sans"/>
                <a:cs typeface="Public Sans"/>
                <a:sym typeface="Public Sans"/>
              </a:rPr>
              <a:t> kéo dài của DM bao gồm tổn thương, rối loạn chức năng và suy giảm các cơ quan khác nhau. Các biến chứng đặc hiệu phát triển dần theo thời gian, bao gồm:</a:t>
            </a:r>
          </a:p>
          <a:p>
            <a:pPr algn="l" marL="518157" indent="-259078" lvl="1">
              <a:lnSpc>
                <a:spcPts val="3239"/>
              </a:lnSpc>
              <a:buFont typeface="Arial"/>
              <a:buChar char="•"/>
            </a:pPr>
            <a:r>
              <a:rPr lang="en-US" sz="2399" spc="143">
                <a:solidFill>
                  <a:srgbClr val="000000"/>
                </a:solidFill>
                <a:latin typeface="Public Sans"/>
                <a:ea typeface="Public Sans"/>
                <a:cs typeface="Public Sans"/>
                <a:sym typeface="Public Sans"/>
              </a:rPr>
              <a:t>Bệnh mạch máu nhỏ: Bệnh võng mạc (retinopathy) với nguy cơ mù lòa, bệnh thận (nephropathy) có</a:t>
            </a:r>
            <a:r>
              <a:rPr lang="en-US" sz="2399" spc="143">
                <a:solidFill>
                  <a:srgbClr val="000000"/>
                </a:solidFill>
                <a:latin typeface="Public Sans"/>
                <a:ea typeface="Public Sans"/>
                <a:cs typeface="Public Sans"/>
                <a:sym typeface="Public Sans"/>
              </a:rPr>
              <a:t> thể dẫn đến suy thận, và bệnh thần kinh (neuropathy) dẫn đến loét bàn chân và nguy cơ cắt cụt chi.</a:t>
            </a:r>
          </a:p>
          <a:p>
            <a:pPr algn="l" marL="518157" indent="-259078" lvl="1">
              <a:lnSpc>
                <a:spcPts val="3239"/>
              </a:lnSpc>
              <a:buFont typeface="Arial"/>
              <a:buChar char="•"/>
            </a:pPr>
            <a:r>
              <a:rPr lang="en-US" sz="2399" spc="143">
                <a:solidFill>
                  <a:srgbClr val="000000"/>
                </a:solidFill>
                <a:latin typeface="Public Sans"/>
                <a:ea typeface="Public Sans"/>
                <a:cs typeface="Public Sans"/>
                <a:sym typeface="Public Sans"/>
              </a:rPr>
              <a:t>Bệnh mạch máu lớn: Nguy cơ gia tăng mắc các bệnh về tim mạch, mạch máu ngoại vi và mạch máu não.</a:t>
            </a:r>
          </a:p>
          <a:p>
            <a:pPr algn="l" marL="0" indent="0" lvl="0">
              <a:lnSpc>
                <a:spcPts val="323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1788149" y="129283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788149" y="1879538"/>
            <a:ext cx="5956731" cy="6527925"/>
          </a:xfrm>
          <a:custGeom>
            <a:avLst/>
            <a:gdLst/>
            <a:ahLst/>
            <a:cxnLst/>
            <a:rect r="r" b="b" t="t" l="l"/>
            <a:pathLst>
              <a:path h="6527925" w="5956731">
                <a:moveTo>
                  <a:pt x="0" y="0"/>
                </a:moveTo>
                <a:lnTo>
                  <a:pt x="5956732" y="0"/>
                </a:lnTo>
                <a:lnTo>
                  <a:pt x="5956732" y="6527924"/>
                </a:lnTo>
                <a:lnTo>
                  <a:pt x="0" y="6527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19780"/>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loại của bệnh đái tháo đường</a:t>
            </a:r>
          </a:p>
        </p:txBody>
      </p:sp>
      <p:sp>
        <p:nvSpPr>
          <p:cNvPr name="TextBox 5" id="5"/>
          <p:cNvSpPr txBox="true"/>
          <p:nvPr/>
        </p:nvSpPr>
        <p:spPr>
          <a:xfrm rot="0">
            <a:off x="1028700" y="2703195"/>
            <a:ext cx="10759449" cy="6555105"/>
          </a:xfrm>
          <a:prstGeom prst="rect">
            <a:avLst/>
          </a:prstGeom>
        </p:spPr>
        <p:txBody>
          <a:bodyPr anchor="t" rtlCol="false" tIns="0" lIns="0" bIns="0" rIns="0">
            <a:spAutoFit/>
          </a:bodyPr>
          <a:lstStyle/>
          <a:p>
            <a:pPr algn="l">
              <a:lnSpc>
                <a:spcPts val="3239"/>
              </a:lnSpc>
            </a:pPr>
            <a:r>
              <a:rPr lang="en-US" sz="2399" spc="143">
                <a:solidFill>
                  <a:srgbClr val="000000"/>
                </a:solidFill>
                <a:latin typeface="Public Sans"/>
                <a:ea typeface="Public Sans"/>
                <a:cs typeface="Public Sans"/>
                <a:sym typeface="Public Sans"/>
              </a:rPr>
              <a:t> - Đái tháo đường Type 1 (T1DM): Xảy ra do sự phá hủy tế bào beta của tuyến tụy, thường dẫn đến tình trạng</a:t>
            </a:r>
            <a:r>
              <a:rPr lang="en-US" sz="2399" spc="143">
                <a:solidFill>
                  <a:srgbClr val="000000"/>
                </a:solidFill>
                <a:latin typeface="Public Sans"/>
                <a:ea typeface="Public Sans"/>
                <a:cs typeface="Public Sans"/>
                <a:sym typeface="Public Sans"/>
              </a:rPr>
              <a:t> thiếu hụt insulin tuyệt đối. Loại này chiếm tỷ lệ nhỏ, thường khởi phát ở tuổi trẻ.</a:t>
            </a:r>
          </a:p>
          <a:p>
            <a:pPr algn="l">
              <a:lnSpc>
                <a:spcPts val="3239"/>
              </a:lnSpc>
            </a:pPr>
            <a:r>
              <a:rPr lang="en-US" sz="2399" spc="143">
                <a:solidFill>
                  <a:srgbClr val="000000"/>
                </a:solidFill>
                <a:latin typeface="Public Sans"/>
                <a:ea typeface="Public Sans"/>
                <a:cs typeface="Public Sans"/>
                <a:sym typeface="Public Sans"/>
              </a:rPr>
              <a:t> - Đái tháo đường Type 2 (T2DM): Là dạng phổ biến nhất (chiếm khoảng 90-95% các trường hợp), xảy ra do sự kết hợp của kháng insulin và thiếu hụt tiết insulin tương đối. Loại này thường liên quan đến thừa cân, béo phì, lối sống ít vận động và yếu tố di truyền. Đây cũng là loại bệnh mà Bộ dữ liệu Pima Indians Diabetes tập trung vào.</a:t>
            </a:r>
          </a:p>
          <a:p>
            <a:pPr algn="l">
              <a:lnSpc>
                <a:spcPts val="3239"/>
              </a:lnSpc>
            </a:pPr>
            <a:r>
              <a:rPr lang="en-US" sz="2399" spc="143">
                <a:solidFill>
                  <a:srgbClr val="000000"/>
                </a:solidFill>
                <a:latin typeface="Public Sans"/>
                <a:ea typeface="Public Sans"/>
                <a:cs typeface="Public Sans"/>
                <a:sym typeface="Public Sans"/>
              </a:rPr>
              <a:t>- </a:t>
            </a:r>
            <a:r>
              <a:rPr lang="en-US" sz="2399" spc="143">
                <a:solidFill>
                  <a:srgbClr val="000000"/>
                </a:solidFill>
                <a:latin typeface="Public Sans"/>
                <a:ea typeface="Public Sans"/>
                <a:cs typeface="Public Sans"/>
                <a:sym typeface="Public Sans"/>
              </a:rPr>
              <a:t>Đái tháo đường Thai kỳ (Gestational Diabetes Mellitus - GDM): Là</a:t>
            </a:r>
            <a:r>
              <a:rPr lang="en-US" sz="2399" spc="143">
                <a:solidFill>
                  <a:srgbClr val="000000"/>
                </a:solidFill>
                <a:latin typeface="Public Sans"/>
                <a:ea typeface="Public Sans"/>
                <a:cs typeface="Public Sans"/>
                <a:sym typeface="Public Sans"/>
              </a:rPr>
              <a:t> tình trạng tăng đường huyết được phát hiện lần đầu tiên trong thai kỳ. Đây cũng là loại bệnh liên quan trực tiếp đến biến Pregnancies trong Bộ dữ liệu.</a:t>
            </a:r>
          </a:p>
          <a:p>
            <a:pPr algn="l" marL="0" indent="0" lvl="0">
              <a:lnSpc>
                <a:spcPts val="3239"/>
              </a:lnSpc>
              <a:spcBef>
                <a:spcPct val="0"/>
              </a:spcBef>
            </a:pPr>
            <a:r>
              <a:rPr lang="en-US" sz="2399" spc="143">
                <a:solidFill>
                  <a:srgbClr val="000000"/>
                </a:solidFill>
                <a:latin typeface="Public Sans"/>
                <a:ea typeface="Public Sans"/>
                <a:cs typeface="Public Sans"/>
                <a:sym typeface="Public Sans"/>
              </a:rPr>
              <a:t>- Các loại đái tháo đường đặc hiệu khác: Do các nguyên nhân cụ thể như khuyết tật di truyền của chức năng tế bào beta hoặc tác dụng phụ của thuốc</a:t>
            </a:r>
          </a:p>
        </p:txBody>
      </p:sp>
      <p:sp>
        <p:nvSpPr>
          <p:cNvPr name="TextBox 6" id="6"/>
          <p:cNvSpPr txBox="true"/>
          <p:nvPr/>
        </p:nvSpPr>
        <p:spPr>
          <a:xfrm rot="0">
            <a:off x="1613085" y="1946213"/>
            <a:ext cx="5940292"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Các loại căn nguyên chính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11788149" y="129283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788149" y="1879538"/>
            <a:ext cx="5956731" cy="6527925"/>
          </a:xfrm>
          <a:custGeom>
            <a:avLst/>
            <a:gdLst/>
            <a:ahLst/>
            <a:cxnLst/>
            <a:rect r="r" b="b" t="t" l="l"/>
            <a:pathLst>
              <a:path h="6527925" w="5956731">
                <a:moveTo>
                  <a:pt x="0" y="0"/>
                </a:moveTo>
                <a:lnTo>
                  <a:pt x="5956732" y="0"/>
                </a:lnTo>
                <a:lnTo>
                  <a:pt x="5956732" y="6527924"/>
                </a:lnTo>
                <a:lnTo>
                  <a:pt x="0" y="6527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19780"/>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Phân loại của bệnh đái tháo đường</a:t>
            </a:r>
          </a:p>
        </p:txBody>
      </p:sp>
      <p:sp>
        <p:nvSpPr>
          <p:cNvPr name="TextBox 5" id="5"/>
          <p:cNvSpPr txBox="true"/>
          <p:nvPr/>
        </p:nvSpPr>
        <p:spPr>
          <a:xfrm rot="0">
            <a:off x="1028700" y="3232107"/>
            <a:ext cx="10759449" cy="4568190"/>
          </a:xfrm>
          <a:prstGeom prst="rect">
            <a:avLst/>
          </a:prstGeom>
        </p:spPr>
        <p:txBody>
          <a:bodyPr anchor="t" rtlCol="false" tIns="0" lIns="0" bIns="0" rIns="0">
            <a:spAutoFit/>
          </a:bodyPr>
          <a:lstStyle/>
          <a:p>
            <a:pPr algn="l">
              <a:lnSpc>
                <a:spcPts val="3644"/>
              </a:lnSpc>
            </a:pPr>
            <a:r>
              <a:rPr lang="en-US" sz="2699" spc="161">
                <a:solidFill>
                  <a:srgbClr val="000000"/>
                </a:solidFill>
                <a:latin typeface="Public Sans"/>
                <a:ea typeface="Public Sans"/>
                <a:cs typeface="Public Sans"/>
                <a:sym typeface="Public Sans"/>
              </a:rPr>
              <a:t> Phân loại lâm sàng mô tả các mức độ chuyển hóa g</a:t>
            </a:r>
            <a:r>
              <a:rPr lang="en-US" sz="2699" spc="161">
                <a:solidFill>
                  <a:srgbClr val="000000"/>
                </a:solidFill>
                <a:latin typeface="Public Sans"/>
                <a:ea typeface="Public Sans"/>
                <a:cs typeface="Public Sans"/>
                <a:sym typeface="Public Sans"/>
              </a:rPr>
              <a:t>lucose khác nhau:</a:t>
            </a:r>
          </a:p>
          <a:p>
            <a:pPr algn="l" marL="582925" indent="-291463" lvl="1">
              <a:lnSpc>
                <a:spcPts val="3644"/>
              </a:lnSpc>
              <a:buFont typeface="Arial"/>
              <a:buChar char="•"/>
            </a:pPr>
            <a:r>
              <a:rPr lang="en-US" sz="2699" spc="161">
                <a:solidFill>
                  <a:srgbClr val="000000"/>
                </a:solidFill>
                <a:latin typeface="Public Sans"/>
                <a:ea typeface="Public Sans"/>
                <a:cs typeface="Public Sans"/>
                <a:sym typeface="Public Sans"/>
              </a:rPr>
              <a:t>Đái tháo đường (Diabetes Mellitus): Được xác định bằng các tiêu chí chẩn đoán (sẽ trình bày ở 1.1.3).</a:t>
            </a:r>
          </a:p>
          <a:p>
            <a:pPr algn="l" marL="582925" indent="-291463" lvl="1">
              <a:lnSpc>
                <a:spcPts val="3644"/>
              </a:lnSpc>
              <a:buFont typeface="Arial"/>
              <a:buChar char="•"/>
            </a:pPr>
            <a:r>
              <a:rPr lang="en-US" sz="2699" spc="161">
                <a:solidFill>
                  <a:srgbClr val="000000"/>
                </a:solidFill>
                <a:latin typeface="Public Sans"/>
                <a:ea typeface="Public Sans"/>
                <a:cs typeface="Public Sans"/>
                <a:sym typeface="Public Sans"/>
              </a:rPr>
              <a:t>Rối loạn Điều hòa Glucose (Impaired Glucose Regulation - IGR): T</a:t>
            </a:r>
            <a:r>
              <a:rPr lang="en-US" sz="2699" spc="161">
                <a:solidFill>
                  <a:srgbClr val="000000"/>
                </a:solidFill>
                <a:latin typeface="Public Sans"/>
                <a:ea typeface="Public Sans"/>
                <a:cs typeface="Public Sans"/>
                <a:sym typeface="Public Sans"/>
              </a:rPr>
              <a:t>ình trạng chuyển hóa trung gian, bao gồm Không dung nạp Glucose (IGT) và Tăng Glucose Huyết lúc đói (IFG).</a:t>
            </a:r>
          </a:p>
          <a:p>
            <a:pPr algn="l" marL="582925" indent="-291463" lvl="1">
              <a:lnSpc>
                <a:spcPts val="3644"/>
              </a:lnSpc>
              <a:buFont typeface="Arial"/>
              <a:buChar char="•"/>
            </a:pPr>
            <a:r>
              <a:rPr lang="en-US" sz="2699" spc="161">
                <a:solidFill>
                  <a:srgbClr val="000000"/>
                </a:solidFill>
                <a:latin typeface="Public Sans"/>
                <a:ea typeface="Public Sans"/>
                <a:cs typeface="Public Sans"/>
                <a:sym typeface="Public Sans"/>
              </a:rPr>
              <a:t>Glucose huyết Bình thường (Normoglycaemia).</a:t>
            </a:r>
          </a:p>
          <a:p>
            <a:pPr algn="l" marL="0" indent="0" lvl="0">
              <a:lnSpc>
                <a:spcPts val="3644"/>
              </a:lnSpc>
              <a:spcBef>
                <a:spcPct val="0"/>
              </a:spcBef>
            </a:pPr>
          </a:p>
        </p:txBody>
      </p:sp>
      <p:sp>
        <p:nvSpPr>
          <p:cNvPr name="TextBox 6" id="6"/>
          <p:cNvSpPr txBox="true"/>
          <p:nvPr/>
        </p:nvSpPr>
        <p:spPr>
          <a:xfrm rot="0">
            <a:off x="1613085" y="1946213"/>
            <a:ext cx="7366191"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Phân loại theo giai đoạn lâm sàng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Object 3" id="3"/>
          <p:cNvGraphicFramePr/>
          <p:nvPr/>
        </p:nvGraphicFramePr>
        <p:xfrm>
          <a:off x="1028700" y="3558144"/>
          <a:ext cx="3771900" cy="2514600"/>
        </p:xfrm>
        <a:graphic>
          <a:graphicData uri="http://schemas.openxmlformats.org/presentationml/2006/ole">
            <p:oleObj imgW="4521200" imgH="3263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4" id="4"/>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960487" y="800038"/>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Tiêu chí chẩn đoán chính</a:t>
            </a:r>
          </a:p>
        </p:txBody>
      </p:sp>
      <p:sp>
        <p:nvSpPr>
          <p:cNvPr name="TextBox 6" id="6"/>
          <p:cNvSpPr txBox="true"/>
          <p:nvPr/>
        </p:nvSpPr>
        <p:spPr>
          <a:xfrm rot="0">
            <a:off x="1028700" y="2409428"/>
            <a:ext cx="16230600" cy="946785"/>
          </a:xfrm>
          <a:prstGeom prst="rect">
            <a:avLst/>
          </a:prstGeom>
        </p:spPr>
        <p:txBody>
          <a:bodyPr anchor="t" rtlCol="false" tIns="0" lIns="0" bIns="0" rIns="0">
            <a:spAutoFit/>
          </a:bodyPr>
          <a:lstStyle/>
          <a:p>
            <a:pPr algn="l">
              <a:lnSpc>
                <a:spcPts val="3779"/>
              </a:lnSpc>
            </a:pPr>
            <a:r>
              <a:rPr lang="en-US" sz="2799" spc="167">
                <a:solidFill>
                  <a:srgbClr val="000000"/>
                </a:solidFill>
                <a:latin typeface="Public Sans"/>
                <a:ea typeface="Public Sans"/>
                <a:cs typeface="Public Sans"/>
                <a:sym typeface="Public Sans"/>
              </a:rPr>
              <a:t>T</a:t>
            </a:r>
            <a:r>
              <a:rPr lang="en-US" sz="2799" spc="167">
                <a:solidFill>
                  <a:srgbClr val="000000"/>
                </a:solidFill>
                <a:latin typeface="Public Sans"/>
                <a:ea typeface="Public Sans"/>
                <a:cs typeface="Public Sans"/>
                <a:sym typeface="Public Sans"/>
              </a:rPr>
              <a:t>iêu chí chẩn đoán mới nhất của WHO đã </a:t>
            </a:r>
            <a:r>
              <a:rPr lang="en-US" sz="2799" spc="167">
                <a:solidFill>
                  <a:srgbClr val="000000"/>
                </a:solidFill>
                <a:latin typeface="Public Sans"/>
                <a:ea typeface="Public Sans"/>
                <a:cs typeface="Public Sans"/>
                <a:sym typeface="Public Sans"/>
              </a:rPr>
              <a:t>hạ thấp giá trị ngưỡng đối với glucose huyết tương lúc đói (FPG).</a:t>
            </a:r>
          </a:p>
        </p:txBody>
      </p:sp>
      <p:sp>
        <p:nvSpPr>
          <p:cNvPr name="TextBox 7" id="7"/>
          <p:cNvSpPr txBox="true"/>
          <p:nvPr/>
        </p:nvSpPr>
        <p:spPr>
          <a:xfrm rot="0">
            <a:off x="1028700" y="1755227"/>
            <a:ext cx="10175065"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Tiêu chí Chẩn đoán Đái tháo đường (WHO 1999)</a:t>
            </a:r>
          </a:p>
        </p:txBody>
      </p:sp>
      <p:sp>
        <p:nvSpPr>
          <p:cNvPr name="Freeform 8" id="8"/>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1" id="11"/>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2" id="12"/>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Object 3" id="3"/>
          <p:cNvGraphicFramePr/>
          <p:nvPr/>
        </p:nvGraphicFramePr>
        <p:xfrm>
          <a:off x="960487" y="3594339"/>
          <a:ext cx="5657850" cy="2514600"/>
        </p:xfrm>
        <a:graphic>
          <a:graphicData uri="http://schemas.openxmlformats.org/presentationml/2006/ole">
            <p:oleObj imgW="6781800" imgH="3644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4" id="4"/>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960487" y="800038"/>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Tiêu chí chẩn đoán chính</a:t>
            </a:r>
          </a:p>
        </p:txBody>
      </p:sp>
      <p:sp>
        <p:nvSpPr>
          <p:cNvPr name="TextBox 6" id="6"/>
          <p:cNvSpPr txBox="true"/>
          <p:nvPr/>
        </p:nvSpPr>
        <p:spPr>
          <a:xfrm rot="0">
            <a:off x="1028700" y="2409428"/>
            <a:ext cx="16230600" cy="946785"/>
          </a:xfrm>
          <a:prstGeom prst="rect">
            <a:avLst/>
          </a:prstGeom>
        </p:spPr>
        <p:txBody>
          <a:bodyPr anchor="t" rtlCol="false" tIns="0" lIns="0" bIns="0" rIns="0">
            <a:spAutoFit/>
          </a:bodyPr>
          <a:lstStyle/>
          <a:p>
            <a:pPr algn="l">
              <a:lnSpc>
                <a:spcPts val="3779"/>
              </a:lnSpc>
            </a:pPr>
            <a:r>
              <a:rPr lang="en-US" sz="2799" spc="167">
                <a:solidFill>
                  <a:srgbClr val="000000"/>
                </a:solidFill>
                <a:latin typeface="Public Sans"/>
                <a:ea typeface="Public Sans"/>
                <a:cs typeface="Public Sans"/>
                <a:sym typeface="Public Sans"/>
              </a:rPr>
              <a:t>Cá</a:t>
            </a:r>
            <a:r>
              <a:rPr lang="en-US" sz="2799" spc="167">
                <a:solidFill>
                  <a:srgbClr val="000000"/>
                </a:solidFill>
                <a:latin typeface="Public Sans"/>
                <a:ea typeface="Public Sans"/>
                <a:cs typeface="Public Sans"/>
                <a:sym typeface="Public Sans"/>
              </a:rPr>
              <a:t>c tình trạng này nằm giữa mức bình thường và mức đái</a:t>
            </a:r>
            <a:r>
              <a:rPr lang="en-US" sz="2799" spc="167">
                <a:solidFill>
                  <a:srgbClr val="000000"/>
                </a:solidFill>
                <a:latin typeface="Public Sans"/>
                <a:ea typeface="Public Sans"/>
                <a:cs typeface="Public Sans"/>
                <a:sym typeface="Public Sans"/>
              </a:rPr>
              <a:t> tháo đường, và được coi là các loại nguy cơ cho bệnh đái tháo đường và/hoặc bệnh tim mạch.</a:t>
            </a:r>
          </a:p>
        </p:txBody>
      </p:sp>
      <p:sp>
        <p:nvSpPr>
          <p:cNvPr name="TextBox 7" id="7"/>
          <p:cNvSpPr txBox="true"/>
          <p:nvPr/>
        </p:nvSpPr>
        <p:spPr>
          <a:xfrm rot="0">
            <a:off x="1028700" y="1755227"/>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Tiêu chí Chẩn đoán các Tình trạng Rối loạn Điều hòa Glucose (WHO 1999)</a:t>
            </a:r>
          </a:p>
        </p:txBody>
      </p:sp>
      <p:sp>
        <p:nvSpPr>
          <p:cNvPr name="Freeform 8" id="8"/>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1" id="11"/>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2" id="12"/>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4784964"/>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960487" y="800038"/>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Tiêu chí chẩn đoán chính</a:t>
            </a:r>
          </a:p>
        </p:txBody>
      </p:sp>
      <p:sp>
        <p:nvSpPr>
          <p:cNvPr name="TextBox 5" id="5"/>
          <p:cNvSpPr txBox="true"/>
          <p:nvPr/>
        </p:nvSpPr>
        <p:spPr>
          <a:xfrm rot="0">
            <a:off x="1028700" y="2409428"/>
            <a:ext cx="16230600" cy="2375535"/>
          </a:xfrm>
          <a:prstGeom prst="rect">
            <a:avLst/>
          </a:prstGeom>
        </p:spPr>
        <p:txBody>
          <a:bodyPr anchor="t" rtlCol="false" tIns="0" lIns="0" bIns="0" rIns="0">
            <a:spAutoFit/>
          </a:bodyPr>
          <a:lstStyle/>
          <a:p>
            <a:pPr algn="l">
              <a:lnSpc>
                <a:spcPts val="3779"/>
              </a:lnSpc>
            </a:pPr>
            <a:r>
              <a:rPr lang="en-US" sz="2799" spc="167">
                <a:solidFill>
                  <a:srgbClr val="000000"/>
                </a:solidFill>
                <a:latin typeface="Public Sans"/>
                <a:ea typeface="Public Sans"/>
                <a:cs typeface="Public Sans"/>
                <a:sym typeface="Public Sans"/>
              </a:rPr>
              <a:t> </a:t>
            </a:r>
            <a:r>
              <a:rPr lang="en-US" sz="2799" spc="167">
                <a:solidFill>
                  <a:srgbClr val="000000"/>
                </a:solidFill>
                <a:latin typeface="Public Sans"/>
                <a:ea typeface="Public Sans"/>
                <a:cs typeface="Public Sans"/>
                <a:sym typeface="Public Sans"/>
              </a:rPr>
              <a:t>Mặ</a:t>
            </a:r>
            <a:r>
              <a:rPr lang="en-US" sz="2799" spc="167">
                <a:solidFill>
                  <a:srgbClr val="000000"/>
                </a:solidFill>
                <a:latin typeface="Public Sans"/>
                <a:ea typeface="Public Sans"/>
                <a:cs typeface="Public Sans"/>
                <a:sym typeface="Public Sans"/>
              </a:rPr>
              <a:t>c dù WHO khuyến nghị áp dụng tiêu chí cho IGT/DM, tiêu chí truyền</a:t>
            </a:r>
            <a:r>
              <a:rPr lang="en-US" sz="2799" spc="167">
                <a:solidFill>
                  <a:srgbClr val="000000"/>
                </a:solidFill>
                <a:latin typeface="Public Sans"/>
                <a:ea typeface="Public Sans"/>
                <a:cs typeface="Public Sans"/>
                <a:sym typeface="Public Sans"/>
              </a:rPr>
              <a:t> thống của O'Sullivan và Mahan (được chấp nhận bởi NDDG 1979) vẫn phổ biến ở nhiều khu vực, sử dụng tải glucose 100g. Theo tiêu chí này, GDM được chẩn đoán nếu đáp ứng hoặc vượt quá hai hoặc nhiều giá trị sau đây sau khi uống 100g glucose:</a:t>
            </a:r>
          </a:p>
          <a:p>
            <a:pPr algn="l">
              <a:lnSpc>
                <a:spcPts val="3779"/>
              </a:lnSpc>
            </a:pPr>
          </a:p>
        </p:txBody>
      </p:sp>
      <p:sp>
        <p:nvSpPr>
          <p:cNvPr name="TextBox 6" id="6"/>
          <p:cNvSpPr txBox="true"/>
          <p:nvPr/>
        </p:nvSpPr>
        <p:spPr>
          <a:xfrm rot="0">
            <a:off x="1028700" y="1755227"/>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Tiêu chí Chẩn đoán Đái tháo đường Thai kỳ (Gestational Diabetes - GDM)</a:t>
            </a:r>
          </a:p>
        </p:txBody>
      </p:sp>
      <p:sp>
        <p:nvSpPr>
          <p:cNvPr name="Freeform 7" id="7"/>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1" id="11"/>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2" id="12"/>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960487" y="800038"/>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Pima Indians Diabetes</a:t>
            </a:r>
          </a:p>
        </p:txBody>
      </p:sp>
      <p:sp>
        <p:nvSpPr>
          <p:cNvPr name="TextBox 3" id="3"/>
          <p:cNvSpPr txBox="true"/>
          <p:nvPr/>
        </p:nvSpPr>
        <p:spPr>
          <a:xfrm rot="0">
            <a:off x="1028700" y="2767965"/>
            <a:ext cx="16230600" cy="2375535"/>
          </a:xfrm>
          <a:prstGeom prst="rect">
            <a:avLst/>
          </a:prstGeom>
        </p:spPr>
        <p:txBody>
          <a:bodyPr anchor="t" rtlCol="false" tIns="0" lIns="0" bIns="0" rIns="0">
            <a:spAutoFit/>
          </a:bodyPr>
          <a:lstStyle/>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Thu thập</a:t>
            </a:r>
            <a:r>
              <a:rPr lang="en-US" sz="2799" spc="167">
                <a:solidFill>
                  <a:srgbClr val="000000"/>
                </a:solidFill>
                <a:latin typeface="Public Sans"/>
                <a:ea typeface="Public Sans"/>
                <a:cs typeface="Public Sans"/>
                <a:sym typeface="Public Sans"/>
              </a:rPr>
              <a:t> bởi Viện Quốc gia về Bệnh Đái tháo đường, Tiêu hó</a:t>
            </a:r>
            <a:r>
              <a:rPr lang="en-US" sz="2799" spc="167">
                <a:solidFill>
                  <a:srgbClr val="000000"/>
                </a:solidFill>
                <a:latin typeface="Public Sans"/>
                <a:ea typeface="Public Sans"/>
                <a:cs typeface="Public Sans"/>
                <a:sym typeface="Public Sans"/>
              </a:rPr>
              <a:t>a và Thận (NIDDK).</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Dữ liệu từ cộng đồng người da đỏ Pima sống tại Phoenix, Arizona (Mỹ).</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Nghiên cứu dài hạn từ năm 1965, kiểm tra định kỳ 2 năm/lần cho cư dân ≥5 tuổi.</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Bao gồm thử nghiệm dung nạp glucose đường uống (OGTT).</a:t>
            </a:r>
          </a:p>
          <a:p>
            <a:pPr algn="l">
              <a:lnSpc>
                <a:spcPts val="3779"/>
              </a:lnSpc>
            </a:pPr>
          </a:p>
        </p:txBody>
      </p:sp>
      <p:sp>
        <p:nvSpPr>
          <p:cNvPr name="TextBox 4" id="4"/>
          <p:cNvSpPr txBox="true"/>
          <p:nvPr/>
        </p:nvSpPr>
        <p:spPr>
          <a:xfrm rot="0">
            <a:off x="1028700" y="1934495"/>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Nguồn gốc</a:t>
            </a:r>
          </a:p>
        </p:txBody>
      </p:sp>
      <p:sp>
        <p:nvSpPr>
          <p:cNvPr name="TextBox 5" id="5"/>
          <p:cNvSpPr txBox="true"/>
          <p:nvPr/>
        </p:nvSpPr>
        <p:spPr>
          <a:xfrm rot="0">
            <a:off x="1028700" y="5210175"/>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Đặc điểm cộng đồng</a:t>
            </a:r>
          </a:p>
        </p:txBody>
      </p:sp>
      <p:sp>
        <p:nvSpPr>
          <p:cNvPr name="TextBox 6" id="6"/>
          <p:cNvSpPr txBox="true"/>
          <p:nvPr/>
        </p:nvSpPr>
        <p:spPr>
          <a:xfrm rot="0">
            <a:off x="960487" y="6045836"/>
            <a:ext cx="16230600" cy="3328035"/>
          </a:xfrm>
          <a:prstGeom prst="rect">
            <a:avLst/>
          </a:prstGeom>
        </p:spPr>
        <p:txBody>
          <a:bodyPr anchor="t" rtlCol="false" tIns="0" lIns="0" bIns="0" rIns="0">
            <a:spAutoFit/>
          </a:bodyPr>
          <a:lstStyle/>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Ngườ</a:t>
            </a:r>
            <a:r>
              <a:rPr lang="en-US" sz="2799" spc="167">
                <a:solidFill>
                  <a:srgbClr val="000000"/>
                </a:solidFill>
                <a:latin typeface="Public Sans"/>
                <a:ea typeface="Public Sans"/>
                <a:cs typeface="Public Sans"/>
                <a:sym typeface="Public Sans"/>
              </a:rPr>
              <a:t>i Pima có tỷ lệ mắc tiểu đường type 2 c</a:t>
            </a:r>
            <a:r>
              <a:rPr lang="en-US" sz="2799" spc="167">
                <a:solidFill>
                  <a:srgbClr val="000000"/>
                </a:solidFill>
                <a:latin typeface="Public Sans"/>
                <a:ea typeface="Public Sans"/>
                <a:cs typeface="Public Sans"/>
                <a:sym typeface="Public Sans"/>
              </a:rPr>
              <a:t>ao nhất thế giới.</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Q</a:t>
            </a:r>
            <a:r>
              <a:rPr lang="en-US" sz="2799" spc="167">
                <a:solidFill>
                  <a:srgbClr val="000000"/>
                </a:solidFill>
                <a:latin typeface="Public Sans"/>
                <a:ea typeface="Public Sans"/>
                <a:cs typeface="Public Sans"/>
                <a:sym typeface="Public Sans"/>
              </a:rPr>
              <a:t>uần thể nguy cơ cao → thuận lợi cho nghiên cứu mối quan hệ nhân quả.</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Đối tượng phân tích: phụ nữ Pima ≥21 tuổi.</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Tiêu chuẩn chẩn đoán the</a:t>
            </a:r>
            <a:r>
              <a:rPr lang="en-US" sz="2799" spc="167">
                <a:solidFill>
                  <a:srgbClr val="000000"/>
                </a:solidFill>
                <a:latin typeface="Public Sans"/>
                <a:ea typeface="Public Sans"/>
                <a:cs typeface="Public Sans"/>
                <a:sym typeface="Public Sans"/>
              </a:rPr>
              <a:t>o WHO: Glucose huyết tương sau 2h ≥ 11.1 mmol/l (200 mg/dl).</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Dữ liệu có giá trị cao trong dự đoán nguy cơ tiểu đường tương lai.</a:t>
            </a:r>
          </a:p>
          <a:p>
            <a:pPr algn="l">
              <a:lnSpc>
                <a:spcPts val="3779"/>
              </a:lnSpc>
            </a:pPr>
          </a:p>
        </p:txBody>
      </p:sp>
      <p:sp>
        <p:nvSpPr>
          <p:cNvPr name="Freeform 7" id="7"/>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TextBox 2" id="2"/>
          <p:cNvSpPr txBox="true"/>
          <p:nvPr/>
        </p:nvSpPr>
        <p:spPr>
          <a:xfrm rot="0">
            <a:off x="960487" y="800038"/>
            <a:ext cx="11480260"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Bộ dữ liệu Pima Indians Diabetes</a:t>
            </a:r>
          </a:p>
        </p:txBody>
      </p:sp>
      <p:sp>
        <p:nvSpPr>
          <p:cNvPr name="TextBox 3" id="3"/>
          <p:cNvSpPr txBox="true"/>
          <p:nvPr/>
        </p:nvSpPr>
        <p:spPr>
          <a:xfrm rot="0">
            <a:off x="1180640" y="2420085"/>
            <a:ext cx="16230600" cy="3328035"/>
          </a:xfrm>
          <a:prstGeom prst="rect">
            <a:avLst/>
          </a:prstGeom>
        </p:spPr>
        <p:txBody>
          <a:bodyPr anchor="t" rtlCol="false" tIns="0" lIns="0" bIns="0" rIns="0">
            <a:spAutoFit/>
          </a:bodyPr>
          <a:lstStyle/>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Dự báo nguy cơ</a:t>
            </a:r>
            <a:r>
              <a:rPr lang="en-US" sz="2799" spc="167">
                <a:solidFill>
                  <a:srgbClr val="000000"/>
                </a:solidFill>
                <a:latin typeface="Public Sans"/>
                <a:ea typeface="Public Sans"/>
                <a:cs typeface="Public Sans"/>
                <a:sym typeface="Public Sans"/>
              </a:rPr>
              <a:t> mắc tiểu đường type 2 trong 5 năm.</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Xác định yếu tố nguy cơ</a:t>
            </a:r>
            <a:r>
              <a:rPr lang="en-US" sz="2799" spc="167">
                <a:solidFill>
                  <a:srgbClr val="000000"/>
                </a:solidFill>
                <a:latin typeface="Public Sans"/>
                <a:ea typeface="Public Sans"/>
                <a:cs typeface="Public Sans"/>
                <a:sym typeface="Public Sans"/>
              </a:rPr>
              <a:t> chính: Glucose, BMI, Age, DPF…</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Phân tích</a:t>
            </a:r>
            <a:r>
              <a:rPr lang="en-US" sz="2799" spc="167">
                <a:solidFill>
                  <a:srgbClr val="000000"/>
                </a:solidFill>
                <a:latin typeface="Public Sans"/>
                <a:ea typeface="Public Sans"/>
                <a:cs typeface="Public Sans"/>
                <a:sym typeface="Public Sans"/>
              </a:rPr>
              <a:t> đa biến:</a:t>
            </a:r>
          </a:p>
          <a:p>
            <a:pPr algn="l" marL="1209029" indent="-403010" lvl="2">
              <a:lnSpc>
                <a:spcPts val="3779"/>
              </a:lnSpc>
              <a:buFont typeface="Arial"/>
              <a:buChar char="⚬"/>
            </a:pPr>
            <a:r>
              <a:rPr lang="en-US" sz="2799" spc="167">
                <a:solidFill>
                  <a:srgbClr val="000000"/>
                </a:solidFill>
                <a:latin typeface="Public Sans"/>
                <a:ea typeface="Public Sans"/>
                <a:cs typeface="Public Sans"/>
                <a:sym typeface="Public Sans"/>
              </a:rPr>
              <a:t>Quan hệ chức năng giữa các biến.</a:t>
            </a:r>
          </a:p>
          <a:p>
            <a:pPr algn="l" marL="1209029" indent="-403010" lvl="2">
              <a:lnSpc>
                <a:spcPts val="3779"/>
              </a:lnSpc>
              <a:buFont typeface="Arial"/>
              <a:buChar char="⚬"/>
            </a:pPr>
            <a:r>
              <a:rPr lang="en-US" sz="2799" spc="167">
                <a:solidFill>
                  <a:srgbClr val="000000"/>
                </a:solidFill>
                <a:latin typeface="Public Sans"/>
                <a:ea typeface="Public Sans"/>
                <a:cs typeface="Public Sans"/>
                <a:sym typeface="Public Sans"/>
              </a:rPr>
              <a:t>Tác động tổng hợp (VD: BMI + Glucose + Age).</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Kết</a:t>
            </a:r>
            <a:r>
              <a:rPr lang="en-US" sz="2799" spc="167">
                <a:solidFill>
                  <a:srgbClr val="000000"/>
                </a:solidFill>
                <a:latin typeface="Public Sans"/>
                <a:ea typeface="Public Sans"/>
                <a:cs typeface="Public Sans"/>
                <a:sym typeface="Public Sans"/>
              </a:rPr>
              <a:t> quả: Nền tảng cho hiểu cơ chế bệnh sinh &amp; phát triển mô hình dự đoán.</a:t>
            </a:r>
          </a:p>
          <a:p>
            <a:pPr algn="l">
              <a:lnSpc>
                <a:spcPts val="3779"/>
              </a:lnSpc>
            </a:pPr>
          </a:p>
        </p:txBody>
      </p:sp>
      <p:sp>
        <p:nvSpPr>
          <p:cNvPr name="TextBox 4" id="4"/>
          <p:cNvSpPr txBox="true"/>
          <p:nvPr/>
        </p:nvSpPr>
        <p:spPr>
          <a:xfrm rot="0">
            <a:off x="1028700" y="1753434"/>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Mục tiêu phân tích</a:t>
            </a:r>
          </a:p>
        </p:txBody>
      </p:sp>
      <p:sp>
        <p:nvSpPr>
          <p:cNvPr name="TextBox 5" id="5"/>
          <p:cNvSpPr txBox="true"/>
          <p:nvPr/>
        </p:nvSpPr>
        <p:spPr>
          <a:xfrm rot="0">
            <a:off x="1028700" y="5549365"/>
            <a:ext cx="16230600" cy="464186"/>
          </a:xfrm>
          <a:prstGeom prst="rect">
            <a:avLst/>
          </a:prstGeom>
        </p:spPr>
        <p:txBody>
          <a:bodyPr anchor="t" rtlCol="false" tIns="0" lIns="0" bIns="0" rIns="0">
            <a:spAutoFit/>
          </a:bodyPr>
          <a:lstStyle/>
          <a:p>
            <a:pPr algn="l">
              <a:lnSpc>
                <a:spcPts val="3395"/>
              </a:lnSpc>
            </a:pPr>
            <a:r>
              <a:rPr lang="en-US" sz="3500" b="true">
                <a:solidFill>
                  <a:srgbClr val="000000"/>
                </a:solidFill>
                <a:latin typeface="Public Sans Bold"/>
                <a:ea typeface="Public Sans Bold"/>
                <a:cs typeface="Public Sans Bold"/>
                <a:sym typeface="Public Sans Bold"/>
              </a:rPr>
              <a:t>Đặc điểm cộng đồng</a:t>
            </a:r>
          </a:p>
        </p:txBody>
      </p:sp>
      <p:sp>
        <p:nvSpPr>
          <p:cNvPr name="TextBox 6" id="6"/>
          <p:cNvSpPr txBox="true"/>
          <p:nvPr/>
        </p:nvSpPr>
        <p:spPr>
          <a:xfrm rot="0">
            <a:off x="1180640" y="6213576"/>
            <a:ext cx="16230600" cy="3804285"/>
          </a:xfrm>
          <a:prstGeom prst="rect">
            <a:avLst/>
          </a:prstGeom>
        </p:spPr>
        <p:txBody>
          <a:bodyPr anchor="t" rtlCol="false" tIns="0" lIns="0" bIns="0" rIns="0">
            <a:spAutoFit/>
          </a:bodyPr>
          <a:lstStyle/>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Dữ</a:t>
            </a:r>
            <a:r>
              <a:rPr lang="en-US" sz="2799" spc="167">
                <a:solidFill>
                  <a:srgbClr val="000000"/>
                </a:solidFill>
                <a:latin typeface="Public Sans"/>
                <a:ea typeface="Public Sans"/>
                <a:cs typeface="Public Sans"/>
                <a:sym typeface="Public Sans"/>
              </a:rPr>
              <a:t> liệu: 768 ca kiểm tr</a:t>
            </a:r>
            <a:r>
              <a:rPr lang="en-US" sz="2799" spc="167">
                <a:solidFill>
                  <a:srgbClr val="000000"/>
                </a:solidFill>
                <a:latin typeface="Public Sans"/>
                <a:ea typeface="Public Sans"/>
                <a:cs typeface="Public Sans"/>
                <a:sym typeface="Public Sans"/>
              </a:rPr>
              <a:t>a từ phụ nữ Pima.</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Trai</a:t>
            </a:r>
            <a:r>
              <a:rPr lang="en-US" sz="2799" spc="167">
                <a:solidFill>
                  <a:srgbClr val="000000"/>
                </a:solidFill>
                <a:latin typeface="Public Sans"/>
                <a:ea typeface="Public Sans"/>
                <a:cs typeface="Public Sans"/>
                <a:sym typeface="Public Sans"/>
              </a:rPr>
              <a:t>n: 576 ca</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Test: 192 ca</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Loại bỏ ca phát hiện DM trong vòng 1 năm để tăng</a:t>
            </a:r>
            <a:r>
              <a:rPr lang="en-US" sz="2799" spc="167">
                <a:solidFill>
                  <a:srgbClr val="000000"/>
                </a:solidFill>
                <a:latin typeface="Public Sans"/>
                <a:ea typeface="Public Sans"/>
                <a:cs typeface="Public Sans"/>
                <a:sym typeface="Public Sans"/>
              </a:rPr>
              <a:t> độ khó dự báo.</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Biến mục tiêu</a:t>
            </a:r>
            <a:r>
              <a:rPr lang="en-US" sz="2799" spc="167">
                <a:solidFill>
                  <a:srgbClr val="000000"/>
                </a:solidFill>
                <a:latin typeface="Public Sans"/>
                <a:ea typeface="Public Sans"/>
                <a:cs typeface="Public Sans"/>
                <a:sym typeface="Public Sans"/>
              </a:rPr>
              <a:t> (Outcome):</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1: Phát triển DM trong 1–5 năm sau kiểm tra.</a:t>
            </a:r>
          </a:p>
          <a:p>
            <a:pPr algn="l" marL="604515" indent="-302257" lvl="1">
              <a:lnSpc>
                <a:spcPts val="3779"/>
              </a:lnSpc>
              <a:buFont typeface="Arial"/>
              <a:buChar char="•"/>
            </a:pPr>
            <a:r>
              <a:rPr lang="en-US" sz="2799" spc="167">
                <a:solidFill>
                  <a:srgbClr val="000000"/>
                </a:solidFill>
                <a:latin typeface="Public Sans"/>
                <a:ea typeface="Public Sans"/>
                <a:cs typeface="Public Sans"/>
                <a:sym typeface="Public Sans"/>
              </a:rPr>
              <a:t>0: Không mắc DM ≥ 5 năm sau kiểm tra.</a:t>
            </a:r>
          </a:p>
          <a:p>
            <a:pPr algn="l">
              <a:lnSpc>
                <a:spcPts val="3779"/>
              </a:lnSpc>
            </a:pPr>
          </a:p>
        </p:txBody>
      </p:sp>
      <p:sp>
        <p:nvSpPr>
          <p:cNvPr name="Freeform 7" id="7"/>
          <p:cNvSpPr/>
          <p:nvPr/>
        </p:nvSpPr>
        <p:spPr>
          <a:xfrm flipH="false" flipV="false" rot="0">
            <a:off x="15475018" y="2217620"/>
            <a:ext cx="2290748" cy="5020817"/>
          </a:xfrm>
          <a:custGeom>
            <a:avLst/>
            <a:gdLst/>
            <a:ahLst/>
            <a:cxnLst/>
            <a:rect r="r" b="b" t="t" l="l"/>
            <a:pathLst>
              <a:path h="5020817" w="2290748">
                <a:moveTo>
                  <a:pt x="0" y="0"/>
                </a:moveTo>
                <a:lnTo>
                  <a:pt x="2290748" y="0"/>
                </a:lnTo>
                <a:lnTo>
                  <a:pt x="2290748" y="5020817"/>
                </a:lnTo>
                <a:lnTo>
                  <a:pt x="0" y="50208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4" id="14"/>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647773" y="113736"/>
          <a:ext cx="10129838" cy="5657850"/>
        </p:xfrm>
        <a:graphic>
          <a:graphicData uri="http://schemas.openxmlformats.org/presentationml/2006/ole">
            <p:oleObj imgW="12153900" imgH="7683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60487" y="800038"/>
            <a:ext cx="14949553"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Tổng quan dữ liệu thô và thống kê mô tả ban đầu</a:t>
            </a:r>
          </a:p>
        </p:txBody>
      </p:sp>
      <p:sp>
        <p:nvSpPr>
          <p:cNvPr name="TextBox 4" id="4"/>
          <p:cNvSpPr txBox="true"/>
          <p:nvPr/>
        </p:nvSpPr>
        <p:spPr>
          <a:xfrm rot="0">
            <a:off x="1477395" y="3544003"/>
            <a:ext cx="14432645" cy="3141845"/>
          </a:xfrm>
          <a:prstGeom prst="rect">
            <a:avLst/>
          </a:prstGeom>
        </p:spPr>
        <p:txBody>
          <a:bodyPr anchor="t" rtlCol="false" tIns="0" lIns="0" bIns="0" rIns="0">
            <a:spAutoFit/>
          </a:bodyPr>
          <a:lstStyle/>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768 bản ghi, 9</a:t>
            </a:r>
            <a:r>
              <a:rPr lang="en-US" sz="3073" spc="184">
                <a:solidFill>
                  <a:srgbClr val="000000"/>
                </a:solidFill>
                <a:latin typeface="Public Sans"/>
                <a:ea typeface="Public Sans"/>
                <a:cs typeface="Public Sans"/>
                <a:sym typeface="Public Sans"/>
              </a:rPr>
              <a:t> trường dữ liệu (8 biế</a:t>
            </a:r>
            <a:r>
              <a:rPr lang="en-US" sz="3073" spc="184">
                <a:solidFill>
                  <a:srgbClr val="000000"/>
                </a:solidFill>
                <a:latin typeface="Public Sans"/>
                <a:ea typeface="Public Sans"/>
                <a:cs typeface="Public Sans"/>
                <a:sym typeface="Public Sans"/>
              </a:rPr>
              <a:t>n đầu vào</a:t>
            </a:r>
            <a:r>
              <a:rPr lang="en-US" sz="3073" spc="184">
                <a:solidFill>
                  <a:srgbClr val="000000"/>
                </a:solidFill>
                <a:latin typeface="Public Sans"/>
                <a:ea typeface="Public Sans"/>
                <a:cs typeface="Public Sans"/>
                <a:sym typeface="Public Sans"/>
              </a:rPr>
              <a:t> +</a:t>
            </a:r>
            <a:r>
              <a:rPr lang="en-US" sz="3073" spc="184">
                <a:solidFill>
                  <a:srgbClr val="000000"/>
                </a:solidFill>
                <a:latin typeface="Public Sans"/>
                <a:ea typeface="Public Sans"/>
                <a:cs typeface="Public Sans"/>
                <a:sym typeface="Public Sans"/>
              </a:rPr>
              <a:t> 1 biến mục tiêu).</a:t>
            </a:r>
          </a:p>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Tất cả biến đều dạng số.</a:t>
            </a:r>
          </a:p>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Rời rạc: Pregnancies, Age</a:t>
            </a:r>
          </a:p>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Liên tục: Glucose, BMI, Insulin, …</a:t>
            </a:r>
          </a:p>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Nhị phân: Outcome (0/1)</a:t>
            </a:r>
          </a:p>
          <a:p>
            <a:pPr algn="l">
              <a:lnSpc>
                <a:spcPts val="4149"/>
              </a:lnSpc>
            </a:pPr>
          </a:p>
        </p:txBody>
      </p:sp>
      <p:sp>
        <p:nvSpPr>
          <p:cNvPr name="TextBox 5" id="5"/>
          <p:cNvSpPr txBox="true"/>
          <p:nvPr/>
        </p:nvSpPr>
        <p:spPr>
          <a:xfrm rot="0">
            <a:off x="1477395" y="2556582"/>
            <a:ext cx="12963893"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Quy mô dữ liệu</a:t>
            </a:r>
          </a:p>
        </p:txBody>
      </p:sp>
      <p:sp>
        <p:nvSpPr>
          <p:cNvPr name="Freeform 6" id="6"/>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1" id="11"/>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769760" y="3292288"/>
            <a:ext cx="16748480" cy="4977460"/>
          </a:xfrm>
          <a:custGeom>
            <a:avLst/>
            <a:gdLst/>
            <a:ahLst/>
            <a:cxnLst/>
            <a:rect r="r" b="b" t="t" l="l"/>
            <a:pathLst>
              <a:path h="4977460" w="16748480">
                <a:moveTo>
                  <a:pt x="0" y="0"/>
                </a:moveTo>
                <a:lnTo>
                  <a:pt x="16748480" y="0"/>
                </a:lnTo>
                <a:lnTo>
                  <a:pt x="16748480" y="4977460"/>
                </a:lnTo>
                <a:lnTo>
                  <a:pt x="0" y="4977460"/>
                </a:lnTo>
                <a:lnTo>
                  <a:pt x="0" y="0"/>
                </a:lnTo>
                <a:close/>
              </a:path>
            </a:pathLst>
          </a:custGeom>
          <a:blipFill>
            <a:blip r:embed="rId2"/>
            <a:stretch>
              <a:fillRect l="0" t="0" r="0" b="0"/>
            </a:stretch>
          </a:blipFill>
        </p:spPr>
      </p:sp>
      <p:sp>
        <p:nvSpPr>
          <p:cNvPr name="Freeform 3" id="3"/>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960487" y="800038"/>
            <a:ext cx="14949553"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Tổng quan dữ liệu thô và thống kê mô tả ban đầu</a:t>
            </a:r>
          </a:p>
        </p:txBody>
      </p:sp>
      <p:sp>
        <p:nvSpPr>
          <p:cNvPr name="TextBox 5" id="5"/>
          <p:cNvSpPr txBox="true"/>
          <p:nvPr/>
        </p:nvSpPr>
        <p:spPr>
          <a:xfrm rot="0">
            <a:off x="1028700" y="1898176"/>
            <a:ext cx="12963893"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Thống kê mô tả ban đầu</a:t>
            </a:r>
          </a:p>
        </p:txBody>
      </p:sp>
      <p:sp>
        <p:nvSpPr>
          <p:cNvPr name="Freeform 6" id="6"/>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60487" y="800038"/>
            <a:ext cx="14949553" cy="650875"/>
          </a:xfrm>
          <a:prstGeom prst="rect">
            <a:avLst/>
          </a:prstGeom>
        </p:spPr>
        <p:txBody>
          <a:bodyPr anchor="t" rtlCol="false" tIns="0" lIns="0" bIns="0" rIns="0">
            <a:spAutoFit/>
          </a:bodyPr>
          <a:lstStyle/>
          <a:p>
            <a:pPr algn="l">
              <a:lnSpc>
                <a:spcPts val="4850"/>
              </a:lnSpc>
            </a:pPr>
            <a:r>
              <a:rPr lang="en-US" sz="5000" b="true">
                <a:solidFill>
                  <a:srgbClr val="000000"/>
                </a:solidFill>
                <a:latin typeface="Public Sans Bold"/>
                <a:ea typeface="Public Sans Bold"/>
                <a:cs typeface="Public Sans Bold"/>
                <a:sym typeface="Public Sans Bold"/>
              </a:rPr>
              <a:t>Tổng quan dữ liệu thô và thống kê mô tả ban đầu</a:t>
            </a:r>
          </a:p>
        </p:txBody>
      </p:sp>
      <p:sp>
        <p:nvSpPr>
          <p:cNvPr name="TextBox 4" id="4"/>
          <p:cNvSpPr txBox="true"/>
          <p:nvPr/>
        </p:nvSpPr>
        <p:spPr>
          <a:xfrm rot="0">
            <a:off x="1477395" y="3493356"/>
            <a:ext cx="14432645" cy="1046345"/>
          </a:xfrm>
          <a:prstGeom prst="rect">
            <a:avLst/>
          </a:prstGeom>
        </p:spPr>
        <p:txBody>
          <a:bodyPr anchor="t" rtlCol="false" tIns="0" lIns="0" bIns="0" rIns="0">
            <a:spAutoFit/>
          </a:bodyPr>
          <a:lstStyle/>
          <a:p>
            <a:pPr algn="l" marL="663624" indent="-331812" lvl="1">
              <a:lnSpc>
                <a:spcPts val="4149"/>
              </a:lnSpc>
              <a:buFont typeface="Arial"/>
              <a:buChar char="•"/>
            </a:pPr>
            <a:r>
              <a:rPr lang="en-US" sz="3073" spc="184">
                <a:solidFill>
                  <a:srgbClr val="000000"/>
                </a:solidFill>
                <a:latin typeface="Public Sans"/>
                <a:ea typeface="Public Sans"/>
                <a:cs typeface="Public Sans"/>
                <a:sym typeface="Public Sans"/>
              </a:rPr>
              <a:t>Về sinh học:</a:t>
            </a:r>
            <a:r>
              <a:rPr lang="en-US" sz="3073" spc="184">
                <a:solidFill>
                  <a:srgbClr val="000000"/>
                </a:solidFill>
                <a:latin typeface="Public Sans"/>
                <a:ea typeface="Public Sans"/>
                <a:cs typeface="Public Sans"/>
                <a:sym typeface="Public Sans"/>
              </a:rPr>
              <a:t> các chỉ số </a:t>
            </a:r>
            <a:r>
              <a:rPr lang="en-US" sz="3073" spc="184">
                <a:solidFill>
                  <a:srgbClr val="000000"/>
                </a:solidFill>
                <a:latin typeface="Public Sans"/>
                <a:ea typeface="Public Sans"/>
                <a:cs typeface="Public Sans"/>
                <a:sym typeface="Public Sans"/>
              </a:rPr>
              <a:t>này không thể bằng 0 → coi như dữ liệu khuyết thiếu / lỗi đo.</a:t>
            </a:r>
          </a:p>
        </p:txBody>
      </p:sp>
      <p:sp>
        <p:nvSpPr>
          <p:cNvPr name="TextBox 5" id="5"/>
          <p:cNvSpPr txBox="true"/>
          <p:nvPr/>
        </p:nvSpPr>
        <p:spPr>
          <a:xfrm rot="0">
            <a:off x="1477395" y="2556582"/>
            <a:ext cx="12963893"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Nhận định sơ bộ</a:t>
            </a:r>
          </a:p>
        </p:txBody>
      </p:sp>
      <p:sp>
        <p:nvSpPr>
          <p:cNvPr name="TextBox 6" id="6"/>
          <p:cNvSpPr txBox="true"/>
          <p:nvPr/>
        </p:nvSpPr>
        <p:spPr>
          <a:xfrm rot="0">
            <a:off x="1477395" y="5111201"/>
            <a:ext cx="12963893"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Định hướng tiền xử lý</a:t>
            </a:r>
          </a:p>
        </p:txBody>
      </p:sp>
      <p:sp>
        <p:nvSpPr>
          <p:cNvPr name="TextBox 7" id="7"/>
          <p:cNvSpPr txBox="true"/>
          <p:nvPr/>
        </p:nvSpPr>
        <p:spPr>
          <a:xfrm rot="0">
            <a:off x="1477395" y="5974675"/>
            <a:ext cx="14432645" cy="1211550"/>
          </a:xfrm>
          <a:prstGeom prst="rect">
            <a:avLst/>
          </a:prstGeom>
        </p:spPr>
        <p:txBody>
          <a:bodyPr anchor="t" rtlCol="false" tIns="0" lIns="0" bIns="0" rIns="0">
            <a:spAutoFit/>
          </a:bodyPr>
          <a:lstStyle/>
          <a:p>
            <a:pPr algn="l" marL="663624" indent="-331812" lvl="1">
              <a:lnSpc>
                <a:spcPts val="4948"/>
              </a:lnSpc>
              <a:buFont typeface="Arial"/>
              <a:buChar char="•"/>
            </a:pPr>
            <a:r>
              <a:rPr lang="en-US" sz="3073" spc="184">
                <a:solidFill>
                  <a:srgbClr val="000000"/>
                </a:solidFill>
                <a:latin typeface="Public Sans"/>
                <a:ea typeface="Public Sans"/>
                <a:cs typeface="Public Sans"/>
                <a:sym typeface="Public Sans"/>
              </a:rPr>
              <a:t>Xử lý gi</a:t>
            </a:r>
            <a:r>
              <a:rPr lang="en-US" sz="3073" spc="184">
                <a:solidFill>
                  <a:srgbClr val="000000"/>
                </a:solidFill>
                <a:latin typeface="Public Sans"/>
                <a:ea typeface="Public Sans"/>
                <a:cs typeface="Public Sans"/>
                <a:sym typeface="Public Sans"/>
              </a:rPr>
              <a:t>á trị 0 bất</a:t>
            </a:r>
            <a:r>
              <a:rPr lang="en-US" sz="3073" spc="184">
                <a:solidFill>
                  <a:srgbClr val="000000"/>
                </a:solidFill>
                <a:latin typeface="Public Sans"/>
                <a:ea typeface="Public Sans"/>
                <a:cs typeface="Public Sans"/>
                <a:sym typeface="Public Sans"/>
              </a:rPr>
              <a:t> thường là ưu tiên hàng đầu (Mục 2.1).</a:t>
            </a:r>
          </a:p>
          <a:p>
            <a:pPr algn="l" marL="663624" indent="-331812" lvl="1">
              <a:lnSpc>
                <a:spcPts val="4948"/>
              </a:lnSpc>
              <a:buFont typeface="Arial"/>
              <a:buChar char="•"/>
            </a:pPr>
            <a:r>
              <a:rPr lang="en-US" sz="3073" spc="184">
                <a:solidFill>
                  <a:srgbClr val="000000"/>
                </a:solidFill>
                <a:latin typeface="Public Sans"/>
                <a:ea typeface="Public Sans"/>
                <a:cs typeface="Public Sans"/>
                <a:sym typeface="Public Sans"/>
              </a:rPr>
              <a:t>Đảm bảo dữ liệu sạch &amp; hợp lý về mặt y học trước phân tích.</a:t>
            </a:r>
          </a:p>
        </p:txBody>
      </p:sp>
      <p:sp>
        <p:nvSpPr>
          <p:cNvPr name="Freeform 8" id="8"/>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522234" y="1844680"/>
            <a:ext cx="9726088" cy="7521842"/>
          </a:xfrm>
          <a:custGeom>
            <a:avLst/>
            <a:gdLst/>
            <a:ahLst/>
            <a:cxnLst/>
            <a:rect r="r" b="b" t="t" l="l"/>
            <a:pathLst>
              <a:path h="7521842" w="9726088">
                <a:moveTo>
                  <a:pt x="0" y="0"/>
                </a:moveTo>
                <a:lnTo>
                  <a:pt x="9726088" y="0"/>
                </a:lnTo>
                <a:lnTo>
                  <a:pt x="9726088" y="7521842"/>
                </a:lnTo>
                <a:lnTo>
                  <a:pt x="0" y="7521842"/>
                </a:lnTo>
                <a:lnTo>
                  <a:pt x="0" y="0"/>
                </a:lnTo>
                <a:close/>
              </a:path>
            </a:pathLst>
          </a:custGeom>
          <a:blipFill>
            <a:blip r:embed="rId13"/>
            <a:stretch>
              <a:fillRect l="-74" t="0" r="-74" b="0"/>
            </a:stretch>
          </a:blipFill>
        </p:spPr>
      </p:sp>
      <p:sp>
        <p:nvSpPr>
          <p:cNvPr name="TextBox 10" id="10"/>
          <p:cNvSpPr txBox="true"/>
          <p:nvPr/>
        </p:nvSpPr>
        <p:spPr>
          <a:xfrm rot="0">
            <a:off x="1578574" y="638175"/>
            <a:ext cx="2515809" cy="771525"/>
          </a:xfrm>
          <a:prstGeom prst="rect">
            <a:avLst/>
          </a:prstGeom>
        </p:spPr>
        <p:txBody>
          <a:bodyPr anchor="t" rtlCol="false" tIns="0" lIns="0" bIns="0" rIns="0">
            <a:spAutoFit/>
          </a:bodyPr>
          <a:lstStyle/>
          <a:p>
            <a:pPr algn="l">
              <a:lnSpc>
                <a:spcPts val="6000"/>
              </a:lnSpc>
            </a:pPr>
            <a:r>
              <a:rPr lang="en-US" sz="5000" b="true">
                <a:solidFill>
                  <a:srgbClr val="000000"/>
                </a:solidFill>
                <a:latin typeface="Public Sans Bold"/>
                <a:ea typeface="Public Sans Bold"/>
                <a:cs typeface="Public Sans Bold"/>
                <a:sym typeface="Public Sans Bold"/>
              </a:rPr>
              <a:t>EDA</a:t>
            </a:r>
          </a:p>
        </p:txBody>
      </p:sp>
      <p:sp>
        <p:nvSpPr>
          <p:cNvPr name="TextBox 11" id="11"/>
          <p:cNvSpPr txBox="true"/>
          <p:nvPr/>
        </p:nvSpPr>
        <p:spPr>
          <a:xfrm rot="0">
            <a:off x="6562490" y="1104900"/>
            <a:ext cx="6253217"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Phân tích tỷ lệ mắc bệnh </a:t>
            </a:r>
          </a:p>
        </p:txBody>
      </p:sp>
      <p:sp>
        <p:nvSpPr>
          <p:cNvPr name="TextBox 12" id="12"/>
          <p:cNvSpPr txBox="true"/>
          <p:nvPr/>
        </p:nvSpPr>
        <p:spPr>
          <a:xfrm rot="0">
            <a:off x="10434981" y="1985461"/>
            <a:ext cx="7322708" cy="693420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Public Sans Bold"/>
                <a:ea typeface="Public Sans Bold"/>
                <a:cs typeface="Public Sans Bold"/>
                <a:sym typeface="Public Sans Bold"/>
              </a:rPr>
              <a:t>Tỷ lệ phân bố</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Tổng: 768 trường hợp</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Outcome = 0 (Không mắc bệnh): 500 ca (~65.1%)</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Outcome = 1 (Mắc bệnh): 268 ca (~34.9%)</a:t>
            </a:r>
          </a:p>
          <a:p>
            <a:pPr algn="l">
              <a:lnSpc>
                <a:spcPts val="4200"/>
              </a:lnSpc>
              <a:spcBef>
                <a:spcPct val="0"/>
              </a:spcBef>
            </a:pPr>
            <a:r>
              <a:rPr lang="en-US" b="true" sz="3000">
                <a:solidFill>
                  <a:srgbClr val="000000"/>
                </a:solidFill>
                <a:latin typeface="Public Sans Bold"/>
                <a:ea typeface="Public Sans Bold"/>
                <a:cs typeface="Public Sans Bold"/>
                <a:sym typeface="Public Sans Bold"/>
              </a:rPr>
              <a:t>Nhận xét</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Tỷ lệ mắc bệnh (34.9%) rất cao so với dân số chung.</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Dữ liệu mất cân bằng nhẹ (nhóm không mắc bệnh chiếm ưu thế).</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Cần lưu ý khi phân tích &amp; xây dựng mô hình dự đoán.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635628" y="1975122"/>
            <a:ext cx="10764931" cy="6974462"/>
          </a:xfrm>
          <a:custGeom>
            <a:avLst/>
            <a:gdLst/>
            <a:ahLst/>
            <a:cxnLst/>
            <a:rect r="r" b="b" t="t" l="l"/>
            <a:pathLst>
              <a:path h="6974462" w="10764931">
                <a:moveTo>
                  <a:pt x="0" y="0"/>
                </a:moveTo>
                <a:lnTo>
                  <a:pt x="10764931" y="0"/>
                </a:lnTo>
                <a:lnTo>
                  <a:pt x="10764931" y="6974463"/>
                </a:lnTo>
                <a:lnTo>
                  <a:pt x="0" y="6974463"/>
                </a:lnTo>
                <a:lnTo>
                  <a:pt x="0" y="0"/>
                </a:lnTo>
                <a:close/>
              </a:path>
            </a:pathLst>
          </a:custGeom>
          <a:blipFill>
            <a:blip r:embed="rId13"/>
            <a:stretch>
              <a:fillRect l="0" t="0" r="0" b="0"/>
            </a:stretch>
          </a:blipFill>
        </p:spPr>
      </p:sp>
      <p:sp>
        <p:nvSpPr>
          <p:cNvPr name="TextBox 10" id="10"/>
          <p:cNvSpPr txBox="true"/>
          <p:nvPr/>
        </p:nvSpPr>
        <p:spPr>
          <a:xfrm rot="0">
            <a:off x="1578574" y="638175"/>
            <a:ext cx="2515809" cy="771525"/>
          </a:xfrm>
          <a:prstGeom prst="rect">
            <a:avLst/>
          </a:prstGeom>
        </p:spPr>
        <p:txBody>
          <a:bodyPr anchor="t" rtlCol="false" tIns="0" lIns="0" bIns="0" rIns="0">
            <a:spAutoFit/>
          </a:bodyPr>
          <a:lstStyle/>
          <a:p>
            <a:pPr algn="l">
              <a:lnSpc>
                <a:spcPts val="6000"/>
              </a:lnSpc>
            </a:pPr>
            <a:r>
              <a:rPr lang="en-US" sz="5000" b="true">
                <a:solidFill>
                  <a:srgbClr val="000000"/>
                </a:solidFill>
                <a:latin typeface="Public Sans Bold"/>
                <a:ea typeface="Public Sans Bold"/>
                <a:cs typeface="Public Sans Bold"/>
                <a:sym typeface="Public Sans Bold"/>
              </a:rPr>
              <a:t>EDA</a:t>
            </a:r>
          </a:p>
        </p:txBody>
      </p:sp>
      <p:sp>
        <p:nvSpPr>
          <p:cNvPr name="TextBox 11" id="11"/>
          <p:cNvSpPr txBox="true"/>
          <p:nvPr/>
        </p:nvSpPr>
        <p:spPr>
          <a:xfrm rot="0">
            <a:off x="5135781" y="1104900"/>
            <a:ext cx="9469277"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Xử lý giá trị khuyết thiếu và bất thường</a:t>
            </a:r>
          </a:p>
        </p:txBody>
      </p:sp>
      <p:sp>
        <p:nvSpPr>
          <p:cNvPr name="TextBox 12" id="12"/>
          <p:cNvSpPr txBox="true"/>
          <p:nvPr/>
        </p:nvSpPr>
        <p:spPr>
          <a:xfrm rot="0">
            <a:off x="11455060" y="1898922"/>
            <a:ext cx="6233806" cy="746760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Public Sans Bold"/>
                <a:ea typeface="Public Sans Bold"/>
                <a:cs typeface="Public Sans Bold"/>
                <a:sym typeface="Public Sans Bold"/>
              </a:rPr>
              <a:t>Nguyên</a:t>
            </a:r>
            <a:r>
              <a:rPr lang="en-US" b="true" sz="3000">
                <a:solidFill>
                  <a:srgbClr val="000000"/>
                </a:solidFill>
                <a:latin typeface="Public Sans Bold"/>
                <a:ea typeface="Public Sans Bold"/>
                <a:cs typeface="Public Sans Bold"/>
                <a:sym typeface="Public Sans Bold"/>
              </a:rPr>
              <a:t> tắc</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Một số biế</a:t>
            </a:r>
            <a:r>
              <a:rPr lang="en-US" sz="3000">
                <a:solidFill>
                  <a:srgbClr val="000000"/>
                </a:solidFill>
                <a:latin typeface="Public Sans"/>
                <a:ea typeface="Public Sans"/>
                <a:cs typeface="Public Sans"/>
                <a:sym typeface="Public Sans"/>
              </a:rPr>
              <a:t>n sinh lý không thể = 0 (VD: Glucose, Huyết áp).</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Giá trị 0 → đại diện cho Missing Values.</a:t>
            </a:r>
          </a:p>
          <a:p>
            <a:pPr algn="l">
              <a:lnSpc>
                <a:spcPts val="4200"/>
              </a:lnSpc>
            </a:pPr>
            <a:r>
              <a:rPr lang="en-US" b="true" sz="3000">
                <a:solidFill>
                  <a:srgbClr val="000000"/>
                </a:solidFill>
                <a:latin typeface="Public Sans Bold"/>
                <a:ea typeface="Public Sans Bold"/>
                <a:cs typeface="Public Sans Bold"/>
                <a:sym typeface="Public Sans Bold"/>
              </a:rPr>
              <a:t>P</a:t>
            </a:r>
            <a:r>
              <a:rPr lang="en-US" b="true" sz="3000">
                <a:solidFill>
                  <a:srgbClr val="000000"/>
                </a:solidFill>
                <a:latin typeface="Public Sans Bold"/>
                <a:ea typeface="Public Sans Bold"/>
                <a:cs typeface="Public Sans Bold"/>
                <a:sym typeface="Public Sans Bold"/>
              </a:rPr>
              <a:t>hát</a:t>
            </a:r>
            <a:r>
              <a:rPr lang="en-US" b="true" sz="3000">
                <a:solidFill>
                  <a:srgbClr val="000000"/>
                </a:solidFill>
                <a:latin typeface="Public Sans Bold"/>
                <a:ea typeface="Public Sans Bold"/>
                <a:cs typeface="Public Sans Bold"/>
                <a:sym typeface="Public Sans Bold"/>
              </a:rPr>
              <a:t> hiện</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Biến có giá trị 0: Glucose, BloodPressure, SkinThickness, Insulin, BMI.</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Insulin &amp; SkinThickness: tỷ lệ 0 cao nhất → dữ liệu thiếu nhiều.</a:t>
            </a:r>
          </a:p>
          <a:p>
            <a:pPr algn="l">
              <a:lnSpc>
                <a:spcPts val="4200"/>
              </a:lnSpc>
            </a:pPr>
            <a:r>
              <a:rPr lang="en-US" b="true" sz="3000">
                <a:solidFill>
                  <a:srgbClr val="000000"/>
                </a:solidFill>
                <a:latin typeface="Public Sans Bold"/>
                <a:ea typeface="Public Sans Bold"/>
                <a:cs typeface="Public Sans Bold"/>
                <a:sym typeface="Public Sans Bold"/>
              </a:rPr>
              <a:t>Định hướng</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Cần xử lý trước khi phân tích &amp; mô hình hóa.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6895751" y="3485159"/>
            <a:ext cx="11686154" cy="4356377"/>
          </a:xfrm>
          <a:custGeom>
            <a:avLst/>
            <a:gdLst/>
            <a:ahLst/>
            <a:cxnLst/>
            <a:rect r="r" b="b" t="t" l="l"/>
            <a:pathLst>
              <a:path h="4356377" w="11686154">
                <a:moveTo>
                  <a:pt x="0" y="0"/>
                </a:moveTo>
                <a:lnTo>
                  <a:pt x="11686155" y="0"/>
                </a:lnTo>
                <a:lnTo>
                  <a:pt x="11686155" y="4356377"/>
                </a:lnTo>
                <a:lnTo>
                  <a:pt x="0" y="4356377"/>
                </a:lnTo>
                <a:lnTo>
                  <a:pt x="0" y="0"/>
                </a:lnTo>
                <a:close/>
              </a:path>
            </a:pathLst>
          </a:custGeom>
          <a:blipFill>
            <a:blip r:embed="rId13"/>
            <a:stretch>
              <a:fillRect l="0" t="0" r="0" b="0"/>
            </a:stretch>
          </a:blipFill>
        </p:spPr>
      </p:sp>
      <p:sp>
        <p:nvSpPr>
          <p:cNvPr name="TextBox 10" id="10"/>
          <p:cNvSpPr txBox="true"/>
          <p:nvPr/>
        </p:nvSpPr>
        <p:spPr>
          <a:xfrm rot="0">
            <a:off x="1578574" y="638175"/>
            <a:ext cx="2515809" cy="771525"/>
          </a:xfrm>
          <a:prstGeom prst="rect">
            <a:avLst/>
          </a:prstGeom>
        </p:spPr>
        <p:txBody>
          <a:bodyPr anchor="t" rtlCol="false" tIns="0" lIns="0" bIns="0" rIns="0">
            <a:spAutoFit/>
          </a:bodyPr>
          <a:lstStyle/>
          <a:p>
            <a:pPr algn="l">
              <a:lnSpc>
                <a:spcPts val="6000"/>
              </a:lnSpc>
            </a:pPr>
            <a:r>
              <a:rPr lang="en-US" sz="5000" b="true">
                <a:solidFill>
                  <a:srgbClr val="000000"/>
                </a:solidFill>
                <a:latin typeface="Public Sans Bold"/>
                <a:ea typeface="Public Sans Bold"/>
                <a:cs typeface="Public Sans Bold"/>
                <a:sym typeface="Public Sans Bold"/>
              </a:rPr>
              <a:t>EDA</a:t>
            </a:r>
          </a:p>
        </p:txBody>
      </p:sp>
      <p:sp>
        <p:nvSpPr>
          <p:cNvPr name="TextBox 11" id="11"/>
          <p:cNvSpPr txBox="true"/>
          <p:nvPr/>
        </p:nvSpPr>
        <p:spPr>
          <a:xfrm rot="0">
            <a:off x="6169331" y="1338027"/>
            <a:ext cx="5949337"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Phân tích và xử lý Outlier</a:t>
            </a:r>
          </a:p>
        </p:txBody>
      </p:sp>
      <p:sp>
        <p:nvSpPr>
          <p:cNvPr name="TextBox 12" id="12"/>
          <p:cNvSpPr txBox="true"/>
          <p:nvPr/>
        </p:nvSpPr>
        <p:spPr>
          <a:xfrm rot="0">
            <a:off x="646508" y="2338911"/>
            <a:ext cx="6249244" cy="6919389"/>
          </a:xfrm>
          <a:prstGeom prst="rect">
            <a:avLst/>
          </a:prstGeom>
        </p:spPr>
        <p:txBody>
          <a:bodyPr anchor="t" rtlCol="false" tIns="0" lIns="0" bIns="0" rIns="0">
            <a:spAutoFit/>
          </a:bodyPr>
          <a:lstStyle/>
          <a:p>
            <a:pPr algn="l">
              <a:lnSpc>
                <a:spcPts val="4196"/>
              </a:lnSpc>
            </a:pPr>
            <a:r>
              <a:rPr lang="en-US" sz="2997" b="true">
                <a:solidFill>
                  <a:srgbClr val="000000"/>
                </a:solidFill>
                <a:latin typeface="Public Sans Bold"/>
                <a:ea typeface="Public Sans Bold"/>
                <a:cs typeface="Public Sans Bold"/>
                <a:sym typeface="Public Sans Bold"/>
              </a:rPr>
              <a:t>Phươ</a:t>
            </a:r>
            <a:r>
              <a:rPr lang="en-US" b="true" sz="2997">
                <a:solidFill>
                  <a:srgbClr val="000000"/>
                </a:solidFill>
                <a:latin typeface="Public Sans Bold"/>
                <a:ea typeface="Public Sans Bold"/>
                <a:cs typeface="Public Sans Bold"/>
                <a:sym typeface="Public Sans Bold"/>
              </a:rPr>
              <a:t>ng pháp xử lý</a:t>
            </a:r>
          </a:p>
          <a:p>
            <a:pPr algn="l" marL="647201" indent="-323600" lvl="1">
              <a:lnSpc>
                <a:spcPts val="4196"/>
              </a:lnSpc>
              <a:buFont typeface="Arial"/>
              <a:buChar char="•"/>
            </a:pPr>
            <a:r>
              <a:rPr lang="en-US" sz="2997">
                <a:solidFill>
                  <a:srgbClr val="000000"/>
                </a:solidFill>
                <a:latin typeface="Public Sans"/>
                <a:ea typeface="Public Sans"/>
                <a:cs typeface="Public Sans"/>
                <a:sym typeface="Public Sans"/>
              </a:rPr>
              <a:t>Thay thế giá trị 0 (khuyết thiếu) bằng giá trị trung vị (median).</a:t>
            </a:r>
          </a:p>
          <a:p>
            <a:pPr algn="l" marL="647201" indent="-323600" lvl="1">
              <a:lnSpc>
                <a:spcPts val="4196"/>
              </a:lnSpc>
              <a:buFont typeface="Arial"/>
              <a:buChar char="•"/>
            </a:pPr>
            <a:r>
              <a:rPr lang="en-US" sz="2997">
                <a:solidFill>
                  <a:srgbClr val="000000"/>
                </a:solidFill>
                <a:latin typeface="Public Sans"/>
                <a:ea typeface="Public Sans"/>
                <a:cs typeface="Public Sans"/>
                <a:sym typeface="Public Sans"/>
              </a:rPr>
              <a:t>Median ít bị ảnh hưởng bởi ngoại lai → đảm bảo tính toàn vẹn dữ liệu.</a:t>
            </a:r>
          </a:p>
          <a:p>
            <a:pPr algn="l">
              <a:lnSpc>
                <a:spcPts val="4196"/>
              </a:lnSpc>
            </a:pPr>
            <a:r>
              <a:rPr lang="en-US" b="true" sz="2997">
                <a:solidFill>
                  <a:srgbClr val="000000"/>
                </a:solidFill>
                <a:latin typeface="Public Sans Bold"/>
                <a:ea typeface="Public Sans Bold"/>
                <a:cs typeface="Public Sans Bold"/>
                <a:sym typeface="Public Sans Bold"/>
              </a:rPr>
              <a:t>Kết quả sau xử lý</a:t>
            </a:r>
          </a:p>
          <a:p>
            <a:pPr algn="l" marL="647201" indent="-323600" lvl="1">
              <a:lnSpc>
                <a:spcPts val="4196"/>
              </a:lnSpc>
              <a:buFont typeface="Arial"/>
              <a:buChar char="•"/>
            </a:pPr>
            <a:r>
              <a:rPr lang="en-US" sz="2997">
                <a:solidFill>
                  <a:srgbClr val="000000"/>
                </a:solidFill>
                <a:latin typeface="Public Sans"/>
                <a:ea typeface="Public Sans"/>
                <a:cs typeface="Public Sans"/>
                <a:sym typeface="Public Sans"/>
              </a:rPr>
              <a:t>Các biến Glucose, BloodPressure, SkinThickness, Insulin, BMI đều có giá trị &gt; 0 ở hàng Min.</a:t>
            </a:r>
          </a:p>
          <a:p>
            <a:pPr algn="l" marL="647201" indent="-323600" lvl="1">
              <a:lnSpc>
                <a:spcPts val="4196"/>
              </a:lnSpc>
              <a:buFont typeface="Arial"/>
              <a:buChar char="•"/>
            </a:pPr>
            <a:r>
              <a:rPr lang="en-US" sz="2997">
                <a:solidFill>
                  <a:srgbClr val="000000"/>
                </a:solidFill>
                <a:latin typeface="Public Sans"/>
                <a:ea typeface="Public Sans"/>
                <a:cs typeface="Public Sans"/>
                <a:sym typeface="Public Sans"/>
              </a:rPr>
              <a:t>→ Dữ liệu thiếu đã được xử lý hoàn tất.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3136015" y="1950121"/>
            <a:ext cx="12015971" cy="7795659"/>
          </a:xfrm>
          <a:custGeom>
            <a:avLst/>
            <a:gdLst/>
            <a:ahLst/>
            <a:cxnLst/>
            <a:rect r="r" b="b" t="t" l="l"/>
            <a:pathLst>
              <a:path h="7795659" w="12015971">
                <a:moveTo>
                  <a:pt x="0" y="0"/>
                </a:moveTo>
                <a:lnTo>
                  <a:pt x="12015970" y="0"/>
                </a:lnTo>
                <a:lnTo>
                  <a:pt x="12015970" y="7795659"/>
                </a:lnTo>
                <a:lnTo>
                  <a:pt x="0" y="7795659"/>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0153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Tuổi trung bình của bệnh nhân là bao nhiêu?</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951869" y="1950121"/>
            <a:ext cx="12384262" cy="8049771"/>
          </a:xfrm>
          <a:custGeom>
            <a:avLst/>
            <a:gdLst/>
            <a:ahLst/>
            <a:cxnLst/>
            <a:rect r="r" b="b" t="t" l="l"/>
            <a:pathLst>
              <a:path h="8049771" w="12384262">
                <a:moveTo>
                  <a:pt x="0" y="0"/>
                </a:moveTo>
                <a:lnTo>
                  <a:pt x="12384262" y="0"/>
                </a:lnTo>
                <a:lnTo>
                  <a:pt x="12384262" y="8049770"/>
                </a:lnTo>
                <a:lnTo>
                  <a:pt x="0" y="8049770"/>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2229517"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Nhóm tuổi nào chiếm tỷ lệ cao nhất trong tập dữ liệu?</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969159" y="1950121"/>
            <a:ext cx="12349682" cy="8042730"/>
          </a:xfrm>
          <a:custGeom>
            <a:avLst/>
            <a:gdLst/>
            <a:ahLst/>
            <a:cxnLst/>
            <a:rect r="r" b="b" t="t" l="l"/>
            <a:pathLst>
              <a:path h="8042730" w="12349682">
                <a:moveTo>
                  <a:pt x="0" y="0"/>
                </a:moveTo>
                <a:lnTo>
                  <a:pt x="12349682" y="0"/>
                </a:lnTo>
                <a:lnTo>
                  <a:pt x="12349682" y="8042730"/>
                </a:lnTo>
                <a:lnTo>
                  <a:pt x="0" y="8042730"/>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3571653"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Trung bình số lần mang thai của bệnh nhân là bao nhiêu?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5046630" y="1854871"/>
            <a:ext cx="8194740" cy="8476434"/>
          </a:xfrm>
          <a:custGeom>
            <a:avLst/>
            <a:gdLst/>
            <a:ahLst/>
            <a:cxnLst/>
            <a:rect r="r" b="b" t="t" l="l"/>
            <a:pathLst>
              <a:path h="8476434" w="8194740">
                <a:moveTo>
                  <a:pt x="0" y="0"/>
                </a:moveTo>
                <a:lnTo>
                  <a:pt x="8194740" y="0"/>
                </a:lnTo>
                <a:lnTo>
                  <a:pt x="8194740" y="8476434"/>
                </a:lnTo>
                <a:lnTo>
                  <a:pt x="0" y="8476434"/>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bệnh nhân mang thai nhiều lần (≥5 lần) chiếm bao nhiêu phần trăm?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1801372" y="1854871"/>
            <a:ext cx="14685255" cy="8220791"/>
          </a:xfrm>
          <a:custGeom>
            <a:avLst/>
            <a:gdLst/>
            <a:ahLst/>
            <a:cxnLst/>
            <a:rect r="r" b="b" t="t" l="l"/>
            <a:pathLst>
              <a:path h="8220791" w="14685255">
                <a:moveTo>
                  <a:pt x="0" y="0"/>
                </a:moveTo>
                <a:lnTo>
                  <a:pt x="14685256" y="0"/>
                </a:lnTo>
                <a:lnTo>
                  <a:pt x="14685256" y="8220791"/>
                </a:lnTo>
                <a:lnTo>
                  <a:pt x="0" y="8220791"/>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Số lần mang thai trung bình có tăng theo độ tuổi của bệnh nhân không?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692411" y="1766034"/>
            <a:ext cx="12903177" cy="8520966"/>
          </a:xfrm>
          <a:custGeom>
            <a:avLst/>
            <a:gdLst/>
            <a:ahLst/>
            <a:cxnLst/>
            <a:rect r="r" b="b" t="t" l="l"/>
            <a:pathLst>
              <a:path h="8520966" w="12903177">
                <a:moveTo>
                  <a:pt x="0" y="0"/>
                </a:moveTo>
                <a:lnTo>
                  <a:pt x="12903178" y="0"/>
                </a:lnTo>
                <a:lnTo>
                  <a:pt x="12903178" y="8520966"/>
                </a:lnTo>
                <a:lnTo>
                  <a:pt x="0" y="8520966"/>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nhân khẩu học</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Tuổi có ảnh hưởng trực tiếp đến Outcome không?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692411" y="1766034"/>
            <a:ext cx="12903177" cy="8520966"/>
          </a:xfrm>
          <a:custGeom>
            <a:avLst/>
            <a:gdLst/>
            <a:ahLst/>
            <a:cxnLst/>
            <a:rect r="r" b="b" t="t" l="l"/>
            <a:pathLst>
              <a:path h="8520966" w="12903177">
                <a:moveTo>
                  <a:pt x="0" y="0"/>
                </a:moveTo>
                <a:lnTo>
                  <a:pt x="12903178" y="0"/>
                </a:lnTo>
                <a:lnTo>
                  <a:pt x="12903178" y="8520966"/>
                </a:lnTo>
                <a:lnTo>
                  <a:pt x="0" y="8520966"/>
                </a:lnTo>
                <a:lnTo>
                  <a:pt x="0" y="0"/>
                </a:lnTo>
                <a:close/>
              </a:path>
            </a:pathLst>
          </a:custGeom>
          <a:blipFill>
            <a:blip r:embed="rId13"/>
            <a:stretch>
              <a:fillRect l="0" t="0" r="0" b="0"/>
            </a:stretch>
          </a:blipFill>
        </p:spPr>
      </p:sp>
      <p:sp>
        <p:nvSpPr>
          <p:cNvPr name="TextBox 10" id="10"/>
          <p:cNvSpPr txBox="true"/>
          <p:nvPr/>
        </p:nvSpPr>
        <p:spPr>
          <a:xfrm rot="0">
            <a:off x="744232" y="536701"/>
            <a:ext cx="16889006" cy="968249"/>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Nhóm phụ nữ nhiều lần mang thai và tuổi cao có tỷ lệ tiểu đường cao hơn không?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605505" y="1854871"/>
            <a:ext cx="13716481" cy="8432129"/>
          </a:xfrm>
          <a:custGeom>
            <a:avLst/>
            <a:gdLst/>
            <a:ahLst/>
            <a:cxnLst/>
            <a:rect r="r" b="b" t="t" l="l"/>
            <a:pathLst>
              <a:path h="8432129" w="13716481">
                <a:moveTo>
                  <a:pt x="0" y="0"/>
                </a:moveTo>
                <a:lnTo>
                  <a:pt x="13716481" y="0"/>
                </a:lnTo>
                <a:lnTo>
                  <a:pt x="13716481" y="8432129"/>
                </a:lnTo>
                <a:lnTo>
                  <a:pt x="0" y="8432129"/>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chỉ số cơ thể</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Giá trị BMI trung bình là bao nhiêu?</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4009334" y="1766034"/>
            <a:ext cx="10269332" cy="9145518"/>
          </a:xfrm>
          <a:custGeom>
            <a:avLst/>
            <a:gdLst/>
            <a:ahLst/>
            <a:cxnLst/>
            <a:rect r="r" b="b" t="t" l="l"/>
            <a:pathLst>
              <a:path h="9145518" w="10269332">
                <a:moveTo>
                  <a:pt x="0" y="0"/>
                </a:moveTo>
                <a:lnTo>
                  <a:pt x="10269332" y="0"/>
                </a:lnTo>
                <a:lnTo>
                  <a:pt x="10269332" y="9145518"/>
                </a:lnTo>
                <a:lnTo>
                  <a:pt x="0" y="9145518"/>
                </a:lnTo>
                <a:lnTo>
                  <a:pt x="0" y="0"/>
                </a:lnTo>
                <a:close/>
              </a:path>
            </a:pathLst>
          </a:custGeom>
          <a:blipFill>
            <a:blip r:embed="rId13"/>
            <a:stretch>
              <a:fillRect l="0" t="-1006" r="0" b="-1006"/>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chỉ số cơ thể</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Tỷ lệ bệnh nhân thừa cân và béo phì?</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390908" y="1766034"/>
            <a:ext cx="13506185" cy="8674574"/>
          </a:xfrm>
          <a:custGeom>
            <a:avLst/>
            <a:gdLst/>
            <a:ahLst/>
            <a:cxnLst/>
            <a:rect r="r" b="b" t="t" l="l"/>
            <a:pathLst>
              <a:path h="8674574" w="13506185">
                <a:moveTo>
                  <a:pt x="0" y="0"/>
                </a:moveTo>
                <a:lnTo>
                  <a:pt x="13506184" y="0"/>
                </a:lnTo>
                <a:lnTo>
                  <a:pt x="13506184" y="8674574"/>
                </a:lnTo>
                <a:lnTo>
                  <a:pt x="0" y="8674574"/>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chỉ số cơ thể</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BMI ảnh hưởng thế nào đến khả năng mắc tiểu đường (Outcome)?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656633" y="1853423"/>
            <a:ext cx="12974734" cy="8433577"/>
          </a:xfrm>
          <a:custGeom>
            <a:avLst/>
            <a:gdLst/>
            <a:ahLst/>
            <a:cxnLst/>
            <a:rect r="r" b="b" t="t" l="l"/>
            <a:pathLst>
              <a:path h="8433577" w="12974734">
                <a:moveTo>
                  <a:pt x="0" y="0"/>
                </a:moveTo>
                <a:lnTo>
                  <a:pt x="12974734" y="0"/>
                </a:lnTo>
                <a:lnTo>
                  <a:pt x="12974734" y="8433577"/>
                </a:lnTo>
                <a:lnTo>
                  <a:pt x="0" y="8433577"/>
                </a:lnTo>
                <a:lnTo>
                  <a:pt x="0" y="0"/>
                </a:lnTo>
                <a:close/>
              </a:path>
            </a:pathLst>
          </a:custGeom>
          <a:blipFill>
            <a:blip r:embed="rId13"/>
            <a:stretch>
              <a:fillRect l="0" t="0" r="0" b="0"/>
            </a:stretch>
          </a:blipFill>
        </p:spPr>
      </p:sp>
      <p:sp>
        <p:nvSpPr>
          <p:cNvPr name="TextBox 10" id="10"/>
          <p:cNvSpPr txBox="true"/>
          <p:nvPr/>
        </p:nvSpPr>
        <p:spPr>
          <a:xfrm rot="0">
            <a:off x="1028700" y="489076"/>
            <a:ext cx="7565426"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chỉ số cơ thể</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Nồng độ glucose thay đổi theo BMI như thế nào?</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8992060" y="2162381"/>
            <a:ext cx="9673630" cy="5962237"/>
          </a:xfrm>
          <a:custGeom>
            <a:avLst/>
            <a:gdLst/>
            <a:ahLst/>
            <a:cxnLst/>
            <a:rect r="r" b="b" t="t" l="l"/>
            <a:pathLst>
              <a:path h="5962237" w="9673630">
                <a:moveTo>
                  <a:pt x="0" y="0"/>
                </a:moveTo>
                <a:lnTo>
                  <a:pt x="9673630" y="0"/>
                </a:lnTo>
                <a:lnTo>
                  <a:pt x="9673630" y="5962238"/>
                </a:lnTo>
                <a:lnTo>
                  <a:pt x="0" y="5962238"/>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các chỉ số sinh lý quan trọng</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Phân tích chỉ số SkinThickness, Insulin và BloodPressure</a:t>
            </a:r>
          </a:p>
        </p:txBody>
      </p:sp>
      <p:sp>
        <p:nvSpPr>
          <p:cNvPr name="Freeform 12" id="12"/>
          <p:cNvSpPr/>
          <p:nvPr/>
        </p:nvSpPr>
        <p:spPr>
          <a:xfrm flipH="false" flipV="false" rot="0">
            <a:off x="139665" y="2221897"/>
            <a:ext cx="9169837" cy="5902721"/>
          </a:xfrm>
          <a:custGeom>
            <a:avLst/>
            <a:gdLst/>
            <a:ahLst/>
            <a:cxnLst/>
            <a:rect r="r" b="b" t="t" l="l"/>
            <a:pathLst>
              <a:path h="5902721" w="9169837">
                <a:moveTo>
                  <a:pt x="0" y="0"/>
                </a:moveTo>
                <a:lnTo>
                  <a:pt x="9169837" y="0"/>
                </a:lnTo>
                <a:lnTo>
                  <a:pt x="9169837" y="5902722"/>
                </a:lnTo>
                <a:lnTo>
                  <a:pt x="0" y="5902722"/>
                </a:lnTo>
                <a:lnTo>
                  <a:pt x="0" y="0"/>
                </a:lnTo>
                <a:close/>
              </a:path>
            </a:pathLst>
          </a:custGeom>
          <a:blipFill>
            <a:blip r:embed="rId14"/>
            <a:stretch>
              <a:fillRect l="-509" t="0" r="-509"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367773" y="1766034"/>
            <a:ext cx="13552453" cy="8629554"/>
          </a:xfrm>
          <a:custGeom>
            <a:avLst/>
            <a:gdLst/>
            <a:ahLst/>
            <a:cxnLst/>
            <a:rect r="r" b="b" t="t" l="l"/>
            <a:pathLst>
              <a:path h="8629554" w="13552453">
                <a:moveTo>
                  <a:pt x="0" y="0"/>
                </a:moveTo>
                <a:lnTo>
                  <a:pt x="13552454" y="0"/>
                </a:lnTo>
                <a:lnTo>
                  <a:pt x="13552454" y="8629553"/>
                </a:lnTo>
                <a:lnTo>
                  <a:pt x="0" y="8629553"/>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các chỉ số sinh lý quan trọng</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Phân tích chỉ số SkinThickness, Insulin và BloodPressure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311583" y="1854871"/>
            <a:ext cx="13664834" cy="8432129"/>
          </a:xfrm>
          <a:custGeom>
            <a:avLst/>
            <a:gdLst/>
            <a:ahLst/>
            <a:cxnLst/>
            <a:rect r="r" b="b" t="t" l="l"/>
            <a:pathLst>
              <a:path h="8432129" w="13664834">
                <a:moveTo>
                  <a:pt x="0" y="0"/>
                </a:moveTo>
                <a:lnTo>
                  <a:pt x="13664834" y="0"/>
                </a:lnTo>
                <a:lnTo>
                  <a:pt x="13664834" y="8432129"/>
                </a:lnTo>
                <a:lnTo>
                  <a:pt x="0" y="8432129"/>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các chỉ số sinh lý quan trọng</a:t>
            </a:r>
          </a:p>
        </p:txBody>
      </p:sp>
      <p:sp>
        <p:nvSpPr>
          <p:cNvPr name="TextBox 11" id="11"/>
          <p:cNvSpPr txBox="true"/>
          <p:nvPr/>
        </p:nvSpPr>
        <p:spPr>
          <a:xfrm rot="0">
            <a:off x="1028700" y="1353347"/>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a:t>
            </a:r>
            <a:r>
              <a:rPr lang="en-US" sz="3800" b="true">
                <a:solidFill>
                  <a:srgbClr val="000000"/>
                </a:solidFill>
                <a:latin typeface="Public Sans Bold"/>
                <a:ea typeface="Public Sans Bold"/>
                <a:cs typeface="Public Sans Bold"/>
                <a:sym typeface="Public Sans Bold"/>
              </a:rPr>
              <a:t>Tỷ lệ mắc tiểu đường thay đổi t</a:t>
            </a:r>
            <a:r>
              <a:rPr lang="en-US" sz="3800" b="true">
                <a:solidFill>
                  <a:srgbClr val="000000"/>
                </a:solidFill>
                <a:latin typeface="Public Sans Bold"/>
                <a:ea typeface="Public Sans Bold"/>
                <a:cs typeface="Public Sans Bold"/>
                <a:sym typeface="Public Sans Bold"/>
              </a:rPr>
              <a:t>hế nào theo nhóm SkinThickness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335248" y="1550924"/>
            <a:ext cx="14501318" cy="8716300"/>
          </a:xfrm>
          <a:custGeom>
            <a:avLst/>
            <a:gdLst/>
            <a:ahLst/>
            <a:cxnLst/>
            <a:rect r="r" b="b" t="t" l="l"/>
            <a:pathLst>
              <a:path h="8716300" w="14501318">
                <a:moveTo>
                  <a:pt x="0" y="0"/>
                </a:moveTo>
                <a:lnTo>
                  <a:pt x="14501318" y="0"/>
                </a:lnTo>
                <a:lnTo>
                  <a:pt x="14501318" y="8716301"/>
                </a:lnTo>
                <a:lnTo>
                  <a:pt x="0" y="8716301"/>
                </a:lnTo>
                <a:lnTo>
                  <a:pt x="0" y="0"/>
                </a:lnTo>
                <a:close/>
              </a:path>
            </a:pathLst>
          </a:custGeom>
          <a:blipFill>
            <a:blip r:embed="rId13"/>
            <a:stretch>
              <a:fillRect l="0" t="0" r="0" b="0"/>
            </a:stretch>
          </a:blipFill>
        </p:spPr>
      </p:sp>
      <p:sp>
        <p:nvSpPr>
          <p:cNvPr name="TextBox 10" id="10"/>
          <p:cNvSpPr txBox="true"/>
          <p:nvPr/>
        </p:nvSpPr>
        <p:spPr>
          <a:xfrm rot="0">
            <a:off x="1028700" y="582676"/>
            <a:ext cx="16889006" cy="968249"/>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Huyết áp trung</a:t>
            </a:r>
            <a:r>
              <a:rPr lang="en-US" sz="3800" b="true">
                <a:solidFill>
                  <a:srgbClr val="000000"/>
                </a:solidFill>
                <a:latin typeface="Public Sans Bold"/>
                <a:ea typeface="Public Sans Bold"/>
                <a:cs typeface="Public Sans Bold"/>
                <a:sym typeface="Public Sans Bold"/>
              </a:rPr>
              <a:t> bình của nhóm có tiểu đường và k</a:t>
            </a:r>
            <a:r>
              <a:rPr lang="en-US" sz="3800" b="true">
                <a:solidFill>
                  <a:srgbClr val="000000"/>
                </a:solidFill>
                <a:latin typeface="Public Sans Bold"/>
                <a:ea typeface="Public Sans Bold"/>
                <a:cs typeface="Public Sans Bold"/>
                <a:sym typeface="Public Sans Bold"/>
              </a:rPr>
              <a:t>hông tiểu đường khác nhau ra sao?</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4103706" y="1810976"/>
            <a:ext cx="10080589" cy="9243033"/>
          </a:xfrm>
          <a:custGeom>
            <a:avLst/>
            <a:gdLst/>
            <a:ahLst/>
            <a:cxnLst/>
            <a:rect r="r" b="b" t="t" l="l"/>
            <a:pathLst>
              <a:path h="9243033" w="10080589">
                <a:moveTo>
                  <a:pt x="0" y="0"/>
                </a:moveTo>
                <a:lnTo>
                  <a:pt x="10080588" y="0"/>
                </a:lnTo>
                <a:lnTo>
                  <a:pt x="10080588" y="9243033"/>
                </a:lnTo>
                <a:lnTo>
                  <a:pt x="0" y="9243033"/>
                </a:lnTo>
                <a:lnTo>
                  <a:pt x="0" y="0"/>
                </a:lnTo>
                <a:close/>
              </a:path>
            </a:pathLst>
          </a:custGeom>
          <a:blipFill>
            <a:blip r:embed="rId13"/>
            <a:stretch>
              <a:fillRect l="0" t="-9506"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kết quả chẩn đoán</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bệnh n</a:t>
            </a:r>
            <a:r>
              <a:rPr lang="en-US" sz="3800" b="true">
                <a:solidFill>
                  <a:srgbClr val="000000"/>
                </a:solidFill>
                <a:latin typeface="Public Sans Bold"/>
                <a:ea typeface="Public Sans Bold"/>
                <a:cs typeface="Public Sans Bold"/>
                <a:sym typeface="Public Sans Bold"/>
              </a:rPr>
              <a:t>hân theo kết quả chẩn đoán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3350488" y="1766034"/>
            <a:ext cx="11477506" cy="9669287"/>
          </a:xfrm>
          <a:custGeom>
            <a:avLst/>
            <a:gdLst/>
            <a:ahLst/>
            <a:cxnLst/>
            <a:rect r="r" b="b" t="t" l="l"/>
            <a:pathLst>
              <a:path h="9669287" w="11477506">
                <a:moveTo>
                  <a:pt x="0" y="0"/>
                </a:moveTo>
                <a:lnTo>
                  <a:pt x="11477505" y="0"/>
                </a:lnTo>
                <a:lnTo>
                  <a:pt x="11477505" y="9669287"/>
                </a:lnTo>
                <a:lnTo>
                  <a:pt x="0" y="9669287"/>
                </a:lnTo>
                <a:lnTo>
                  <a:pt x="0" y="0"/>
                </a:lnTo>
                <a:close/>
              </a:path>
            </a:pathLst>
          </a:custGeom>
          <a:blipFill>
            <a:blip r:embed="rId13"/>
            <a:stretch>
              <a:fillRect l="0" t="0" r="0" b="-332"/>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kết quả chẩn đoán</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So sánh Glucose và</a:t>
            </a:r>
            <a:r>
              <a:rPr lang="en-US" sz="3800" b="true">
                <a:solidFill>
                  <a:srgbClr val="000000"/>
                </a:solidFill>
                <a:latin typeface="Public Sans Bold"/>
                <a:ea typeface="Public Sans Bold"/>
                <a:cs typeface="Public Sans Bold"/>
                <a:sym typeface="Public Sans Bold"/>
              </a:rPr>
              <a:t> DiabetesPedigreeFunction giữa hai nhóm</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4151722" y="1766034"/>
            <a:ext cx="11437395" cy="10021046"/>
          </a:xfrm>
          <a:custGeom>
            <a:avLst/>
            <a:gdLst/>
            <a:ahLst/>
            <a:cxnLst/>
            <a:rect r="r" b="b" t="t" l="l"/>
            <a:pathLst>
              <a:path h="10021046" w="11437395">
                <a:moveTo>
                  <a:pt x="0" y="0"/>
                </a:moveTo>
                <a:lnTo>
                  <a:pt x="11437395" y="0"/>
                </a:lnTo>
                <a:lnTo>
                  <a:pt x="11437395" y="10021046"/>
                </a:lnTo>
                <a:lnTo>
                  <a:pt x="0" y="10021046"/>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kết quả chẩn đoán</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So sánh Glucose và</a:t>
            </a:r>
            <a:r>
              <a:rPr lang="en-US" sz="3800" b="true">
                <a:solidFill>
                  <a:srgbClr val="000000"/>
                </a:solidFill>
                <a:latin typeface="Public Sans Bold"/>
                <a:ea typeface="Public Sans Bold"/>
                <a:cs typeface="Public Sans Bold"/>
                <a:sym typeface="Public Sans Bold"/>
              </a:rPr>
              <a:t> DiabetesPedigreeFunction giữa hai nhóm</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093331" y="1766034"/>
            <a:ext cx="13816869" cy="8673253"/>
          </a:xfrm>
          <a:custGeom>
            <a:avLst/>
            <a:gdLst/>
            <a:ahLst/>
            <a:cxnLst/>
            <a:rect r="r" b="b" t="t" l="l"/>
            <a:pathLst>
              <a:path h="8673253" w="13816869">
                <a:moveTo>
                  <a:pt x="0" y="0"/>
                </a:moveTo>
                <a:lnTo>
                  <a:pt x="13816869" y="0"/>
                </a:lnTo>
                <a:lnTo>
                  <a:pt x="13816869" y="8673253"/>
                </a:lnTo>
                <a:lnTo>
                  <a:pt x="0" y="8673253"/>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tiền sử gia đình</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Giá trị trung bình của chỉ số</a:t>
            </a:r>
            <a:r>
              <a:rPr lang="en-US" sz="3800" b="true">
                <a:solidFill>
                  <a:srgbClr val="000000"/>
                </a:solidFill>
                <a:latin typeface="Public Sans Bold"/>
                <a:ea typeface="Public Sans Bold"/>
                <a:cs typeface="Public Sans Bold"/>
                <a:sym typeface="Public Sans Bold"/>
              </a:rPr>
              <a:t> DiabetesPedigreeFunction?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317636" y="1522114"/>
            <a:ext cx="11936288" cy="9098844"/>
          </a:xfrm>
          <a:custGeom>
            <a:avLst/>
            <a:gdLst/>
            <a:ahLst/>
            <a:cxnLst/>
            <a:rect r="r" b="b" t="t" l="l"/>
            <a:pathLst>
              <a:path h="9098844" w="11936288">
                <a:moveTo>
                  <a:pt x="0" y="0"/>
                </a:moveTo>
                <a:lnTo>
                  <a:pt x="11936288" y="0"/>
                </a:lnTo>
                <a:lnTo>
                  <a:pt x="11936288" y="9098844"/>
                </a:lnTo>
                <a:lnTo>
                  <a:pt x="0" y="9098844"/>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tiền sử gia đình</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Phân bố chỉ số</a:t>
            </a:r>
            <a:r>
              <a:rPr lang="en-US" sz="3800" b="true">
                <a:solidFill>
                  <a:srgbClr val="000000"/>
                </a:solidFill>
                <a:latin typeface="Public Sans Bold"/>
                <a:ea typeface="Public Sans Bold"/>
                <a:cs typeface="Public Sans Bold"/>
                <a:sym typeface="Public Sans Bold"/>
              </a:rPr>
              <a:t> DPF theo kết quả bệnh</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3101051" y="1522114"/>
            <a:ext cx="11801429" cy="8916635"/>
          </a:xfrm>
          <a:custGeom>
            <a:avLst/>
            <a:gdLst/>
            <a:ahLst/>
            <a:cxnLst/>
            <a:rect r="r" b="b" t="t" l="l"/>
            <a:pathLst>
              <a:path h="8916635" w="11801429">
                <a:moveTo>
                  <a:pt x="0" y="0"/>
                </a:moveTo>
                <a:lnTo>
                  <a:pt x="11801429" y="0"/>
                </a:lnTo>
                <a:lnTo>
                  <a:pt x="11801429" y="8916635"/>
                </a:lnTo>
                <a:lnTo>
                  <a:pt x="0" y="8916635"/>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theo nhóm</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bệnh nhân trẻ (&lt;30 tuổi) vs.</a:t>
            </a:r>
            <a:r>
              <a:rPr lang="en-US" sz="3800" b="true">
                <a:solidFill>
                  <a:srgbClr val="000000"/>
                </a:solidFill>
                <a:latin typeface="Public Sans Bold"/>
                <a:ea typeface="Public Sans Bold"/>
                <a:cs typeface="Public Sans Bold"/>
                <a:sym typeface="Public Sans Bold"/>
              </a:rPr>
              <a:t> nhóm lớn tuổi (&gt;50 tuổi)</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858729" y="1522114"/>
            <a:ext cx="12570541" cy="8712256"/>
          </a:xfrm>
          <a:custGeom>
            <a:avLst/>
            <a:gdLst/>
            <a:ahLst/>
            <a:cxnLst/>
            <a:rect r="r" b="b" t="t" l="l"/>
            <a:pathLst>
              <a:path h="8712256" w="12570541">
                <a:moveTo>
                  <a:pt x="0" y="0"/>
                </a:moveTo>
                <a:lnTo>
                  <a:pt x="12570542" y="0"/>
                </a:lnTo>
                <a:lnTo>
                  <a:pt x="12570542" y="8712256"/>
                </a:lnTo>
                <a:lnTo>
                  <a:pt x="0" y="8712256"/>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theo nhóm</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bệnh nhân theo nhóm BMI: thiếu cân,</a:t>
            </a:r>
            <a:r>
              <a:rPr lang="en-US" sz="3800" b="true">
                <a:solidFill>
                  <a:srgbClr val="000000"/>
                </a:solidFill>
                <a:latin typeface="Public Sans Bold"/>
                <a:ea typeface="Public Sans Bold"/>
                <a:cs typeface="Public Sans Bold"/>
                <a:sym typeface="Public Sans Bold"/>
              </a:rPr>
              <a:t> bình thường, thừa cân, béo phì.</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3753649" y="1560214"/>
            <a:ext cx="11929662" cy="8874318"/>
          </a:xfrm>
          <a:custGeom>
            <a:avLst/>
            <a:gdLst/>
            <a:ahLst/>
            <a:cxnLst/>
            <a:rect r="r" b="b" t="t" l="l"/>
            <a:pathLst>
              <a:path h="8874318" w="11929662">
                <a:moveTo>
                  <a:pt x="0" y="0"/>
                </a:moveTo>
                <a:lnTo>
                  <a:pt x="11929662" y="0"/>
                </a:lnTo>
                <a:lnTo>
                  <a:pt x="11929662" y="8874318"/>
                </a:lnTo>
                <a:lnTo>
                  <a:pt x="0" y="8874318"/>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theo nhóm</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 Tỷ lệ bệnh nhân mang thai </a:t>
            </a:r>
            <a:r>
              <a:rPr lang="en-US" sz="3800" b="true">
                <a:solidFill>
                  <a:srgbClr val="000000"/>
                </a:solidFill>
                <a:latin typeface="Public Sans Bold"/>
                <a:ea typeface="Public Sans Bold"/>
                <a:cs typeface="Public Sans Bold"/>
                <a:sym typeface="Public Sans Bold"/>
              </a:rPr>
              <a:t>nhiều lần (≥5 lần)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4158129" y="1858601"/>
            <a:ext cx="10630147" cy="8479539"/>
          </a:xfrm>
          <a:custGeom>
            <a:avLst/>
            <a:gdLst/>
            <a:ahLst/>
            <a:cxnLst/>
            <a:rect r="r" b="b" t="t" l="l"/>
            <a:pathLst>
              <a:path h="8479539" w="10630147">
                <a:moveTo>
                  <a:pt x="0" y="0"/>
                </a:moveTo>
                <a:lnTo>
                  <a:pt x="10630148" y="0"/>
                </a:lnTo>
                <a:lnTo>
                  <a:pt x="10630148" y="8479539"/>
                </a:lnTo>
                <a:lnTo>
                  <a:pt x="0" y="8479539"/>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theo nhóm</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Nhóm trẻ và nhóm lớn tuổi: tỷ lệ mắc tiểu đườ</a:t>
            </a:r>
            <a:r>
              <a:rPr lang="en-US" sz="3800" b="true">
                <a:solidFill>
                  <a:srgbClr val="000000"/>
                </a:solidFill>
                <a:latin typeface="Public Sans Bold"/>
                <a:ea typeface="Public Sans Bold"/>
                <a:cs typeface="Public Sans Bold"/>
                <a:sym typeface="Public Sans Bold"/>
              </a:rPr>
              <a:t>ng khác nhau thế nào?</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3876303" y="1766034"/>
            <a:ext cx="11512427" cy="8476024"/>
          </a:xfrm>
          <a:custGeom>
            <a:avLst/>
            <a:gdLst/>
            <a:ahLst/>
            <a:cxnLst/>
            <a:rect r="r" b="b" t="t" l="l"/>
            <a:pathLst>
              <a:path h="8476024" w="11512427">
                <a:moveTo>
                  <a:pt x="0" y="0"/>
                </a:moveTo>
                <a:lnTo>
                  <a:pt x="11512426" y="0"/>
                </a:lnTo>
                <a:lnTo>
                  <a:pt x="11512426" y="8476024"/>
                </a:lnTo>
                <a:lnTo>
                  <a:pt x="0" y="8476024"/>
                </a:lnTo>
                <a:lnTo>
                  <a:pt x="0" y="0"/>
                </a:lnTo>
                <a:close/>
              </a:path>
            </a:pathLst>
          </a:custGeom>
          <a:blipFill>
            <a:blip r:embed="rId13"/>
            <a:stretch>
              <a:fillRect l="0" t="0" r="0" b="0"/>
            </a:stretch>
          </a:blipFill>
        </p:spPr>
      </p:sp>
      <p:sp>
        <p:nvSpPr>
          <p:cNvPr name="TextBox 10" id="10"/>
          <p:cNvSpPr txBox="true"/>
          <p:nvPr/>
        </p:nvSpPr>
        <p:spPr>
          <a:xfrm rot="0">
            <a:off x="1028700" y="489076"/>
            <a:ext cx="10832133"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theo nhóm</a:t>
            </a:r>
          </a:p>
        </p:txBody>
      </p:sp>
      <p:sp>
        <p:nvSpPr>
          <p:cNvPr name="TextBox 11" id="11"/>
          <p:cNvSpPr txBox="true"/>
          <p:nvPr/>
        </p:nvSpPr>
        <p:spPr>
          <a:xfrm rot="0">
            <a:off x="1028700" y="130945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mắc bệ</a:t>
            </a:r>
            <a:r>
              <a:rPr lang="en-US" sz="3800" b="true">
                <a:solidFill>
                  <a:srgbClr val="000000"/>
                </a:solidFill>
                <a:latin typeface="Public Sans Bold"/>
                <a:ea typeface="Public Sans Bold"/>
                <a:cs typeface="Public Sans Bold"/>
                <a:sym typeface="Public Sans Bold"/>
              </a:rPr>
              <a:t>nh theo nhóm BMI</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451466" y="1569974"/>
            <a:ext cx="13385068" cy="8717026"/>
          </a:xfrm>
          <a:custGeom>
            <a:avLst/>
            <a:gdLst/>
            <a:ahLst/>
            <a:cxnLst/>
            <a:rect r="r" b="b" t="t" l="l"/>
            <a:pathLst>
              <a:path h="8717026" w="13385068">
                <a:moveTo>
                  <a:pt x="0" y="0"/>
                </a:moveTo>
                <a:lnTo>
                  <a:pt x="13385068" y="0"/>
                </a:lnTo>
                <a:lnTo>
                  <a:pt x="13385068" y="8717026"/>
                </a:lnTo>
                <a:lnTo>
                  <a:pt x="0" y="8717026"/>
                </a:lnTo>
                <a:lnTo>
                  <a:pt x="0" y="0"/>
                </a:lnTo>
                <a:close/>
              </a:path>
            </a:pathLst>
          </a:custGeom>
          <a:blipFill>
            <a:blip r:embed="rId13"/>
            <a:stretch>
              <a:fillRect l="0" t="0" r="0" b="0"/>
            </a:stretch>
          </a:blipFill>
        </p:spPr>
      </p:sp>
      <p:sp>
        <p:nvSpPr>
          <p:cNvPr name="TextBox 10" id="10"/>
          <p:cNvSpPr txBox="true"/>
          <p:nvPr/>
        </p:nvSpPr>
        <p:spPr>
          <a:xfrm rot="0">
            <a:off x="1028700" y="450976"/>
            <a:ext cx="16555201"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thời gian / vòng đời </a:t>
            </a:r>
          </a:p>
        </p:txBody>
      </p:sp>
      <p:sp>
        <p:nvSpPr>
          <p:cNvPr name="TextBox 11" id="11"/>
          <p:cNvSpPr txBox="true"/>
          <p:nvPr/>
        </p:nvSpPr>
        <p:spPr>
          <a:xfrm rot="0">
            <a:off x="1028700" y="1123950"/>
            <a:ext cx="16889006" cy="968249"/>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Xu hướng mắc bệ</a:t>
            </a:r>
            <a:r>
              <a:rPr lang="en-US" sz="3800" b="true">
                <a:solidFill>
                  <a:srgbClr val="000000"/>
                </a:solidFill>
                <a:latin typeface="Public Sans Bold"/>
                <a:ea typeface="Public Sans Bold"/>
                <a:cs typeface="Public Sans Bold"/>
                <a:sym typeface="Public Sans Bold"/>
              </a:rPr>
              <a:t>nh tiểu đường theo từng nhóm tuổi: 20–29, 30–39, 40–49, 50+</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1766634" y="1858836"/>
            <a:ext cx="15492666" cy="8520966"/>
          </a:xfrm>
          <a:custGeom>
            <a:avLst/>
            <a:gdLst/>
            <a:ahLst/>
            <a:cxnLst/>
            <a:rect r="r" b="b" t="t" l="l"/>
            <a:pathLst>
              <a:path h="8520966" w="15492666">
                <a:moveTo>
                  <a:pt x="0" y="0"/>
                </a:moveTo>
                <a:lnTo>
                  <a:pt x="15492666" y="0"/>
                </a:lnTo>
                <a:lnTo>
                  <a:pt x="15492666" y="8520967"/>
                </a:lnTo>
                <a:lnTo>
                  <a:pt x="0" y="8520967"/>
                </a:lnTo>
                <a:lnTo>
                  <a:pt x="0" y="0"/>
                </a:lnTo>
                <a:close/>
              </a:path>
            </a:pathLst>
          </a:custGeom>
          <a:blipFill>
            <a:blip r:embed="rId13"/>
            <a:stretch>
              <a:fillRect l="0" t="0" r="0" b="0"/>
            </a:stretch>
          </a:blipFill>
        </p:spPr>
      </p:sp>
      <p:sp>
        <p:nvSpPr>
          <p:cNvPr name="TextBox 10" id="10"/>
          <p:cNvSpPr txBox="true"/>
          <p:nvPr/>
        </p:nvSpPr>
        <p:spPr>
          <a:xfrm rot="0">
            <a:off x="1028700" y="450976"/>
            <a:ext cx="16555201"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thời gian / vòng đời </a:t>
            </a:r>
          </a:p>
        </p:txBody>
      </p:sp>
      <p:sp>
        <p:nvSpPr>
          <p:cNvPr name="TextBox 11" id="11"/>
          <p:cNvSpPr txBox="true"/>
          <p:nvPr/>
        </p:nvSpPr>
        <p:spPr>
          <a:xfrm rot="0">
            <a:off x="1028700" y="135731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Tỷ lệ mắc bệ</a:t>
            </a:r>
            <a:r>
              <a:rPr lang="en-US" sz="3800" b="true">
                <a:solidFill>
                  <a:srgbClr val="000000"/>
                </a:solidFill>
                <a:latin typeface="Public Sans Bold"/>
                <a:ea typeface="Public Sans Bold"/>
                <a:cs typeface="Public Sans Bold"/>
                <a:sym typeface="Public Sans Bold"/>
              </a:rPr>
              <a:t>nh theo độ tuổi kết hợp với BMI</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1559967" y="1858836"/>
            <a:ext cx="15492666" cy="8520966"/>
          </a:xfrm>
          <a:custGeom>
            <a:avLst/>
            <a:gdLst/>
            <a:ahLst/>
            <a:cxnLst/>
            <a:rect r="r" b="b" t="t" l="l"/>
            <a:pathLst>
              <a:path h="8520966" w="15492666">
                <a:moveTo>
                  <a:pt x="0" y="0"/>
                </a:moveTo>
                <a:lnTo>
                  <a:pt x="15492666" y="0"/>
                </a:lnTo>
                <a:lnTo>
                  <a:pt x="15492666" y="8520967"/>
                </a:lnTo>
                <a:lnTo>
                  <a:pt x="0" y="8520967"/>
                </a:lnTo>
                <a:lnTo>
                  <a:pt x="0" y="0"/>
                </a:lnTo>
                <a:close/>
              </a:path>
            </a:pathLst>
          </a:custGeom>
          <a:blipFill>
            <a:blip r:embed="rId13"/>
            <a:stretch>
              <a:fillRect l="0" t="0" r="0" b="0"/>
            </a:stretch>
          </a:blipFill>
        </p:spPr>
      </p:sp>
      <p:sp>
        <p:nvSpPr>
          <p:cNvPr name="TextBox 10" id="10"/>
          <p:cNvSpPr txBox="true"/>
          <p:nvPr/>
        </p:nvSpPr>
        <p:spPr>
          <a:xfrm rot="0">
            <a:off x="1028700" y="450976"/>
            <a:ext cx="16555201"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rủi ro &amp; yếu tố quan trọng</a:t>
            </a:r>
          </a:p>
        </p:txBody>
      </p:sp>
      <p:sp>
        <p:nvSpPr>
          <p:cNvPr name="TextBox 11" id="11"/>
          <p:cNvSpPr txBox="true"/>
          <p:nvPr/>
        </p:nvSpPr>
        <p:spPr>
          <a:xfrm rot="0">
            <a:off x="1028700" y="135731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Xác định ngưỡng a</a:t>
            </a:r>
            <a:r>
              <a:rPr lang="en-US" sz="3800" b="true">
                <a:solidFill>
                  <a:srgbClr val="000000"/>
                </a:solidFill>
                <a:latin typeface="Public Sans Bold"/>
                <a:ea typeface="Public Sans Bold"/>
                <a:cs typeface="Public Sans Bold"/>
                <a:sym typeface="Public Sans Bold"/>
              </a:rPr>
              <a:t>n toàn cho Glucose để giảm rủi ro.</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6" id="6"/>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2473105" y="1992186"/>
            <a:ext cx="14794629" cy="8137046"/>
          </a:xfrm>
          <a:custGeom>
            <a:avLst/>
            <a:gdLst/>
            <a:ahLst/>
            <a:cxnLst/>
            <a:rect r="r" b="b" t="t" l="l"/>
            <a:pathLst>
              <a:path h="8137046" w="14794629">
                <a:moveTo>
                  <a:pt x="0" y="0"/>
                </a:moveTo>
                <a:lnTo>
                  <a:pt x="14794629" y="0"/>
                </a:lnTo>
                <a:lnTo>
                  <a:pt x="14794629" y="8137047"/>
                </a:lnTo>
                <a:lnTo>
                  <a:pt x="0" y="8137047"/>
                </a:lnTo>
                <a:lnTo>
                  <a:pt x="0" y="0"/>
                </a:lnTo>
                <a:close/>
              </a:path>
            </a:pathLst>
          </a:custGeom>
          <a:blipFill>
            <a:blip r:embed="rId13"/>
            <a:stretch>
              <a:fillRect l="0" t="0" r="0" b="0"/>
            </a:stretch>
          </a:blipFill>
        </p:spPr>
      </p:sp>
      <p:sp>
        <p:nvSpPr>
          <p:cNvPr name="TextBox 10" id="10"/>
          <p:cNvSpPr txBox="true"/>
          <p:nvPr/>
        </p:nvSpPr>
        <p:spPr>
          <a:xfrm rot="0">
            <a:off x="1028700" y="450976"/>
            <a:ext cx="16555201" cy="695325"/>
          </a:xfrm>
          <a:prstGeom prst="rect">
            <a:avLst/>
          </a:prstGeom>
        </p:spPr>
        <p:txBody>
          <a:bodyPr anchor="t" rtlCol="false" tIns="0" lIns="0" bIns="0" rIns="0">
            <a:spAutoFit/>
          </a:bodyPr>
          <a:lstStyle/>
          <a:p>
            <a:pPr algn="l">
              <a:lnSpc>
                <a:spcPts val="5400"/>
              </a:lnSpc>
            </a:pPr>
            <a:r>
              <a:rPr lang="en-US" sz="4500" b="true">
                <a:solidFill>
                  <a:srgbClr val="000000"/>
                </a:solidFill>
                <a:latin typeface="Public Sans Bold"/>
                <a:ea typeface="Public Sans Bold"/>
                <a:cs typeface="Public Sans Bold"/>
                <a:sym typeface="Public Sans Bold"/>
              </a:rPr>
              <a:t>Phân tích rủi ro &amp; yếu tố quan trọng</a:t>
            </a:r>
          </a:p>
        </p:txBody>
      </p:sp>
      <p:sp>
        <p:nvSpPr>
          <p:cNvPr name="TextBox 11" id="11"/>
          <p:cNvSpPr txBox="true"/>
          <p:nvPr/>
        </p:nvSpPr>
        <p:spPr>
          <a:xfrm rot="0">
            <a:off x="1028700" y="1357312"/>
            <a:ext cx="16889006" cy="501524"/>
          </a:xfrm>
          <a:prstGeom prst="rect">
            <a:avLst/>
          </a:prstGeom>
        </p:spPr>
        <p:txBody>
          <a:bodyPr anchor="t" rtlCol="false" tIns="0" lIns="0" bIns="0" rIns="0">
            <a:spAutoFit/>
          </a:bodyPr>
          <a:lstStyle/>
          <a:p>
            <a:pPr algn="l">
              <a:lnSpc>
                <a:spcPts val="3686"/>
              </a:lnSpc>
            </a:pPr>
            <a:r>
              <a:rPr lang="en-US" sz="3800" b="true">
                <a:solidFill>
                  <a:srgbClr val="000000"/>
                </a:solidFill>
                <a:latin typeface="Public Sans Bold"/>
                <a:ea typeface="Public Sans Bold"/>
                <a:cs typeface="Public Sans Bold"/>
                <a:sym typeface="Public Sans Bold"/>
              </a:rPr>
              <a:t>Xác định ngưỡng a</a:t>
            </a:r>
            <a:r>
              <a:rPr lang="en-US" sz="3800" b="true">
                <a:solidFill>
                  <a:srgbClr val="000000"/>
                </a:solidFill>
                <a:latin typeface="Public Sans Bold"/>
                <a:ea typeface="Public Sans Bold"/>
                <a:cs typeface="Public Sans Bold"/>
                <a:sym typeface="Public Sans Bold"/>
              </a:rPr>
              <a:t>n toàn cho BMI để giảm rủi ro.</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321523" y="3999964"/>
            <a:ext cx="6899259" cy="2354372"/>
          </a:xfrm>
          <a:custGeom>
            <a:avLst/>
            <a:gdLst/>
            <a:ahLst/>
            <a:cxnLst/>
            <a:rect r="r" b="b" t="t" l="l"/>
            <a:pathLst>
              <a:path h="2354372" w="6899259">
                <a:moveTo>
                  <a:pt x="0" y="0"/>
                </a:moveTo>
                <a:lnTo>
                  <a:pt x="6899260" y="0"/>
                </a:lnTo>
                <a:lnTo>
                  <a:pt x="6899260" y="2354373"/>
                </a:lnTo>
                <a:lnTo>
                  <a:pt x="0" y="23543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0">
            <a:off x="1257928" y="2345348"/>
            <a:ext cx="5026450" cy="5663606"/>
          </a:xfrm>
          <a:custGeom>
            <a:avLst/>
            <a:gdLst/>
            <a:ahLst/>
            <a:cxnLst/>
            <a:rect r="r" b="b" t="t" l="l"/>
            <a:pathLst>
              <a:path h="5663606" w="5026450">
                <a:moveTo>
                  <a:pt x="0" y="0"/>
                </a:moveTo>
                <a:lnTo>
                  <a:pt x="5026450" y="0"/>
                </a:lnTo>
                <a:lnTo>
                  <a:pt x="5026450" y="5663605"/>
                </a:lnTo>
                <a:lnTo>
                  <a:pt x="0" y="566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187674" y="1419225"/>
            <a:ext cx="3306025" cy="635508"/>
          </a:xfrm>
          <a:prstGeom prst="rect">
            <a:avLst/>
          </a:prstGeom>
        </p:spPr>
        <p:txBody>
          <a:bodyPr anchor="t" rtlCol="false" tIns="0" lIns="0" bIns="0" rIns="0">
            <a:spAutoFit/>
          </a:bodyPr>
          <a:lstStyle/>
          <a:p>
            <a:pPr algn="l">
              <a:lnSpc>
                <a:spcPts val="4656"/>
              </a:lnSpc>
            </a:pPr>
            <a:r>
              <a:rPr lang="en-US" sz="4800" b="true">
                <a:solidFill>
                  <a:srgbClr val="000000"/>
                </a:solidFill>
                <a:latin typeface="Public Sans Bold"/>
                <a:ea typeface="Public Sans Bold"/>
                <a:cs typeface="Public Sans Bold"/>
                <a:sym typeface="Public Sans Bold"/>
              </a:rPr>
              <a:t>KẾT LUẬN</a:t>
            </a:r>
          </a:p>
        </p:txBody>
      </p:sp>
      <p:sp>
        <p:nvSpPr>
          <p:cNvPr name="TextBox 5" id="5"/>
          <p:cNvSpPr txBox="true"/>
          <p:nvPr/>
        </p:nvSpPr>
        <p:spPr>
          <a:xfrm rot="0">
            <a:off x="6389111" y="2326298"/>
            <a:ext cx="11308323" cy="64198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Public Sans"/>
                <a:ea typeface="Public Sans"/>
                <a:cs typeface="Public Sans"/>
                <a:sym typeface="Public Sans"/>
              </a:rPr>
              <a:t>Với bộ dữ liệu Pima Indians Diabetes, chúng ta đã phân tích nhiều yếu tố nhân khẩu học, chỉ số cơ thể và sinh lý để tìm ra tác động của chúng đến nguy cơ mắc tiểu đường type 2.</a:t>
            </a:r>
          </a:p>
          <a:p>
            <a:pPr algn="l">
              <a:lnSpc>
                <a:spcPts val="3600"/>
              </a:lnSpc>
              <a:spcBef>
                <a:spcPct val="0"/>
              </a:spcBef>
            </a:pPr>
          </a:p>
          <a:p>
            <a:pPr algn="l">
              <a:lnSpc>
                <a:spcPts val="3600"/>
              </a:lnSpc>
              <a:spcBef>
                <a:spcPct val="0"/>
              </a:spcBef>
            </a:pPr>
            <a:r>
              <a:rPr lang="en-US" sz="3000">
                <a:solidFill>
                  <a:srgbClr val="000000"/>
                </a:solidFill>
                <a:latin typeface="Public Sans"/>
                <a:ea typeface="Public Sans"/>
                <a:cs typeface="Public Sans"/>
                <a:sym typeface="Public Sans"/>
              </a:rPr>
              <a:t>Kết quả cho thấy số lần mang thai, BMI và tuổi tác là ba yếu tố quan trọng nhất, với mức ảnh hưởng thay đổi theo từng nhóm tuổi. Ở người trẻ, BMI cao và nhiều lần mang thai làm tăng rủi ro rõ rệt, trong khi ở người lớn tuổi, tuổi tác trở thành yếu tố áp đảo.</a:t>
            </a:r>
          </a:p>
          <a:p>
            <a:pPr algn="l">
              <a:lnSpc>
                <a:spcPts val="3600"/>
              </a:lnSpc>
              <a:spcBef>
                <a:spcPct val="0"/>
              </a:spcBef>
            </a:pPr>
          </a:p>
          <a:p>
            <a:pPr algn="l">
              <a:lnSpc>
                <a:spcPts val="3600"/>
              </a:lnSpc>
              <a:spcBef>
                <a:spcPct val="0"/>
              </a:spcBef>
            </a:pPr>
            <a:r>
              <a:rPr lang="en-US" sz="3000">
                <a:solidFill>
                  <a:srgbClr val="000000"/>
                </a:solidFill>
                <a:latin typeface="Public Sans"/>
                <a:ea typeface="Public Sans"/>
                <a:cs typeface="Public Sans"/>
                <a:sym typeface="Public Sans"/>
              </a:rPr>
              <a:t>Bên cạnh đó, việc duy trì Glucose dưới 100 mg/dL và BMI dưới 25 được xem là ngưỡng an toàn để giảm thiểu nguy cơ mắc bệnh. Điều này không chỉ trả lời cho câu hỏi mở đầu mà còn cung cấp định hướng hữu ích cho công tác phòng ngừa và quản lý sức khỏe cộng đồng.</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9F9F9"/>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2784118" y="4580727"/>
            <a:ext cx="24205132" cy="1209674"/>
          </a:xfrm>
          <a:prstGeom prst="rect">
            <a:avLst/>
          </a:prstGeom>
        </p:spPr>
        <p:txBody>
          <a:bodyPr anchor="t" rtlCol="false" tIns="0" lIns="0" bIns="0" rIns="0">
            <a:spAutoFit/>
          </a:bodyPr>
          <a:lstStyle/>
          <a:p>
            <a:pPr algn="ctr">
              <a:lnSpc>
                <a:spcPts val="8699"/>
              </a:lnSpc>
            </a:pPr>
            <a:r>
              <a:rPr lang="en-US" b="true" sz="9999">
                <a:solidFill>
                  <a:srgbClr val="000000"/>
                </a:solidFill>
                <a:latin typeface="Public Sans Bold"/>
                <a:ea typeface="Public Sans Bold"/>
                <a:cs typeface="Public Sans Bold"/>
                <a:sym typeface="Public Sans Bold"/>
              </a:rPr>
              <a:t>Thanks for your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DAGgEg0eUEQ</dc:identifier>
  <dcterms:modified xsi:type="dcterms:W3CDTF">2011-08-01T06:04:30Z</dcterms:modified>
  <cp:revision>1</cp:revision>
  <dc:title>Phân tích khám phá về bệnh đái tháo đường</dc:title>
</cp:coreProperties>
</file>